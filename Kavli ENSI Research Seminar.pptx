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Masters/slideMaster2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18.xml" ContentType="application/vnd.openxmlformats-officedocument.presentationml.slideLayout+xml"/>
  <Override PartName="/ppt/slideLayouts/slideLayout19.xml" ContentType="application/vnd.openxmlformats-officedocument.presentationml.slideLayout+xml"/>
  <Override PartName="/ppt/slideLayouts/slideLayout20.xml" ContentType="application/vnd.openxmlformats-officedocument.presentationml.slideLayout+xml"/>
  <Override PartName="/ppt/slideLayouts/slideLayout21.xml" ContentType="application/vnd.openxmlformats-officedocument.presentationml.slideLayout+xml"/>
  <Override PartName="/ppt/slideLayouts/slideLayout22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895" r:id="rId1"/>
    <p:sldMasterId id="2147483907" r:id="rId2"/>
  </p:sldMasterIdLst>
  <p:notesMasterIdLst>
    <p:notesMasterId r:id="rId27"/>
  </p:notesMasterIdLst>
  <p:sldIdLst>
    <p:sldId id="256" r:id="rId3"/>
    <p:sldId id="275" r:id="rId4"/>
    <p:sldId id="276" r:id="rId5"/>
    <p:sldId id="278" r:id="rId6"/>
    <p:sldId id="279" r:id="rId7"/>
    <p:sldId id="277" r:id="rId8"/>
    <p:sldId id="280" r:id="rId9"/>
    <p:sldId id="281" r:id="rId10"/>
    <p:sldId id="283" r:id="rId11"/>
    <p:sldId id="282" r:id="rId12"/>
    <p:sldId id="286" r:id="rId13"/>
    <p:sldId id="257" r:id="rId14"/>
    <p:sldId id="285" r:id="rId15"/>
    <p:sldId id="284" r:id="rId16"/>
    <p:sldId id="258" r:id="rId17"/>
    <p:sldId id="260" r:id="rId18"/>
    <p:sldId id="261" r:id="rId19"/>
    <p:sldId id="288" r:id="rId20"/>
    <p:sldId id="289" r:id="rId21"/>
    <p:sldId id="291" r:id="rId22"/>
    <p:sldId id="274" r:id="rId23"/>
    <p:sldId id="293" r:id="rId24"/>
    <p:sldId id="292" r:id="rId25"/>
    <p:sldId id="294" r:id="rId26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6332" autoAdjust="0"/>
    <p:restoredTop sz="94694"/>
  </p:normalViewPr>
  <p:slideViewPr>
    <p:cSldViewPr snapToGrid="0">
      <p:cViewPr varScale="1">
        <p:scale>
          <a:sx n="121" d="100"/>
          <a:sy n="121" d="100"/>
        </p:scale>
        <p:origin x="176" y="176"/>
      </p:cViewPr>
      <p:guideLst/>
    </p:cSldViewPr>
  </p:slideViewPr>
  <p:outlineViewPr>
    <p:cViewPr>
      <p:scale>
        <a:sx n="33" d="100"/>
        <a:sy n="33" d="100"/>
      </p:scale>
      <p:origin x="0" y="-19936"/>
    </p:cViewPr>
  </p:outlin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6.xml"/><Relationship Id="rId13" Type="http://schemas.openxmlformats.org/officeDocument/2006/relationships/slide" Target="slides/slide11.xml"/><Relationship Id="rId18" Type="http://schemas.openxmlformats.org/officeDocument/2006/relationships/slide" Target="slides/slide16.xml"/><Relationship Id="rId26" Type="http://schemas.openxmlformats.org/officeDocument/2006/relationships/slide" Target="slides/slide24.xml"/><Relationship Id="rId3" Type="http://schemas.openxmlformats.org/officeDocument/2006/relationships/slide" Target="slides/slide1.xml"/><Relationship Id="rId21" Type="http://schemas.openxmlformats.org/officeDocument/2006/relationships/slide" Target="slides/slide19.xml"/><Relationship Id="rId7" Type="http://schemas.openxmlformats.org/officeDocument/2006/relationships/slide" Target="slides/slide5.xml"/><Relationship Id="rId12" Type="http://schemas.openxmlformats.org/officeDocument/2006/relationships/slide" Target="slides/slide10.xml"/><Relationship Id="rId17" Type="http://schemas.openxmlformats.org/officeDocument/2006/relationships/slide" Target="slides/slide15.xml"/><Relationship Id="rId25" Type="http://schemas.openxmlformats.org/officeDocument/2006/relationships/slide" Target="slides/slide23.xml"/><Relationship Id="rId2" Type="http://schemas.openxmlformats.org/officeDocument/2006/relationships/slideMaster" Target="slideMasters/slideMaster2.xml"/><Relationship Id="rId16" Type="http://schemas.openxmlformats.org/officeDocument/2006/relationships/slide" Target="slides/slide14.xml"/><Relationship Id="rId20" Type="http://schemas.openxmlformats.org/officeDocument/2006/relationships/slide" Target="slides/slide18.xml"/><Relationship Id="rId29" Type="http://schemas.openxmlformats.org/officeDocument/2006/relationships/viewProps" Target="view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4.xml"/><Relationship Id="rId11" Type="http://schemas.openxmlformats.org/officeDocument/2006/relationships/slide" Target="slides/slide9.xml"/><Relationship Id="rId24" Type="http://schemas.openxmlformats.org/officeDocument/2006/relationships/slide" Target="slides/slide22.xml"/><Relationship Id="rId5" Type="http://schemas.openxmlformats.org/officeDocument/2006/relationships/slide" Target="slides/slide3.xml"/><Relationship Id="rId15" Type="http://schemas.openxmlformats.org/officeDocument/2006/relationships/slide" Target="slides/slide13.xml"/><Relationship Id="rId23" Type="http://schemas.openxmlformats.org/officeDocument/2006/relationships/slide" Target="slides/slide21.xml"/><Relationship Id="rId28" Type="http://schemas.openxmlformats.org/officeDocument/2006/relationships/presProps" Target="presProps.xml"/><Relationship Id="rId10" Type="http://schemas.openxmlformats.org/officeDocument/2006/relationships/slide" Target="slides/slide8.xml"/><Relationship Id="rId19" Type="http://schemas.openxmlformats.org/officeDocument/2006/relationships/slide" Target="slides/slide17.xml"/><Relationship Id="rId31" Type="http://schemas.openxmlformats.org/officeDocument/2006/relationships/tableStyles" Target="tableStyles.xml"/><Relationship Id="rId4" Type="http://schemas.openxmlformats.org/officeDocument/2006/relationships/slide" Target="slides/slide2.xml"/><Relationship Id="rId9" Type="http://schemas.openxmlformats.org/officeDocument/2006/relationships/slide" Target="slides/slide7.xml"/><Relationship Id="rId14" Type="http://schemas.openxmlformats.org/officeDocument/2006/relationships/slide" Target="slides/slide12.xml"/><Relationship Id="rId22" Type="http://schemas.openxmlformats.org/officeDocument/2006/relationships/slide" Target="slides/slide20.xml"/><Relationship Id="rId27" Type="http://schemas.openxmlformats.org/officeDocument/2006/relationships/notesMaster" Target="notesMasters/notesMaster1.xml"/><Relationship Id="rId30" Type="http://schemas.openxmlformats.org/officeDocument/2006/relationships/theme" Target="theme/theme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25C375C-D27F-6B4F-A98C-867F54470A23}" type="datetimeFigureOut">
              <a:rPr lang="en-US" smtClean="0"/>
              <a:t>10/2/25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98C7E23F-D384-0A43-BA50-535D3FAFD47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75126504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7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8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0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1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2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4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98C7E23F-D384-0A43-BA50-535D3FAFD47E}" type="slidenum">
              <a:rPr lang="en-US" smtClean="0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213211177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Infinite conservation laws, failure to thermalize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98C7E23F-D384-0A43-BA50-535D3FAFD47E}" type="slidenum">
              <a:rPr lang="en-US" smtClean="0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555939160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DFDAFFA-D5E5-5D2A-904D-2C6EA3DF5B9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5527F431-89DB-EF96-02EA-433282338F76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70235B82-D1DA-A7D0-7D16-C5FF34AEEC85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Infinite conservation laws, failure to thermalize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D08CB98A-E955-BC56-CB6C-2C6FE302D4C0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98C7E23F-D384-0A43-BA50-535D3FAFD47E}" type="slidenum">
              <a:rPr lang="en-US" smtClean="0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020541092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98C7E23F-D384-0A43-BA50-535D3FAFD47E}" type="slidenum">
              <a:rPr lang="en-US" smtClean="0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1917866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98C7E23F-D384-0A43-BA50-535D3FAFD47E}" type="slidenum">
              <a:rPr lang="en-US" smtClean="0"/>
              <a:t>17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974914050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CCBAF6D-58BD-F013-2A10-12E726724E8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3E0A24C4-8C9B-4D70-48CF-751D74D837F3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CEEF3E04-8135-73EF-221F-535F18971BDA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7497C278-1492-B406-EC81-AF00F0675E08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98C7E23F-D384-0A43-BA50-535D3FAFD47E}" type="slidenum">
              <a:rPr lang="en-US" smtClean="0"/>
              <a:t>18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77145609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CEE5909-B2AA-689A-22FF-372BBB91399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BF4C9ACD-92AF-F8D8-EE2C-293BFF0FF450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D3F71888-C5B2-4072-82EE-1B8510D463E9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C11711F3-3875-FAA6-13AB-98E78E762CFF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98C7E23F-D384-0A43-BA50-535D3FAFD47E}" type="slidenum">
              <a:rPr lang="en-US" smtClean="0"/>
              <a:t>20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45190645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98C7E23F-D384-0A43-BA50-535D3FAFD47E}" type="slidenum">
              <a:rPr lang="en-US" smtClean="0"/>
              <a:t>21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510807603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C247A03-539B-6CA7-2386-119405E26BA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622C673F-AB98-C1A2-08F5-4ADCF9B322AC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1A7CE5EE-897E-8342-96F3-9FAF05C1CE69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94C03641-F084-89C4-F067-EF42D6B8C69D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98C7E23F-D384-0A43-BA50-535D3FAFD47E}" type="slidenum">
              <a:rPr lang="en-US" smtClean="0"/>
              <a:t>22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40359865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F99E234-E549-FAA4-51ED-8E5BA6B4FF2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1EA87AB6-3999-F074-59F0-026788ED467B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647DC1E9-5A12-420E-84C5-A2293DDD135C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58FB9DAA-BE67-A168-D593-EF73AFD76708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98C7E23F-D384-0A43-BA50-535D3FAFD47E}" type="slidenum">
              <a:rPr lang="en-US" smtClean="0"/>
              <a:t>24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826049655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Rectangle 9"/>
          <p:cNvSpPr/>
          <p:nvPr/>
        </p:nvSpPr>
        <p:spPr>
          <a:xfrm>
            <a:off x="0" y="0"/>
            <a:ext cx="12192000" cy="4572001"/>
          </a:xfrm>
          <a:prstGeom prst="rect">
            <a:avLst/>
          </a:prstGeom>
          <a:solidFill>
            <a:schemeClr val="accent1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11" name="Oval 5"/>
          <p:cNvSpPr/>
          <p:nvPr/>
        </p:nvSpPr>
        <p:spPr>
          <a:xfrm>
            <a:off x="-1" y="0"/>
            <a:ext cx="12192000" cy="4572001"/>
          </a:xfrm>
          <a:custGeom>
            <a:avLst/>
            <a:gdLst/>
            <a:ahLst/>
            <a:cxnLst/>
            <a:rect l="l" t="t" r="r" b="b"/>
            <a:pathLst>
              <a:path w="12192000" h="4572001">
                <a:moveTo>
                  <a:pt x="12192000" y="4387986"/>
                </a:moveTo>
                <a:lnTo>
                  <a:pt x="12192000" y="4572001"/>
                </a:lnTo>
                <a:lnTo>
                  <a:pt x="12013927" y="4572001"/>
                </a:lnTo>
                <a:cubicBezTo>
                  <a:pt x="12084901" y="4522707"/>
                  <a:pt x="12145198" y="4460004"/>
                  <a:pt x="12192000" y="4387986"/>
                </a:cubicBezTo>
                <a:close/>
                <a:moveTo>
                  <a:pt x="12192000" y="4041440"/>
                </a:moveTo>
                <a:lnTo>
                  <a:pt x="12192000" y="4174488"/>
                </a:lnTo>
                <a:cubicBezTo>
                  <a:pt x="12005469" y="4244657"/>
                  <a:pt x="11857227" y="4389538"/>
                  <a:pt x="11786673" y="4572001"/>
                </a:cubicBezTo>
                <a:lnTo>
                  <a:pt x="11649784" y="4572001"/>
                </a:lnTo>
                <a:cubicBezTo>
                  <a:pt x="11730542" y="4320085"/>
                  <a:pt x="11933879" y="4121396"/>
                  <a:pt x="12192000" y="4041440"/>
                </a:cubicBezTo>
                <a:close/>
                <a:moveTo>
                  <a:pt x="10767111" y="3999419"/>
                </a:moveTo>
                <a:lnTo>
                  <a:pt x="10784198" y="4001042"/>
                </a:lnTo>
                <a:cubicBezTo>
                  <a:pt x="10816584" y="4001569"/>
                  <a:pt x="10848477" y="4004550"/>
                  <a:pt x="10879660" y="4010107"/>
                </a:cubicBezTo>
                <a:cubicBezTo>
                  <a:pt x="10885236" y="4009688"/>
                  <a:pt x="10890564" y="4010636"/>
                  <a:pt x="10895873" y="4011646"/>
                </a:cubicBezTo>
                <a:lnTo>
                  <a:pt x="10895990" y="4012794"/>
                </a:lnTo>
                <a:cubicBezTo>
                  <a:pt x="11208069" y="4064450"/>
                  <a:pt x="11461298" y="4283539"/>
                  <a:pt x="11554662" y="4572001"/>
                </a:cubicBezTo>
                <a:lnTo>
                  <a:pt x="11417114" y="4572001"/>
                </a:lnTo>
                <a:cubicBezTo>
                  <a:pt x="11333731" y="4357380"/>
                  <a:pt x="11143362" y="4194541"/>
                  <a:pt x="10909360" y="4144250"/>
                </a:cubicBezTo>
                <a:cubicBezTo>
                  <a:pt x="10943854" y="4319651"/>
                  <a:pt x="11046077" y="4471530"/>
                  <a:pt x="11189175" y="4572001"/>
                </a:cubicBezTo>
                <a:lnTo>
                  <a:pt x="10994934" y="4572001"/>
                </a:lnTo>
                <a:cubicBezTo>
                  <a:pt x="10878802" y="4452596"/>
                  <a:pt x="10800240" y="4298519"/>
                  <a:pt x="10775875" y="4127511"/>
                </a:cubicBezTo>
                <a:cubicBezTo>
                  <a:pt x="10775707" y="4127458"/>
                  <a:pt x="10775539" y="4127453"/>
                  <a:pt x="10775369" y="4127448"/>
                </a:cubicBezTo>
                <a:lnTo>
                  <a:pt x="10774831" y="4120772"/>
                </a:lnTo>
                <a:cubicBezTo>
                  <a:pt x="10769772" y="4090522"/>
                  <a:pt x="10767321" y="4059631"/>
                  <a:pt x="10767364" y="4028296"/>
                </a:cubicBezTo>
                <a:cubicBezTo>
                  <a:pt x="10766052" y="4022668"/>
                  <a:pt x="10765993" y="4017001"/>
                  <a:pt x="10765993" y="4011320"/>
                </a:cubicBezTo>
                <a:lnTo>
                  <a:pt x="10766587" y="3999880"/>
                </a:lnTo>
                <a:lnTo>
                  <a:pt x="10767085" y="3999913"/>
                </a:lnTo>
                <a:close/>
                <a:moveTo>
                  <a:pt x="10744358" y="3999419"/>
                </a:moveTo>
                <a:lnTo>
                  <a:pt x="10744384" y="3999913"/>
                </a:lnTo>
                <a:lnTo>
                  <a:pt x="10744882" y="3999880"/>
                </a:lnTo>
                <a:lnTo>
                  <a:pt x="10745476" y="4011320"/>
                </a:lnTo>
                <a:cubicBezTo>
                  <a:pt x="10745476" y="4017001"/>
                  <a:pt x="10745417" y="4022668"/>
                  <a:pt x="10744105" y="4028296"/>
                </a:cubicBezTo>
                <a:cubicBezTo>
                  <a:pt x="10744148" y="4059631"/>
                  <a:pt x="10741697" y="4090522"/>
                  <a:pt x="10736638" y="4120772"/>
                </a:cubicBezTo>
                <a:lnTo>
                  <a:pt x="10736100" y="4127448"/>
                </a:lnTo>
                <a:cubicBezTo>
                  <a:pt x="10735930" y="4127453"/>
                  <a:pt x="10735762" y="4127458"/>
                  <a:pt x="10735594" y="4127511"/>
                </a:cubicBezTo>
                <a:cubicBezTo>
                  <a:pt x="10711229" y="4298519"/>
                  <a:pt x="10632667" y="4452596"/>
                  <a:pt x="10516535" y="4572001"/>
                </a:cubicBezTo>
                <a:lnTo>
                  <a:pt x="10322294" y="4572001"/>
                </a:lnTo>
                <a:cubicBezTo>
                  <a:pt x="10465392" y="4471530"/>
                  <a:pt x="10567615" y="4319650"/>
                  <a:pt x="10602109" y="4144250"/>
                </a:cubicBezTo>
                <a:cubicBezTo>
                  <a:pt x="10368107" y="4194541"/>
                  <a:pt x="10177738" y="4357380"/>
                  <a:pt x="10094355" y="4572001"/>
                </a:cubicBezTo>
                <a:lnTo>
                  <a:pt x="9956808" y="4572001"/>
                </a:lnTo>
                <a:cubicBezTo>
                  <a:pt x="10050171" y="4283539"/>
                  <a:pt x="10303400" y="4064450"/>
                  <a:pt x="10615479" y="4012794"/>
                </a:cubicBezTo>
                <a:lnTo>
                  <a:pt x="10615596" y="4011646"/>
                </a:lnTo>
                <a:cubicBezTo>
                  <a:pt x="10620905" y="4010636"/>
                  <a:pt x="10626233" y="4009688"/>
                  <a:pt x="10631809" y="4010107"/>
                </a:cubicBezTo>
                <a:cubicBezTo>
                  <a:pt x="10662992" y="4004550"/>
                  <a:pt x="10694885" y="4001569"/>
                  <a:pt x="10727271" y="4001042"/>
                </a:cubicBezTo>
                <a:close/>
                <a:moveTo>
                  <a:pt x="9074958" y="3999419"/>
                </a:moveTo>
                <a:lnTo>
                  <a:pt x="9092045" y="4001042"/>
                </a:lnTo>
                <a:cubicBezTo>
                  <a:pt x="9124431" y="4001569"/>
                  <a:pt x="9156324" y="4004550"/>
                  <a:pt x="9187507" y="4010107"/>
                </a:cubicBezTo>
                <a:cubicBezTo>
                  <a:pt x="9193083" y="4009688"/>
                  <a:pt x="9198411" y="4010636"/>
                  <a:pt x="9203720" y="4011646"/>
                </a:cubicBezTo>
                <a:lnTo>
                  <a:pt x="9203837" y="4012794"/>
                </a:lnTo>
                <a:cubicBezTo>
                  <a:pt x="9515916" y="4064450"/>
                  <a:pt x="9769145" y="4283539"/>
                  <a:pt x="9862508" y="4572001"/>
                </a:cubicBezTo>
                <a:lnTo>
                  <a:pt x="9724961" y="4572001"/>
                </a:lnTo>
                <a:cubicBezTo>
                  <a:pt x="9641578" y="4357380"/>
                  <a:pt x="9451209" y="4194541"/>
                  <a:pt x="9217207" y="4144250"/>
                </a:cubicBezTo>
                <a:cubicBezTo>
                  <a:pt x="9251701" y="4319651"/>
                  <a:pt x="9353924" y="4471530"/>
                  <a:pt x="9497022" y="4572001"/>
                </a:cubicBezTo>
                <a:lnTo>
                  <a:pt x="9302781" y="4572001"/>
                </a:lnTo>
                <a:cubicBezTo>
                  <a:pt x="9186649" y="4452596"/>
                  <a:pt x="9108087" y="4298519"/>
                  <a:pt x="9083722" y="4127511"/>
                </a:cubicBezTo>
                <a:cubicBezTo>
                  <a:pt x="9083554" y="4127458"/>
                  <a:pt x="9083386" y="4127453"/>
                  <a:pt x="9083216" y="4127448"/>
                </a:cubicBezTo>
                <a:lnTo>
                  <a:pt x="9082678" y="4120772"/>
                </a:lnTo>
                <a:cubicBezTo>
                  <a:pt x="9077619" y="4090522"/>
                  <a:pt x="9075168" y="4059631"/>
                  <a:pt x="9075211" y="4028296"/>
                </a:cubicBezTo>
                <a:cubicBezTo>
                  <a:pt x="9073899" y="4022668"/>
                  <a:pt x="9073840" y="4017001"/>
                  <a:pt x="9073840" y="4011320"/>
                </a:cubicBezTo>
                <a:lnTo>
                  <a:pt x="9074434" y="3999880"/>
                </a:lnTo>
                <a:lnTo>
                  <a:pt x="9074932" y="3999913"/>
                </a:lnTo>
                <a:close/>
                <a:moveTo>
                  <a:pt x="9052207" y="3999419"/>
                </a:moveTo>
                <a:lnTo>
                  <a:pt x="9052233" y="3999913"/>
                </a:lnTo>
                <a:lnTo>
                  <a:pt x="9052731" y="3999880"/>
                </a:lnTo>
                <a:lnTo>
                  <a:pt x="9053325" y="4011320"/>
                </a:lnTo>
                <a:cubicBezTo>
                  <a:pt x="9053325" y="4017001"/>
                  <a:pt x="9053266" y="4022668"/>
                  <a:pt x="9051954" y="4028296"/>
                </a:cubicBezTo>
                <a:cubicBezTo>
                  <a:pt x="9051997" y="4059631"/>
                  <a:pt x="9049546" y="4090522"/>
                  <a:pt x="9044487" y="4120772"/>
                </a:cubicBezTo>
                <a:lnTo>
                  <a:pt x="9043949" y="4127448"/>
                </a:lnTo>
                <a:cubicBezTo>
                  <a:pt x="9043779" y="4127453"/>
                  <a:pt x="9043611" y="4127458"/>
                  <a:pt x="9043443" y="4127511"/>
                </a:cubicBezTo>
                <a:cubicBezTo>
                  <a:pt x="9019078" y="4298519"/>
                  <a:pt x="8940516" y="4452596"/>
                  <a:pt x="8824384" y="4572001"/>
                </a:cubicBezTo>
                <a:lnTo>
                  <a:pt x="8630143" y="4572001"/>
                </a:lnTo>
                <a:cubicBezTo>
                  <a:pt x="8773241" y="4471530"/>
                  <a:pt x="8875464" y="4319651"/>
                  <a:pt x="8909958" y="4144250"/>
                </a:cubicBezTo>
                <a:cubicBezTo>
                  <a:pt x="8675956" y="4194541"/>
                  <a:pt x="8485587" y="4357380"/>
                  <a:pt x="8402204" y="4572001"/>
                </a:cubicBezTo>
                <a:lnTo>
                  <a:pt x="8264656" y="4572001"/>
                </a:lnTo>
                <a:cubicBezTo>
                  <a:pt x="8358019" y="4283539"/>
                  <a:pt x="8611249" y="4064450"/>
                  <a:pt x="8923328" y="4012794"/>
                </a:cubicBezTo>
                <a:lnTo>
                  <a:pt x="8923445" y="4011646"/>
                </a:lnTo>
                <a:cubicBezTo>
                  <a:pt x="8928754" y="4010636"/>
                  <a:pt x="8934082" y="4009688"/>
                  <a:pt x="8939658" y="4010107"/>
                </a:cubicBezTo>
                <a:cubicBezTo>
                  <a:pt x="8970841" y="4004550"/>
                  <a:pt x="9002734" y="4001569"/>
                  <a:pt x="9035120" y="4001042"/>
                </a:cubicBezTo>
                <a:close/>
                <a:moveTo>
                  <a:pt x="7382807" y="3999419"/>
                </a:moveTo>
                <a:lnTo>
                  <a:pt x="7399895" y="4001042"/>
                </a:lnTo>
                <a:cubicBezTo>
                  <a:pt x="7432280" y="4001569"/>
                  <a:pt x="7464173" y="4004550"/>
                  <a:pt x="7495356" y="4010107"/>
                </a:cubicBezTo>
                <a:cubicBezTo>
                  <a:pt x="7500932" y="4009688"/>
                  <a:pt x="7506260" y="4010636"/>
                  <a:pt x="7511569" y="4011646"/>
                </a:cubicBezTo>
                <a:lnTo>
                  <a:pt x="7511686" y="4012794"/>
                </a:lnTo>
                <a:cubicBezTo>
                  <a:pt x="7823765" y="4064450"/>
                  <a:pt x="8076994" y="4283539"/>
                  <a:pt x="8170358" y="4572001"/>
                </a:cubicBezTo>
                <a:lnTo>
                  <a:pt x="8032809" y="4572001"/>
                </a:lnTo>
                <a:cubicBezTo>
                  <a:pt x="7949426" y="4357380"/>
                  <a:pt x="7759058" y="4194541"/>
                  <a:pt x="7525056" y="4144250"/>
                </a:cubicBezTo>
                <a:cubicBezTo>
                  <a:pt x="7559550" y="4319650"/>
                  <a:pt x="7661773" y="4471530"/>
                  <a:pt x="7804870" y="4572001"/>
                </a:cubicBezTo>
                <a:lnTo>
                  <a:pt x="7610630" y="4572001"/>
                </a:lnTo>
                <a:cubicBezTo>
                  <a:pt x="7494498" y="4452596"/>
                  <a:pt x="7415935" y="4298519"/>
                  <a:pt x="7391571" y="4127511"/>
                </a:cubicBezTo>
                <a:cubicBezTo>
                  <a:pt x="7391403" y="4127458"/>
                  <a:pt x="7391235" y="4127453"/>
                  <a:pt x="7391065" y="4127448"/>
                </a:cubicBezTo>
                <a:lnTo>
                  <a:pt x="7390527" y="4120772"/>
                </a:lnTo>
                <a:cubicBezTo>
                  <a:pt x="7385468" y="4090522"/>
                  <a:pt x="7383018" y="4059631"/>
                  <a:pt x="7383060" y="4028296"/>
                </a:cubicBezTo>
                <a:cubicBezTo>
                  <a:pt x="7381748" y="4022668"/>
                  <a:pt x="7381689" y="4017001"/>
                  <a:pt x="7381689" y="4011320"/>
                </a:cubicBezTo>
                <a:lnTo>
                  <a:pt x="7382283" y="3999880"/>
                </a:lnTo>
                <a:lnTo>
                  <a:pt x="7382781" y="3999913"/>
                </a:lnTo>
                <a:close/>
                <a:moveTo>
                  <a:pt x="7360056" y="3999419"/>
                </a:moveTo>
                <a:lnTo>
                  <a:pt x="7360082" y="3999913"/>
                </a:lnTo>
                <a:lnTo>
                  <a:pt x="7360580" y="3999880"/>
                </a:lnTo>
                <a:lnTo>
                  <a:pt x="7361174" y="4011320"/>
                </a:lnTo>
                <a:cubicBezTo>
                  <a:pt x="7361174" y="4017001"/>
                  <a:pt x="7361115" y="4022668"/>
                  <a:pt x="7359803" y="4028296"/>
                </a:cubicBezTo>
                <a:cubicBezTo>
                  <a:pt x="7359845" y="4059631"/>
                  <a:pt x="7357395" y="4090522"/>
                  <a:pt x="7352336" y="4120772"/>
                </a:cubicBezTo>
                <a:lnTo>
                  <a:pt x="7351798" y="4127448"/>
                </a:lnTo>
                <a:cubicBezTo>
                  <a:pt x="7351628" y="4127453"/>
                  <a:pt x="7351460" y="4127458"/>
                  <a:pt x="7351292" y="4127511"/>
                </a:cubicBezTo>
                <a:cubicBezTo>
                  <a:pt x="7326927" y="4298519"/>
                  <a:pt x="7248364" y="4452596"/>
                  <a:pt x="7132233" y="4572001"/>
                </a:cubicBezTo>
                <a:lnTo>
                  <a:pt x="6937992" y="4572001"/>
                </a:lnTo>
                <a:cubicBezTo>
                  <a:pt x="7081090" y="4471530"/>
                  <a:pt x="7183313" y="4319650"/>
                  <a:pt x="7217807" y="4144250"/>
                </a:cubicBezTo>
                <a:cubicBezTo>
                  <a:pt x="6983804" y="4194541"/>
                  <a:pt x="6793436" y="4357380"/>
                  <a:pt x="6710053" y="4572001"/>
                </a:cubicBezTo>
                <a:lnTo>
                  <a:pt x="6572505" y="4572001"/>
                </a:lnTo>
                <a:cubicBezTo>
                  <a:pt x="6665868" y="4283539"/>
                  <a:pt x="6919098" y="4064450"/>
                  <a:pt x="7231177" y="4012794"/>
                </a:cubicBezTo>
                <a:lnTo>
                  <a:pt x="7231294" y="4011646"/>
                </a:lnTo>
                <a:cubicBezTo>
                  <a:pt x="7236603" y="4010636"/>
                  <a:pt x="7241931" y="4009688"/>
                  <a:pt x="7247507" y="4010107"/>
                </a:cubicBezTo>
                <a:cubicBezTo>
                  <a:pt x="7278690" y="4004550"/>
                  <a:pt x="7310583" y="4001569"/>
                  <a:pt x="7342968" y="4001042"/>
                </a:cubicBezTo>
                <a:close/>
                <a:moveTo>
                  <a:pt x="5690656" y="3999419"/>
                </a:moveTo>
                <a:lnTo>
                  <a:pt x="5707743" y="4001042"/>
                </a:lnTo>
                <a:cubicBezTo>
                  <a:pt x="5740129" y="4001569"/>
                  <a:pt x="5772021" y="4004550"/>
                  <a:pt x="5803205" y="4010107"/>
                </a:cubicBezTo>
                <a:cubicBezTo>
                  <a:pt x="5808781" y="4009688"/>
                  <a:pt x="5814109" y="4010636"/>
                  <a:pt x="5819417" y="4011646"/>
                </a:cubicBezTo>
                <a:lnTo>
                  <a:pt x="5819534" y="4012794"/>
                </a:lnTo>
                <a:cubicBezTo>
                  <a:pt x="6131614" y="4064450"/>
                  <a:pt x="6384843" y="4283539"/>
                  <a:pt x="6478206" y="4572001"/>
                </a:cubicBezTo>
                <a:lnTo>
                  <a:pt x="6340658" y="4572001"/>
                </a:lnTo>
                <a:cubicBezTo>
                  <a:pt x="6257275" y="4357380"/>
                  <a:pt x="6066907" y="4194541"/>
                  <a:pt x="5832905" y="4144250"/>
                </a:cubicBezTo>
                <a:cubicBezTo>
                  <a:pt x="5867399" y="4319651"/>
                  <a:pt x="5969622" y="4471530"/>
                  <a:pt x="6112719" y="4572001"/>
                </a:cubicBezTo>
                <a:lnTo>
                  <a:pt x="5918478" y="4572001"/>
                </a:lnTo>
                <a:cubicBezTo>
                  <a:pt x="5802347" y="4452596"/>
                  <a:pt x="5723784" y="4298519"/>
                  <a:pt x="5699419" y="4127511"/>
                </a:cubicBezTo>
                <a:cubicBezTo>
                  <a:pt x="5699252" y="4127458"/>
                  <a:pt x="5699083" y="4127453"/>
                  <a:pt x="5698914" y="4127448"/>
                </a:cubicBezTo>
                <a:lnTo>
                  <a:pt x="5698375" y="4120772"/>
                </a:lnTo>
                <a:cubicBezTo>
                  <a:pt x="5693317" y="4090522"/>
                  <a:pt x="5690866" y="4059631"/>
                  <a:pt x="5690908" y="4028296"/>
                </a:cubicBezTo>
                <a:cubicBezTo>
                  <a:pt x="5689596" y="4022668"/>
                  <a:pt x="5689538" y="4017001"/>
                  <a:pt x="5689538" y="4011320"/>
                </a:cubicBezTo>
                <a:lnTo>
                  <a:pt x="5690132" y="3999880"/>
                </a:lnTo>
                <a:lnTo>
                  <a:pt x="5690630" y="3999913"/>
                </a:lnTo>
                <a:close/>
                <a:moveTo>
                  <a:pt x="5667905" y="3999419"/>
                </a:moveTo>
                <a:lnTo>
                  <a:pt x="5667931" y="3999913"/>
                </a:lnTo>
                <a:lnTo>
                  <a:pt x="5668429" y="3999880"/>
                </a:lnTo>
                <a:lnTo>
                  <a:pt x="5669023" y="4011320"/>
                </a:lnTo>
                <a:cubicBezTo>
                  <a:pt x="5669023" y="4017001"/>
                  <a:pt x="5668964" y="4022668"/>
                  <a:pt x="5667652" y="4028296"/>
                </a:cubicBezTo>
                <a:cubicBezTo>
                  <a:pt x="5667694" y="4059631"/>
                  <a:pt x="5665244" y="4090522"/>
                  <a:pt x="5660185" y="4120772"/>
                </a:cubicBezTo>
                <a:lnTo>
                  <a:pt x="5659647" y="4127448"/>
                </a:lnTo>
                <a:cubicBezTo>
                  <a:pt x="5659477" y="4127453"/>
                  <a:pt x="5659309" y="4127458"/>
                  <a:pt x="5659141" y="4127511"/>
                </a:cubicBezTo>
                <a:cubicBezTo>
                  <a:pt x="5634776" y="4298519"/>
                  <a:pt x="5556213" y="4452596"/>
                  <a:pt x="5440082" y="4572001"/>
                </a:cubicBezTo>
                <a:lnTo>
                  <a:pt x="5245841" y="4572001"/>
                </a:lnTo>
                <a:cubicBezTo>
                  <a:pt x="5388939" y="4471530"/>
                  <a:pt x="5491162" y="4319651"/>
                  <a:pt x="5525656" y="4144250"/>
                </a:cubicBezTo>
                <a:cubicBezTo>
                  <a:pt x="5291653" y="4194541"/>
                  <a:pt x="5101285" y="4357380"/>
                  <a:pt x="5017902" y="4572001"/>
                </a:cubicBezTo>
                <a:lnTo>
                  <a:pt x="4880354" y="4572001"/>
                </a:lnTo>
                <a:cubicBezTo>
                  <a:pt x="4973717" y="4283539"/>
                  <a:pt x="5226947" y="4064450"/>
                  <a:pt x="5539026" y="4012794"/>
                </a:cubicBezTo>
                <a:lnTo>
                  <a:pt x="5539143" y="4011646"/>
                </a:lnTo>
                <a:cubicBezTo>
                  <a:pt x="5544452" y="4010636"/>
                  <a:pt x="5549780" y="4009688"/>
                  <a:pt x="5555356" y="4010107"/>
                </a:cubicBezTo>
                <a:cubicBezTo>
                  <a:pt x="5586539" y="4004550"/>
                  <a:pt x="5618432" y="4001569"/>
                  <a:pt x="5650817" y="4001042"/>
                </a:cubicBezTo>
                <a:close/>
                <a:moveTo>
                  <a:pt x="3998505" y="3999419"/>
                </a:moveTo>
                <a:lnTo>
                  <a:pt x="4015592" y="4001042"/>
                </a:lnTo>
                <a:cubicBezTo>
                  <a:pt x="4047978" y="4001569"/>
                  <a:pt x="4079870" y="4004550"/>
                  <a:pt x="4111054" y="4010107"/>
                </a:cubicBezTo>
                <a:cubicBezTo>
                  <a:pt x="4116630" y="4009688"/>
                  <a:pt x="4121958" y="4010636"/>
                  <a:pt x="4127266" y="4011646"/>
                </a:cubicBezTo>
                <a:lnTo>
                  <a:pt x="4127384" y="4012794"/>
                </a:lnTo>
                <a:cubicBezTo>
                  <a:pt x="4439463" y="4064450"/>
                  <a:pt x="4692692" y="4283539"/>
                  <a:pt x="4786055" y="4572001"/>
                </a:cubicBezTo>
                <a:lnTo>
                  <a:pt x="4648508" y="4572001"/>
                </a:lnTo>
                <a:cubicBezTo>
                  <a:pt x="4565124" y="4357380"/>
                  <a:pt x="4374756" y="4194541"/>
                  <a:pt x="4140754" y="4144250"/>
                </a:cubicBezTo>
                <a:cubicBezTo>
                  <a:pt x="4175248" y="4319650"/>
                  <a:pt x="4277471" y="4471530"/>
                  <a:pt x="4420568" y="4572001"/>
                </a:cubicBezTo>
                <a:lnTo>
                  <a:pt x="4226327" y="4572001"/>
                </a:lnTo>
                <a:cubicBezTo>
                  <a:pt x="4110196" y="4452596"/>
                  <a:pt x="4031633" y="4298519"/>
                  <a:pt x="4007268" y="4127511"/>
                </a:cubicBezTo>
                <a:cubicBezTo>
                  <a:pt x="4007101" y="4127458"/>
                  <a:pt x="4006932" y="4127453"/>
                  <a:pt x="4006763" y="4127448"/>
                </a:cubicBezTo>
                <a:lnTo>
                  <a:pt x="4006225" y="4120772"/>
                </a:lnTo>
                <a:cubicBezTo>
                  <a:pt x="4001166" y="4090522"/>
                  <a:pt x="3998715" y="4059631"/>
                  <a:pt x="3998757" y="4028296"/>
                </a:cubicBezTo>
                <a:cubicBezTo>
                  <a:pt x="3997445" y="4022668"/>
                  <a:pt x="3997387" y="4017001"/>
                  <a:pt x="3997387" y="4011320"/>
                </a:cubicBezTo>
                <a:lnTo>
                  <a:pt x="3997981" y="3999880"/>
                </a:lnTo>
                <a:lnTo>
                  <a:pt x="3998479" y="3999913"/>
                </a:lnTo>
                <a:close/>
                <a:moveTo>
                  <a:pt x="3975754" y="3999419"/>
                </a:moveTo>
                <a:lnTo>
                  <a:pt x="3975780" y="3999913"/>
                </a:lnTo>
                <a:lnTo>
                  <a:pt x="3976278" y="3999880"/>
                </a:lnTo>
                <a:lnTo>
                  <a:pt x="3976872" y="4011320"/>
                </a:lnTo>
                <a:cubicBezTo>
                  <a:pt x="3976872" y="4017001"/>
                  <a:pt x="3976813" y="4022668"/>
                  <a:pt x="3975501" y="4028296"/>
                </a:cubicBezTo>
                <a:cubicBezTo>
                  <a:pt x="3975543" y="4059631"/>
                  <a:pt x="3973093" y="4090522"/>
                  <a:pt x="3968034" y="4120772"/>
                </a:cubicBezTo>
                <a:lnTo>
                  <a:pt x="3967496" y="4127448"/>
                </a:lnTo>
                <a:cubicBezTo>
                  <a:pt x="3967326" y="4127453"/>
                  <a:pt x="3967158" y="4127458"/>
                  <a:pt x="3966990" y="4127511"/>
                </a:cubicBezTo>
                <a:cubicBezTo>
                  <a:pt x="3942625" y="4298519"/>
                  <a:pt x="3864063" y="4452596"/>
                  <a:pt x="3747931" y="4572001"/>
                </a:cubicBezTo>
                <a:lnTo>
                  <a:pt x="3553690" y="4572001"/>
                </a:lnTo>
                <a:cubicBezTo>
                  <a:pt x="3696788" y="4471530"/>
                  <a:pt x="3799011" y="4319651"/>
                  <a:pt x="3833505" y="4144250"/>
                </a:cubicBezTo>
                <a:cubicBezTo>
                  <a:pt x="3599503" y="4194541"/>
                  <a:pt x="3409134" y="4357380"/>
                  <a:pt x="3325751" y="4572001"/>
                </a:cubicBezTo>
                <a:lnTo>
                  <a:pt x="3188203" y="4572001"/>
                </a:lnTo>
                <a:cubicBezTo>
                  <a:pt x="3281566" y="4283539"/>
                  <a:pt x="3534796" y="4064450"/>
                  <a:pt x="3846875" y="4012794"/>
                </a:cubicBezTo>
                <a:lnTo>
                  <a:pt x="3846992" y="4011646"/>
                </a:lnTo>
                <a:cubicBezTo>
                  <a:pt x="3852301" y="4010636"/>
                  <a:pt x="3857629" y="4009688"/>
                  <a:pt x="3863205" y="4010107"/>
                </a:cubicBezTo>
                <a:cubicBezTo>
                  <a:pt x="3894388" y="4004550"/>
                  <a:pt x="3926281" y="4001569"/>
                  <a:pt x="3958666" y="4001042"/>
                </a:cubicBezTo>
                <a:close/>
                <a:moveTo>
                  <a:pt x="2306354" y="3999419"/>
                </a:moveTo>
                <a:lnTo>
                  <a:pt x="2323441" y="4001042"/>
                </a:lnTo>
                <a:cubicBezTo>
                  <a:pt x="2355827" y="4001569"/>
                  <a:pt x="2387719" y="4004550"/>
                  <a:pt x="2418903" y="4010107"/>
                </a:cubicBezTo>
                <a:cubicBezTo>
                  <a:pt x="2424479" y="4009688"/>
                  <a:pt x="2429807" y="4010636"/>
                  <a:pt x="2435115" y="4011646"/>
                </a:cubicBezTo>
                <a:lnTo>
                  <a:pt x="2435233" y="4012794"/>
                </a:lnTo>
                <a:cubicBezTo>
                  <a:pt x="2747312" y="4064450"/>
                  <a:pt x="3000542" y="4283539"/>
                  <a:pt x="3093904" y="4572001"/>
                </a:cubicBezTo>
                <a:lnTo>
                  <a:pt x="2956357" y="4572001"/>
                </a:lnTo>
                <a:cubicBezTo>
                  <a:pt x="2872974" y="4357380"/>
                  <a:pt x="2682605" y="4194541"/>
                  <a:pt x="2448603" y="4144250"/>
                </a:cubicBezTo>
                <a:cubicBezTo>
                  <a:pt x="2483097" y="4319651"/>
                  <a:pt x="2585320" y="4471530"/>
                  <a:pt x="2728418" y="4572001"/>
                </a:cubicBezTo>
                <a:lnTo>
                  <a:pt x="2534177" y="4572001"/>
                </a:lnTo>
                <a:cubicBezTo>
                  <a:pt x="2418045" y="4452596"/>
                  <a:pt x="2339482" y="4298519"/>
                  <a:pt x="2315117" y="4127511"/>
                </a:cubicBezTo>
                <a:cubicBezTo>
                  <a:pt x="2314950" y="4127458"/>
                  <a:pt x="2314781" y="4127453"/>
                  <a:pt x="2314612" y="4127448"/>
                </a:cubicBezTo>
                <a:lnTo>
                  <a:pt x="2314074" y="4120772"/>
                </a:lnTo>
                <a:cubicBezTo>
                  <a:pt x="2309015" y="4090522"/>
                  <a:pt x="2306564" y="4059631"/>
                  <a:pt x="2306606" y="4028296"/>
                </a:cubicBezTo>
                <a:cubicBezTo>
                  <a:pt x="2305294" y="4022668"/>
                  <a:pt x="2305236" y="4017001"/>
                  <a:pt x="2305236" y="4011320"/>
                </a:cubicBezTo>
                <a:lnTo>
                  <a:pt x="2305830" y="3999880"/>
                </a:lnTo>
                <a:lnTo>
                  <a:pt x="2306328" y="3999913"/>
                </a:lnTo>
                <a:close/>
                <a:moveTo>
                  <a:pt x="2283603" y="3999419"/>
                </a:moveTo>
                <a:lnTo>
                  <a:pt x="2283629" y="3999913"/>
                </a:lnTo>
                <a:lnTo>
                  <a:pt x="2284127" y="3999880"/>
                </a:lnTo>
                <a:lnTo>
                  <a:pt x="2284721" y="4011320"/>
                </a:lnTo>
                <a:cubicBezTo>
                  <a:pt x="2284721" y="4017001"/>
                  <a:pt x="2284662" y="4022668"/>
                  <a:pt x="2283350" y="4028296"/>
                </a:cubicBezTo>
                <a:cubicBezTo>
                  <a:pt x="2283392" y="4059631"/>
                  <a:pt x="2280942" y="4090522"/>
                  <a:pt x="2275883" y="4120772"/>
                </a:cubicBezTo>
                <a:lnTo>
                  <a:pt x="2275345" y="4127448"/>
                </a:lnTo>
                <a:cubicBezTo>
                  <a:pt x="2275175" y="4127453"/>
                  <a:pt x="2275007" y="4127458"/>
                  <a:pt x="2274839" y="4127511"/>
                </a:cubicBezTo>
                <a:cubicBezTo>
                  <a:pt x="2250474" y="4298519"/>
                  <a:pt x="2171912" y="4452596"/>
                  <a:pt x="2055780" y="4572001"/>
                </a:cubicBezTo>
                <a:lnTo>
                  <a:pt x="1861539" y="4572001"/>
                </a:lnTo>
                <a:cubicBezTo>
                  <a:pt x="2004637" y="4471530"/>
                  <a:pt x="2106860" y="4319650"/>
                  <a:pt x="2141354" y="4144250"/>
                </a:cubicBezTo>
                <a:cubicBezTo>
                  <a:pt x="1907352" y="4194541"/>
                  <a:pt x="1716983" y="4357380"/>
                  <a:pt x="1633600" y="4572001"/>
                </a:cubicBezTo>
                <a:lnTo>
                  <a:pt x="1496052" y="4572001"/>
                </a:lnTo>
                <a:cubicBezTo>
                  <a:pt x="1589416" y="4283539"/>
                  <a:pt x="1842645" y="4064450"/>
                  <a:pt x="2154724" y="4012794"/>
                </a:cubicBezTo>
                <a:lnTo>
                  <a:pt x="2154841" y="4011646"/>
                </a:lnTo>
                <a:cubicBezTo>
                  <a:pt x="2160150" y="4010636"/>
                  <a:pt x="2165478" y="4009688"/>
                  <a:pt x="2171054" y="4010107"/>
                </a:cubicBezTo>
                <a:cubicBezTo>
                  <a:pt x="2202237" y="4004550"/>
                  <a:pt x="2234130" y="4001569"/>
                  <a:pt x="2266515" y="4001042"/>
                </a:cubicBezTo>
                <a:close/>
                <a:moveTo>
                  <a:pt x="614203" y="3999419"/>
                </a:moveTo>
                <a:lnTo>
                  <a:pt x="631290" y="4001042"/>
                </a:lnTo>
                <a:cubicBezTo>
                  <a:pt x="663676" y="4001569"/>
                  <a:pt x="695568" y="4004550"/>
                  <a:pt x="726752" y="4010107"/>
                </a:cubicBezTo>
                <a:cubicBezTo>
                  <a:pt x="732328" y="4009688"/>
                  <a:pt x="737656" y="4010636"/>
                  <a:pt x="742964" y="4011646"/>
                </a:cubicBezTo>
                <a:lnTo>
                  <a:pt x="743081" y="4012794"/>
                </a:lnTo>
                <a:cubicBezTo>
                  <a:pt x="1055161" y="4064450"/>
                  <a:pt x="1308390" y="4283539"/>
                  <a:pt x="1401754" y="4572001"/>
                </a:cubicBezTo>
                <a:lnTo>
                  <a:pt x="1264205" y="4572001"/>
                </a:lnTo>
                <a:cubicBezTo>
                  <a:pt x="1180823" y="4357380"/>
                  <a:pt x="990454" y="4194541"/>
                  <a:pt x="756452" y="4144250"/>
                </a:cubicBezTo>
                <a:cubicBezTo>
                  <a:pt x="790946" y="4319651"/>
                  <a:pt x="893169" y="4471530"/>
                  <a:pt x="1036266" y="4572001"/>
                </a:cubicBezTo>
                <a:lnTo>
                  <a:pt x="842026" y="4572001"/>
                </a:lnTo>
                <a:cubicBezTo>
                  <a:pt x="725894" y="4452596"/>
                  <a:pt x="647331" y="4298519"/>
                  <a:pt x="622966" y="4127511"/>
                </a:cubicBezTo>
                <a:cubicBezTo>
                  <a:pt x="622799" y="4127458"/>
                  <a:pt x="622630" y="4127453"/>
                  <a:pt x="622461" y="4127448"/>
                </a:cubicBezTo>
                <a:lnTo>
                  <a:pt x="621923" y="4120772"/>
                </a:lnTo>
                <a:cubicBezTo>
                  <a:pt x="616864" y="4090522"/>
                  <a:pt x="614413" y="4059631"/>
                  <a:pt x="614455" y="4028296"/>
                </a:cubicBezTo>
                <a:cubicBezTo>
                  <a:pt x="613143" y="4022668"/>
                  <a:pt x="613085" y="4017001"/>
                  <a:pt x="613085" y="4011320"/>
                </a:cubicBezTo>
                <a:lnTo>
                  <a:pt x="613679" y="3999880"/>
                </a:lnTo>
                <a:lnTo>
                  <a:pt x="614177" y="3999913"/>
                </a:lnTo>
                <a:close/>
                <a:moveTo>
                  <a:pt x="591452" y="3999419"/>
                </a:moveTo>
                <a:lnTo>
                  <a:pt x="591478" y="3999913"/>
                </a:lnTo>
                <a:lnTo>
                  <a:pt x="591976" y="3999880"/>
                </a:lnTo>
                <a:lnTo>
                  <a:pt x="592570" y="4011320"/>
                </a:lnTo>
                <a:cubicBezTo>
                  <a:pt x="592570" y="4017001"/>
                  <a:pt x="592511" y="4022668"/>
                  <a:pt x="591199" y="4028296"/>
                </a:cubicBezTo>
                <a:cubicBezTo>
                  <a:pt x="591242" y="4059631"/>
                  <a:pt x="588791" y="4090522"/>
                  <a:pt x="583732" y="4120772"/>
                </a:cubicBezTo>
                <a:lnTo>
                  <a:pt x="583194" y="4127448"/>
                </a:lnTo>
                <a:cubicBezTo>
                  <a:pt x="583024" y="4127453"/>
                  <a:pt x="582856" y="4127458"/>
                  <a:pt x="582689" y="4127511"/>
                </a:cubicBezTo>
                <a:cubicBezTo>
                  <a:pt x="558275" y="4298863"/>
                  <a:pt x="479445" y="4453216"/>
                  <a:pt x="362360" y="4572001"/>
                </a:cubicBezTo>
                <a:lnTo>
                  <a:pt x="169811" y="4572001"/>
                </a:lnTo>
                <a:cubicBezTo>
                  <a:pt x="312603" y="4471357"/>
                  <a:pt x="414729" y="4319551"/>
                  <a:pt x="449203" y="4144250"/>
                </a:cubicBezTo>
                <a:cubicBezTo>
                  <a:pt x="258971" y="4185134"/>
                  <a:pt x="97576" y="4300399"/>
                  <a:pt x="0" y="4458139"/>
                </a:cubicBezTo>
                <a:lnTo>
                  <a:pt x="0" y="4251345"/>
                </a:lnTo>
                <a:cubicBezTo>
                  <a:pt x="121484" y="4128438"/>
                  <a:pt x="282199" y="4042650"/>
                  <a:pt x="462573" y="4012794"/>
                </a:cubicBezTo>
                <a:lnTo>
                  <a:pt x="462690" y="4011646"/>
                </a:lnTo>
                <a:cubicBezTo>
                  <a:pt x="467999" y="4010636"/>
                  <a:pt x="473327" y="4009688"/>
                  <a:pt x="478903" y="4010107"/>
                </a:cubicBezTo>
                <a:cubicBezTo>
                  <a:pt x="510086" y="4004550"/>
                  <a:pt x="541979" y="4001569"/>
                  <a:pt x="574365" y="4001042"/>
                </a:cubicBezTo>
                <a:close/>
                <a:moveTo>
                  <a:pt x="11452667" y="3304913"/>
                </a:moveTo>
                <a:cubicBezTo>
                  <a:pt x="11177477" y="3363591"/>
                  <a:pt x="10962633" y="3576701"/>
                  <a:pt x="10909358" y="3845480"/>
                </a:cubicBezTo>
                <a:cubicBezTo>
                  <a:pt x="11184548" y="3786801"/>
                  <a:pt x="11399391" y="3573691"/>
                  <a:pt x="11452667" y="3304913"/>
                </a:cubicBezTo>
                <a:close/>
                <a:moveTo>
                  <a:pt x="10058800" y="3304913"/>
                </a:moveTo>
                <a:cubicBezTo>
                  <a:pt x="10112076" y="3573691"/>
                  <a:pt x="10326919" y="3786801"/>
                  <a:pt x="10602109" y="3845480"/>
                </a:cubicBezTo>
                <a:cubicBezTo>
                  <a:pt x="10548834" y="3576701"/>
                  <a:pt x="10333990" y="3363591"/>
                  <a:pt x="10058800" y="3304913"/>
                </a:cubicBezTo>
                <a:close/>
                <a:moveTo>
                  <a:pt x="9760514" y="3304913"/>
                </a:moveTo>
                <a:cubicBezTo>
                  <a:pt x="9485324" y="3363591"/>
                  <a:pt x="9270480" y="3576701"/>
                  <a:pt x="9217205" y="3845480"/>
                </a:cubicBezTo>
                <a:cubicBezTo>
                  <a:pt x="9492395" y="3786801"/>
                  <a:pt x="9707238" y="3573691"/>
                  <a:pt x="9760514" y="3304913"/>
                </a:cubicBezTo>
                <a:close/>
                <a:moveTo>
                  <a:pt x="8366649" y="3304913"/>
                </a:moveTo>
                <a:cubicBezTo>
                  <a:pt x="8419925" y="3573691"/>
                  <a:pt x="8634768" y="3786801"/>
                  <a:pt x="8909958" y="3845480"/>
                </a:cubicBezTo>
                <a:cubicBezTo>
                  <a:pt x="8856683" y="3576701"/>
                  <a:pt x="8641839" y="3363591"/>
                  <a:pt x="8366649" y="3304913"/>
                </a:cubicBezTo>
                <a:close/>
                <a:moveTo>
                  <a:pt x="8068363" y="3304913"/>
                </a:moveTo>
                <a:cubicBezTo>
                  <a:pt x="7793173" y="3363591"/>
                  <a:pt x="7578329" y="3576701"/>
                  <a:pt x="7525054" y="3845480"/>
                </a:cubicBezTo>
                <a:cubicBezTo>
                  <a:pt x="7800244" y="3786801"/>
                  <a:pt x="8015087" y="3573691"/>
                  <a:pt x="8068363" y="3304913"/>
                </a:cubicBezTo>
                <a:close/>
                <a:moveTo>
                  <a:pt x="6674498" y="3304913"/>
                </a:moveTo>
                <a:cubicBezTo>
                  <a:pt x="6727774" y="3573691"/>
                  <a:pt x="6942617" y="3786801"/>
                  <a:pt x="7217807" y="3845480"/>
                </a:cubicBezTo>
                <a:cubicBezTo>
                  <a:pt x="7164532" y="3576701"/>
                  <a:pt x="6949688" y="3363591"/>
                  <a:pt x="6674498" y="3304913"/>
                </a:cubicBezTo>
                <a:close/>
                <a:moveTo>
                  <a:pt x="6376212" y="3304913"/>
                </a:moveTo>
                <a:cubicBezTo>
                  <a:pt x="6101022" y="3363591"/>
                  <a:pt x="5886178" y="3576701"/>
                  <a:pt x="5832903" y="3845480"/>
                </a:cubicBezTo>
                <a:cubicBezTo>
                  <a:pt x="6108093" y="3786801"/>
                  <a:pt x="6322936" y="3573691"/>
                  <a:pt x="6376212" y="3304913"/>
                </a:cubicBezTo>
                <a:close/>
                <a:moveTo>
                  <a:pt x="4982347" y="3304913"/>
                </a:moveTo>
                <a:cubicBezTo>
                  <a:pt x="5035623" y="3573691"/>
                  <a:pt x="5250466" y="3786801"/>
                  <a:pt x="5525656" y="3845480"/>
                </a:cubicBezTo>
                <a:cubicBezTo>
                  <a:pt x="5472381" y="3576701"/>
                  <a:pt x="5257537" y="3363591"/>
                  <a:pt x="4982347" y="3304913"/>
                </a:cubicBezTo>
                <a:close/>
                <a:moveTo>
                  <a:pt x="4684061" y="3304913"/>
                </a:moveTo>
                <a:cubicBezTo>
                  <a:pt x="4408871" y="3363591"/>
                  <a:pt x="4194027" y="3576701"/>
                  <a:pt x="4140752" y="3845480"/>
                </a:cubicBezTo>
                <a:cubicBezTo>
                  <a:pt x="4415942" y="3786801"/>
                  <a:pt x="4630785" y="3573691"/>
                  <a:pt x="4684061" y="3304913"/>
                </a:cubicBezTo>
                <a:close/>
                <a:moveTo>
                  <a:pt x="3290196" y="3304913"/>
                </a:moveTo>
                <a:cubicBezTo>
                  <a:pt x="3343472" y="3573691"/>
                  <a:pt x="3558315" y="3786801"/>
                  <a:pt x="3833505" y="3845480"/>
                </a:cubicBezTo>
                <a:cubicBezTo>
                  <a:pt x="3780230" y="3576701"/>
                  <a:pt x="3565386" y="3363591"/>
                  <a:pt x="3290196" y="3304913"/>
                </a:cubicBezTo>
                <a:close/>
                <a:moveTo>
                  <a:pt x="2991910" y="3304913"/>
                </a:moveTo>
                <a:cubicBezTo>
                  <a:pt x="2716720" y="3363591"/>
                  <a:pt x="2501876" y="3576701"/>
                  <a:pt x="2448601" y="3845480"/>
                </a:cubicBezTo>
                <a:cubicBezTo>
                  <a:pt x="2723791" y="3786801"/>
                  <a:pt x="2938634" y="3573691"/>
                  <a:pt x="2991910" y="3304913"/>
                </a:cubicBezTo>
                <a:close/>
                <a:moveTo>
                  <a:pt x="1598045" y="3304913"/>
                </a:moveTo>
                <a:cubicBezTo>
                  <a:pt x="1651321" y="3573691"/>
                  <a:pt x="1866164" y="3786801"/>
                  <a:pt x="2141354" y="3845480"/>
                </a:cubicBezTo>
                <a:cubicBezTo>
                  <a:pt x="2088079" y="3576701"/>
                  <a:pt x="1873235" y="3363591"/>
                  <a:pt x="1598045" y="3304913"/>
                </a:cubicBezTo>
                <a:close/>
                <a:moveTo>
                  <a:pt x="1299759" y="3304913"/>
                </a:moveTo>
                <a:cubicBezTo>
                  <a:pt x="1024569" y="3363591"/>
                  <a:pt x="809725" y="3576701"/>
                  <a:pt x="756450" y="3845480"/>
                </a:cubicBezTo>
                <a:cubicBezTo>
                  <a:pt x="1031640" y="3786801"/>
                  <a:pt x="1246483" y="3573691"/>
                  <a:pt x="1299759" y="3304913"/>
                </a:cubicBezTo>
                <a:close/>
                <a:moveTo>
                  <a:pt x="0" y="3200906"/>
                </a:moveTo>
                <a:cubicBezTo>
                  <a:pt x="306658" y="3291386"/>
                  <a:pt x="537576" y="3547942"/>
                  <a:pt x="582690" y="3862087"/>
                </a:cubicBezTo>
                <a:cubicBezTo>
                  <a:pt x="582857" y="3862140"/>
                  <a:pt x="583026" y="3862145"/>
                  <a:pt x="583195" y="3862150"/>
                </a:cubicBezTo>
                <a:lnTo>
                  <a:pt x="583735" y="3868787"/>
                </a:lnTo>
                <a:cubicBezTo>
                  <a:pt x="588792" y="3898794"/>
                  <a:pt x="591242" y="3929436"/>
                  <a:pt x="591199" y="3960518"/>
                </a:cubicBezTo>
                <a:cubicBezTo>
                  <a:pt x="592511" y="3966104"/>
                  <a:pt x="592570" y="3971728"/>
                  <a:pt x="592570" y="3977366"/>
                </a:cubicBezTo>
                <a:cubicBezTo>
                  <a:pt x="592570" y="3981158"/>
                  <a:pt x="592543" y="3984944"/>
                  <a:pt x="591977" y="3988716"/>
                </a:cubicBezTo>
                <a:lnTo>
                  <a:pt x="591478" y="3988683"/>
                </a:lnTo>
                <a:lnTo>
                  <a:pt x="591452" y="3989174"/>
                </a:lnTo>
                <a:lnTo>
                  <a:pt x="574334" y="3987561"/>
                </a:lnTo>
                <a:cubicBezTo>
                  <a:pt x="541959" y="3987038"/>
                  <a:pt x="510079" y="3984080"/>
                  <a:pt x="478907" y="3978570"/>
                </a:cubicBezTo>
                <a:cubicBezTo>
                  <a:pt x="473330" y="3978986"/>
                  <a:pt x="468001" y="3978045"/>
                  <a:pt x="462690" y="3977042"/>
                </a:cubicBezTo>
                <a:lnTo>
                  <a:pt x="462574" y="3975903"/>
                </a:lnTo>
                <a:cubicBezTo>
                  <a:pt x="282200" y="3946281"/>
                  <a:pt x="121485" y="3861168"/>
                  <a:pt x="0" y="3739225"/>
                </a:cubicBezTo>
                <a:lnTo>
                  <a:pt x="0" y="3534056"/>
                </a:lnTo>
                <a:cubicBezTo>
                  <a:pt x="97584" y="3690562"/>
                  <a:pt x="258975" y="3804918"/>
                  <a:pt x="449203" y="3845480"/>
                </a:cubicBezTo>
                <a:cubicBezTo>
                  <a:pt x="402182" y="3608252"/>
                  <a:pt x="229297" y="3414390"/>
                  <a:pt x="0" y="3332205"/>
                </a:cubicBezTo>
                <a:close/>
                <a:moveTo>
                  <a:pt x="11608704" y="3161219"/>
                </a:moveTo>
                <a:lnTo>
                  <a:pt x="11625791" y="3162829"/>
                </a:lnTo>
                <a:cubicBezTo>
                  <a:pt x="11658177" y="3163352"/>
                  <a:pt x="11690070" y="3166310"/>
                  <a:pt x="11721253" y="3171823"/>
                </a:cubicBezTo>
                <a:cubicBezTo>
                  <a:pt x="11726829" y="3171407"/>
                  <a:pt x="11732157" y="3172348"/>
                  <a:pt x="11737466" y="3173350"/>
                </a:cubicBezTo>
                <a:lnTo>
                  <a:pt x="11737583" y="3174489"/>
                </a:lnTo>
                <a:cubicBezTo>
                  <a:pt x="11914088" y="3203476"/>
                  <a:pt x="12071767" y="3285599"/>
                  <a:pt x="12192000" y="3403667"/>
                </a:cubicBezTo>
                <a:lnTo>
                  <a:pt x="12192000" y="3603658"/>
                </a:lnTo>
                <a:cubicBezTo>
                  <a:pt x="12093732" y="3453636"/>
                  <a:pt x="11935983" y="3344367"/>
                  <a:pt x="11750953" y="3304913"/>
                </a:cubicBezTo>
                <a:cubicBezTo>
                  <a:pt x="11797422" y="3539349"/>
                  <a:pt x="11966808" y="3731433"/>
                  <a:pt x="12192000" y="3815480"/>
                </a:cubicBezTo>
                <a:lnTo>
                  <a:pt x="12192000" y="3947482"/>
                </a:lnTo>
                <a:cubicBezTo>
                  <a:pt x="11889465" y="3854506"/>
                  <a:pt x="11662185" y="3599697"/>
                  <a:pt x="11617468" y="3288305"/>
                </a:cubicBezTo>
                <a:cubicBezTo>
                  <a:pt x="11617300" y="3288253"/>
                  <a:pt x="11617132" y="3288248"/>
                  <a:pt x="11616962" y="3288243"/>
                </a:cubicBezTo>
                <a:lnTo>
                  <a:pt x="11616424" y="3281619"/>
                </a:lnTo>
                <a:cubicBezTo>
                  <a:pt x="11611365" y="3251607"/>
                  <a:pt x="11608914" y="3220958"/>
                  <a:pt x="11608957" y="3189869"/>
                </a:cubicBezTo>
                <a:cubicBezTo>
                  <a:pt x="11607645" y="3184286"/>
                  <a:pt x="11607586" y="3178663"/>
                  <a:pt x="11607586" y="3173027"/>
                </a:cubicBezTo>
                <a:lnTo>
                  <a:pt x="11608180" y="3161677"/>
                </a:lnTo>
                <a:lnTo>
                  <a:pt x="11608678" y="3161709"/>
                </a:lnTo>
                <a:close/>
                <a:moveTo>
                  <a:pt x="11594916" y="3161219"/>
                </a:moveTo>
                <a:lnTo>
                  <a:pt x="11594942" y="3161709"/>
                </a:lnTo>
                <a:lnTo>
                  <a:pt x="11595440" y="3161677"/>
                </a:lnTo>
                <a:lnTo>
                  <a:pt x="11596034" y="3173027"/>
                </a:lnTo>
                <a:cubicBezTo>
                  <a:pt x="11596034" y="3178663"/>
                  <a:pt x="11595975" y="3184286"/>
                  <a:pt x="11594663" y="3189869"/>
                </a:cubicBezTo>
                <a:cubicBezTo>
                  <a:pt x="11594706" y="3220958"/>
                  <a:pt x="11592255" y="3251607"/>
                  <a:pt x="11587196" y="3281619"/>
                </a:cubicBezTo>
                <a:lnTo>
                  <a:pt x="11586658" y="3288243"/>
                </a:lnTo>
                <a:cubicBezTo>
                  <a:pt x="11586488" y="3288248"/>
                  <a:pt x="11586320" y="3288253"/>
                  <a:pt x="11586152" y="3288305"/>
                </a:cubicBezTo>
                <a:cubicBezTo>
                  <a:pt x="11535877" y="3638399"/>
                  <a:pt x="11254838" y="3916971"/>
                  <a:pt x="10895987" y="3975903"/>
                </a:cubicBezTo>
                <a:lnTo>
                  <a:pt x="10895871" y="3977042"/>
                </a:lnTo>
                <a:cubicBezTo>
                  <a:pt x="10890560" y="3978045"/>
                  <a:pt x="10885231" y="3978986"/>
                  <a:pt x="10879654" y="3978570"/>
                </a:cubicBezTo>
                <a:cubicBezTo>
                  <a:pt x="10848482" y="3984080"/>
                  <a:pt x="10816602" y="3987038"/>
                  <a:pt x="10784227" y="3987561"/>
                </a:cubicBezTo>
                <a:lnTo>
                  <a:pt x="10767109" y="3989174"/>
                </a:lnTo>
                <a:lnTo>
                  <a:pt x="10767083" y="3988683"/>
                </a:lnTo>
                <a:lnTo>
                  <a:pt x="10766584" y="3988716"/>
                </a:lnTo>
                <a:cubicBezTo>
                  <a:pt x="10766018" y="3984944"/>
                  <a:pt x="10765991" y="3981158"/>
                  <a:pt x="10765991" y="3977366"/>
                </a:cubicBezTo>
                <a:cubicBezTo>
                  <a:pt x="10765991" y="3971728"/>
                  <a:pt x="10766050" y="3966104"/>
                  <a:pt x="10767362" y="3960518"/>
                </a:cubicBezTo>
                <a:cubicBezTo>
                  <a:pt x="10767319" y="3929436"/>
                  <a:pt x="10769769" y="3898794"/>
                  <a:pt x="10774826" y="3868787"/>
                </a:cubicBezTo>
                <a:lnTo>
                  <a:pt x="10775366" y="3862150"/>
                </a:lnTo>
                <a:cubicBezTo>
                  <a:pt x="10775535" y="3862145"/>
                  <a:pt x="10775704" y="3862140"/>
                  <a:pt x="10775872" y="3862087"/>
                </a:cubicBezTo>
                <a:cubicBezTo>
                  <a:pt x="10826148" y="3511992"/>
                  <a:pt x="11107187" y="3233421"/>
                  <a:pt x="11466037" y="3174489"/>
                </a:cubicBezTo>
                <a:lnTo>
                  <a:pt x="11466154" y="3173350"/>
                </a:lnTo>
                <a:cubicBezTo>
                  <a:pt x="11471463" y="3172348"/>
                  <a:pt x="11476791" y="3171407"/>
                  <a:pt x="11482367" y="3171823"/>
                </a:cubicBezTo>
                <a:cubicBezTo>
                  <a:pt x="11513550" y="3166310"/>
                  <a:pt x="11545443" y="3163352"/>
                  <a:pt x="11577829" y="3162829"/>
                </a:cubicBezTo>
                <a:close/>
                <a:moveTo>
                  <a:pt x="9916551" y="3161219"/>
                </a:moveTo>
                <a:lnTo>
                  <a:pt x="9933638" y="3162829"/>
                </a:lnTo>
                <a:cubicBezTo>
                  <a:pt x="9966024" y="3163352"/>
                  <a:pt x="9997917" y="3166310"/>
                  <a:pt x="10029100" y="3171823"/>
                </a:cubicBezTo>
                <a:cubicBezTo>
                  <a:pt x="10034676" y="3171407"/>
                  <a:pt x="10040004" y="3172348"/>
                  <a:pt x="10045313" y="3173350"/>
                </a:cubicBezTo>
                <a:lnTo>
                  <a:pt x="10045430" y="3174489"/>
                </a:lnTo>
                <a:cubicBezTo>
                  <a:pt x="10404280" y="3233421"/>
                  <a:pt x="10685319" y="3511992"/>
                  <a:pt x="10735596" y="3862087"/>
                </a:cubicBezTo>
                <a:cubicBezTo>
                  <a:pt x="10735763" y="3862140"/>
                  <a:pt x="10735932" y="3862145"/>
                  <a:pt x="10736101" y="3862150"/>
                </a:cubicBezTo>
                <a:lnTo>
                  <a:pt x="10736641" y="3868787"/>
                </a:lnTo>
                <a:cubicBezTo>
                  <a:pt x="10741698" y="3898794"/>
                  <a:pt x="10744148" y="3929436"/>
                  <a:pt x="10744105" y="3960518"/>
                </a:cubicBezTo>
                <a:cubicBezTo>
                  <a:pt x="10745417" y="3966104"/>
                  <a:pt x="10745476" y="3971728"/>
                  <a:pt x="10745476" y="3977366"/>
                </a:cubicBezTo>
                <a:cubicBezTo>
                  <a:pt x="10745476" y="3981158"/>
                  <a:pt x="10745449" y="3984944"/>
                  <a:pt x="10744883" y="3988716"/>
                </a:cubicBezTo>
                <a:lnTo>
                  <a:pt x="10744384" y="3988683"/>
                </a:lnTo>
                <a:lnTo>
                  <a:pt x="10744358" y="3989174"/>
                </a:lnTo>
                <a:lnTo>
                  <a:pt x="10727240" y="3987561"/>
                </a:lnTo>
                <a:cubicBezTo>
                  <a:pt x="10694865" y="3987038"/>
                  <a:pt x="10662985" y="3984080"/>
                  <a:pt x="10631813" y="3978570"/>
                </a:cubicBezTo>
                <a:cubicBezTo>
                  <a:pt x="10626236" y="3978986"/>
                  <a:pt x="10620907" y="3978045"/>
                  <a:pt x="10615596" y="3977042"/>
                </a:cubicBezTo>
                <a:lnTo>
                  <a:pt x="10615480" y="3975903"/>
                </a:lnTo>
                <a:cubicBezTo>
                  <a:pt x="10256629" y="3916971"/>
                  <a:pt x="9975590" y="3638399"/>
                  <a:pt x="9925315" y="3288305"/>
                </a:cubicBezTo>
                <a:cubicBezTo>
                  <a:pt x="9925147" y="3288253"/>
                  <a:pt x="9924979" y="3288248"/>
                  <a:pt x="9924809" y="3288243"/>
                </a:cubicBezTo>
                <a:lnTo>
                  <a:pt x="9924271" y="3281619"/>
                </a:lnTo>
                <a:cubicBezTo>
                  <a:pt x="9919212" y="3251607"/>
                  <a:pt x="9916761" y="3220958"/>
                  <a:pt x="9916804" y="3189869"/>
                </a:cubicBezTo>
                <a:cubicBezTo>
                  <a:pt x="9915492" y="3184286"/>
                  <a:pt x="9915433" y="3178663"/>
                  <a:pt x="9915433" y="3173027"/>
                </a:cubicBezTo>
                <a:lnTo>
                  <a:pt x="9916027" y="3161677"/>
                </a:lnTo>
                <a:lnTo>
                  <a:pt x="9916525" y="3161709"/>
                </a:lnTo>
                <a:close/>
                <a:moveTo>
                  <a:pt x="9902763" y="3161219"/>
                </a:moveTo>
                <a:lnTo>
                  <a:pt x="9902789" y="3161709"/>
                </a:lnTo>
                <a:lnTo>
                  <a:pt x="9903287" y="3161677"/>
                </a:lnTo>
                <a:lnTo>
                  <a:pt x="9903881" y="3173027"/>
                </a:lnTo>
                <a:cubicBezTo>
                  <a:pt x="9903881" y="3178663"/>
                  <a:pt x="9903822" y="3184286"/>
                  <a:pt x="9902510" y="3189869"/>
                </a:cubicBezTo>
                <a:cubicBezTo>
                  <a:pt x="9902553" y="3220958"/>
                  <a:pt x="9900102" y="3251607"/>
                  <a:pt x="9895043" y="3281619"/>
                </a:cubicBezTo>
                <a:lnTo>
                  <a:pt x="9894505" y="3288243"/>
                </a:lnTo>
                <a:cubicBezTo>
                  <a:pt x="9894335" y="3288248"/>
                  <a:pt x="9894167" y="3288253"/>
                  <a:pt x="9893999" y="3288305"/>
                </a:cubicBezTo>
                <a:cubicBezTo>
                  <a:pt x="9843724" y="3638399"/>
                  <a:pt x="9562685" y="3916971"/>
                  <a:pt x="9203834" y="3975903"/>
                </a:cubicBezTo>
                <a:lnTo>
                  <a:pt x="9203718" y="3977042"/>
                </a:lnTo>
                <a:cubicBezTo>
                  <a:pt x="9198407" y="3978045"/>
                  <a:pt x="9193078" y="3978986"/>
                  <a:pt x="9187501" y="3978570"/>
                </a:cubicBezTo>
                <a:cubicBezTo>
                  <a:pt x="9156329" y="3984080"/>
                  <a:pt x="9124449" y="3987038"/>
                  <a:pt x="9092074" y="3987561"/>
                </a:cubicBezTo>
                <a:lnTo>
                  <a:pt x="9074956" y="3989174"/>
                </a:lnTo>
                <a:lnTo>
                  <a:pt x="9074930" y="3988683"/>
                </a:lnTo>
                <a:lnTo>
                  <a:pt x="9074431" y="3988716"/>
                </a:lnTo>
                <a:cubicBezTo>
                  <a:pt x="9073865" y="3984944"/>
                  <a:pt x="9073838" y="3981158"/>
                  <a:pt x="9073838" y="3977366"/>
                </a:cubicBezTo>
                <a:cubicBezTo>
                  <a:pt x="9073838" y="3971728"/>
                  <a:pt x="9073897" y="3966104"/>
                  <a:pt x="9075209" y="3960518"/>
                </a:cubicBezTo>
                <a:cubicBezTo>
                  <a:pt x="9075166" y="3929436"/>
                  <a:pt x="9077616" y="3898794"/>
                  <a:pt x="9082673" y="3868787"/>
                </a:cubicBezTo>
                <a:lnTo>
                  <a:pt x="9083213" y="3862150"/>
                </a:lnTo>
                <a:cubicBezTo>
                  <a:pt x="9083382" y="3862145"/>
                  <a:pt x="9083551" y="3862140"/>
                  <a:pt x="9083718" y="3862087"/>
                </a:cubicBezTo>
                <a:cubicBezTo>
                  <a:pt x="9133995" y="3511992"/>
                  <a:pt x="9415034" y="3233421"/>
                  <a:pt x="9773884" y="3174489"/>
                </a:cubicBezTo>
                <a:lnTo>
                  <a:pt x="9774001" y="3173350"/>
                </a:lnTo>
                <a:cubicBezTo>
                  <a:pt x="9779310" y="3172348"/>
                  <a:pt x="9784638" y="3171407"/>
                  <a:pt x="9790214" y="3171823"/>
                </a:cubicBezTo>
                <a:cubicBezTo>
                  <a:pt x="9821397" y="3166310"/>
                  <a:pt x="9853290" y="3163352"/>
                  <a:pt x="9885676" y="3162829"/>
                </a:cubicBezTo>
                <a:close/>
                <a:moveTo>
                  <a:pt x="8224400" y="3161219"/>
                </a:moveTo>
                <a:lnTo>
                  <a:pt x="8241488" y="3162829"/>
                </a:lnTo>
                <a:cubicBezTo>
                  <a:pt x="8273873" y="3163352"/>
                  <a:pt x="8305766" y="3166310"/>
                  <a:pt x="8336949" y="3171823"/>
                </a:cubicBezTo>
                <a:cubicBezTo>
                  <a:pt x="8342525" y="3171407"/>
                  <a:pt x="8347853" y="3172348"/>
                  <a:pt x="8353162" y="3173350"/>
                </a:cubicBezTo>
                <a:lnTo>
                  <a:pt x="8353279" y="3174489"/>
                </a:lnTo>
                <a:cubicBezTo>
                  <a:pt x="8712129" y="3233421"/>
                  <a:pt x="8993168" y="3511992"/>
                  <a:pt x="9043444" y="3862087"/>
                </a:cubicBezTo>
                <a:cubicBezTo>
                  <a:pt x="9043612" y="3862140"/>
                  <a:pt x="9043781" y="3862145"/>
                  <a:pt x="9043950" y="3862150"/>
                </a:cubicBezTo>
                <a:lnTo>
                  <a:pt x="9044490" y="3868787"/>
                </a:lnTo>
                <a:cubicBezTo>
                  <a:pt x="9049547" y="3898794"/>
                  <a:pt x="9051997" y="3929436"/>
                  <a:pt x="9051954" y="3960518"/>
                </a:cubicBezTo>
                <a:cubicBezTo>
                  <a:pt x="9053266" y="3966104"/>
                  <a:pt x="9053325" y="3971728"/>
                  <a:pt x="9053325" y="3977366"/>
                </a:cubicBezTo>
                <a:cubicBezTo>
                  <a:pt x="9053325" y="3981158"/>
                  <a:pt x="9053298" y="3984944"/>
                  <a:pt x="9052732" y="3988716"/>
                </a:cubicBezTo>
                <a:lnTo>
                  <a:pt x="9052233" y="3988683"/>
                </a:lnTo>
                <a:lnTo>
                  <a:pt x="9052207" y="3989174"/>
                </a:lnTo>
                <a:lnTo>
                  <a:pt x="9035089" y="3987561"/>
                </a:lnTo>
                <a:cubicBezTo>
                  <a:pt x="9002714" y="3987038"/>
                  <a:pt x="8970834" y="3984080"/>
                  <a:pt x="8939662" y="3978570"/>
                </a:cubicBezTo>
                <a:cubicBezTo>
                  <a:pt x="8934085" y="3978986"/>
                  <a:pt x="8928756" y="3978045"/>
                  <a:pt x="8923445" y="3977042"/>
                </a:cubicBezTo>
                <a:lnTo>
                  <a:pt x="8923329" y="3975903"/>
                </a:lnTo>
                <a:cubicBezTo>
                  <a:pt x="8564478" y="3916971"/>
                  <a:pt x="8283439" y="3638399"/>
                  <a:pt x="8233164" y="3288305"/>
                </a:cubicBezTo>
                <a:cubicBezTo>
                  <a:pt x="8232996" y="3288253"/>
                  <a:pt x="8232828" y="3288248"/>
                  <a:pt x="8232658" y="3288243"/>
                </a:cubicBezTo>
                <a:lnTo>
                  <a:pt x="8232120" y="3281619"/>
                </a:lnTo>
                <a:cubicBezTo>
                  <a:pt x="8227061" y="3251607"/>
                  <a:pt x="8224611" y="3220958"/>
                  <a:pt x="8224653" y="3189869"/>
                </a:cubicBezTo>
                <a:cubicBezTo>
                  <a:pt x="8223341" y="3184286"/>
                  <a:pt x="8223282" y="3178663"/>
                  <a:pt x="8223282" y="3173027"/>
                </a:cubicBezTo>
                <a:lnTo>
                  <a:pt x="8223876" y="3161677"/>
                </a:lnTo>
                <a:lnTo>
                  <a:pt x="8224374" y="3161709"/>
                </a:lnTo>
                <a:close/>
                <a:moveTo>
                  <a:pt x="8210612" y="3161219"/>
                </a:moveTo>
                <a:lnTo>
                  <a:pt x="8210638" y="3161709"/>
                </a:lnTo>
                <a:lnTo>
                  <a:pt x="8211136" y="3161677"/>
                </a:lnTo>
                <a:lnTo>
                  <a:pt x="8211730" y="3173027"/>
                </a:lnTo>
                <a:cubicBezTo>
                  <a:pt x="8211730" y="3178663"/>
                  <a:pt x="8211672" y="3184286"/>
                  <a:pt x="8210360" y="3189869"/>
                </a:cubicBezTo>
                <a:cubicBezTo>
                  <a:pt x="8210402" y="3220958"/>
                  <a:pt x="8207951" y="3251607"/>
                  <a:pt x="8202893" y="3281619"/>
                </a:cubicBezTo>
                <a:lnTo>
                  <a:pt x="8202354" y="3288243"/>
                </a:lnTo>
                <a:cubicBezTo>
                  <a:pt x="8202185" y="3288248"/>
                  <a:pt x="8202016" y="3288253"/>
                  <a:pt x="8201849" y="3288305"/>
                </a:cubicBezTo>
                <a:cubicBezTo>
                  <a:pt x="8151573" y="3638399"/>
                  <a:pt x="7870534" y="3916971"/>
                  <a:pt x="7511683" y="3975903"/>
                </a:cubicBezTo>
                <a:lnTo>
                  <a:pt x="7511567" y="3977042"/>
                </a:lnTo>
                <a:cubicBezTo>
                  <a:pt x="7506256" y="3978045"/>
                  <a:pt x="7500927" y="3978986"/>
                  <a:pt x="7495350" y="3978570"/>
                </a:cubicBezTo>
                <a:cubicBezTo>
                  <a:pt x="7464178" y="3984080"/>
                  <a:pt x="7432298" y="3987038"/>
                  <a:pt x="7399924" y="3987561"/>
                </a:cubicBezTo>
                <a:lnTo>
                  <a:pt x="7382805" y="3989174"/>
                </a:lnTo>
                <a:lnTo>
                  <a:pt x="7382779" y="3988683"/>
                </a:lnTo>
                <a:lnTo>
                  <a:pt x="7382280" y="3988716"/>
                </a:lnTo>
                <a:cubicBezTo>
                  <a:pt x="7381714" y="3984944"/>
                  <a:pt x="7381687" y="3981158"/>
                  <a:pt x="7381687" y="3977366"/>
                </a:cubicBezTo>
                <a:cubicBezTo>
                  <a:pt x="7381687" y="3971728"/>
                  <a:pt x="7381746" y="3966104"/>
                  <a:pt x="7383058" y="3960518"/>
                </a:cubicBezTo>
                <a:cubicBezTo>
                  <a:pt x="7383016" y="3929436"/>
                  <a:pt x="7385465" y="3898794"/>
                  <a:pt x="7390522" y="3868787"/>
                </a:cubicBezTo>
                <a:lnTo>
                  <a:pt x="7391062" y="3862150"/>
                </a:lnTo>
                <a:cubicBezTo>
                  <a:pt x="7391231" y="3862145"/>
                  <a:pt x="7391400" y="3862140"/>
                  <a:pt x="7391568" y="3862087"/>
                </a:cubicBezTo>
                <a:cubicBezTo>
                  <a:pt x="7441844" y="3511992"/>
                  <a:pt x="7722883" y="3233421"/>
                  <a:pt x="8081734" y="3174489"/>
                </a:cubicBezTo>
                <a:lnTo>
                  <a:pt x="8081851" y="3173350"/>
                </a:lnTo>
                <a:cubicBezTo>
                  <a:pt x="8087159" y="3172348"/>
                  <a:pt x="8092487" y="3171407"/>
                  <a:pt x="8098063" y="3171823"/>
                </a:cubicBezTo>
                <a:cubicBezTo>
                  <a:pt x="8129247" y="3166310"/>
                  <a:pt x="8161139" y="3163352"/>
                  <a:pt x="8193525" y="3162829"/>
                </a:cubicBezTo>
                <a:close/>
                <a:moveTo>
                  <a:pt x="6532249" y="3161219"/>
                </a:moveTo>
                <a:lnTo>
                  <a:pt x="6549337" y="3162829"/>
                </a:lnTo>
                <a:cubicBezTo>
                  <a:pt x="6581722" y="3163352"/>
                  <a:pt x="6613615" y="3166310"/>
                  <a:pt x="6644798" y="3171823"/>
                </a:cubicBezTo>
                <a:cubicBezTo>
                  <a:pt x="6650374" y="3171407"/>
                  <a:pt x="6655702" y="3172348"/>
                  <a:pt x="6661011" y="3173350"/>
                </a:cubicBezTo>
                <a:lnTo>
                  <a:pt x="6661128" y="3174489"/>
                </a:lnTo>
                <a:cubicBezTo>
                  <a:pt x="7019978" y="3233421"/>
                  <a:pt x="7301017" y="3511992"/>
                  <a:pt x="7351294" y="3862087"/>
                </a:cubicBezTo>
                <a:cubicBezTo>
                  <a:pt x="7351461" y="3862140"/>
                  <a:pt x="7351631" y="3862145"/>
                  <a:pt x="7351799" y="3862150"/>
                </a:cubicBezTo>
                <a:lnTo>
                  <a:pt x="7352340" y="3868787"/>
                </a:lnTo>
                <a:cubicBezTo>
                  <a:pt x="7357396" y="3898794"/>
                  <a:pt x="7359846" y="3929436"/>
                  <a:pt x="7359804" y="3960518"/>
                </a:cubicBezTo>
                <a:cubicBezTo>
                  <a:pt x="7361116" y="3966104"/>
                  <a:pt x="7361174" y="3971728"/>
                  <a:pt x="7361174" y="3977366"/>
                </a:cubicBezTo>
                <a:cubicBezTo>
                  <a:pt x="7361174" y="3981158"/>
                  <a:pt x="7361147" y="3984944"/>
                  <a:pt x="7360581" y="3988716"/>
                </a:cubicBezTo>
                <a:lnTo>
                  <a:pt x="7360082" y="3988683"/>
                </a:lnTo>
                <a:lnTo>
                  <a:pt x="7360056" y="3989174"/>
                </a:lnTo>
                <a:lnTo>
                  <a:pt x="7342938" y="3987561"/>
                </a:lnTo>
                <a:cubicBezTo>
                  <a:pt x="7310564" y="3987038"/>
                  <a:pt x="7278683" y="3984080"/>
                  <a:pt x="7247511" y="3978570"/>
                </a:cubicBezTo>
                <a:cubicBezTo>
                  <a:pt x="7241934" y="3978986"/>
                  <a:pt x="7236605" y="3978045"/>
                  <a:pt x="7231295" y="3977042"/>
                </a:cubicBezTo>
                <a:lnTo>
                  <a:pt x="7231179" y="3975903"/>
                </a:lnTo>
                <a:cubicBezTo>
                  <a:pt x="6872327" y="3916971"/>
                  <a:pt x="6591288" y="3638399"/>
                  <a:pt x="6541013" y="3288305"/>
                </a:cubicBezTo>
                <a:cubicBezTo>
                  <a:pt x="6540845" y="3288253"/>
                  <a:pt x="6540677" y="3288248"/>
                  <a:pt x="6540507" y="3288243"/>
                </a:cubicBezTo>
                <a:lnTo>
                  <a:pt x="6539969" y="3281619"/>
                </a:lnTo>
                <a:cubicBezTo>
                  <a:pt x="6534910" y="3251607"/>
                  <a:pt x="6532460" y="3220958"/>
                  <a:pt x="6532502" y="3189869"/>
                </a:cubicBezTo>
                <a:cubicBezTo>
                  <a:pt x="6531190" y="3184286"/>
                  <a:pt x="6531131" y="3178663"/>
                  <a:pt x="6531131" y="3173027"/>
                </a:cubicBezTo>
                <a:lnTo>
                  <a:pt x="6531725" y="3161677"/>
                </a:lnTo>
                <a:lnTo>
                  <a:pt x="6532223" y="3161709"/>
                </a:lnTo>
                <a:close/>
                <a:moveTo>
                  <a:pt x="6518461" y="3161219"/>
                </a:moveTo>
                <a:lnTo>
                  <a:pt x="6518487" y="3161709"/>
                </a:lnTo>
                <a:lnTo>
                  <a:pt x="6518985" y="3161677"/>
                </a:lnTo>
                <a:lnTo>
                  <a:pt x="6519579" y="3173027"/>
                </a:lnTo>
                <a:cubicBezTo>
                  <a:pt x="6519579" y="3178663"/>
                  <a:pt x="6519520" y="3184286"/>
                  <a:pt x="6518208" y="3189869"/>
                </a:cubicBezTo>
                <a:cubicBezTo>
                  <a:pt x="6518250" y="3220958"/>
                  <a:pt x="6515800" y="3251607"/>
                  <a:pt x="6510741" y="3281619"/>
                </a:cubicBezTo>
                <a:lnTo>
                  <a:pt x="6510203" y="3288243"/>
                </a:lnTo>
                <a:cubicBezTo>
                  <a:pt x="6510033" y="3288248"/>
                  <a:pt x="6509865" y="3288253"/>
                  <a:pt x="6509697" y="3288305"/>
                </a:cubicBezTo>
                <a:cubicBezTo>
                  <a:pt x="6459422" y="3638399"/>
                  <a:pt x="6178383" y="3916971"/>
                  <a:pt x="5819531" y="3975903"/>
                </a:cubicBezTo>
                <a:lnTo>
                  <a:pt x="5819415" y="3977042"/>
                </a:lnTo>
                <a:cubicBezTo>
                  <a:pt x="5814105" y="3978045"/>
                  <a:pt x="5808776" y="3978986"/>
                  <a:pt x="5803199" y="3978570"/>
                </a:cubicBezTo>
                <a:cubicBezTo>
                  <a:pt x="5772027" y="3984080"/>
                  <a:pt x="5740146" y="3987038"/>
                  <a:pt x="5707772" y="3987561"/>
                </a:cubicBezTo>
                <a:lnTo>
                  <a:pt x="5690654" y="3989174"/>
                </a:lnTo>
                <a:lnTo>
                  <a:pt x="5690628" y="3988683"/>
                </a:lnTo>
                <a:lnTo>
                  <a:pt x="5690129" y="3988716"/>
                </a:lnTo>
                <a:cubicBezTo>
                  <a:pt x="5689563" y="3984944"/>
                  <a:pt x="5689536" y="3981158"/>
                  <a:pt x="5689536" y="3977366"/>
                </a:cubicBezTo>
                <a:cubicBezTo>
                  <a:pt x="5689536" y="3971728"/>
                  <a:pt x="5689594" y="3966104"/>
                  <a:pt x="5690906" y="3960518"/>
                </a:cubicBezTo>
                <a:cubicBezTo>
                  <a:pt x="5690864" y="3929436"/>
                  <a:pt x="5693314" y="3898794"/>
                  <a:pt x="5698370" y="3868787"/>
                </a:cubicBezTo>
                <a:lnTo>
                  <a:pt x="5698911" y="3862150"/>
                </a:lnTo>
                <a:cubicBezTo>
                  <a:pt x="5699079" y="3862145"/>
                  <a:pt x="5699249" y="3862140"/>
                  <a:pt x="5699416" y="3862087"/>
                </a:cubicBezTo>
                <a:cubicBezTo>
                  <a:pt x="5749693" y="3511992"/>
                  <a:pt x="6030732" y="3233421"/>
                  <a:pt x="6389582" y="3174489"/>
                </a:cubicBezTo>
                <a:lnTo>
                  <a:pt x="6389699" y="3173350"/>
                </a:lnTo>
                <a:cubicBezTo>
                  <a:pt x="6395008" y="3172348"/>
                  <a:pt x="6400336" y="3171407"/>
                  <a:pt x="6405912" y="3171823"/>
                </a:cubicBezTo>
                <a:cubicBezTo>
                  <a:pt x="6437095" y="3166310"/>
                  <a:pt x="6468988" y="3163352"/>
                  <a:pt x="6501373" y="3162829"/>
                </a:cubicBezTo>
                <a:close/>
                <a:moveTo>
                  <a:pt x="4840098" y="3161219"/>
                </a:moveTo>
                <a:lnTo>
                  <a:pt x="4857185" y="3162829"/>
                </a:lnTo>
                <a:cubicBezTo>
                  <a:pt x="4889571" y="3163352"/>
                  <a:pt x="4921463" y="3166310"/>
                  <a:pt x="4952647" y="3171823"/>
                </a:cubicBezTo>
                <a:cubicBezTo>
                  <a:pt x="4958223" y="3171407"/>
                  <a:pt x="4963551" y="3172348"/>
                  <a:pt x="4968859" y="3173350"/>
                </a:cubicBezTo>
                <a:lnTo>
                  <a:pt x="4968976" y="3174489"/>
                </a:lnTo>
                <a:cubicBezTo>
                  <a:pt x="5327827" y="3233421"/>
                  <a:pt x="5608866" y="3511992"/>
                  <a:pt x="5659142" y="3862087"/>
                </a:cubicBezTo>
                <a:cubicBezTo>
                  <a:pt x="5659310" y="3862140"/>
                  <a:pt x="5659479" y="3862145"/>
                  <a:pt x="5659648" y="3862150"/>
                </a:cubicBezTo>
                <a:lnTo>
                  <a:pt x="5660188" y="3868787"/>
                </a:lnTo>
                <a:cubicBezTo>
                  <a:pt x="5665245" y="3898794"/>
                  <a:pt x="5667694" y="3929436"/>
                  <a:pt x="5667652" y="3960518"/>
                </a:cubicBezTo>
                <a:cubicBezTo>
                  <a:pt x="5668964" y="3966104"/>
                  <a:pt x="5669023" y="3971728"/>
                  <a:pt x="5669023" y="3977366"/>
                </a:cubicBezTo>
                <a:cubicBezTo>
                  <a:pt x="5669023" y="3981158"/>
                  <a:pt x="5668996" y="3984944"/>
                  <a:pt x="5668430" y="3988716"/>
                </a:cubicBezTo>
                <a:lnTo>
                  <a:pt x="5667931" y="3988683"/>
                </a:lnTo>
                <a:lnTo>
                  <a:pt x="5667905" y="3989174"/>
                </a:lnTo>
                <a:lnTo>
                  <a:pt x="5650786" y="3987561"/>
                </a:lnTo>
                <a:cubicBezTo>
                  <a:pt x="5618412" y="3987038"/>
                  <a:pt x="5586532" y="3984080"/>
                  <a:pt x="5555360" y="3978570"/>
                </a:cubicBezTo>
                <a:cubicBezTo>
                  <a:pt x="5549783" y="3978986"/>
                  <a:pt x="5544454" y="3978045"/>
                  <a:pt x="5539143" y="3977042"/>
                </a:cubicBezTo>
                <a:lnTo>
                  <a:pt x="5539027" y="3975903"/>
                </a:lnTo>
                <a:cubicBezTo>
                  <a:pt x="5180176" y="3916971"/>
                  <a:pt x="4899137" y="3638399"/>
                  <a:pt x="4848861" y="3288305"/>
                </a:cubicBezTo>
                <a:cubicBezTo>
                  <a:pt x="4848694" y="3288253"/>
                  <a:pt x="4848525" y="3288248"/>
                  <a:pt x="4848356" y="3288243"/>
                </a:cubicBezTo>
                <a:lnTo>
                  <a:pt x="4847817" y="3281619"/>
                </a:lnTo>
                <a:cubicBezTo>
                  <a:pt x="4842759" y="3251607"/>
                  <a:pt x="4840308" y="3220958"/>
                  <a:pt x="4840350" y="3189869"/>
                </a:cubicBezTo>
                <a:cubicBezTo>
                  <a:pt x="4839038" y="3184286"/>
                  <a:pt x="4838980" y="3178663"/>
                  <a:pt x="4838980" y="3173027"/>
                </a:cubicBezTo>
                <a:lnTo>
                  <a:pt x="4839574" y="3161677"/>
                </a:lnTo>
                <a:lnTo>
                  <a:pt x="4840072" y="3161709"/>
                </a:lnTo>
                <a:close/>
                <a:moveTo>
                  <a:pt x="4826310" y="3161219"/>
                </a:moveTo>
                <a:lnTo>
                  <a:pt x="4826336" y="3161709"/>
                </a:lnTo>
                <a:lnTo>
                  <a:pt x="4826834" y="3161677"/>
                </a:lnTo>
                <a:lnTo>
                  <a:pt x="4827428" y="3173027"/>
                </a:lnTo>
                <a:cubicBezTo>
                  <a:pt x="4827428" y="3178663"/>
                  <a:pt x="4827369" y="3184286"/>
                  <a:pt x="4826057" y="3189869"/>
                </a:cubicBezTo>
                <a:cubicBezTo>
                  <a:pt x="4826099" y="3220958"/>
                  <a:pt x="4823649" y="3251607"/>
                  <a:pt x="4818590" y="3281619"/>
                </a:cubicBezTo>
                <a:lnTo>
                  <a:pt x="4818052" y="3288243"/>
                </a:lnTo>
                <a:cubicBezTo>
                  <a:pt x="4817882" y="3288248"/>
                  <a:pt x="4817714" y="3288253"/>
                  <a:pt x="4817546" y="3288305"/>
                </a:cubicBezTo>
                <a:cubicBezTo>
                  <a:pt x="4767271" y="3638399"/>
                  <a:pt x="4486232" y="3916971"/>
                  <a:pt x="4127381" y="3975903"/>
                </a:cubicBezTo>
                <a:lnTo>
                  <a:pt x="4127264" y="3977042"/>
                </a:lnTo>
                <a:cubicBezTo>
                  <a:pt x="4121954" y="3978045"/>
                  <a:pt x="4116625" y="3978986"/>
                  <a:pt x="4111048" y="3978570"/>
                </a:cubicBezTo>
                <a:cubicBezTo>
                  <a:pt x="4079876" y="3984080"/>
                  <a:pt x="4047996" y="3987038"/>
                  <a:pt x="4015621" y="3987561"/>
                </a:cubicBezTo>
                <a:lnTo>
                  <a:pt x="3998503" y="3989174"/>
                </a:lnTo>
                <a:lnTo>
                  <a:pt x="3998477" y="3988683"/>
                </a:lnTo>
                <a:lnTo>
                  <a:pt x="3997978" y="3988716"/>
                </a:lnTo>
                <a:cubicBezTo>
                  <a:pt x="3997412" y="3984944"/>
                  <a:pt x="3997385" y="3981158"/>
                  <a:pt x="3997385" y="3977366"/>
                </a:cubicBezTo>
                <a:cubicBezTo>
                  <a:pt x="3997385" y="3971728"/>
                  <a:pt x="3997443" y="3966104"/>
                  <a:pt x="3998755" y="3960518"/>
                </a:cubicBezTo>
                <a:cubicBezTo>
                  <a:pt x="3998713" y="3929436"/>
                  <a:pt x="4001163" y="3898794"/>
                  <a:pt x="4006219" y="3868787"/>
                </a:cubicBezTo>
                <a:lnTo>
                  <a:pt x="4006760" y="3862150"/>
                </a:lnTo>
                <a:cubicBezTo>
                  <a:pt x="4006928" y="3862145"/>
                  <a:pt x="4007098" y="3862140"/>
                  <a:pt x="4007265" y="3862087"/>
                </a:cubicBezTo>
                <a:cubicBezTo>
                  <a:pt x="4057542" y="3511992"/>
                  <a:pt x="4338581" y="3233421"/>
                  <a:pt x="4697431" y="3174489"/>
                </a:cubicBezTo>
                <a:lnTo>
                  <a:pt x="4697548" y="3173350"/>
                </a:lnTo>
                <a:cubicBezTo>
                  <a:pt x="4702857" y="3172348"/>
                  <a:pt x="4708185" y="3171407"/>
                  <a:pt x="4713761" y="3171823"/>
                </a:cubicBezTo>
                <a:cubicBezTo>
                  <a:pt x="4744944" y="3166310"/>
                  <a:pt x="4776837" y="3163352"/>
                  <a:pt x="4809222" y="3162829"/>
                </a:cubicBezTo>
                <a:close/>
                <a:moveTo>
                  <a:pt x="3147947" y="3161219"/>
                </a:moveTo>
                <a:lnTo>
                  <a:pt x="3165034" y="3162829"/>
                </a:lnTo>
                <a:cubicBezTo>
                  <a:pt x="3197420" y="3163352"/>
                  <a:pt x="3229312" y="3166310"/>
                  <a:pt x="3260496" y="3171823"/>
                </a:cubicBezTo>
                <a:cubicBezTo>
                  <a:pt x="3266072" y="3171407"/>
                  <a:pt x="3271400" y="3172348"/>
                  <a:pt x="3276708" y="3173350"/>
                </a:cubicBezTo>
                <a:lnTo>
                  <a:pt x="3276826" y="3174489"/>
                </a:lnTo>
                <a:cubicBezTo>
                  <a:pt x="3635676" y="3233421"/>
                  <a:pt x="3916715" y="3511992"/>
                  <a:pt x="3966991" y="3862087"/>
                </a:cubicBezTo>
                <a:cubicBezTo>
                  <a:pt x="3967159" y="3862140"/>
                  <a:pt x="3967328" y="3862145"/>
                  <a:pt x="3967497" y="3862150"/>
                </a:cubicBezTo>
                <a:lnTo>
                  <a:pt x="3968037" y="3868787"/>
                </a:lnTo>
                <a:cubicBezTo>
                  <a:pt x="3973094" y="3898794"/>
                  <a:pt x="3975543" y="3929436"/>
                  <a:pt x="3975501" y="3960518"/>
                </a:cubicBezTo>
                <a:cubicBezTo>
                  <a:pt x="3976813" y="3966104"/>
                  <a:pt x="3976872" y="3971728"/>
                  <a:pt x="3976872" y="3977366"/>
                </a:cubicBezTo>
                <a:cubicBezTo>
                  <a:pt x="3976872" y="3981158"/>
                  <a:pt x="3976845" y="3984944"/>
                  <a:pt x="3976279" y="3988716"/>
                </a:cubicBezTo>
                <a:lnTo>
                  <a:pt x="3975780" y="3988683"/>
                </a:lnTo>
                <a:lnTo>
                  <a:pt x="3975754" y="3989174"/>
                </a:lnTo>
                <a:lnTo>
                  <a:pt x="3958635" y="3987561"/>
                </a:lnTo>
                <a:cubicBezTo>
                  <a:pt x="3926261" y="3987038"/>
                  <a:pt x="3894381" y="3984080"/>
                  <a:pt x="3863209" y="3978570"/>
                </a:cubicBezTo>
                <a:cubicBezTo>
                  <a:pt x="3857632" y="3978986"/>
                  <a:pt x="3852303" y="3978045"/>
                  <a:pt x="3846992" y="3977042"/>
                </a:cubicBezTo>
                <a:lnTo>
                  <a:pt x="3846876" y="3975903"/>
                </a:lnTo>
                <a:cubicBezTo>
                  <a:pt x="3488025" y="3916971"/>
                  <a:pt x="3206986" y="3638399"/>
                  <a:pt x="3156710" y="3288305"/>
                </a:cubicBezTo>
                <a:cubicBezTo>
                  <a:pt x="3156543" y="3288253"/>
                  <a:pt x="3156374" y="3288248"/>
                  <a:pt x="3156205" y="3288243"/>
                </a:cubicBezTo>
                <a:lnTo>
                  <a:pt x="3155667" y="3281619"/>
                </a:lnTo>
                <a:cubicBezTo>
                  <a:pt x="3150608" y="3251607"/>
                  <a:pt x="3148157" y="3220958"/>
                  <a:pt x="3148199" y="3189869"/>
                </a:cubicBezTo>
                <a:cubicBezTo>
                  <a:pt x="3146887" y="3184286"/>
                  <a:pt x="3146829" y="3178663"/>
                  <a:pt x="3146829" y="3173027"/>
                </a:cubicBezTo>
                <a:lnTo>
                  <a:pt x="3147423" y="3161677"/>
                </a:lnTo>
                <a:lnTo>
                  <a:pt x="3147921" y="3161709"/>
                </a:lnTo>
                <a:close/>
                <a:moveTo>
                  <a:pt x="3134159" y="3161219"/>
                </a:moveTo>
                <a:lnTo>
                  <a:pt x="3134185" y="3161709"/>
                </a:lnTo>
                <a:lnTo>
                  <a:pt x="3134683" y="3161677"/>
                </a:lnTo>
                <a:lnTo>
                  <a:pt x="3135277" y="3173027"/>
                </a:lnTo>
                <a:cubicBezTo>
                  <a:pt x="3135277" y="3178663"/>
                  <a:pt x="3135218" y="3184286"/>
                  <a:pt x="3133906" y="3189869"/>
                </a:cubicBezTo>
                <a:cubicBezTo>
                  <a:pt x="3133948" y="3220958"/>
                  <a:pt x="3131498" y="3251607"/>
                  <a:pt x="3126439" y="3281619"/>
                </a:cubicBezTo>
                <a:lnTo>
                  <a:pt x="3125901" y="3288243"/>
                </a:lnTo>
                <a:cubicBezTo>
                  <a:pt x="3125731" y="3288248"/>
                  <a:pt x="3125563" y="3288253"/>
                  <a:pt x="3125395" y="3288305"/>
                </a:cubicBezTo>
                <a:cubicBezTo>
                  <a:pt x="3075120" y="3638399"/>
                  <a:pt x="2794081" y="3916971"/>
                  <a:pt x="2435230" y="3975903"/>
                </a:cubicBezTo>
                <a:lnTo>
                  <a:pt x="2435113" y="3977042"/>
                </a:lnTo>
                <a:cubicBezTo>
                  <a:pt x="2429803" y="3978045"/>
                  <a:pt x="2424474" y="3978986"/>
                  <a:pt x="2418897" y="3978570"/>
                </a:cubicBezTo>
                <a:cubicBezTo>
                  <a:pt x="2387725" y="3984080"/>
                  <a:pt x="2355845" y="3987038"/>
                  <a:pt x="2323470" y="3987561"/>
                </a:cubicBezTo>
                <a:lnTo>
                  <a:pt x="2306352" y="3989174"/>
                </a:lnTo>
                <a:lnTo>
                  <a:pt x="2306326" y="3988683"/>
                </a:lnTo>
                <a:lnTo>
                  <a:pt x="2305827" y="3988716"/>
                </a:lnTo>
                <a:cubicBezTo>
                  <a:pt x="2305261" y="3984944"/>
                  <a:pt x="2305234" y="3981158"/>
                  <a:pt x="2305234" y="3977366"/>
                </a:cubicBezTo>
                <a:cubicBezTo>
                  <a:pt x="2305234" y="3971728"/>
                  <a:pt x="2305292" y="3966104"/>
                  <a:pt x="2306604" y="3960518"/>
                </a:cubicBezTo>
                <a:cubicBezTo>
                  <a:pt x="2306562" y="3929436"/>
                  <a:pt x="2309012" y="3898794"/>
                  <a:pt x="2314068" y="3868787"/>
                </a:cubicBezTo>
                <a:lnTo>
                  <a:pt x="2314609" y="3862150"/>
                </a:lnTo>
                <a:cubicBezTo>
                  <a:pt x="2314777" y="3862145"/>
                  <a:pt x="2314947" y="3862140"/>
                  <a:pt x="2315114" y="3862087"/>
                </a:cubicBezTo>
                <a:cubicBezTo>
                  <a:pt x="2365391" y="3511992"/>
                  <a:pt x="2646430" y="3233421"/>
                  <a:pt x="3005280" y="3174489"/>
                </a:cubicBezTo>
                <a:lnTo>
                  <a:pt x="3005397" y="3173350"/>
                </a:lnTo>
                <a:cubicBezTo>
                  <a:pt x="3010706" y="3172348"/>
                  <a:pt x="3016034" y="3171407"/>
                  <a:pt x="3021610" y="3171823"/>
                </a:cubicBezTo>
                <a:cubicBezTo>
                  <a:pt x="3052793" y="3166310"/>
                  <a:pt x="3084686" y="3163352"/>
                  <a:pt x="3117071" y="3162829"/>
                </a:cubicBezTo>
                <a:close/>
                <a:moveTo>
                  <a:pt x="1455796" y="3161219"/>
                </a:moveTo>
                <a:lnTo>
                  <a:pt x="1472883" y="3162829"/>
                </a:lnTo>
                <a:cubicBezTo>
                  <a:pt x="1505269" y="3163352"/>
                  <a:pt x="1537161" y="3166310"/>
                  <a:pt x="1568345" y="3171823"/>
                </a:cubicBezTo>
                <a:cubicBezTo>
                  <a:pt x="1573921" y="3171407"/>
                  <a:pt x="1579249" y="3172348"/>
                  <a:pt x="1584557" y="3173350"/>
                </a:cubicBezTo>
                <a:lnTo>
                  <a:pt x="1584675" y="3174489"/>
                </a:lnTo>
                <a:cubicBezTo>
                  <a:pt x="1943525" y="3233421"/>
                  <a:pt x="2224564" y="3511992"/>
                  <a:pt x="2274840" y="3862087"/>
                </a:cubicBezTo>
                <a:cubicBezTo>
                  <a:pt x="2275008" y="3862140"/>
                  <a:pt x="2275177" y="3862145"/>
                  <a:pt x="2275346" y="3862150"/>
                </a:cubicBezTo>
                <a:lnTo>
                  <a:pt x="2275886" y="3868787"/>
                </a:lnTo>
                <a:cubicBezTo>
                  <a:pt x="2280943" y="3898794"/>
                  <a:pt x="2283392" y="3929436"/>
                  <a:pt x="2283350" y="3960518"/>
                </a:cubicBezTo>
                <a:cubicBezTo>
                  <a:pt x="2284662" y="3966104"/>
                  <a:pt x="2284721" y="3971728"/>
                  <a:pt x="2284721" y="3977366"/>
                </a:cubicBezTo>
                <a:cubicBezTo>
                  <a:pt x="2284721" y="3981158"/>
                  <a:pt x="2284694" y="3984944"/>
                  <a:pt x="2284128" y="3988716"/>
                </a:cubicBezTo>
                <a:lnTo>
                  <a:pt x="2283629" y="3988683"/>
                </a:lnTo>
                <a:lnTo>
                  <a:pt x="2283603" y="3989174"/>
                </a:lnTo>
                <a:lnTo>
                  <a:pt x="2266484" y="3987561"/>
                </a:lnTo>
                <a:cubicBezTo>
                  <a:pt x="2234110" y="3987038"/>
                  <a:pt x="2202230" y="3984080"/>
                  <a:pt x="2171058" y="3978570"/>
                </a:cubicBezTo>
                <a:cubicBezTo>
                  <a:pt x="2165481" y="3978986"/>
                  <a:pt x="2160152" y="3978045"/>
                  <a:pt x="2154841" y="3977042"/>
                </a:cubicBezTo>
                <a:lnTo>
                  <a:pt x="2154725" y="3975903"/>
                </a:lnTo>
                <a:cubicBezTo>
                  <a:pt x="1795874" y="3916971"/>
                  <a:pt x="1514835" y="3638399"/>
                  <a:pt x="1464559" y="3288305"/>
                </a:cubicBezTo>
                <a:cubicBezTo>
                  <a:pt x="1464392" y="3288253"/>
                  <a:pt x="1464223" y="3288248"/>
                  <a:pt x="1464054" y="3288243"/>
                </a:cubicBezTo>
                <a:lnTo>
                  <a:pt x="1463515" y="3281619"/>
                </a:lnTo>
                <a:cubicBezTo>
                  <a:pt x="1458457" y="3251607"/>
                  <a:pt x="1456006" y="3220958"/>
                  <a:pt x="1456048" y="3189869"/>
                </a:cubicBezTo>
                <a:cubicBezTo>
                  <a:pt x="1454736" y="3184286"/>
                  <a:pt x="1454678" y="3178663"/>
                  <a:pt x="1454678" y="3173027"/>
                </a:cubicBezTo>
                <a:lnTo>
                  <a:pt x="1455272" y="3161677"/>
                </a:lnTo>
                <a:lnTo>
                  <a:pt x="1455770" y="3161709"/>
                </a:lnTo>
                <a:close/>
                <a:moveTo>
                  <a:pt x="1442008" y="3161219"/>
                </a:moveTo>
                <a:lnTo>
                  <a:pt x="1442034" y="3161709"/>
                </a:lnTo>
                <a:lnTo>
                  <a:pt x="1442532" y="3161677"/>
                </a:lnTo>
                <a:lnTo>
                  <a:pt x="1443126" y="3173027"/>
                </a:lnTo>
                <a:cubicBezTo>
                  <a:pt x="1443126" y="3178663"/>
                  <a:pt x="1443067" y="3184286"/>
                  <a:pt x="1441755" y="3189869"/>
                </a:cubicBezTo>
                <a:cubicBezTo>
                  <a:pt x="1441797" y="3220958"/>
                  <a:pt x="1439347" y="3251607"/>
                  <a:pt x="1434288" y="3281619"/>
                </a:cubicBezTo>
                <a:lnTo>
                  <a:pt x="1433750" y="3288243"/>
                </a:lnTo>
                <a:cubicBezTo>
                  <a:pt x="1433580" y="3288248"/>
                  <a:pt x="1433412" y="3288253"/>
                  <a:pt x="1433244" y="3288305"/>
                </a:cubicBezTo>
                <a:cubicBezTo>
                  <a:pt x="1382969" y="3638399"/>
                  <a:pt x="1101930" y="3916971"/>
                  <a:pt x="743079" y="3975903"/>
                </a:cubicBezTo>
                <a:lnTo>
                  <a:pt x="742962" y="3977042"/>
                </a:lnTo>
                <a:cubicBezTo>
                  <a:pt x="737652" y="3978045"/>
                  <a:pt x="732323" y="3978986"/>
                  <a:pt x="726746" y="3978570"/>
                </a:cubicBezTo>
                <a:cubicBezTo>
                  <a:pt x="695574" y="3984080"/>
                  <a:pt x="663693" y="3987038"/>
                  <a:pt x="631319" y="3987561"/>
                </a:cubicBezTo>
                <a:lnTo>
                  <a:pt x="614201" y="3989174"/>
                </a:lnTo>
                <a:lnTo>
                  <a:pt x="614175" y="3988683"/>
                </a:lnTo>
                <a:lnTo>
                  <a:pt x="613676" y="3988716"/>
                </a:lnTo>
                <a:cubicBezTo>
                  <a:pt x="613110" y="3984944"/>
                  <a:pt x="613083" y="3981158"/>
                  <a:pt x="613083" y="3977366"/>
                </a:cubicBezTo>
                <a:cubicBezTo>
                  <a:pt x="613083" y="3971728"/>
                  <a:pt x="613141" y="3966104"/>
                  <a:pt x="614453" y="3960518"/>
                </a:cubicBezTo>
                <a:cubicBezTo>
                  <a:pt x="614411" y="3929436"/>
                  <a:pt x="616861" y="3898794"/>
                  <a:pt x="621917" y="3868787"/>
                </a:cubicBezTo>
                <a:lnTo>
                  <a:pt x="622458" y="3862150"/>
                </a:lnTo>
                <a:cubicBezTo>
                  <a:pt x="622626" y="3862145"/>
                  <a:pt x="622796" y="3862140"/>
                  <a:pt x="622963" y="3862087"/>
                </a:cubicBezTo>
                <a:cubicBezTo>
                  <a:pt x="673240" y="3511992"/>
                  <a:pt x="954279" y="3233421"/>
                  <a:pt x="1313129" y="3174489"/>
                </a:cubicBezTo>
                <a:lnTo>
                  <a:pt x="1313246" y="3173350"/>
                </a:lnTo>
                <a:cubicBezTo>
                  <a:pt x="1318555" y="3172348"/>
                  <a:pt x="1323883" y="3171407"/>
                  <a:pt x="1329459" y="3171823"/>
                </a:cubicBezTo>
                <a:cubicBezTo>
                  <a:pt x="1360642" y="3166310"/>
                  <a:pt x="1392535" y="3163352"/>
                  <a:pt x="1424920" y="3162829"/>
                </a:cubicBezTo>
                <a:close/>
                <a:moveTo>
                  <a:pt x="10909360" y="2447425"/>
                </a:moveTo>
                <a:cubicBezTo>
                  <a:pt x="10962636" y="2718331"/>
                  <a:pt x="11177479" y="2933128"/>
                  <a:pt x="11452669" y="2992271"/>
                </a:cubicBezTo>
                <a:cubicBezTo>
                  <a:pt x="11399394" y="2721365"/>
                  <a:pt x="11184550" y="2506568"/>
                  <a:pt x="10909360" y="2447425"/>
                </a:cubicBezTo>
                <a:close/>
                <a:moveTo>
                  <a:pt x="10602109" y="2447425"/>
                </a:moveTo>
                <a:cubicBezTo>
                  <a:pt x="10326919" y="2506568"/>
                  <a:pt x="10112075" y="2721365"/>
                  <a:pt x="10058800" y="2992271"/>
                </a:cubicBezTo>
                <a:cubicBezTo>
                  <a:pt x="10333990" y="2933128"/>
                  <a:pt x="10548833" y="2718331"/>
                  <a:pt x="10602109" y="2447425"/>
                </a:cubicBezTo>
                <a:close/>
                <a:moveTo>
                  <a:pt x="9217207" y="2447425"/>
                </a:moveTo>
                <a:cubicBezTo>
                  <a:pt x="9270483" y="2718331"/>
                  <a:pt x="9485326" y="2933128"/>
                  <a:pt x="9760516" y="2992271"/>
                </a:cubicBezTo>
                <a:cubicBezTo>
                  <a:pt x="9707241" y="2721365"/>
                  <a:pt x="9492397" y="2506568"/>
                  <a:pt x="9217207" y="2447425"/>
                </a:cubicBezTo>
                <a:close/>
                <a:moveTo>
                  <a:pt x="8909958" y="2447425"/>
                </a:moveTo>
                <a:cubicBezTo>
                  <a:pt x="8634768" y="2506568"/>
                  <a:pt x="8419924" y="2721365"/>
                  <a:pt x="8366649" y="2992271"/>
                </a:cubicBezTo>
                <a:cubicBezTo>
                  <a:pt x="8641839" y="2933128"/>
                  <a:pt x="8856682" y="2718331"/>
                  <a:pt x="8909958" y="2447425"/>
                </a:cubicBezTo>
                <a:close/>
                <a:moveTo>
                  <a:pt x="7525056" y="2447425"/>
                </a:moveTo>
                <a:cubicBezTo>
                  <a:pt x="7578332" y="2718331"/>
                  <a:pt x="7793175" y="2933128"/>
                  <a:pt x="8068365" y="2992271"/>
                </a:cubicBezTo>
                <a:cubicBezTo>
                  <a:pt x="8015090" y="2721365"/>
                  <a:pt x="7800246" y="2506568"/>
                  <a:pt x="7525056" y="2447425"/>
                </a:cubicBezTo>
                <a:close/>
                <a:moveTo>
                  <a:pt x="7217807" y="2447425"/>
                </a:moveTo>
                <a:cubicBezTo>
                  <a:pt x="6942617" y="2506568"/>
                  <a:pt x="6727773" y="2721365"/>
                  <a:pt x="6674498" y="2992271"/>
                </a:cubicBezTo>
                <a:cubicBezTo>
                  <a:pt x="6949688" y="2933128"/>
                  <a:pt x="7164531" y="2718331"/>
                  <a:pt x="7217807" y="2447425"/>
                </a:cubicBezTo>
                <a:close/>
                <a:moveTo>
                  <a:pt x="5832905" y="2447425"/>
                </a:moveTo>
                <a:cubicBezTo>
                  <a:pt x="5886181" y="2718331"/>
                  <a:pt x="6101024" y="2933128"/>
                  <a:pt x="6376214" y="2992271"/>
                </a:cubicBezTo>
                <a:cubicBezTo>
                  <a:pt x="6322939" y="2721365"/>
                  <a:pt x="6108095" y="2506568"/>
                  <a:pt x="5832905" y="2447425"/>
                </a:cubicBezTo>
                <a:close/>
                <a:moveTo>
                  <a:pt x="5525656" y="2447425"/>
                </a:moveTo>
                <a:cubicBezTo>
                  <a:pt x="5250466" y="2506568"/>
                  <a:pt x="5035622" y="2721365"/>
                  <a:pt x="4982347" y="2992271"/>
                </a:cubicBezTo>
                <a:cubicBezTo>
                  <a:pt x="5257537" y="2933128"/>
                  <a:pt x="5472380" y="2718331"/>
                  <a:pt x="5525656" y="2447425"/>
                </a:cubicBezTo>
                <a:close/>
                <a:moveTo>
                  <a:pt x="4140754" y="2447425"/>
                </a:moveTo>
                <a:cubicBezTo>
                  <a:pt x="4194030" y="2718331"/>
                  <a:pt x="4408873" y="2933128"/>
                  <a:pt x="4684063" y="2992271"/>
                </a:cubicBezTo>
                <a:cubicBezTo>
                  <a:pt x="4630788" y="2721365"/>
                  <a:pt x="4415944" y="2506568"/>
                  <a:pt x="4140754" y="2447425"/>
                </a:cubicBezTo>
                <a:close/>
                <a:moveTo>
                  <a:pt x="3833505" y="2447425"/>
                </a:moveTo>
                <a:cubicBezTo>
                  <a:pt x="3558315" y="2506568"/>
                  <a:pt x="3343471" y="2721365"/>
                  <a:pt x="3290196" y="2992271"/>
                </a:cubicBezTo>
                <a:cubicBezTo>
                  <a:pt x="3565386" y="2933128"/>
                  <a:pt x="3780229" y="2718331"/>
                  <a:pt x="3833505" y="2447425"/>
                </a:cubicBezTo>
                <a:close/>
                <a:moveTo>
                  <a:pt x="2448603" y="2447425"/>
                </a:moveTo>
                <a:cubicBezTo>
                  <a:pt x="2501879" y="2718331"/>
                  <a:pt x="2716722" y="2933128"/>
                  <a:pt x="2991912" y="2992271"/>
                </a:cubicBezTo>
                <a:cubicBezTo>
                  <a:pt x="2938637" y="2721365"/>
                  <a:pt x="2723793" y="2506568"/>
                  <a:pt x="2448603" y="2447425"/>
                </a:cubicBezTo>
                <a:close/>
                <a:moveTo>
                  <a:pt x="2141354" y="2447425"/>
                </a:moveTo>
                <a:cubicBezTo>
                  <a:pt x="1866164" y="2506568"/>
                  <a:pt x="1651320" y="2721365"/>
                  <a:pt x="1598045" y="2992271"/>
                </a:cubicBezTo>
                <a:cubicBezTo>
                  <a:pt x="1873235" y="2933128"/>
                  <a:pt x="2088078" y="2718331"/>
                  <a:pt x="2141354" y="2447425"/>
                </a:cubicBezTo>
                <a:close/>
                <a:moveTo>
                  <a:pt x="756452" y="2447425"/>
                </a:moveTo>
                <a:cubicBezTo>
                  <a:pt x="809728" y="2718331"/>
                  <a:pt x="1024571" y="2933128"/>
                  <a:pt x="1299761" y="2992271"/>
                </a:cubicBezTo>
                <a:cubicBezTo>
                  <a:pt x="1246486" y="2721365"/>
                  <a:pt x="1031642" y="2506568"/>
                  <a:pt x="756452" y="2447425"/>
                </a:cubicBezTo>
                <a:close/>
                <a:moveTo>
                  <a:pt x="12192000" y="2344615"/>
                </a:moveTo>
                <a:lnTo>
                  <a:pt x="12192000" y="2477663"/>
                </a:lnTo>
                <a:cubicBezTo>
                  <a:pt x="11966807" y="2562375"/>
                  <a:pt x="11797421" y="2755980"/>
                  <a:pt x="11750953" y="2992271"/>
                </a:cubicBezTo>
                <a:cubicBezTo>
                  <a:pt x="11935988" y="2952504"/>
                  <a:pt x="12093739" y="2842365"/>
                  <a:pt x="12192000" y="2691161"/>
                </a:cubicBezTo>
                <a:lnTo>
                  <a:pt x="12192000" y="2892735"/>
                </a:lnTo>
                <a:cubicBezTo>
                  <a:pt x="12071770" y="3011736"/>
                  <a:pt x="11914089" y="3094511"/>
                  <a:pt x="11737582" y="3123727"/>
                </a:cubicBezTo>
                <a:lnTo>
                  <a:pt x="11737466" y="3124875"/>
                </a:lnTo>
                <a:cubicBezTo>
                  <a:pt x="11732155" y="3125886"/>
                  <a:pt x="11726826" y="3126834"/>
                  <a:pt x="11721249" y="3126415"/>
                </a:cubicBezTo>
                <a:cubicBezTo>
                  <a:pt x="11690077" y="3131969"/>
                  <a:pt x="11658197" y="3134950"/>
                  <a:pt x="11625822" y="3135477"/>
                </a:cubicBezTo>
                <a:lnTo>
                  <a:pt x="11608704" y="3137103"/>
                </a:lnTo>
                <a:lnTo>
                  <a:pt x="11608678" y="3136608"/>
                </a:lnTo>
                <a:lnTo>
                  <a:pt x="11608179" y="3136641"/>
                </a:lnTo>
                <a:cubicBezTo>
                  <a:pt x="11607613" y="3132839"/>
                  <a:pt x="11607586" y="3129023"/>
                  <a:pt x="11607586" y="3125201"/>
                </a:cubicBezTo>
                <a:cubicBezTo>
                  <a:pt x="11607586" y="3119519"/>
                  <a:pt x="11607645" y="3113850"/>
                  <a:pt x="11608957" y="3108220"/>
                </a:cubicBezTo>
                <a:cubicBezTo>
                  <a:pt x="11608914" y="3076892"/>
                  <a:pt x="11611364" y="3046007"/>
                  <a:pt x="11616421" y="3015763"/>
                </a:cubicBezTo>
                <a:lnTo>
                  <a:pt x="11616961" y="3009073"/>
                </a:lnTo>
                <a:cubicBezTo>
                  <a:pt x="11617130" y="3009068"/>
                  <a:pt x="11617299" y="3009063"/>
                  <a:pt x="11617466" y="3009010"/>
                </a:cubicBezTo>
                <a:cubicBezTo>
                  <a:pt x="11662185" y="2695154"/>
                  <a:pt x="11889463" y="2438329"/>
                  <a:pt x="12192000" y="2344615"/>
                </a:cubicBezTo>
                <a:close/>
                <a:moveTo>
                  <a:pt x="10767111" y="2302594"/>
                </a:moveTo>
                <a:lnTo>
                  <a:pt x="10784198" y="2304217"/>
                </a:lnTo>
                <a:cubicBezTo>
                  <a:pt x="10816584" y="2304744"/>
                  <a:pt x="10848477" y="2307725"/>
                  <a:pt x="10879660" y="2313282"/>
                </a:cubicBezTo>
                <a:cubicBezTo>
                  <a:pt x="10885236" y="2312863"/>
                  <a:pt x="10890564" y="2313811"/>
                  <a:pt x="10895873" y="2314821"/>
                </a:cubicBezTo>
                <a:lnTo>
                  <a:pt x="10895990" y="2315969"/>
                </a:lnTo>
                <a:cubicBezTo>
                  <a:pt x="11254840" y="2375367"/>
                  <a:pt x="11535879" y="2656144"/>
                  <a:pt x="11586156" y="3009010"/>
                </a:cubicBezTo>
                <a:cubicBezTo>
                  <a:pt x="11586323" y="3009063"/>
                  <a:pt x="11586492" y="3009068"/>
                  <a:pt x="11586661" y="3009073"/>
                </a:cubicBezTo>
                <a:lnTo>
                  <a:pt x="11587201" y="3015763"/>
                </a:lnTo>
                <a:cubicBezTo>
                  <a:pt x="11592258" y="3046007"/>
                  <a:pt x="11594708" y="3076892"/>
                  <a:pt x="11594665" y="3108220"/>
                </a:cubicBezTo>
                <a:cubicBezTo>
                  <a:pt x="11595977" y="3113850"/>
                  <a:pt x="11596036" y="3119519"/>
                  <a:pt x="11596036" y="3125201"/>
                </a:cubicBezTo>
                <a:cubicBezTo>
                  <a:pt x="11596036" y="3129023"/>
                  <a:pt x="11596009" y="3132839"/>
                  <a:pt x="11595443" y="3136641"/>
                </a:cubicBezTo>
                <a:lnTo>
                  <a:pt x="11594944" y="3136608"/>
                </a:lnTo>
                <a:lnTo>
                  <a:pt x="11594918" y="3137103"/>
                </a:lnTo>
                <a:lnTo>
                  <a:pt x="11577800" y="3135477"/>
                </a:lnTo>
                <a:cubicBezTo>
                  <a:pt x="11545425" y="3134950"/>
                  <a:pt x="11513545" y="3131969"/>
                  <a:pt x="11482373" y="3126415"/>
                </a:cubicBezTo>
                <a:cubicBezTo>
                  <a:pt x="11476796" y="3126834"/>
                  <a:pt x="11471467" y="3125886"/>
                  <a:pt x="11466156" y="3124875"/>
                </a:cubicBezTo>
                <a:lnTo>
                  <a:pt x="11466040" y="3123727"/>
                </a:lnTo>
                <a:cubicBezTo>
                  <a:pt x="11107189" y="3064328"/>
                  <a:pt x="10826150" y="2783551"/>
                  <a:pt x="10775875" y="2430686"/>
                </a:cubicBezTo>
                <a:cubicBezTo>
                  <a:pt x="10775707" y="2430633"/>
                  <a:pt x="10775539" y="2430628"/>
                  <a:pt x="10775369" y="2430623"/>
                </a:cubicBezTo>
                <a:lnTo>
                  <a:pt x="10774831" y="2423947"/>
                </a:lnTo>
                <a:cubicBezTo>
                  <a:pt x="10769772" y="2393697"/>
                  <a:pt x="10767321" y="2362806"/>
                  <a:pt x="10767364" y="2331471"/>
                </a:cubicBezTo>
                <a:cubicBezTo>
                  <a:pt x="10766052" y="2325843"/>
                  <a:pt x="10765993" y="2320176"/>
                  <a:pt x="10765993" y="2314495"/>
                </a:cubicBezTo>
                <a:lnTo>
                  <a:pt x="10766587" y="2303055"/>
                </a:lnTo>
                <a:lnTo>
                  <a:pt x="10767085" y="2303088"/>
                </a:lnTo>
                <a:close/>
                <a:moveTo>
                  <a:pt x="10744358" y="2302594"/>
                </a:moveTo>
                <a:lnTo>
                  <a:pt x="10744384" y="2303088"/>
                </a:lnTo>
                <a:lnTo>
                  <a:pt x="10744882" y="2303055"/>
                </a:lnTo>
                <a:lnTo>
                  <a:pt x="10745476" y="2314495"/>
                </a:lnTo>
                <a:cubicBezTo>
                  <a:pt x="10745476" y="2320176"/>
                  <a:pt x="10745417" y="2325843"/>
                  <a:pt x="10744105" y="2331471"/>
                </a:cubicBezTo>
                <a:cubicBezTo>
                  <a:pt x="10744148" y="2362806"/>
                  <a:pt x="10741697" y="2393697"/>
                  <a:pt x="10736638" y="2423947"/>
                </a:cubicBezTo>
                <a:lnTo>
                  <a:pt x="10736100" y="2430623"/>
                </a:lnTo>
                <a:cubicBezTo>
                  <a:pt x="10735930" y="2430628"/>
                  <a:pt x="10735762" y="2430633"/>
                  <a:pt x="10735594" y="2430686"/>
                </a:cubicBezTo>
                <a:cubicBezTo>
                  <a:pt x="10685319" y="2783551"/>
                  <a:pt x="10404280" y="3064328"/>
                  <a:pt x="10045429" y="3123727"/>
                </a:cubicBezTo>
                <a:lnTo>
                  <a:pt x="10045313" y="3124875"/>
                </a:lnTo>
                <a:cubicBezTo>
                  <a:pt x="10040002" y="3125886"/>
                  <a:pt x="10034673" y="3126834"/>
                  <a:pt x="10029096" y="3126415"/>
                </a:cubicBezTo>
                <a:cubicBezTo>
                  <a:pt x="9997924" y="3131969"/>
                  <a:pt x="9966044" y="3134950"/>
                  <a:pt x="9933669" y="3135477"/>
                </a:cubicBezTo>
                <a:lnTo>
                  <a:pt x="9916551" y="3137103"/>
                </a:lnTo>
                <a:lnTo>
                  <a:pt x="9916525" y="3136608"/>
                </a:lnTo>
                <a:lnTo>
                  <a:pt x="9916026" y="3136641"/>
                </a:lnTo>
                <a:cubicBezTo>
                  <a:pt x="9915460" y="3132839"/>
                  <a:pt x="9915433" y="3129023"/>
                  <a:pt x="9915433" y="3125201"/>
                </a:cubicBezTo>
                <a:cubicBezTo>
                  <a:pt x="9915433" y="3119519"/>
                  <a:pt x="9915492" y="3113850"/>
                  <a:pt x="9916804" y="3108220"/>
                </a:cubicBezTo>
                <a:cubicBezTo>
                  <a:pt x="9916761" y="3076892"/>
                  <a:pt x="9919211" y="3046007"/>
                  <a:pt x="9924268" y="3015763"/>
                </a:cubicBezTo>
                <a:lnTo>
                  <a:pt x="9924808" y="3009073"/>
                </a:lnTo>
                <a:cubicBezTo>
                  <a:pt x="9924977" y="3009068"/>
                  <a:pt x="9925146" y="3009063"/>
                  <a:pt x="9925314" y="3009010"/>
                </a:cubicBezTo>
                <a:cubicBezTo>
                  <a:pt x="9975590" y="2656144"/>
                  <a:pt x="10256629" y="2375367"/>
                  <a:pt x="10615479" y="2315969"/>
                </a:cubicBezTo>
                <a:lnTo>
                  <a:pt x="10615596" y="2314821"/>
                </a:lnTo>
                <a:cubicBezTo>
                  <a:pt x="10620905" y="2313811"/>
                  <a:pt x="10626233" y="2312863"/>
                  <a:pt x="10631809" y="2313282"/>
                </a:cubicBezTo>
                <a:cubicBezTo>
                  <a:pt x="10662992" y="2307725"/>
                  <a:pt x="10694885" y="2304744"/>
                  <a:pt x="10727271" y="2304217"/>
                </a:cubicBezTo>
                <a:close/>
                <a:moveTo>
                  <a:pt x="9074958" y="2302594"/>
                </a:moveTo>
                <a:lnTo>
                  <a:pt x="9092045" y="2304217"/>
                </a:lnTo>
                <a:cubicBezTo>
                  <a:pt x="9124431" y="2304744"/>
                  <a:pt x="9156324" y="2307725"/>
                  <a:pt x="9187507" y="2313282"/>
                </a:cubicBezTo>
                <a:cubicBezTo>
                  <a:pt x="9193083" y="2312863"/>
                  <a:pt x="9198411" y="2313811"/>
                  <a:pt x="9203720" y="2314821"/>
                </a:cubicBezTo>
                <a:lnTo>
                  <a:pt x="9203837" y="2315969"/>
                </a:lnTo>
                <a:cubicBezTo>
                  <a:pt x="9562687" y="2375367"/>
                  <a:pt x="9843726" y="2656144"/>
                  <a:pt x="9894002" y="3009010"/>
                </a:cubicBezTo>
                <a:cubicBezTo>
                  <a:pt x="9894170" y="3009063"/>
                  <a:pt x="9894339" y="3009068"/>
                  <a:pt x="9894508" y="3009073"/>
                </a:cubicBezTo>
                <a:lnTo>
                  <a:pt x="9895048" y="3015763"/>
                </a:lnTo>
                <a:cubicBezTo>
                  <a:pt x="9900105" y="3046007"/>
                  <a:pt x="9902555" y="3076892"/>
                  <a:pt x="9902512" y="3108220"/>
                </a:cubicBezTo>
                <a:cubicBezTo>
                  <a:pt x="9903824" y="3113850"/>
                  <a:pt x="9903883" y="3119519"/>
                  <a:pt x="9903883" y="3125201"/>
                </a:cubicBezTo>
                <a:cubicBezTo>
                  <a:pt x="9903883" y="3129023"/>
                  <a:pt x="9903856" y="3132839"/>
                  <a:pt x="9903290" y="3136641"/>
                </a:cubicBezTo>
                <a:lnTo>
                  <a:pt x="9902791" y="3136608"/>
                </a:lnTo>
                <a:lnTo>
                  <a:pt x="9902765" y="3137103"/>
                </a:lnTo>
                <a:lnTo>
                  <a:pt x="9885647" y="3135477"/>
                </a:lnTo>
                <a:cubicBezTo>
                  <a:pt x="9853272" y="3134950"/>
                  <a:pt x="9821392" y="3131969"/>
                  <a:pt x="9790220" y="3126415"/>
                </a:cubicBezTo>
                <a:cubicBezTo>
                  <a:pt x="9784643" y="3126834"/>
                  <a:pt x="9779314" y="3125886"/>
                  <a:pt x="9774003" y="3124875"/>
                </a:cubicBezTo>
                <a:lnTo>
                  <a:pt x="9773887" y="3123727"/>
                </a:lnTo>
                <a:cubicBezTo>
                  <a:pt x="9415036" y="3064328"/>
                  <a:pt x="9133997" y="2783551"/>
                  <a:pt x="9083722" y="2430686"/>
                </a:cubicBezTo>
                <a:cubicBezTo>
                  <a:pt x="9083554" y="2430633"/>
                  <a:pt x="9083386" y="2430628"/>
                  <a:pt x="9083216" y="2430623"/>
                </a:cubicBezTo>
                <a:lnTo>
                  <a:pt x="9082678" y="2423947"/>
                </a:lnTo>
                <a:cubicBezTo>
                  <a:pt x="9077619" y="2393697"/>
                  <a:pt x="9075168" y="2362806"/>
                  <a:pt x="9075211" y="2331471"/>
                </a:cubicBezTo>
                <a:cubicBezTo>
                  <a:pt x="9073899" y="2325843"/>
                  <a:pt x="9073840" y="2320176"/>
                  <a:pt x="9073840" y="2314495"/>
                </a:cubicBezTo>
                <a:lnTo>
                  <a:pt x="9074434" y="2303055"/>
                </a:lnTo>
                <a:lnTo>
                  <a:pt x="9074932" y="2303088"/>
                </a:lnTo>
                <a:close/>
                <a:moveTo>
                  <a:pt x="9052207" y="2302594"/>
                </a:moveTo>
                <a:lnTo>
                  <a:pt x="9052233" y="2303088"/>
                </a:lnTo>
                <a:lnTo>
                  <a:pt x="9052731" y="2303055"/>
                </a:lnTo>
                <a:lnTo>
                  <a:pt x="9053325" y="2314495"/>
                </a:lnTo>
                <a:cubicBezTo>
                  <a:pt x="9053325" y="2320176"/>
                  <a:pt x="9053266" y="2325843"/>
                  <a:pt x="9051954" y="2331471"/>
                </a:cubicBezTo>
                <a:cubicBezTo>
                  <a:pt x="9051997" y="2362806"/>
                  <a:pt x="9049546" y="2393697"/>
                  <a:pt x="9044487" y="2423947"/>
                </a:cubicBezTo>
                <a:lnTo>
                  <a:pt x="9043949" y="2430623"/>
                </a:lnTo>
                <a:cubicBezTo>
                  <a:pt x="9043779" y="2430628"/>
                  <a:pt x="9043611" y="2430633"/>
                  <a:pt x="9043443" y="2430686"/>
                </a:cubicBezTo>
                <a:cubicBezTo>
                  <a:pt x="8993168" y="2783551"/>
                  <a:pt x="8712129" y="3064328"/>
                  <a:pt x="8353278" y="3123727"/>
                </a:cubicBezTo>
                <a:lnTo>
                  <a:pt x="8353162" y="3124875"/>
                </a:lnTo>
                <a:cubicBezTo>
                  <a:pt x="8347851" y="3125886"/>
                  <a:pt x="8342522" y="3126834"/>
                  <a:pt x="8336945" y="3126415"/>
                </a:cubicBezTo>
                <a:cubicBezTo>
                  <a:pt x="8305773" y="3131969"/>
                  <a:pt x="8273893" y="3134950"/>
                  <a:pt x="8241519" y="3135477"/>
                </a:cubicBezTo>
                <a:lnTo>
                  <a:pt x="8224400" y="3137103"/>
                </a:lnTo>
                <a:lnTo>
                  <a:pt x="8224374" y="3136608"/>
                </a:lnTo>
                <a:lnTo>
                  <a:pt x="8223875" y="3136641"/>
                </a:lnTo>
                <a:cubicBezTo>
                  <a:pt x="8223309" y="3132839"/>
                  <a:pt x="8223282" y="3129023"/>
                  <a:pt x="8223282" y="3125201"/>
                </a:cubicBezTo>
                <a:cubicBezTo>
                  <a:pt x="8223282" y="3119519"/>
                  <a:pt x="8223341" y="3113850"/>
                  <a:pt x="8224653" y="3108220"/>
                </a:cubicBezTo>
                <a:cubicBezTo>
                  <a:pt x="8224611" y="3076892"/>
                  <a:pt x="8227060" y="3046007"/>
                  <a:pt x="8232117" y="3015763"/>
                </a:cubicBezTo>
                <a:lnTo>
                  <a:pt x="8232657" y="3009073"/>
                </a:lnTo>
                <a:cubicBezTo>
                  <a:pt x="8232826" y="3009068"/>
                  <a:pt x="8232995" y="3009063"/>
                  <a:pt x="8233163" y="3009010"/>
                </a:cubicBezTo>
                <a:cubicBezTo>
                  <a:pt x="8283439" y="2656144"/>
                  <a:pt x="8564478" y="2375367"/>
                  <a:pt x="8923328" y="2315969"/>
                </a:cubicBezTo>
                <a:lnTo>
                  <a:pt x="8923445" y="2314821"/>
                </a:lnTo>
                <a:cubicBezTo>
                  <a:pt x="8928754" y="2313811"/>
                  <a:pt x="8934082" y="2312863"/>
                  <a:pt x="8939658" y="2313282"/>
                </a:cubicBezTo>
                <a:cubicBezTo>
                  <a:pt x="8970841" y="2307725"/>
                  <a:pt x="9002734" y="2304744"/>
                  <a:pt x="9035120" y="2304217"/>
                </a:cubicBezTo>
                <a:close/>
                <a:moveTo>
                  <a:pt x="7382807" y="2302594"/>
                </a:moveTo>
                <a:lnTo>
                  <a:pt x="7399895" y="2304217"/>
                </a:lnTo>
                <a:cubicBezTo>
                  <a:pt x="7432280" y="2304744"/>
                  <a:pt x="7464173" y="2307725"/>
                  <a:pt x="7495356" y="2313282"/>
                </a:cubicBezTo>
                <a:cubicBezTo>
                  <a:pt x="7500932" y="2312863"/>
                  <a:pt x="7506260" y="2313811"/>
                  <a:pt x="7511569" y="2314821"/>
                </a:cubicBezTo>
                <a:lnTo>
                  <a:pt x="7511686" y="2315969"/>
                </a:lnTo>
                <a:cubicBezTo>
                  <a:pt x="7870536" y="2375367"/>
                  <a:pt x="8151575" y="2656144"/>
                  <a:pt x="8201852" y="3009010"/>
                </a:cubicBezTo>
                <a:cubicBezTo>
                  <a:pt x="8202019" y="3009063"/>
                  <a:pt x="8202189" y="3009068"/>
                  <a:pt x="8202357" y="3009073"/>
                </a:cubicBezTo>
                <a:lnTo>
                  <a:pt x="8202898" y="3015763"/>
                </a:lnTo>
                <a:cubicBezTo>
                  <a:pt x="8207954" y="3046007"/>
                  <a:pt x="8210404" y="3076892"/>
                  <a:pt x="8210362" y="3108220"/>
                </a:cubicBezTo>
                <a:cubicBezTo>
                  <a:pt x="8211674" y="3113850"/>
                  <a:pt x="8211732" y="3119519"/>
                  <a:pt x="8211732" y="3125201"/>
                </a:cubicBezTo>
                <a:cubicBezTo>
                  <a:pt x="8211732" y="3129023"/>
                  <a:pt x="8211705" y="3132839"/>
                  <a:pt x="8211139" y="3136641"/>
                </a:cubicBezTo>
                <a:lnTo>
                  <a:pt x="8210640" y="3136608"/>
                </a:lnTo>
                <a:lnTo>
                  <a:pt x="8210614" y="3137103"/>
                </a:lnTo>
                <a:lnTo>
                  <a:pt x="8193496" y="3135477"/>
                </a:lnTo>
                <a:cubicBezTo>
                  <a:pt x="8161122" y="3134950"/>
                  <a:pt x="8129241" y="3131969"/>
                  <a:pt x="8098069" y="3126415"/>
                </a:cubicBezTo>
                <a:cubicBezTo>
                  <a:pt x="8092492" y="3126834"/>
                  <a:pt x="8087163" y="3125886"/>
                  <a:pt x="8081853" y="3124875"/>
                </a:cubicBezTo>
                <a:lnTo>
                  <a:pt x="8081737" y="3123727"/>
                </a:lnTo>
                <a:cubicBezTo>
                  <a:pt x="7722885" y="3064328"/>
                  <a:pt x="7441846" y="2783551"/>
                  <a:pt x="7391571" y="2430686"/>
                </a:cubicBezTo>
                <a:cubicBezTo>
                  <a:pt x="7391403" y="2430633"/>
                  <a:pt x="7391235" y="2430628"/>
                  <a:pt x="7391065" y="2430623"/>
                </a:cubicBezTo>
                <a:lnTo>
                  <a:pt x="7390527" y="2423947"/>
                </a:lnTo>
                <a:cubicBezTo>
                  <a:pt x="7385468" y="2393697"/>
                  <a:pt x="7383018" y="2362806"/>
                  <a:pt x="7383060" y="2331471"/>
                </a:cubicBezTo>
                <a:cubicBezTo>
                  <a:pt x="7381748" y="2325843"/>
                  <a:pt x="7381689" y="2320176"/>
                  <a:pt x="7381689" y="2314495"/>
                </a:cubicBezTo>
                <a:lnTo>
                  <a:pt x="7382283" y="2303055"/>
                </a:lnTo>
                <a:lnTo>
                  <a:pt x="7382781" y="2303088"/>
                </a:lnTo>
                <a:close/>
                <a:moveTo>
                  <a:pt x="7360056" y="2302594"/>
                </a:moveTo>
                <a:lnTo>
                  <a:pt x="7360082" y="2303088"/>
                </a:lnTo>
                <a:lnTo>
                  <a:pt x="7360580" y="2303055"/>
                </a:lnTo>
                <a:lnTo>
                  <a:pt x="7361174" y="2314495"/>
                </a:lnTo>
                <a:cubicBezTo>
                  <a:pt x="7361174" y="2320176"/>
                  <a:pt x="7361116" y="2325843"/>
                  <a:pt x="7359804" y="2331471"/>
                </a:cubicBezTo>
                <a:cubicBezTo>
                  <a:pt x="7359846" y="2362806"/>
                  <a:pt x="7357395" y="2393697"/>
                  <a:pt x="7352337" y="2423947"/>
                </a:cubicBezTo>
                <a:lnTo>
                  <a:pt x="7351798" y="2430623"/>
                </a:lnTo>
                <a:cubicBezTo>
                  <a:pt x="7351629" y="2430628"/>
                  <a:pt x="7351460" y="2430633"/>
                  <a:pt x="7351293" y="2430686"/>
                </a:cubicBezTo>
                <a:cubicBezTo>
                  <a:pt x="7301017" y="2783551"/>
                  <a:pt x="7019978" y="3064328"/>
                  <a:pt x="6661127" y="3123727"/>
                </a:cubicBezTo>
                <a:lnTo>
                  <a:pt x="6661011" y="3124875"/>
                </a:lnTo>
                <a:cubicBezTo>
                  <a:pt x="6655700" y="3125886"/>
                  <a:pt x="6650371" y="3126834"/>
                  <a:pt x="6644794" y="3126415"/>
                </a:cubicBezTo>
                <a:cubicBezTo>
                  <a:pt x="6613622" y="3131969"/>
                  <a:pt x="6581742" y="3134950"/>
                  <a:pt x="6549368" y="3135477"/>
                </a:cubicBezTo>
                <a:lnTo>
                  <a:pt x="6532249" y="3137103"/>
                </a:lnTo>
                <a:lnTo>
                  <a:pt x="6532223" y="3136608"/>
                </a:lnTo>
                <a:lnTo>
                  <a:pt x="6531724" y="3136641"/>
                </a:lnTo>
                <a:cubicBezTo>
                  <a:pt x="6531158" y="3132839"/>
                  <a:pt x="6531131" y="3129023"/>
                  <a:pt x="6531131" y="3125201"/>
                </a:cubicBezTo>
                <a:cubicBezTo>
                  <a:pt x="6531131" y="3119519"/>
                  <a:pt x="6531190" y="3113850"/>
                  <a:pt x="6532502" y="3108220"/>
                </a:cubicBezTo>
                <a:cubicBezTo>
                  <a:pt x="6532460" y="3076892"/>
                  <a:pt x="6534909" y="3046007"/>
                  <a:pt x="6539966" y="3015763"/>
                </a:cubicBezTo>
                <a:lnTo>
                  <a:pt x="6540506" y="3009073"/>
                </a:lnTo>
                <a:cubicBezTo>
                  <a:pt x="6540675" y="3009068"/>
                  <a:pt x="6540844" y="3009063"/>
                  <a:pt x="6541012" y="3009010"/>
                </a:cubicBezTo>
                <a:cubicBezTo>
                  <a:pt x="6591288" y="2656144"/>
                  <a:pt x="6872327" y="2375367"/>
                  <a:pt x="7231178" y="2315969"/>
                </a:cubicBezTo>
                <a:lnTo>
                  <a:pt x="7231295" y="2314821"/>
                </a:lnTo>
                <a:cubicBezTo>
                  <a:pt x="7236603" y="2313811"/>
                  <a:pt x="7241931" y="2312863"/>
                  <a:pt x="7247507" y="2313282"/>
                </a:cubicBezTo>
                <a:cubicBezTo>
                  <a:pt x="7278691" y="2307725"/>
                  <a:pt x="7310583" y="2304744"/>
                  <a:pt x="7342969" y="2304217"/>
                </a:cubicBezTo>
                <a:close/>
                <a:moveTo>
                  <a:pt x="5690656" y="2302594"/>
                </a:moveTo>
                <a:lnTo>
                  <a:pt x="5707743" y="2304217"/>
                </a:lnTo>
                <a:cubicBezTo>
                  <a:pt x="5740129" y="2304744"/>
                  <a:pt x="5772021" y="2307725"/>
                  <a:pt x="5803205" y="2313282"/>
                </a:cubicBezTo>
                <a:cubicBezTo>
                  <a:pt x="5808781" y="2312863"/>
                  <a:pt x="5814109" y="2313811"/>
                  <a:pt x="5819417" y="2314821"/>
                </a:cubicBezTo>
                <a:lnTo>
                  <a:pt x="5819534" y="2315969"/>
                </a:lnTo>
                <a:cubicBezTo>
                  <a:pt x="6178385" y="2375367"/>
                  <a:pt x="6459424" y="2656144"/>
                  <a:pt x="6509700" y="3009010"/>
                </a:cubicBezTo>
                <a:cubicBezTo>
                  <a:pt x="6509868" y="3009063"/>
                  <a:pt x="6510037" y="3009068"/>
                  <a:pt x="6510206" y="3009073"/>
                </a:cubicBezTo>
                <a:lnTo>
                  <a:pt x="6510746" y="3015763"/>
                </a:lnTo>
                <a:cubicBezTo>
                  <a:pt x="6515803" y="3046007"/>
                  <a:pt x="6518252" y="3076892"/>
                  <a:pt x="6518210" y="3108220"/>
                </a:cubicBezTo>
                <a:cubicBezTo>
                  <a:pt x="6519522" y="3113850"/>
                  <a:pt x="6519581" y="3119519"/>
                  <a:pt x="6519581" y="3125201"/>
                </a:cubicBezTo>
                <a:cubicBezTo>
                  <a:pt x="6519581" y="3129023"/>
                  <a:pt x="6519554" y="3132839"/>
                  <a:pt x="6518988" y="3136641"/>
                </a:cubicBezTo>
                <a:lnTo>
                  <a:pt x="6518489" y="3136608"/>
                </a:lnTo>
                <a:lnTo>
                  <a:pt x="6518463" y="3137103"/>
                </a:lnTo>
                <a:lnTo>
                  <a:pt x="6501344" y="3135477"/>
                </a:lnTo>
                <a:cubicBezTo>
                  <a:pt x="6468970" y="3134950"/>
                  <a:pt x="6437090" y="3131969"/>
                  <a:pt x="6405918" y="3126415"/>
                </a:cubicBezTo>
                <a:cubicBezTo>
                  <a:pt x="6400341" y="3126834"/>
                  <a:pt x="6395012" y="3125886"/>
                  <a:pt x="6389701" y="3124875"/>
                </a:cubicBezTo>
                <a:lnTo>
                  <a:pt x="6389585" y="3123727"/>
                </a:lnTo>
                <a:cubicBezTo>
                  <a:pt x="6030734" y="3064328"/>
                  <a:pt x="5749695" y="2783551"/>
                  <a:pt x="5699419" y="2430686"/>
                </a:cubicBezTo>
                <a:cubicBezTo>
                  <a:pt x="5699252" y="2430633"/>
                  <a:pt x="5699083" y="2430628"/>
                  <a:pt x="5698914" y="2430623"/>
                </a:cubicBezTo>
                <a:lnTo>
                  <a:pt x="5698375" y="2423947"/>
                </a:lnTo>
                <a:cubicBezTo>
                  <a:pt x="5693317" y="2393697"/>
                  <a:pt x="5690866" y="2362806"/>
                  <a:pt x="5690908" y="2331471"/>
                </a:cubicBezTo>
                <a:cubicBezTo>
                  <a:pt x="5689596" y="2325843"/>
                  <a:pt x="5689538" y="2320176"/>
                  <a:pt x="5689538" y="2314495"/>
                </a:cubicBezTo>
                <a:lnTo>
                  <a:pt x="5690132" y="2303055"/>
                </a:lnTo>
                <a:lnTo>
                  <a:pt x="5690630" y="2303088"/>
                </a:lnTo>
                <a:close/>
                <a:moveTo>
                  <a:pt x="5667905" y="2302594"/>
                </a:moveTo>
                <a:lnTo>
                  <a:pt x="5667931" y="2303088"/>
                </a:lnTo>
                <a:lnTo>
                  <a:pt x="5668429" y="2303055"/>
                </a:lnTo>
                <a:lnTo>
                  <a:pt x="5669023" y="2314495"/>
                </a:lnTo>
                <a:cubicBezTo>
                  <a:pt x="5669023" y="2320176"/>
                  <a:pt x="5668964" y="2325843"/>
                  <a:pt x="5667652" y="2331471"/>
                </a:cubicBezTo>
                <a:cubicBezTo>
                  <a:pt x="5667694" y="2362806"/>
                  <a:pt x="5665244" y="2393697"/>
                  <a:pt x="5660185" y="2423947"/>
                </a:cubicBezTo>
                <a:lnTo>
                  <a:pt x="5659647" y="2430623"/>
                </a:lnTo>
                <a:cubicBezTo>
                  <a:pt x="5659477" y="2430628"/>
                  <a:pt x="5659309" y="2430633"/>
                  <a:pt x="5659141" y="2430686"/>
                </a:cubicBezTo>
                <a:cubicBezTo>
                  <a:pt x="5608866" y="2783551"/>
                  <a:pt x="5327827" y="3064328"/>
                  <a:pt x="4968975" y="3123727"/>
                </a:cubicBezTo>
                <a:lnTo>
                  <a:pt x="4968859" y="3124875"/>
                </a:lnTo>
                <a:cubicBezTo>
                  <a:pt x="4963549" y="3125886"/>
                  <a:pt x="4958220" y="3126834"/>
                  <a:pt x="4952643" y="3126415"/>
                </a:cubicBezTo>
                <a:cubicBezTo>
                  <a:pt x="4921471" y="3131969"/>
                  <a:pt x="4889590" y="3134950"/>
                  <a:pt x="4857216" y="3135477"/>
                </a:cubicBezTo>
                <a:lnTo>
                  <a:pt x="4840098" y="3137103"/>
                </a:lnTo>
                <a:lnTo>
                  <a:pt x="4840072" y="3136608"/>
                </a:lnTo>
                <a:lnTo>
                  <a:pt x="4839573" y="3136641"/>
                </a:lnTo>
                <a:cubicBezTo>
                  <a:pt x="4839007" y="3132839"/>
                  <a:pt x="4838980" y="3129023"/>
                  <a:pt x="4838980" y="3125201"/>
                </a:cubicBezTo>
                <a:cubicBezTo>
                  <a:pt x="4838980" y="3119519"/>
                  <a:pt x="4839038" y="3113850"/>
                  <a:pt x="4840350" y="3108220"/>
                </a:cubicBezTo>
                <a:cubicBezTo>
                  <a:pt x="4840308" y="3076892"/>
                  <a:pt x="4842758" y="3046007"/>
                  <a:pt x="4847814" y="3015763"/>
                </a:cubicBezTo>
                <a:lnTo>
                  <a:pt x="4848355" y="3009073"/>
                </a:lnTo>
                <a:cubicBezTo>
                  <a:pt x="4848523" y="3009068"/>
                  <a:pt x="4848693" y="3009063"/>
                  <a:pt x="4848860" y="3009010"/>
                </a:cubicBezTo>
                <a:cubicBezTo>
                  <a:pt x="4899137" y="2656144"/>
                  <a:pt x="5180176" y="2375367"/>
                  <a:pt x="5539026" y="2315969"/>
                </a:cubicBezTo>
                <a:lnTo>
                  <a:pt x="5539143" y="2314821"/>
                </a:lnTo>
                <a:cubicBezTo>
                  <a:pt x="5544452" y="2313811"/>
                  <a:pt x="5549780" y="2312863"/>
                  <a:pt x="5555356" y="2313282"/>
                </a:cubicBezTo>
                <a:cubicBezTo>
                  <a:pt x="5586539" y="2307725"/>
                  <a:pt x="5618432" y="2304744"/>
                  <a:pt x="5650817" y="2304217"/>
                </a:cubicBezTo>
                <a:close/>
                <a:moveTo>
                  <a:pt x="3998505" y="2302594"/>
                </a:moveTo>
                <a:lnTo>
                  <a:pt x="4015592" y="2304217"/>
                </a:lnTo>
                <a:cubicBezTo>
                  <a:pt x="4047978" y="2304744"/>
                  <a:pt x="4079870" y="2307725"/>
                  <a:pt x="4111054" y="2313282"/>
                </a:cubicBezTo>
                <a:cubicBezTo>
                  <a:pt x="4116630" y="2312863"/>
                  <a:pt x="4121958" y="2313811"/>
                  <a:pt x="4127266" y="2314821"/>
                </a:cubicBezTo>
                <a:lnTo>
                  <a:pt x="4127384" y="2315969"/>
                </a:lnTo>
                <a:cubicBezTo>
                  <a:pt x="4486234" y="2375367"/>
                  <a:pt x="4767273" y="2656144"/>
                  <a:pt x="4817549" y="3009010"/>
                </a:cubicBezTo>
                <a:cubicBezTo>
                  <a:pt x="4817717" y="3009063"/>
                  <a:pt x="4817886" y="3009068"/>
                  <a:pt x="4818055" y="3009073"/>
                </a:cubicBezTo>
                <a:lnTo>
                  <a:pt x="4818595" y="3015763"/>
                </a:lnTo>
                <a:cubicBezTo>
                  <a:pt x="4823652" y="3046007"/>
                  <a:pt x="4826101" y="3076892"/>
                  <a:pt x="4826059" y="3108220"/>
                </a:cubicBezTo>
                <a:cubicBezTo>
                  <a:pt x="4827371" y="3113850"/>
                  <a:pt x="4827430" y="3119519"/>
                  <a:pt x="4827430" y="3125201"/>
                </a:cubicBezTo>
                <a:cubicBezTo>
                  <a:pt x="4827430" y="3129023"/>
                  <a:pt x="4827403" y="3132839"/>
                  <a:pt x="4826837" y="3136641"/>
                </a:cubicBezTo>
                <a:lnTo>
                  <a:pt x="4826338" y="3136608"/>
                </a:lnTo>
                <a:lnTo>
                  <a:pt x="4826312" y="3137103"/>
                </a:lnTo>
                <a:lnTo>
                  <a:pt x="4809193" y="3135477"/>
                </a:lnTo>
                <a:cubicBezTo>
                  <a:pt x="4776819" y="3134950"/>
                  <a:pt x="4744939" y="3131969"/>
                  <a:pt x="4713767" y="3126415"/>
                </a:cubicBezTo>
                <a:cubicBezTo>
                  <a:pt x="4708190" y="3126834"/>
                  <a:pt x="4702861" y="3125886"/>
                  <a:pt x="4697550" y="3124875"/>
                </a:cubicBezTo>
                <a:lnTo>
                  <a:pt x="4697434" y="3123727"/>
                </a:lnTo>
                <a:cubicBezTo>
                  <a:pt x="4338583" y="3064328"/>
                  <a:pt x="4057544" y="2783551"/>
                  <a:pt x="4007268" y="2430686"/>
                </a:cubicBezTo>
                <a:cubicBezTo>
                  <a:pt x="4007101" y="2430633"/>
                  <a:pt x="4006932" y="2430628"/>
                  <a:pt x="4006763" y="2430623"/>
                </a:cubicBezTo>
                <a:lnTo>
                  <a:pt x="4006225" y="2423947"/>
                </a:lnTo>
                <a:cubicBezTo>
                  <a:pt x="4001166" y="2393697"/>
                  <a:pt x="3998715" y="2362806"/>
                  <a:pt x="3998757" y="2331471"/>
                </a:cubicBezTo>
                <a:cubicBezTo>
                  <a:pt x="3997445" y="2325843"/>
                  <a:pt x="3997387" y="2320176"/>
                  <a:pt x="3997387" y="2314495"/>
                </a:cubicBezTo>
                <a:lnTo>
                  <a:pt x="3997981" y="2303055"/>
                </a:lnTo>
                <a:lnTo>
                  <a:pt x="3998479" y="2303088"/>
                </a:lnTo>
                <a:close/>
                <a:moveTo>
                  <a:pt x="3975754" y="2302594"/>
                </a:moveTo>
                <a:lnTo>
                  <a:pt x="3975780" y="2303088"/>
                </a:lnTo>
                <a:lnTo>
                  <a:pt x="3976278" y="2303055"/>
                </a:lnTo>
                <a:lnTo>
                  <a:pt x="3976872" y="2314495"/>
                </a:lnTo>
                <a:cubicBezTo>
                  <a:pt x="3976872" y="2320176"/>
                  <a:pt x="3976813" y="2325843"/>
                  <a:pt x="3975501" y="2331471"/>
                </a:cubicBezTo>
                <a:cubicBezTo>
                  <a:pt x="3975543" y="2362806"/>
                  <a:pt x="3973093" y="2393697"/>
                  <a:pt x="3968034" y="2423947"/>
                </a:cubicBezTo>
                <a:lnTo>
                  <a:pt x="3967496" y="2430623"/>
                </a:lnTo>
                <a:cubicBezTo>
                  <a:pt x="3967326" y="2430628"/>
                  <a:pt x="3967158" y="2430633"/>
                  <a:pt x="3966990" y="2430686"/>
                </a:cubicBezTo>
                <a:cubicBezTo>
                  <a:pt x="3916715" y="2783551"/>
                  <a:pt x="3635676" y="3064328"/>
                  <a:pt x="3276825" y="3123727"/>
                </a:cubicBezTo>
                <a:lnTo>
                  <a:pt x="3276708" y="3124875"/>
                </a:lnTo>
                <a:cubicBezTo>
                  <a:pt x="3271398" y="3125886"/>
                  <a:pt x="3266069" y="3126834"/>
                  <a:pt x="3260492" y="3126415"/>
                </a:cubicBezTo>
                <a:cubicBezTo>
                  <a:pt x="3229320" y="3131969"/>
                  <a:pt x="3197440" y="3134950"/>
                  <a:pt x="3165065" y="3135477"/>
                </a:cubicBezTo>
                <a:lnTo>
                  <a:pt x="3147947" y="3137103"/>
                </a:lnTo>
                <a:lnTo>
                  <a:pt x="3147921" y="3136608"/>
                </a:lnTo>
                <a:lnTo>
                  <a:pt x="3147422" y="3136641"/>
                </a:lnTo>
                <a:cubicBezTo>
                  <a:pt x="3146856" y="3132839"/>
                  <a:pt x="3146829" y="3129023"/>
                  <a:pt x="3146829" y="3125201"/>
                </a:cubicBezTo>
                <a:cubicBezTo>
                  <a:pt x="3146829" y="3119519"/>
                  <a:pt x="3146887" y="3113850"/>
                  <a:pt x="3148199" y="3108220"/>
                </a:cubicBezTo>
                <a:cubicBezTo>
                  <a:pt x="3148157" y="3076892"/>
                  <a:pt x="3150607" y="3046007"/>
                  <a:pt x="3155663" y="3015763"/>
                </a:cubicBezTo>
                <a:lnTo>
                  <a:pt x="3156204" y="3009073"/>
                </a:lnTo>
                <a:cubicBezTo>
                  <a:pt x="3156372" y="3009068"/>
                  <a:pt x="3156542" y="3009063"/>
                  <a:pt x="3156709" y="3009010"/>
                </a:cubicBezTo>
                <a:cubicBezTo>
                  <a:pt x="3206986" y="2656144"/>
                  <a:pt x="3488025" y="2375367"/>
                  <a:pt x="3846875" y="2315969"/>
                </a:cubicBezTo>
                <a:lnTo>
                  <a:pt x="3846992" y="2314821"/>
                </a:lnTo>
                <a:cubicBezTo>
                  <a:pt x="3852301" y="2313811"/>
                  <a:pt x="3857629" y="2312863"/>
                  <a:pt x="3863205" y="2313282"/>
                </a:cubicBezTo>
                <a:cubicBezTo>
                  <a:pt x="3894388" y="2307725"/>
                  <a:pt x="3926281" y="2304744"/>
                  <a:pt x="3958666" y="2304217"/>
                </a:cubicBezTo>
                <a:close/>
                <a:moveTo>
                  <a:pt x="2306354" y="2302594"/>
                </a:moveTo>
                <a:lnTo>
                  <a:pt x="2323441" y="2304217"/>
                </a:lnTo>
                <a:cubicBezTo>
                  <a:pt x="2355827" y="2304744"/>
                  <a:pt x="2387719" y="2307725"/>
                  <a:pt x="2418903" y="2313282"/>
                </a:cubicBezTo>
                <a:cubicBezTo>
                  <a:pt x="2424479" y="2312863"/>
                  <a:pt x="2429807" y="2313811"/>
                  <a:pt x="2435115" y="2314821"/>
                </a:cubicBezTo>
                <a:lnTo>
                  <a:pt x="2435233" y="2315969"/>
                </a:lnTo>
                <a:cubicBezTo>
                  <a:pt x="2794083" y="2375367"/>
                  <a:pt x="3075122" y="2656144"/>
                  <a:pt x="3125398" y="3009010"/>
                </a:cubicBezTo>
                <a:cubicBezTo>
                  <a:pt x="3125566" y="3009063"/>
                  <a:pt x="3125735" y="3009068"/>
                  <a:pt x="3125904" y="3009073"/>
                </a:cubicBezTo>
                <a:lnTo>
                  <a:pt x="3126444" y="3015763"/>
                </a:lnTo>
                <a:cubicBezTo>
                  <a:pt x="3131501" y="3046007"/>
                  <a:pt x="3133950" y="3076892"/>
                  <a:pt x="3133908" y="3108220"/>
                </a:cubicBezTo>
                <a:cubicBezTo>
                  <a:pt x="3135220" y="3113850"/>
                  <a:pt x="3135279" y="3119519"/>
                  <a:pt x="3135279" y="3125201"/>
                </a:cubicBezTo>
                <a:cubicBezTo>
                  <a:pt x="3135279" y="3129023"/>
                  <a:pt x="3135252" y="3132839"/>
                  <a:pt x="3134686" y="3136641"/>
                </a:cubicBezTo>
                <a:lnTo>
                  <a:pt x="3134187" y="3136608"/>
                </a:lnTo>
                <a:lnTo>
                  <a:pt x="3134161" y="3137103"/>
                </a:lnTo>
                <a:lnTo>
                  <a:pt x="3117042" y="3135477"/>
                </a:lnTo>
                <a:cubicBezTo>
                  <a:pt x="3084668" y="3134950"/>
                  <a:pt x="3052788" y="3131969"/>
                  <a:pt x="3021616" y="3126415"/>
                </a:cubicBezTo>
                <a:cubicBezTo>
                  <a:pt x="3016039" y="3126834"/>
                  <a:pt x="3010710" y="3125886"/>
                  <a:pt x="3005399" y="3124875"/>
                </a:cubicBezTo>
                <a:lnTo>
                  <a:pt x="3005283" y="3123727"/>
                </a:lnTo>
                <a:cubicBezTo>
                  <a:pt x="2646432" y="3064328"/>
                  <a:pt x="2365393" y="2783551"/>
                  <a:pt x="2315117" y="2430686"/>
                </a:cubicBezTo>
                <a:cubicBezTo>
                  <a:pt x="2314950" y="2430633"/>
                  <a:pt x="2314781" y="2430628"/>
                  <a:pt x="2314612" y="2430623"/>
                </a:cubicBezTo>
                <a:lnTo>
                  <a:pt x="2314074" y="2423947"/>
                </a:lnTo>
                <a:cubicBezTo>
                  <a:pt x="2309015" y="2393697"/>
                  <a:pt x="2306564" y="2362806"/>
                  <a:pt x="2306606" y="2331471"/>
                </a:cubicBezTo>
                <a:cubicBezTo>
                  <a:pt x="2305294" y="2325843"/>
                  <a:pt x="2305236" y="2320176"/>
                  <a:pt x="2305236" y="2314495"/>
                </a:cubicBezTo>
                <a:lnTo>
                  <a:pt x="2305830" y="2303055"/>
                </a:lnTo>
                <a:lnTo>
                  <a:pt x="2306328" y="2303088"/>
                </a:lnTo>
                <a:close/>
                <a:moveTo>
                  <a:pt x="2283603" y="2302594"/>
                </a:moveTo>
                <a:lnTo>
                  <a:pt x="2283629" y="2303088"/>
                </a:lnTo>
                <a:lnTo>
                  <a:pt x="2284127" y="2303055"/>
                </a:lnTo>
                <a:lnTo>
                  <a:pt x="2284721" y="2314495"/>
                </a:lnTo>
                <a:cubicBezTo>
                  <a:pt x="2284721" y="2320176"/>
                  <a:pt x="2284662" y="2325843"/>
                  <a:pt x="2283350" y="2331471"/>
                </a:cubicBezTo>
                <a:cubicBezTo>
                  <a:pt x="2283392" y="2362806"/>
                  <a:pt x="2280942" y="2393697"/>
                  <a:pt x="2275883" y="2423947"/>
                </a:cubicBezTo>
                <a:lnTo>
                  <a:pt x="2275345" y="2430623"/>
                </a:lnTo>
                <a:cubicBezTo>
                  <a:pt x="2275175" y="2430628"/>
                  <a:pt x="2275007" y="2430633"/>
                  <a:pt x="2274839" y="2430686"/>
                </a:cubicBezTo>
                <a:cubicBezTo>
                  <a:pt x="2224564" y="2783551"/>
                  <a:pt x="1943525" y="3064328"/>
                  <a:pt x="1584673" y="3123727"/>
                </a:cubicBezTo>
                <a:lnTo>
                  <a:pt x="1584557" y="3124875"/>
                </a:lnTo>
                <a:cubicBezTo>
                  <a:pt x="1579247" y="3125886"/>
                  <a:pt x="1573918" y="3126834"/>
                  <a:pt x="1568341" y="3126415"/>
                </a:cubicBezTo>
                <a:cubicBezTo>
                  <a:pt x="1537169" y="3131969"/>
                  <a:pt x="1505289" y="3134950"/>
                  <a:pt x="1472914" y="3135477"/>
                </a:cubicBezTo>
                <a:lnTo>
                  <a:pt x="1455796" y="3137103"/>
                </a:lnTo>
                <a:lnTo>
                  <a:pt x="1455770" y="3136608"/>
                </a:lnTo>
                <a:lnTo>
                  <a:pt x="1455271" y="3136641"/>
                </a:lnTo>
                <a:cubicBezTo>
                  <a:pt x="1454705" y="3132839"/>
                  <a:pt x="1454678" y="3129023"/>
                  <a:pt x="1454678" y="3125201"/>
                </a:cubicBezTo>
                <a:cubicBezTo>
                  <a:pt x="1454678" y="3119519"/>
                  <a:pt x="1454736" y="3113850"/>
                  <a:pt x="1456048" y="3108220"/>
                </a:cubicBezTo>
                <a:cubicBezTo>
                  <a:pt x="1456006" y="3076892"/>
                  <a:pt x="1458456" y="3046007"/>
                  <a:pt x="1463513" y="3015763"/>
                </a:cubicBezTo>
                <a:lnTo>
                  <a:pt x="1464053" y="3009073"/>
                </a:lnTo>
                <a:cubicBezTo>
                  <a:pt x="1464221" y="3009068"/>
                  <a:pt x="1464391" y="3009063"/>
                  <a:pt x="1464558" y="3009010"/>
                </a:cubicBezTo>
                <a:cubicBezTo>
                  <a:pt x="1514835" y="2656144"/>
                  <a:pt x="1795874" y="2375367"/>
                  <a:pt x="2154724" y="2315969"/>
                </a:cubicBezTo>
                <a:lnTo>
                  <a:pt x="2154841" y="2314821"/>
                </a:lnTo>
                <a:cubicBezTo>
                  <a:pt x="2160150" y="2313811"/>
                  <a:pt x="2165478" y="2312863"/>
                  <a:pt x="2171054" y="2313282"/>
                </a:cubicBezTo>
                <a:cubicBezTo>
                  <a:pt x="2202237" y="2307725"/>
                  <a:pt x="2234130" y="2304744"/>
                  <a:pt x="2266515" y="2304217"/>
                </a:cubicBezTo>
                <a:close/>
                <a:moveTo>
                  <a:pt x="614203" y="2302594"/>
                </a:moveTo>
                <a:lnTo>
                  <a:pt x="631290" y="2304217"/>
                </a:lnTo>
                <a:cubicBezTo>
                  <a:pt x="663676" y="2304744"/>
                  <a:pt x="695568" y="2307725"/>
                  <a:pt x="726752" y="2313282"/>
                </a:cubicBezTo>
                <a:cubicBezTo>
                  <a:pt x="732328" y="2312863"/>
                  <a:pt x="737656" y="2313811"/>
                  <a:pt x="742964" y="2314821"/>
                </a:cubicBezTo>
                <a:lnTo>
                  <a:pt x="743081" y="2315969"/>
                </a:lnTo>
                <a:cubicBezTo>
                  <a:pt x="1101932" y="2375367"/>
                  <a:pt x="1382971" y="2656144"/>
                  <a:pt x="1433247" y="3009010"/>
                </a:cubicBezTo>
                <a:cubicBezTo>
                  <a:pt x="1433415" y="3009063"/>
                  <a:pt x="1433584" y="3009068"/>
                  <a:pt x="1433753" y="3009073"/>
                </a:cubicBezTo>
                <a:lnTo>
                  <a:pt x="1434293" y="3015763"/>
                </a:lnTo>
                <a:cubicBezTo>
                  <a:pt x="1439350" y="3046007"/>
                  <a:pt x="1441799" y="3076892"/>
                  <a:pt x="1441757" y="3108220"/>
                </a:cubicBezTo>
                <a:cubicBezTo>
                  <a:pt x="1443069" y="3113850"/>
                  <a:pt x="1443128" y="3119519"/>
                  <a:pt x="1443128" y="3125201"/>
                </a:cubicBezTo>
                <a:cubicBezTo>
                  <a:pt x="1443128" y="3129023"/>
                  <a:pt x="1443101" y="3132839"/>
                  <a:pt x="1442535" y="3136641"/>
                </a:cubicBezTo>
                <a:lnTo>
                  <a:pt x="1442036" y="3136608"/>
                </a:lnTo>
                <a:lnTo>
                  <a:pt x="1442010" y="3137103"/>
                </a:lnTo>
                <a:lnTo>
                  <a:pt x="1424891" y="3135477"/>
                </a:lnTo>
                <a:cubicBezTo>
                  <a:pt x="1392517" y="3134950"/>
                  <a:pt x="1360637" y="3131969"/>
                  <a:pt x="1329465" y="3126415"/>
                </a:cubicBezTo>
                <a:cubicBezTo>
                  <a:pt x="1323888" y="3126834"/>
                  <a:pt x="1318559" y="3125886"/>
                  <a:pt x="1313248" y="3124875"/>
                </a:cubicBezTo>
                <a:lnTo>
                  <a:pt x="1313132" y="3123727"/>
                </a:lnTo>
                <a:cubicBezTo>
                  <a:pt x="954281" y="3064328"/>
                  <a:pt x="673242" y="2783551"/>
                  <a:pt x="622966" y="2430686"/>
                </a:cubicBezTo>
                <a:cubicBezTo>
                  <a:pt x="622799" y="2430633"/>
                  <a:pt x="622630" y="2430628"/>
                  <a:pt x="622461" y="2430623"/>
                </a:cubicBezTo>
                <a:lnTo>
                  <a:pt x="621923" y="2423947"/>
                </a:lnTo>
                <a:cubicBezTo>
                  <a:pt x="616864" y="2393697"/>
                  <a:pt x="614413" y="2362806"/>
                  <a:pt x="614455" y="2331471"/>
                </a:cubicBezTo>
                <a:cubicBezTo>
                  <a:pt x="613143" y="2325843"/>
                  <a:pt x="613085" y="2320176"/>
                  <a:pt x="613085" y="2314495"/>
                </a:cubicBezTo>
                <a:lnTo>
                  <a:pt x="613679" y="2303055"/>
                </a:lnTo>
                <a:lnTo>
                  <a:pt x="614177" y="2303088"/>
                </a:lnTo>
                <a:close/>
                <a:moveTo>
                  <a:pt x="591452" y="2302594"/>
                </a:moveTo>
                <a:lnTo>
                  <a:pt x="591478" y="2303088"/>
                </a:lnTo>
                <a:lnTo>
                  <a:pt x="591976" y="2303055"/>
                </a:lnTo>
                <a:lnTo>
                  <a:pt x="592570" y="2314495"/>
                </a:lnTo>
                <a:cubicBezTo>
                  <a:pt x="592570" y="2320176"/>
                  <a:pt x="592511" y="2325843"/>
                  <a:pt x="591199" y="2331471"/>
                </a:cubicBezTo>
                <a:cubicBezTo>
                  <a:pt x="591242" y="2362806"/>
                  <a:pt x="588791" y="2393697"/>
                  <a:pt x="583732" y="2423947"/>
                </a:cubicBezTo>
                <a:lnTo>
                  <a:pt x="583194" y="2430623"/>
                </a:lnTo>
                <a:cubicBezTo>
                  <a:pt x="583024" y="2430628"/>
                  <a:pt x="582856" y="2430633"/>
                  <a:pt x="582689" y="2430686"/>
                </a:cubicBezTo>
                <a:cubicBezTo>
                  <a:pt x="537576" y="2747315"/>
                  <a:pt x="306662" y="3005901"/>
                  <a:pt x="0" y="3097101"/>
                </a:cubicBezTo>
                <a:lnTo>
                  <a:pt x="0" y="2964763"/>
                </a:lnTo>
                <a:cubicBezTo>
                  <a:pt x="229298" y="2881926"/>
                  <a:pt x="402181" y="2686530"/>
                  <a:pt x="449203" y="2447425"/>
                </a:cubicBezTo>
                <a:cubicBezTo>
                  <a:pt x="258971" y="2488309"/>
                  <a:pt x="97576" y="2603574"/>
                  <a:pt x="0" y="2761314"/>
                </a:cubicBezTo>
                <a:lnTo>
                  <a:pt x="0" y="2554520"/>
                </a:lnTo>
                <a:cubicBezTo>
                  <a:pt x="121484" y="2431613"/>
                  <a:pt x="282199" y="2345825"/>
                  <a:pt x="462573" y="2315969"/>
                </a:cubicBezTo>
                <a:lnTo>
                  <a:pt x="462690" y="2314821"/>
                </a:lnTo>
                <a:cubicBezTo>
                  <a:pt x="467999" y="2313811"/>
                  <a:pt x="473327" y="2312863"/>
                  <a:pt x="478903" y="2313282"/>
                </a:cubicBezTo>
                <a:cubicBezTo>
                  <a:pt x="510086" y="2307725"/>
                  <a:pt x="541979" y="2304744"/>
                  <a:pt x="574365" y="2304217"/>
                </a:cubicBezTo>
                <a:close/>
                <a:moveTo>
                  <a:pt x="11452667" y="1608087"/>
                </a:moveTo>
                <a:cubicBezTo>
                  <a:pt x="11177477" y="1666766"/>
                  <a:pt x="10962633" y="1879876"/>
                  <a:pt x="10909358" y="2148655"/>
                </a:cubicBezTo>
                <a:cubicBezTo>
                  <a:pt x="11184548" y="2089976"/>
                  <a:pt x="11399391" y="1876866"/>
                  <a:pt x="11452667" y="1608087"/>
                </a:cubicBezTo>
                <a:close/>
                <a:moveTo>
                  <a:pt x="10058800" y="1608087"/>
                </a:moveTo>
                <a:cubicBezTo>
                  <a:pt x="10112076" y="1876866"/>
                  <a:pt x="10326919" y="2089976"/>
                  <a:pt x="10602109" y="2148655"/>
                </a:cubicBezTo>
                <a:cubicBezTo>
                  <a:pt x="10548834" y="1879876"/>
                  <a:pt x="10333990" y="1666766"/>
                  <a:pt x="10058800" y="1608087"/>
                </a:cubicBezTo>
                <a:close/>
                <a:moveTo>
                  <a:pt x="9760514" y="1608087"/>
                </a:moveTo>
                <a:cubicBezTo>
                  <a:pt x="9485324" y="1666766"/>
                  <a:pt x="9270480" y="1879876"/>
                  <a:pt x="9217205" y="2148655"/>
                </a:cubicBezTo>
                <a:cubicBezTo>
                  <a:pt x="9492395" y="2089976"/>
                  <a:pt x="9707238" y="1876866"/>
                  <a:pt x="9760514" y="1608087"/>
                </a:cubicBezTo>
                <a:close/>
                <a:moveTo>
                  <a:pt x="8366649" y="1608087"/>
                </a:moveTo>
                <a:cubicBezTo>
                  <a:pt x="8419925" y="1876866"/>
                  <a:pt x="8634768" y="2089976"/>
                  <a:pt x="8909958" y="2148655"/>
                </a:cubicBezTo>
                <a:cubicBezTo>
                  <a:pt x="8856683" y="1879876"/>
                  <a:pt x="8641839" y="1666766"/>
                  <a:pt x="8366649" y="1608087"/>
                </a:cubicBezTo>
                <a:close/>
                <a:moveTo>
                  <a:pt x="8068363" y="1608087"/>
                </a:moveTo>
                <a:cubicBezTo>
                  <a:pt x="7793173" y="1666766"/>
                  <a:pt x="7578329" y="1879876"/>
                  <a:pt x="7525054" y="2148655"/>
                </a:cubicBezTo>
                <a:cubicBezTo>
                  <a:pt x="7800244" y="2089976"/>
                  <a:pt x="8015087" y="1876866"/>
                  <a:pt x="8068363" y="1608087"/>
                </a:cubicBezTo>
                <a:close/>
                <a:moveTo>
                  <a:pt x="6674498" y="1608087"/>
                </a:moveTo>
                <a:cubicBezTo>
                  <a:pt x="6727774" y="1876866"/>
                  <a:pt x="6942617" y="2089976"/>
                  <a:pt x="7217807" y="2148655"/>
                </a:cubicBezTo>
                <a:cubicBezTo>
                  <a:pt x="7164532" y="1879876"/>
                  <a:pt x="6949688" y="1666766"/>
                  <a:pt x="6674498" y="1608087"/>
                </a:cubicBezTo>
                <a:close/>
                <a:moveTo>
                  <a:pt x="6376212" y="1608087"/>
                </a:moveTo>
                <a:cubicBezTo>
                  <a:pt x="6101022" y="1666766"/>
                  <a:pt x="5886178" y="1879876"/>
                  <a:pt x="5832903" y="2148655"/>
                </a:cubicBezTo>
                <a:cubicBezTo>
                  <a:pt x="6108093" y="2089976"/>
                  <a:pt x="6322936" y="1876866"/>
                  <a:pt x="6376212" y="1608087"/>
                </a:cubicBezTo>
                <a:close/>
                <a:moveTo>
                  <a:pt x="4982347" y="1608087"/>
                </a:moveTo>
                <a:cubicBezTo>
                  <a:pt x="5035623" y="1876866"/>
                  <a:pt x="5250466" y="2089976"/>
                  <a:pt x="5525656" y="2148655"/>
                </a:cubicBezTo>
                <a:cubicBezTo>
                  <a:pt x="5472381" y="1879876"/>
                  <a:pt x="5257537" y="1666766"/>
                  <a:pt x="4982347" y="1608087"/>
                </a:cubicBezTo>
                <a:close/>
                <a:moveTo>
                  <a:pt x="4684061" y="1608087"/>
                </a:moveTo>
                <a:cubicBezTo>
                  <a:pt x="4408871" y="1666766"/>
                  <a:pt x="4194027" y="1879876"/>
                  <a:pt x="4140752" y="2148655"/>
                </a:cubicBezTo>
                <a:cubicBezTo>
                  <a:pt x="4415942" y="2089976"/>
                  <a:pt x="4630785" y="1876866"/>
                  <a:pt x="4684061" y="1608087"/>
                </a:cubicBezTo>
                <a:close/>
                <a:moveTo>
                  <a:pt x="3290196" y="1608087"/>
                </a:moveTo>
                <a:cubicBezTo>
                  <a:pt x="3343472" y="1876866"/>
                  <a:pt x="3558315" y="2089976"/>
                  <a:pt x="3833505" y="2148655"/>
                </a:cubicBezTo>
                <a:cubicBezTo>
                  <a:pt x="3780230" y="1879876"/>
                  <a:pt x="3565386" y="1666766"/>
                  <a:pt x="3290196" y="1608087"/>
                </a:cubicBezTo>
                <a:close/>
                <a:moveTo>
                  <a:pt x="2991910" y="1608087"/>
                </a:moveTo>
                <a:cubicBezTo>
                  <a:pt x="2716720" y="1666766"/>
                  <a:pt x="2501876" y="1879876"/>
                  <a:pt x="2448601" y="2148655"/>
                </a:cubicBezTo>
                <a:cubicBezTo>
                  <a:pt x="2723791" y="2089976"/>
                  <a:pt x="2938634" y="1876866"/>
                  <a:pt x="2991910" y="1608087"/>
                </a:cubicBezTo>
                <a:close/>
                <a:moveTo>
                  <a:pt x="1598045" y="1608087"/>
                </a:moveTo>
                <a:cubicBezTo>
                  <a:pt x="1651321" y="1876866"/>
                  <a:pt x="1866164" y="2089976"/>
                  <a:pt x="2141354" y="2148655"/>
                </a:cubicBezTo>
                <a:cubicBezTo>
                  <a:pt x="2088079" y="1879876"/>
                  <a:pt x="1873235" y="1666766"/>
                  <a:pt x="1598045" y="1608087"/>
                </a:cubicBezTo>
                <a:close/>
                <a:moveTo>
                  <a:pt x="1299759" y="1608087"/>
                </a:moveTo>
                <a:cubicBezTo>
                  <a:pt x="1024569" y="1666766"/>
                  <a:pt x="809725" y="1879876"/>
                  <a:pt x="756450" y="2148655"/>
                </a:cubicBezTo>
                <a:cubicBezTo>
                  <a:pt x="1031640" y="2089976"/>
                  <a:pt x="1246483" y="1876866"/>
                  <a:pt x="1299759" y="1608087"/>
                </a:cubicBezTo>
                <a:close/>
                <a:moveTo>
                  <a:pt x="0" y="1504081"/>
                </a:moveTo>
                <a:cubicBezTo>
                  <a:pt x="306658" y="1594561"/>
                  <a:pt x="537576" y="1851117"/>
                  <a:pt x="582690" y="2165262"/>
                </a:cubicBezTo>
                <a:cubicBezTo>
                  <a:pt x="582857" y="2165315"/>
                  <a:pt x="583026" y="2165320"/>
                  <a:pt x="583195" y="2165325"/>
                </a:cubicBezTo>
                <a:lnTo>
                  <a:pt x="583735" y="2171962"/>
                </a:lnTo>
                <a:cubicBezTo>
                  <a:pt x="588792" y="2201969"/>
                  <a:pt x="591242" y="2232611"/>
                  <a:pt x="591199" y="2263693"/>
                </a:cubicBezTo>
                <a:cubicBezTo>
                  <a:pt x="592511" y="2269279"/>
                  <a:pt x="592570" y="2274903"/>
                  <a:pt x="592570" y="2280541"/>
                </a:cubicBezTo>
                <a:cubicBezTo>
                  <a:pt x="592570" y="2284333"/>
                  <a:pt x="592543" y="2288119"/>
                  <a:pt x="591977" y="2291891"/>
                </a:cubicBezTo>
                <a:lnTo>
                  <a:pt x="591478" y="2291858"/>
                </a:lnTo>
                <a:lnTo>
                  <a:pt x="591452" y="2292349"/>
                </a:lnTo>
                <a:lnTo>
                  <a:pt x="574334" y="2290736"/>
                </a:lnTo>
                <a:cubicBezTo>
                  <a:pt x="541959" y="2290213"/>
                  <a:pt x="510079" y="2287255"/>
                  <a:pt x="478907" y="2281745"/>
                </a:cubicBezTo>
                <a:cubicBezTo>
                  <a:pt x="473330" y="2282161"/>
                  <a:pt x="468001" y="2281220"/>
                  <a:pt x="462690" y="2280217"/>
                </a:cubicBezTo>
                <a:lnTo>
                  <a:pt x="462574" y="2279078"/>
                </a:lnTo>
                <a:cubicBezTo>
                  <a:pt x="282200" y="2249456"/>
                  <a:pt x="121485" y="2164343"/>
                  <a:pt x="0" y="2042401"/>
                </a:cubicBezTo>
                <a:lnTo>
                  <a:pt x="0" y="1837231"/>
                </a:lnTo>
                <a:cubicBezTo>
                  <a:pt x="97584" y="1993737"/>
                  <a:pt x="258975" y="2108093"/>
                  <a:pt x="449203" y="2148655"/>
                </a:cubicBezTo>
                <a:cubicBezTo>
                  <a:pt x="402182" y="1911427"/>
                  <a:pt x="229297" y="1717565"/>
                  <a:pt x="0" y="1635380"/>
                </a:cubicBezTo>
                <a:close/>
                <a:moveTo>
                  <a:pt x="11608704" y="1464394"/>
                </a:moveTo>
                <a:lnTo>
                  <a:pt x="11625791" y="1466004"/>
                </a:lnTo>
                <a:cubicBezTo>
                  <a:pt x="11658177" y="1466527"/>
                  <a:pt x="11690070" y="1469485"/>
                  <a:pt x="11721253" y="1474998"/>
                </a:cubicBezTo>
                <a:cubicBezTo>
                  <a:pt x="11726829" y="1474582"/>
                  <a:pt x="11732157" y="1475523"/>
                  <a:pt x="11737466" y="1476525"/>
                </a:cubicBezTo>
                <a:lnTo>
                  <a:pt x="11737583" y="1477664"/>
                </a:lnTo>
                <a:cubicBezTo>
                  <a:pt x="11914088" y="1506650"/>
                  <a:pt x="12071767" y="1588774"/>
                  <a:pt x="12192000" y="1706842"/>
                </a:cubicBezTo>
                <a:lnTo>
                  <a:pt x="12192000" y="1906833"/>
                </a:lnTo>
                <a:cubicBezTo>
                  <a:pt x="12093732" y="1756811"/>
                  <a:pt x="11935983" y="1647542"/>
                  <a:pt x="11750953" y="1608088"/>
                </a:cubicBezTo>
                <a:cubicBezTo>
                  <a:pt x="11797422" y="1842524"/>
                  <a:pt x="11966808" y="2034608"/>
                  <a:pt x="12192000" y="2118654"/>
                </a:cubicBezTo>
                <a:lnTo>
                  <a:pt x="12192000" y="2250657"/>
                </a:lnTo>
                <a:cubicBezTo>
                  <a:pt x="11889465" y="2157681"/>
                  <a:pt x="11662185" y="1902872"/>
                  <a:pt x="11617468" y="1591480"/>
                </a:cubicBezTo>
                <a:cubicBezTo>
                  <a:pt x="11617300" y="1591427"/>
                  <a:pt x="11617132" y="1591423"/>
                  <a:pt x="11616962" y="1591418"/>
                </a:cubicBezTo>
                <a:lnTo>
                  <a:pt x="11616424" y="1584794"/>
                </a:lnTo>
                <a:cubicBezTo>
                  <a:pt x="11611365" y="1554782"/>
                  <a:pt x="11608914" y="1524133"/>
                  <a:pt x="11608957" y="1493044"/>
                </a:cubicBezTo>
                <a:cubicBezTo>
                  <a:pt x="11607645" y="1487460"/>
                  <a:pt x="11607586" y="1481838"/>
                  <a:pt x="11607586" y="1476202"/>
                </a:cubicBezTo>
                <a:lnTo>
                  <a:pt x="11608180" y="1464851"/>
                </a:lnTo>
                <a:lnTo>
                  <a:pt x="11608678" y="1464884"/>
                </a:lnTo>
                <a:close/>
                <a:moveTo>
                  <a:pt x="11594916" y="1464394"/>
                </a:moveTo>
                <a:lnTo>
                  <a:pt x="11594942" y="1464884"/>
                </a:lnTo>
                <a:lnTo>
                  <a:pt x="11595440" y="1464852"/>
                </a:lnTo>
                <a:lnTo>
                  <a:pt x="11596034" y="1476202"/>
                </a:lnTo>
                <a:cubicBezTo>
                  <a:pt x="11596034" y="1481838"/>
                  <a:pt x="11595975" y="1487460"/>
                  <a:pt x="11594663" y="1493044"/>
                </a:cubicBezTo>
                <a:cubicBezTo>
                  <a:pt x="11594706" y="1524133"/>
                  <a:pt x="11592255" y="1554782"/>
                  <a:pt x="11587196" y="1584794"/>
                </a:cubicBezTo>
                <a:lnTo>
                  <a:pt x="11586658" y="1591418"/>
                </a:lnTo>
                <a:cubicBezTo>
                  <a:pt x="11586488" y="1591423"/>
                  <a:pt x="11586320" y="1591427"/>
                  <a:pt x="11586152" y="1591480"/>
                </a:cubicBezTo>
                <a:cubicBezTo>
                  <a:pt x="11535877" y="1941574"/>
                  <a:pt x="11254838" y="2220146"/>
                  <a:pt x="10895987" y="2279078"/>
                </a:cubicBezTo>
                <a:lnTo>
                  <a:pt x="10895871" y="2280217"/>
                </a:lnTo>
                <a:cubicBezTo>
                  <a:pt x="10890560" y="2281220"/>
                  <a:pt x="10885231" y="2282161"/>
                  <a:pt x="10879654" y="2281745"/>
                </a:cubicBezTo>
                <a:cubicBezTo>
                  <a:pt x="10848482" y="2287255"/>
                  <a:pt x="10816602" y="2290213"/>
                  <a:pt x="10784227" y="2290736"/>
                </a:cubicBezTo>
                <a:lnTo>
                  <a:pt x="10767109" y="2292349"/>
                </a:lnTo>
                <a:lnTo>
                  <a:pt x="10767083" y="2291858"/>
                </a:lnTo>
                <a:lnTo>
                  <a:pt x="10766584" y="2291891"/>
                </a:lnTo>
                <a:cubicBezTo>
                  <a:pt x="10766018" y="2288119"/>
                  <a:pt x="10765991" y="2284333"/>
                  <a:pt x="10765991" y="2280541"/>
                </a:cubicBezTo>
                <a:cubicBezTo>
                  <a:pt x="10765991" y="2274903"/>
                  <a:pt x="10766050" y="2269279"/>
                  <a:pt x="10767362" y="2263693"/>
                </a:cubicBezTo>
                <a:cubicBezTo>
                  <a:pt x="10767319" y="2232611"/>
                  <a:pt x="10769769" y="2201969"/>
                  <a:pt x="10774826" y="2171962"/>
                </a:cubicBezTo>
                <a:lnTo>
                  <a:pt x="10775366" y="2165325"/>
                </a:lnTo>
                <a:cubicBezTo>
                  <a:pt x="10775535" y="2165320"/>
                  <a:pt x="10775704" y="2165315"/>
                  <a:pt x="10775872" y="2165262"/>
                </a:cubicBezTo>
                <a:cubicBezTo>
                  <a:pt x="10826148" y="1815167"/>
                  <a:pt x="11107187" y="1536596"/>
                  <a:pt x="11466037" y="1477664"/>
                </a:cubicBezTo>
                <a:lnTo>
                  <a:pt x="11466154" y="1476525"/>
                </a:lnTo>
                <a:cubicBezTo>
                  <a:pt x="11471463" y="1475523"/>
                  <a:pt x="11476791" y="1474582"/>
                  <a:pt x="11482367" y="1474998"/>
                </a:cubicBezTo>
                <a:cubicBezTo>
                  <a:pt x="11513550" y="1469485"/>
                  <a:pt x="11545443" y="1466527"/>
                  <a:pt x="11577829" y="1466004"/>
                </a:cubicBezTo>
                <a:close/>
                <a:moveTo>
                  <a:pt x="9916551" y="1464394"/>
                </a:moveTo>
                <a:lnTo>
                  <a:pt x="9933638" y="1466004"/>
                </a:lnTo>
                <a:cubicBezTo>
                  <a:pt x="9966024" y="1466527"/>
                  <a:pt x="9997917" y="1469485"/>
                  <a:pt x="10029100" y="1474998"/>
                </a:cubicBezTo>
                <a:cubicBezTo>
                  <a:pt x="10034676" y="1474582"/>
                  <a:pt x="10040004" y="1475523"/>
                  <a:pt x="10045313" y="1476525"/>
                </a:cubicBezTo>
                <a:lnTo>
                  <a:pt x="10045430" y="1477664"/>
                </a:lnTo>
                <a:cubicBezTo>
                  <a:pt x="10404280" y="1536596"/>
                  <a:pt x="10685319" y="1815167"/>
                  <a:pt x="10735596" y="2165262"/>
                </a:cubicBezTo>
                <a:cubicBezTo>
                  <a:pt x="10735763" y="2165315"/>
                  <a:pt x="10735932" y="2165320"/>
                  <a:pt x="10736101" y="2165325"/>
                </a:cubicBezTo>
                <a:lnTo>
                  <a:pt x="10736641" y="2171962"/>
                </a:lnTo>
                <a:cubicBezTo>
                  <a:pt x="10741698" y="2201969"/>
                  <a:pt x="10744148" y="2232611"/>
                  <a:pt x="10744105" y="2263693"/>
                </a:cubicBezTo>
                <a:cubicBezTo>
                  <a:pt x="10745417" y="2269279"/>
                  <a:pt x="10745476" y="2274903"/>
                  <a:pt x="10745476" y="2280541"/>
                </a:cubicBezTo>
                <a:cubicBezTo>
                  <a:pt x="10745476" y="2284333"/>
                  <a:pt x="10745449" y="2288119"/>
                  <a:pt x="10744883" y="2291891"/>
                </a:cubicBezTo>
                <a:lnTo>
                  <a:pt x="10744384" y="2291858"/>
                </a:lnTo>
                <a:lnTo>
                  <a:pt x="10744358" y="2292349"/>
                </a:lnTo>
                <a:lnTo>
                  <a:pt x="10727240" y="2290736"/>
                </a:lnTo>
                <a:cubicBezTo>
                  <a:pt x="10694865" y="2290213"/>
                  <a:pt x="10662985" y="2287255"/>
                  <a:pt x="10631813" y="2281745"/>
                </a:cubicBezTo>
                <a:cubicBezTo>
                  <a:pt x="10626236" y="2282161"/>
                  <a:pt x="10620907" y="2281220"/>
                  <a:pt x="10615596" y="2280217"/>
                </a:cubicBezTo>
                <a:lnTo>
                  <a:pt x="10615480" y="2279078"/>
                </a:lnTo>
                <a:cubicBezTo>
                  <a:pt x="10256629" y="2220146"/>
                  <a:pt x="9975590" y="1941574"/>
                  <a:pt x="9925315" y="1591480"/>
                </a:cubicBezTo>
                <a:cubicBezTo>
                  <a:pt x="9925147" y="1591427"/>
                  <a:pt x="9924979" y="1591423"/>
                  <a:pt x="9924809" y="1591418"/>
                </a:cubicBezTo>
                <a:lnTo>
                  <a:pt x="9924271" y="1584794"/>
                </a:lnTo>
                <a:cubicBezTo>
                  <a:pt x="9919212" y="1554782"/>
                  <a:pt x="9916761" y="1524133"/>
                  <a:pt x="9916804" y="1493044"/>
                </a:cubicBezTo>
                <a:cubicBezTo>
                  <a:pt x="9915492" y="1487460"/>
                  <a:pt x="9915433" y="1481838"/>
                  <a:pt x="9915433" y="1476202"/>
                </a:cubicBezTo>
                <a:lnTo>
                  <a:pt x="9916027" y="1464852"/>
                </a:lnTo>
                <a:lnTo>
                  <a:pt x="9916525" y="1464884"/>
                </a:lnTo>
                <a:close/>
                <a:moveTo>
                  <a:pt x="9902763" y="1464394"/>
                </a:moveTo>
                <a:lnTo>
                  <a:pt x="9902789" y="1464884"/>
                </a:lnTo>
                <a:lnTo>
                  <a:pt x="9903287" y="1464852"/>
                </a:lnTo>
                <a:lnTo>
                  <a:pt x="9903881" y="1476202"/>
                </a:lnTo>
                <a:cubicBezTo>
                  <a:pt x="9903881" y="1481838"/>
                  <a:pt x="9903822" y="1487460"/>
                  <a:pt x="9902510" y="1493044"/>
                </a:cubicBezTo>
                <a:cubicBezTo>
                  <a:pt x="9902553" y="1524133"/>
                  <a:pt x="9900102" y="1554782"/>
                  <a:pt x="9895043" y="1584794"/>
                </a:cubicBezTo>
                <a:lnTo>
                  <a:pt x="9894505" y="1591418"/>
                </a:lnTo>
                <a:cubicBezTo>
                  <a:pt x="9894335" y="1591423"/>
                  <a:pt x="9894167" y="1591427"/>
                  <a:pt x="9893999" y="1591480"/>
                </a:cubicBezTo>
                <a:cubicBezTo>
                  <a:pt x="9843724" y="1941574"/>
                  <a:pt x="9562685" y="2220146"/>
                  <a:pt x="9203834" y="2279078"/>
                </a:cubicBezTo>
                <a:lnTo>
                  <a:pt x="9203718" y="2280217"/>
                </a:lnTo>
                <a:cubicBezTo>
                  <a:pt x="9198407" y="2281220"/>
                  <a:pt x="9193078" y="2282161"/>
                  <a:pt x="9187501" y="2281745"/>
                </a:cubicBezTo>
                <a:cubicBezTo>
                  <a:pt x="9156329" y="2287255"/>
                  <a:pt x="9124449" y="2290213"/>
                  <a:pt x="9092074" y="2290736"/>
                </a:cubicBezTo>
                <a:lnTo>
                  <a:pt x="9074956" y="2292349"/>
                </a:lnTo>
                <a:lnTo>
                  <a:pt x="9074930" y="2291858"/>
                </a:lnTo>
                <a:lnTo>
                  <a:pt x="9074431" y="2291891"/>
                </a:lnTo>
                <a:cubicBezTo>
                  <a:pt x="9073865" y="2288119"/>
                  <a:pt x="9073838" y="2284333"/>
                  <a:pt x="9073838" y="2280541"/>
                </a:cubicBezTo>
                <a:cubicBezTo>
                  <a:pt x="9073838" y="2274903"/>
                  <a:pt x="9073897" y="2269279"/>
                  <a:pt x="9075209" y="2263693"/>
                </a:cubicBezTo>
                <a:cubicBezTo>
                  <a:pt x="9075166" y="2232611"/>
                  <a:pt x="9077616" y="2201969"/>
                  <a:pt x="9082673" y="2171962"/>
                </a:cubicBezTo>
                <a:lnTo>
                  <a:pt x="9083213" y="2165325"/>
                </a:lnTo>
                <a:cubicBezTo>
                  <a:pt x="9083382" y="2165320"/>
                  <a:pt x="9083551" y="2165315"/>
                  <a:pt x="9083718" y="2165262"/>
                </a:cubicBezTo>
                <a:cubicBezTo>
                  <a:pt x="9133995" y="1815167"/>
                  <a:pt x="9415034" y="1536596"/>
                  <a:pt x="9773884" y="1477664"/>
                </a:cubicBezTo>
                <a:lnTo>
                  <a:pt x="9774001" y="1476525"/>
                </a:lnTo>
                <a:cubicBezTo>
                  <a:pt x="9779310" y="1475523"/>
                  <a:pt x="9784638" y="1474582"/>
                  <a:pt x="9790214" y="1474998"/>
                </a:cubicBezTo>
                <a:cubicBezTo>
                  <a:pt x="9821397" y="1469485"/>
                  <a:pt x="9853290" y="1466527"/>
                  <a:pt x="9885676" y="1466004"/>
                </a:cubicBezTo>
                <a:close/>
                <a:moveTo>
                  <a:pt x="8224400" y="1464394"/>
                </a:moveTo>
                <a:lnTo>
                  <a:pt x="8241488" y="1466004"/>
                </a:lnTo>
                <a:cubicBezTo>
                  <a:pt x="8273873" y="1466527"/>
                  <a:pt x="8305766" y="1469485"/>
                  <a:pt x="8336949" y="1474998"/>
                </a:cubicBezTo>
                <a:cubicBezTo>
                  <a:pt x="8342525" y="1474582"/>
                  <a:pt x="8347853" y="1475523"/>
                  <a:pt x="8353162" y="1476525"/>
                </a:cubicBezTo>
                <a:lnTo>
                  <a:pt x="8353279" y="1477664"/>
                </a:lnTo>
                <a:cubicBezTo>
                  <a:pt x="8712129" y="1536596"/>
                  <a:pt x="8993168" y="1815167"/>
                  <a:pt x="9043444" y="2165262"/>
                </a:cubicBezTo>
                <a:cubicBezTo>
                  <a:pt x="9043612" y="2165315"/>
                  <a:pt x="9043781" y="2165320"/>
                  <a:pt x="9043950" y="2165325"/>
                </a:cubicBezTo>
                <a:lnTo>
                  <a:pt x="9044490" y="2171962"/>
                </a:lnTo>
                <a:cubicBezTo>
                  <a:pt x="9049547" y="2201969"/>
                  <a:pt x="9051997" y="2232611"/>
                  <a:pt x="9051954" y="2263693"/>
                </a:cubicBezTo>
                <a:cubicBezTo>
                  <a:pt x="9053266" y="2269279"/>
                  <a:pt x="9053325" y="2274903"/>
                  <a:pt x="9053325" y="2280541"/>
                </a:cubicBezTo>
                <a:cubicBezTo>
                  <a:pt x="9053325" y="2284333"/>
                  <a:pt x="9053298" y="2288119"/>
                  <a:pt x="9052732" y="2291891"/>
                </a:cubicBezTo>
                <a:lnTo>
                  <a:pt x="9052233" y="2291858"/>
                </a:lnTo>
                <a:lnTo>
                  <a:pt x="9052207" y="2292349"/>
                </a:lnTo>
                <a:lnTo>
                  <a:pt x="9035089" y="2290736"/>
                </a:lnTo>
                <a:cubicBezTo>
                  <a:pt x="9002714" y="2290213"/>
                  <a:pt x="8970834" y="2287255"/>
                  <a:pt x="8939662" y="2281745"/>
                </a:cubicBezTo>
                <a:cubicBezTo>
                  <a:pt x="8934085" y="2282161"/>
                  <a:pt x="8928756" y="2281220"/>
                  <a:pt x="8923445" y="2280217"/>
                </a:cubicBezTo>
                <a:lnTo>
                  <a:pt x="8923329" y="2279078"/>
                </a:lnTo>
                <a:cubicBezTo>
                  <a:pt x="8564478" y="2220146"/>
                  <a:pt x="8283439" y="1941574"/>
                  <a:pt x="8233164" y="1591480"/>
                </a:cubicBezTo>
                <a:cubicBezTo>
                  <a:pt x="8232996" y="1591427"/>
                  <a:pt x="8232828" y="1591423"/>
                  <a:pt x="8232658" y="1591418"/>
                </a:cubicBezTo>
                <a:lnTo>
                  <a:pt x="8232120" y="1584794"/>
                </a:lnTo>
                <a:cubicBezTo>
                  <a:pt x="8227061" y="1554782"/>
                  <a:pt x="8224611" y="1524133"/>
                  <a:pt x="8224653" y="1493044"/>
                </a:cubicBezTo>
                <a:cubicBezTo>
                  <a:pt x="8223341" y="1487460"/>
                  <a:pt x="8223282" y="1481838"/>
                  <a:pt x="8223282" y="1476202"/>
                </a:cubicBezTo>
                <a:lnTo>
                  <a:pt x="8223876" y="1464852"/>
                </a:lnTo>
                <a:lnTo>
                  <a:pt x="8224374" y="1464884"/>
                </a:lnTo>
                <a:close/>
                <a:moveTo>
                  <a:pt x="8210612" y="1464394"/>
                </a:moveTo>
                <a:lnTo>
                  <a:pt x="8210638" y="1464884"/>
                </a:lnTo>
                <a:lnTo>
                  <a:pt x="8211136" y="1464852"/>
                </a:lnTo>
                <a:lnTo>
                  <a:pt x="8211730" y="1476202"/>
                </a:lnTo>
                <a:cubicBezTo>
                  <a:pt x="8211730" y="1481838"/>
                  <a:pt x="8211672" y="1487460"/>
                  <a:pt x="8210360" y="1493044"/>
                </a:cubicBezTo>
                <a:cubicBezTo>
                  <a:pt x="8210402" y="1524133"/>
                  <a:pt x="8207951" y="1554782"/>
                  <a:pt x="8202893" y="1584794"/>
                </a:cubicBezTo>
                <a:lnTo>
                  <a:pt x="8202354" y="1591418"/>
                </a:lnTo>
                <a:cubicBezTo>
                  <a:pt x="8202185" y="1591423"/>
                  <a:pt x="8202016" y="1591427"/>
                  <a:pt x="8201849" y="1591480"/>
                </a:cubicBezTo>
                <a:cubicBezTo>
                  <a:pt x="8151573" y="1941574"/>
                  <a:pt x="7870534" y="2220146"/>
                  <a:pt x="7511683" y="2279078"/>
                </a:cubicBezTo>
                <a:lnTo>
                  <a:pt x="7511567" y="2280217"/>
                </a:lnTo>
                <a:cubicBezTo>
                  <a:pt x="7506256" y="2281220"/>
                  <a:pt x="7500927" y="2282161"/>
                  <a:pt x="7495350" y="2281745"/>
                </a:cubicBezTo>
                <a:cubicBezTo>
                  <a:pt x="7464178" y="2287255"/>
                  <a:pt x="7432298" y="2290213"/>
                  <a:pt x="7399924" y="2290736"/>
                </a:cubicBezTo>
                <a:lnTo>
                  <a:pt x="7382805" y="2292349"/>
                </a:lnTo>
                <a:lnTo>
                  <a:pt x="7382779" y="2291858"/>
                </a:lnTo>
                <a:lnTo>
                  <a:pt x="7382280" y="2291891"/>
                </a:lnTo>
                <a:cubicBezTo>
                  <a:pt x="7381714" y="2288119"/>
                  <a:pt x="7381687" y="2284333"/>
                  <a:pt x="7381687" y="2280541"/>
                </a:cubicBezTo>
                <a:cubicBezTo>
                  <a:pt x="7381687" y="2274903"/>
                  <a:pt x="7381746" y="2269279"/>
                  <a:pt x="7383058" y="2263693"/>
                </a:cubicBezTo>
                <a:cubicBezTo>
                  <a:pt x="7383016" y="2232611"/>
                  <a:pt x="7385465" y="2201969"/>
                  <a:pt x="7390522" y="2171962"/>
                </a:cubicBezTo>
                <a:lnTo>
                  <a:pt x="7391062" y="2165325"/>
                </a:lnTo>
                <a:cubicBezTo>
                  <a:pt x="7391231" y="2165320"/>
                  <a:pt x="7391400" y="2165315"/>
                  <a:pt x="7391568" y="2165262"/>
                </a:cubicBezTo>
                <a:cubicBezTo>
                  <a:pt x="7441844" y="1815167"/>
                  <a:pt x="7722883" y="1536596"/>
                  <a:pt x="8081734" y="1477664"/>
                </a:cubicBezTo>
                <a:lnTo>
                  <a:pt x="8081851" y="1476525"/>
                </a:lnTo>
                <a:cubicBezTo>
                  <a:pt x="8087159" y="1475523"/>
                  <a:pt x="8092487" y="1474582"/>
                  <a:pt x="8098063" y="1474998"/>
                </a:cubicBezTo>
                <a:cubicBezTo>
                  <a:pt x="8129247" y="1469485"/>
                  <a:pt x="8161139" y="1466527"/>
                  <a:pt x="8193525" y="1466004"/>
                </a:cubicBezTo>
                <a:close/>
                <a:moveTo>
                  <a:pt x="6532249" y="1464394"/>
                </a:moveTo>
                <a:lnTo>
                  <a:pt x="6549337" y="1466004"/>
                </a:lnTo>
                <a:cubicBezTo>
                  <a:pt x="6581722" y="1466527"/>
                  <a:pt x="6613615" y="1469485"/>
                  <a:pt x="6644798" y="1474998"/>
                </a:cubicBezTo>
                <a:cubicBezTo>
                  <a:pt x="6650374" y="1474582"/>
                  <a:pt x="6655702" y="1475523"/>
                  <a:pt x="6661011" y="1476525"/>
                </a:cubicBezTo>
                <a:lnTo>
                  <a:pt x="6661128" y="1477664"/>
                </a:lnTo>
                <a:cubicBezTo>
                  <a:pt x="7019978" y="1536596"/>
                  <a:pt x="7301017" y="1815167"/>
                  <a:pt x="7351294" y="2165262"/>
                </a:cubicBezTo>
                <a:cubicBezTo>
                  <a:pt x="7351461" y="2165315"/>
                  <a:pt x="7351631" y="2165320"/>
                  <a:pt x="7351799" y="2165325"/>
                </a:cubicBezTo>
                <a:lnTo>
                  <a:pt x="7352340" y="2171962"/>
                </a:lnTo>
                <a:cubicBezTo>
                  <a:pt x="7357396" y="2201969"/>
                  <a:pt x="7359846" y="2232611"/>
                  <a:pt x="7359804" y="2263693"/>
                </a:cubicBezTo>
                <a:cubicBezTo>
                  <a:pt x="7361116" y="2269279"/>
                  <a:pt x="7361174" y="2274903"/>
                  <a:pt x="7361174" y="2280541"/>
                </a:cubicBezTo>
                <a:cubicBezTo>
                  <a:pt x="7361174" y="2284333"/>
                  <a:pt x="7361147" y="2288119"/>
                  <a:pt x="7360581" y="2291891"/>
                </a:cubicBezTo>
                <a:lnTo>
                  <a:pt x="7360082" y="2291858"/>
                </a:lnTo>
                <a:lnTo>
                  <a:pt x="7360056" y="2292349"/>
                </a:lnTo>
                <a:lnTo>
                  <a:pt x="7342938" y="2290736"/>
                </a:lnTo>
                <a:cubicBezTo>
                  <a:pt x="7310564" y="2290213"/>
                  <a:pt x="7278683" y="2287255"/>
                  <a:pt x="7247511" y="2281745"/>
                </a:cubicBezTo>
                <a:cubicBezTo>
                  <a:pt x="7241934" y="2282161"/>
                  <a:pt x="7236605" y="2281220"/>
                  <a:pt x="7231295" y="2280217"/>
                </a:cubicBezTo>
                <a:lnTo>
                  <a:pt x="7231179" y="2279078"/>
                </a:lnTo>
                <a:cubicBezTo>
                  <a:pt x="6872327" y="2220146"/>
                  <a:pt x="6591288" y="1941574"/>
                  <a:pt x="6541013" y="1591480"/>
                </a:cubicBezTo>
                <a:cubicBezTo>
                  <a:pt x="6540845" y="1591427"/>
                  <a:pt x="6540677" y="1591423"/>
                  <a:pt x="6540507" y="1591418"/>
                </a:cubicBezTo>
                <a:lnTo>
                  <a:pt x="6539969" y="1584794"/>
                </a:lnTo>
                <a:cubicBezTo>
                  <a:pt x="6534910" y="1554782"/>
                  <a:pt x="6532460" y="1524133"/>
                  <a:pt x="6532502" y="1493044"/>
                </a:cubicBezTo>
                <a:cubicBezTo>
                  <a:pt x="6531190" y="1487460"/>
                  <a:pt x="6531131" y="1481838"/>
                  <a:pt x="6531131" y="1476202"/>
                </a:cubicBezTo>
                <a:lnTo>
                  <a:pt x="6531725" y="1464852"/>
                </a:lnTo>
                <a:lnTo>
                  <a:pt x="6532223" y="1464884"/>
                </a:lnTo>
                <a:close/>
                <a:moveTo>
                  <a:pt x="6518461" y="1464394"/>
                </a:moveTo>
                <a:lnTo>
                  <a:pt x="6518487" y="1464884"/>
                </a:lnTo>
                <a:lnTo>
                  <a:pt x="6518985" y="1464852"/>
                </a:lnTo>
                <a:lnTo>
                  <a:pt x="6519579" y="1476202"/>
                </a:lnTo>
                <a:cubicBezTo>
                  <a:pt x="6519579" y="1481838"/>
                  <a:pt x="6519520" y="1487460"/>
                  <a:pt x="6518208" y="1493044"/>
                </a:cubicBezTo>
                <a:cubicBezTo>
                  <a:pt x="6518250" y="1524133"/>
                  <a:pt x="6515800" y="1554782"/>
                  <a:pt x="6510741" y="1584794"/>
                </a:cubicBezTo>
                <a:lnTo>
                  <a:pt x="6510203" y="1591418"/>
                </a:lnTo>
                <a:cubicBezTo>
                  <a:pt x="6510033" y="1591423"/>
                  <a:pt x="6509865" y="1591427"/>
                  <a:pt x="6509697" y="1591480"/>
                </a:cubicBezTo>
                <a:cubicBezTo>
                  <a:pt x="6459422" y="1941574"/>
                  <a:pt x="6178383" y="2220146"/>
                  <a:pt x="5819531" y="2279078"/>
                </a:cubicBezTo>
                <a:lnTo>
                  <a:pt x="5819415" y="2280217"/>
                </a:lnTo>
                <a:cubicBezTo>
                  <a:pt x="5814105" y="2281220"/>
                  <a:pt x="5808776" y="2282161"/>
                  <a:pt x="5803199" y="2281745"/>
                </a:cubicBezTo>
                <a:cubicBezTo>
                  <a:pt x="5772027" y="2287255"/>
                  <a:pt x="5740146" y="2290213"/>
                  <a:pt x="5707772" y="2290736"/>
                </a:cubicBezTo>
                <a:lnTo>
                  <a:pt x="5690654" y="2292349"/>
                </a:lnTo>
                <a:lnTo>
                  <a:pt x="5690628" y="2291858"/>
                </a:lnTo>
                <a:lnTo>
                  <a:pt x="5690129" y="2291891"/>
                </a:lnTo>
                <a:cubicBezTo>
                  <a:pt x="5689563" y="2288119"/>
                  <a:pt x="5689536" y="2284333"/>
                  <a:pt x="5689536" y="2280541"/>
                </a:cubicBezTo>
                <a:cubicBezTo>
                  <a:pt x="5689536" y="2274903"/>
                  <a:pt x="5689594" y="2269279"/>
                  <a:pt x="5690906" y="2263693"/>
                </a:cubicBezTo>
                <a:cubicBezTo>
                  <a:pt x="5690864" y="2232611"/>
                  <a:pt x="5693314" y="2201969"/>
                  <a:pt x="5698370" y="2171962"/>
                </a:cubicBezTo>
                <a:lnTo>
                  <a:pt x="5698911" y="2165325"/>
                </a:lnTo>
                <a:cubicBezTo>
                  <a:pt x="5699079" y="2165320"/>
                  <a:pt x="5699249" y="2165315"/>
                  <a:pt x="5699416" y="2165262"/>
                </a:cubicBezTo>
                <a:cubicBezTo>
                  <a:pt x="5749693" y="1815167"/>
                  <a:pt x="6030732" y="1536596"/>
                  <a:pt x="6389582" y="1477664"/>
                </a:cubicBezTo>
                <a:lnTo>
                  <a:pt x="6389699" y="1476525"/>
                </a:lnTo>
                <a:cubicBezTo>
                  <a:pt x="6395008" y="1475523"/>
                  <a:pt x="6400336" y="1474582"/>
                  <a:pt x="6405912" y="1474998"/>
                </a:cubicBezTo>
                <a:cubicBezTo>
                  <a:pt x="6437095" y="1469485"/>
                  <a:pt x="6468988" y="1466527"/>
                  <a:pt x="6501373" y="1466004"/>
                </a:cubicBezTo>
                <a:close/>
                <a:moveTo>
                  <a:pt x="4840098" y="1464394"/>
                </a:moveTo>
                <a:lnTo>
                  <a:pt x="4857185" y="1466004"/>
                </a:lnTo>
                <a:cubicBezTo>
                  <a:pt x="4889571" y="1466527"/>
                  <a:pt x="4921463" y="1469485"/>
                  <a:pt x="4952647" y="1474998"/>
                </a:cubicBezTo>
                <a:cubicBezTo>
                  <a:pt x="4958223" y="1474582"/>
                  <a:pt x="4963551" y="1475523"/>
                  <a:pt x="4968859" y="1476525"/>
                </a:cubicBezTo>
                <a:lnTo>
                  <a:pt x="4968976" y="1477664"/>
                </a:lnTo>
                <a:cubicBezTo>
                  <a:pt x="5327827" y="1536596"/>
                  <a:pt x="5608866" y="1815167"/>
                  <a:pt x="5659142" y="2165262"/>
                </a:cubicBezTo>
                <a:cubicBezTo>
                  <a:pt x="5659310" y="2165315"/>
                  <a:pt x="5659479" y="2165320"/>
                  <a:pt x="5659648" y="2165325"/>
                </a:cubicBezTo>
                <a:lnTo>
                  <a:pt x="5660188" y="2171962"/>
                </a:lnTo>
                <a:cubicBezTo>
                  <a:pt x="5665245" y="2201969"/>
                  <a:pt x="5667694" y="2232611"/>
                  <a:pt x="5667652" y="2263693"/>
                </a:cubicBezTo>
                <a:cubicBezTo>
                  <a:pt x="5668964" y="2269279"/>
                  <a:pt x="5669023" y="2274903"/>
                  <a:pt x="5669023" y="2280541"/>
                </a:cubicBezTo>
                <a:cubicBezTo>
                  <a:pt x="5669023" y="2284333"/>
                  <a:pt x="5668996" y="2288119"/>
                  <a:pt x="5668430" y="2291891"/>
                </a:cubicBezTo>
                <a:lnTo>
                  <a:pt x="5667931" y="2291858"/>
                </a:lnTo>
                <a:lnTo>
                  <a:pt x="5667905" y="2292349"/>
                </a:lnTo>
                <a:lnTo>
                  <a:pt x="5650786" y="2290736"/>
                </a:lnTo>
                <a:cubicBezTo>
                  <a:pt x="5618412" y="2290213"/>
                  <a:pt x="5586532" y="2287255"/>
                  <a:pt x="5555360" y="2281745"/>
                </a:cubicBezTo>
                <a:cubicBezTo>
                  <a:pt x="5549783" y="2282161"/>
                  <a:pt x="5544454" y="2281220"/>
                  <a:pt x="5539143" y="2280217"/>
                </a:cubicBezTo>
                <a:lnTo>
                  <a:pt x="5539027" y="2279078"/>
                </a:lnTo>
                <a:cubicBezTo>
                  <a:pt x="5180176" y="2220146"/>
                  <a:pt x="4899137" y="1941574"/>
                  <a:pt x="4848861" y="1591480"/>
                </a:cubicBezTo>
                <a:cubicBezTo>
                  <a:pt x="4848694" y="1591427"/>
                  <a:pt x="4848525" y="1591423"/>
                  <a:pt x="4848356" y="1591418"/>
                </a:cubicBezTo>
                <a:lnTo>
                  <a:pt x="4847817" y="1584794"/>
                </a:lnTo>
                <a:cubicBezTo>
                  <a:pt x="4842759" y="1554782"/>
                  <a:pt x="4840308" y="1524133"/>
                  <a:pt x="4840350" y="1493044"/>
                </a:cubicBezTo>
                <a:cubicBezTo>
                  <a:pt x="4839038" y="1487460"/>
                  <a:pt x="4838980" y="1481838"/>
                  <a:pt x="4838980" y="1476202"/>
                </a:cubicBezTo>
                <a:lnTo>
                  <a:pt x="4839574" y="1464852"/>
                </a:lnTo>
                <a:lnTo>
                  <a:pt x="4840072" y="1464884"/>
                </a:lnTo>
                <a:close/>
                <a:moveTo>
                  <a:pt x="4826310" y="1464394"/>
                </a:moveTo>
                <a:lnTo>
                  <a:pt x="4826336" y="1464884"/>
                </a:lnTo>
                <a:lnTo>
                  <a:pt x="4826834" y="1464852"/>
                </a:lnTo>
                <a:lnTo>
                  <a:pt x="4827428" y="1476202"/>
                </a:lnTo>
                <a:cubicBezTo>
                  <a:pt x="4827428" y="1481838"/>
                  <a:pt x="4827369" y="1487460"/>
                  <a:pt x="4826057" y="1493044"/>
                </a:cubicBezTo>
                <a:cubicBezTo>
                  <a:pt x="4826099" y="1524133"/>
                  <a:pt x="4823649" y="1554782"/>
                  <a:pt x="4818590" y="1584794"/>
                </a:cubicBezTo>
                <a:lnTo>
                  <a:pt x="4818052" y="1591418"/>
                </a:lnTo>
                <a:cubicBezTo>
                  <a:pt x="4817882" y="1591423"/>
                  <a:pt x="4817714" y="1591427"/>
                  <a:pt x="4817546" y="1591480"/>
                </a:cubicBezTo>
                <a:cubicBezTo>
                  <a:pt x="4767271" y="1941574"/>
                  <a:pt x="4486232" y="2220146"/>
                  <a:pt x="4127381" y="2279078"/>
                </a:cubicBezTo>
                <a:lnTo>
                  <a:pt x="4127264" y="2280217"/>
                </a:lnTo>
                <a:cubicBezTo>
                  <a:pt x="4121954" y="2281220"/>
                  <a:pt x="4116625" y="2282161"/>
                  <a:pt x="4111048" y="2281745"/>
                </a:cubicBezTo>
                <a:cubicBezTo>
                  <a:pt x="4079876" y="2287255"/>
                  <a:pt x="4047996" y="2290213"/>
                  <a:pt x="4015621" y="2290736"/>
                </a:cubicBezTo>
                <a:lnTo>
                  <a:pt x="3998503" y="2292349"/>
                </a:lnTo>
                <a:lnTo>
                  <a:pt x="3998477" y="2291858"/>
                </a:lnTo>
                <a:lnTo>
                  <a:pt x="3997978" y="2291891"/>
                </a:lnTo>
                <a:cubicBezTo>
                  <a:pt x="3997412" y="2288119"/>
                  <a:pt x="3997385" y="2284333"/>
                  <a:pt x="3997385" y="2280541"/>
                </a:cubicBezTo>
                <a:cubicBezTo>
                  <a:pt x="3997385" y="2274903"/>
                  <a:pt x="3997443" y="2269279"/>
                  <a:pt x="3998755" y="2263693"/>
                </a:cubicBezTo>
                <a:cubicBezTo>
                  <a:pt x="3998713" y="2232611"/>
                  <a:pt x="4001163" y="2201969"/>
                  <a:pt x="4006219" y="2171962"/>
                </a:cubicBezTo>
                <a:lnTo>
                  <a:pt x="4006760" y="2165325"/>
                </a:lnTo>
                <a:cubicBezTo>
                  <a:pt x="4006928" y="2165320"/>
                  <a:pt x="4007098" y="2165315"/>
                  <a:pt x="4007265" y="2165262"/>
                </a:cubicBezTo>
                <a:cubicBezTo>
                  <a:pt x="4057542" y="1815167"/>
                  <a:pt x="4338581" y="1536596"/>
                  <a:pt x="4697431" y="1477664"/>
                </a:cubicBezTo>
                <a:lnTo>
                  <a:pt x="4697548" y="1476525"/>
                </a:lnTo>
                <a:cubicBezTo>
                  <a:pt x="4702857" y="1475523"/>
                  <a:pt x="4708185" y="1474582"/>
                  <a:pt x="4713761" y="1474998"/>
                </a:cubicBezTo>
                <a:cubicBezTo>
                  <a:pt x="4744944" y="1469485"/>
                  <a:pt x="4776837" y="1466527"/>
                  <a:pt x="4809222" y="1466004"/>
                </a:cubicBezTo>
                <a:close/>
                <a:moveTo>
                  <a:pt x="3147947" y="1464394"/>
                </a:moveTo>
                <a:lnTo>
                  <a:pt x="3165034" y="1466004"/>
                </a:lnTo>
                <a:cubicBezTo>
                  <a:pt x="3197420" y="1466527"/>
                  <a:pt x="3229312" y="1469485"/>
                  <a:pt x="3260496" y="1474998"/>
                </a:cubicBezTo>
                <a:cubicBezTo>
                  <a:pt x="3266072" y="1474582"/>
                  <a:pt x="3271400" y="1475523"/>
                  <a:pt x="3276708" y="1476525"/>
                </a:cubicBezTo>
                <a:lnTo>
                  <a:pt x="3276826" y="1477664"/>
                </a:lnTo>
                <a:cubicBezTo>
                  <a:pt x="3635676" y="1536596"/>
                  <a:pt x="3916715" y="1815167"/>
                  <a:pt x="3966991" y="2165262"/>
                </a:cubicBezTo>
                <a:cubicBezTo>
                  <a:pt x="3967159" y="2165315"/>
                  <a:pt x="3967328" y="2165320"/>
                  <a:pt x="3967497" y="2165325"/>
                </a:cubicBezTo>
                <a:lnTo>
                  <a:pt x="3968037" y="2171962"/>
                </a:lnTo>
                <a:cubicBezTo>
                  <a:pt x="3973094" y="2201969"/>
                  <a:pt x="3975543" y="2232611"/>
                  <a:pt x="3975501" y="2263693"/>
                </a:cubicBezTo>
                <a:cubicBezTo>
                  <a:pt x="3976813" y="2269279"/>
                  <a:pt x="3976872" y="2274903"/>
                  <a:pt x="3976872" y="2280541"/>
                </a:cubicBezTo>
                <a:cubicBezTo>
                  <a:pt x="3976872" y="2284333"/>
                  <a:pt x="3976845" y="2288119"/>
                  <a:pt x="3976279" y="2291891"/>
                </a:cubicBezTo>
                <a:lnTo>
                  <a:pt x="3975780" y="2291858"/>
                </a:lnTo>
                <a:lnTo>
                  <a:pt x="3975754" y="2292349"/>
                </a:lnTo>
                <a:lnTo>
                  <a:pt x="3958635" y="2290736"/>
                </a:lnTo>
                <a:cubicBezTo>
                  <a:pt x="3926261" y="2290213"/>
                  <a:pt x="3894381" y="2287255"/>
                  <a:pt x="3863209" y="2281745"/>
                </a:cubicBezTo>
                <a:cubicBezTo>
                  <a:pt x="3857632" y="2282161"/>
                  <a:pt x="3852303" y="2281220"/>
                  <a:pt x="3846992" y="2280217"/>
                </a:cubicBezTo>
                <a:lnTo>
                  <a:pt x="3846876" y="2279078"/>
                </a:lnTo>
                <a:cubicBezTo>
                  <a:pt x="3488025" y="2220146"/>
                  <a:pt x="3206986" y="1941574"/>
                  <a:pt x="3156710" y="1591480"/>
                </a:cubicBezTo>
                <a:cubicBezTo>
                  <a:pt x="3156543" y="1591427"/>
                  <a:pt x="3156374" y="1591423"/>
                  <a:pt x="3156205" y="1591418"/>
                </a:cubicBezTo>
                <a:lnTo>
                  <a:pt x="3155667" y="1584794"/>
                </a:lnTo>
                <a:cubicBezTo>
                  <a:pt x="3150608" y="1554782"/>
                  <a:pt x="3148157" y="1524133"/>
                  <a:pt x="3148199" y="1493044"/>
                </a:cubicBezTo>
                <a:cubicBezTo>
                  <a:pt x="3146887" y="1487460"/>
                  <a:pt x="3146829" y="1481838"/>
                  <a:pt x="3146829" y="1476202"/>
                </a:cubicBezTo>
                <a:lnTo>
                  <a:pt x="3147423" y="1464852"/>
                </a:lnTo>
                <a:lnTo>
                  <a:pt x="3147921" y="1464884"/>
                </a:lnTo>
                <a:close/>
                <a:moveTo>
                  <a:pt x="3134159" y="1464394"/>
                </a:moveTo>
                <a:lnTo>
                  <a:pt x="3134185" y="1464884"/>
                </a:lnTo>
                <a:lnTo>
                  <a:pt x="3134683" y="1464852"/>
                </a:lnTo>
                <a:lnTo>
                  <a:pt x="3135277" y="1476202"/>
                </a:lnTo>
                <a:cubicBezTo>
                  <a:pt x="3135277" y="1481838"/>
                  <a:pt x="3135218" y="1487460"/>
                  <a:pt x="3133906" y="1493044"/>
                </a:cubicBezTo>
                <a:cubicBezTo>
                  <a:pt x="3133948" y="1524133"/>
                  <a:pt x="3131498" y="1554782"/>
                  <a:pt x="3126439" y="1584794"/>
                </a:cubicBezTo>
                <a:lnTo>
                  <a:pt x="3125901" y="1591418"/>
                </a:lnTo>
                <a:cubicBezTo>
                  <a:pt x="3125731" y="1591423"/>
                  <a:pt x="3125563" y="1591427"/>
                  <a:pt x="3125395" y="1591480"/>
                </a:cubicBezTo>
                <a:cubicBezTo>
                  <a:pt x="3075120" y="1941574"/>
                  <a:pt x="2794081" y="2220146"/>
                  <a:pt x="2435230" y="2279078"/>
                </a:cubicBezTo>
                <a:lnTo>
                  <a:pt x="2435113" y="2280217"/>
                </a:lnTo>
                <a:cubicBezTo>
                  <a:pt x="2429803" y="2281220"/>
                  <a:pt x="2424474" y="2282161"/>
                  <a:pt x="2418897" y="2281745"/>
                </a:cubicBezTo>
                <a:cubicBezTo>
                  <a:pt x="2387725" y="2287255"/>
                  <a:pt x="2355845" y="2290213"/>
                  <a:pt x="2323470" y="2290736"/>
                </a:cubicBezTo>
                <a:lnTo>
                  <a:pt x="2306352" y="2292349"/>
                </a:lnTo>
                <a:lnTo>
                  <a:pt x="2306326" y="2291858"/>
                </a:lnTo>
                <a:lnTo>
                  <a:pt x="2305827" y="2291891"/>
                </a:lnTo>
                <a:cubicBezTo>
                  <a:pt x="2305261" y="2288119"/>
                  <a:pt x="2305234" y="2284333"/>
                  <a:pt x="2305234" y="2280541"/>
                </a:cubicBezTo>
                <a:cubicBezTo>
                  <a:pt x="2305234" y="2274903"/>
                  <a:pt x="2305292" y="2269279"/>
                  <a:pt x="2306604" y="2263693"/>
                </a:cubicBezTo>
                <a:cubicBezTo>
                  <a:pt x="2306562" y="2232611"/>
                  <a:pt x="2309012" y="2201969"/>
                  <a:pt x="2314068" y="2171962"/>
                </a:cubicBezTo>
                <a:lnTo>
                  <a:pt x="2314609" y="2165325"/>
                </a:lnTo>
                <a:cubicBezTo>
                  <a:pt x="2314777" y="2165320"/>
                  <a:pt x="2314947" y="2165315"/>
                  <a:pt x="2315114" y="2165262"/>
                </a:cubicBezTo>
                <a:cubicBezTo>
                  <a:pt x="2365391" y="1815167"/>
                  <a:pt x="2646430" y="1536596"/>
                  <a:pt x="3005280" y="1477664"/>
                </a:cubicBezTo>
                <a:lnTo>
                  <a:pt x="3005397" y="1476525"/>
                </a:lnTo>
                <a:cubicBezTo>
                  <a:pt x="3010706" y="1475523"/>
                  <a:pt x="3016034" y="1474582"/>
                  <a:pt x="3021610" y="1474998"/>
                </a:cubicBezTo>
                <a:cubicBezTo>
                  <a:pt x="3052793" y="1469485"/>
                  <a:pt x="3084686" y="1466527"/>
                  <a:pt x="3117071" y="1466004"/>
                </a:cubicBezTo>
                <a:close/>
                <a:moveTo>
                  <a:pt x="1455796" y="1464394"/>
                </a:moveTo>
                <a:lnTo>
                  <a:pt x="1472883" y="1466004"/>
                </a:lnTo>
                <a:cubicBezTo>
                  <a:pt x="1505269" y="1466527"/>
                  <a:pt x="1537161" y="1469485"/>
                  <a:pt x="1568345" y="1474998"/>
                </a:cubicBezTo>
                <a:cubicBezTo>
                  <a:pt x="1573921" y="1474582"/>
                  <a:pt x="1579249" y="1475523"/>
                  <a:pt x="1584557" y="1476525"/>
                </a:cubicBezTo>
                <a:lnTo>
                  <a:pt x="1584675" y="1477664"/>
                </a:lnTo>
                <a:cubicBezTo>
                  <a:pt x="1943525" y="1536596"/>
                  <a:pt x="2224564" y="1815167"/>
                  <a:pt x="2274840" y="2165262"/>
                </a:cubicBezTo>
                <a:cubicBezTo>
                  <a:pt x="2275008" y="2165315"/>
                  <a:pt x="2275177" y="2165320"/>
                  <a:pt x="2275346" y="2165325"/>
                </a:cubicBezTo>
                <a:lnTo>
                  <a:pt x="2275886" y="2171962"/>
                </a:lnTo>
                <a:cubicBezTo>
                  <a:pt x="2280943" y="2201969"/>
                  <a:pt x="2283392" y="2232611"/>
                  <a:pt x="2283350" y="2263693"/>
                </a:cubicBezTo>
                <a:cubicBezTo>
                  <a:pt x="2284662" y="2269279"/>
                  <a:pt x="2284721" y="2274903"/>
                  <a:pt x="2284721" y="2280541"/>
                </a:cubicBezTo>
                <a:cubicBezTo>
                  <a:pt x="2284721" y="2284333"/>
                  <a:pt x="2284694" y="2288119"/>
                  <a:pt x="2284128" y="2291891"/>
                </a:cubicBezTo>
                <a:lnTo>
                  <a:pt x="2283629" y="2291858"/>
                </a:lnTo>
                <a:lnTo>
                  <a:pt x="2283603" y="2292349"/>
                </a:lnTo>
                <a:lnTo>
                  <a:pt x="2266484" y="2290736"/>
                </a:lnTo>
                <a:cubicBezTo>
                  <a:pt x="2234110" y="2290213"/>
                  <a:pt x="2202230" y="2287255"/>
                  <a:pt x="2171058" y="2281745"/>
                </a:cubicBezTo>
                <a:cubicBezTo>
                  <a:pt x="2165481" y="2282161"/>
                  <a:pt x="2160152" y="2281220"/>
                  <a:pt x="2154841" y="2280217"/>
                </a:cubicBezTo>
                <a:lnTo>
                  <a:pt x="2154725" y="2279078"/>
                </a:lnTo>
                <a:cubicBezTo>
                  <a:pt x="1795874" y="2220146"/>
                  <a:pt x="1514835" y="1941574"/>
                  <a:pt x="1464559" y="1591480"/>
                </a:cubicBezTo>
                <a:cubicBezTo>
                  <a:pt x="1464392" y="1591427"/>
                  <a:pt x="1464223" y="1591423"/>
                  <a:pt x="1464054" y="1591418"/>
                </a:cubicBezTo>
                <a:lnTo>
                  <a:pt x="1463515" y="1584794"/>
                </a:lnTo>
                <a:cubicBezTo>
                  <a:pt x="1458457" y="1554782"/>
                  <a:pt x="1456006" y="1524133"/>
                  <a:pt x="1456048" y="1493044"/>
                </a:cubicBezTo>
                <a:cubicBezTo>
                  <a:pt x="1454736" y="1487460"/>
                  <a:pt x="1454678" y="1481838"/>
                  <a:pt x="1454678" y="1476202"/>
                </a:cubicBezTo>
                <a:lnTo>
                  <a:pt x="1455272" y="1464852"/>
                </a:lnTo>
                <a:lnTo>
                  <a:pt x="1455770" y="1464884"/>
                </a:lnTo>
                <a:close/>
                <a:moveTo>
                  <a:pt x="1442008" y="1464394"/>
                </a:moveTo>
                <a:lnTo>
                  <a:pt x="1442034" y="1464884"/>
                </a:lnTo>
                <a:lnTo>
                  <a:pt x="1442532" y="1464852"/>
                </a:lnTo>
                <a:lnTo>
                  <a:pt x="1443126" y="1476202"/>
                </a:lnTo>
                <a:cubicBezTo>
                  <a:pt x="1443126" y="1481838"/>
                  <a:pt x="1443067" y="1487460"/>
                  <a:pt x="1441755" y="1493044"/>
                </a:cubicBezTo>
                <a:cubicBezTo>
                  <a:pt x="1441797" y="1524133"/>
                  <a:pt x="1439347" y="1554782"/>
                  <a:pt x="1434288" y="1584794"/>
                </a:cubicBezTo>
                <a:lnTo>
                  <a:pt x="1433750" y="1591418"/>
                </a:lnTo>
                <a:cubicBezTo>
                  <a:pt x="1433580" y="1591423"/>
                  <a:pt x="1433412" y="1591427"/>
                  <a:pt x="1433244" y="1591480"/>
                </a:cubicBezTo>
                <a:cubicBezTo>
                  <a:pt x="1382969" y="1941574"/>
                  <a:pt x="1101930" y="2220146"/>
                  <a:pt x="743079" y="2279078"/>
                </a:cubicBezTo>
                <a:lnTo>
                  <a:pt x="742962" y="2280217"/>
                </a:lnTo>
                <a:cubicBezTo>
                  <a:pt x="737652" y="2281220"/>
                  <a:pt x="732323" y="2282161"/>
                  <a:pt x="726746" y="2281745"/>
                </a:cubicBezTo>
                <a:cubicBezTo>
                  <a:pt x="695574" y="2287255"/>
                  <a:pt x="663693" y="2290213"/>
                  <a:pt x="631319" y="2290736"/>
                </a:cubicBezTo>
                <a:lnTo>
                  <a:pt x="614201" y="2292349"/>
                </a:lnTo>
                <a:lnTo>
                  <a:pt x="614175" y="2291858"/>
                </a:lnTo>
                <a:lnTo>
                  <a:pt x="613676" y="2291891"/>
                </a:lnTo>
                <a:cubicBezTo>
                  <a:pt x="613110" y="2288119"/>
                  <a:pt x="613083" y="2284333"/>
                  <a:pt x="613083" y="2280541"/>
                </a:cubicBezTo>
                <a:cubicBezTo>
                  <a:pt x="613083" y="2274903"/>
                  <a:pt x="613141" y="2269279"/>
                  <a:pt x="614453" y="2263693"/>
                </a:cubicBezTo>
                <a:cubicBezTo>
                  <a:pt x="614411" y="2232611"/>
                  <a:pt x="616861" y="2201969"/>
                  <a:pt x="621917" y="2171962"/>
                </a:cubicBezTo>
                <a:lnTo>
                  <a:pt x="622458" y="2165325"/>
                </a:lnTo>
                <a:cubicBezTo>
                  <a:pt x="622626" y="2165320"/>
                  <a:pt x="622796" y="2165315"/>
                  <a:pt x="622963" y="2165262"/>
                </a:cubicBezTo>
                <a:cubicBezTo>
                  <a:pt x="673240" y="1815167"/>
                  <a:pt x="954279" y="1536596"/>
                  <a:pt x="1313129" y="1477664"/>
                </a:cubicBezTo>
                <a:lnTo>
                  <a:pt x="1313246" y="1476525"/>
                </a:lnTo>
                <a:cubicBezTo>
                  <a:pt x="1318555" y="1475523"/>
                  <a:pt x="1323883" y="1474582"/>
                  <a:pt x="1329459" y="1474998"/>
                </a:cubicBezTo>
                <a:cubicBezTo>
                  <a:pt x="1360642" y="1469485"/>
                  <a:pt x="1392535" y="1466527"/>
                  <a:pt x="1424920" y="1466004"/>
                </a:cubicBezTo>
                <a:close/>
                <a:moveTo>
                  <a:pt x="10909360" y="750600"/>
                </a:moveTo>
                <a:cubicBezTo>
                  <a:pt x="10962636" y="1021506"/>
                  <a:pt x="11177479" y="1236303"/>
                  <a:pt x="11452669" y="1295446"/>
                </a:cubicBezTo>
                <a:cubicBezTo>
                  <a:pt x="11399394" y="1024540"/>
                  <a:pt x="11184550" y="809743"/>
                  <a:pt x="10909360" y="750600"/>
                </a:cubicBezTo>
                <a:close/>
                <a:moveTo>
                  <a:pt x="10602109" y="750600"/>
                </a:moveTo>
                <a:cubicBezTo>
                  <a:pt x="10326919" y="809743"/>
                  <a:pt x="10112075" y="1024540"/>
                  <a:pt x="10058800" y="1295446"/>
                </a:cubicBezTo>
                <a:cubicBezTo>
                  <a:pt x="10333990" y="1236303"/>
                  <a:pt x="10548833" y="1021506"/>
                  <a:pt x="10602109" y="750600"/>
                </a:cubicBezTo>
                <a:close/>
                <a:moveTo>
                  <a:pt x="9217207" y="750600"/>
                </a:moveTo>
                <a:cubicBezTo>
                  <a:pt x="9270483" y="1021506"/>
                  <a:pt x="9485326" y="1236303"/>
                  <a:pt x="9760516" y="1295446"/>
                </a:cubicBezTo>
                <a:cubicBezTo>
                  <a:pt x="9707241" y="1024540"/>
                  <a:pt x="9492397" y="809743"/>
                  <a:pt x="9217207" y="750600"/>
                </a:cubicBezTo>
                <a:close/>
                <a:moveTo>
                  <a:pt x="8909958" y="750600"/>
                </a:moveTo>
                <a:cubicBezTo>
                  <a:pt x="8634768" y="809743"/>
                  <a:pt x="8419924" y="1024540"/>
                  <a:pt x="8366649" y="1295446"/>
                </a:cubicBezTo>
                <a:cubicBezTo>
                  <a:pt x="8641839" y="1236303"/>
                  <a:pt x="8856682" y="1021506"/>
                  <a:pt x="8909958" y="750600"/>
                </a:cubicBezTo>
                <a:close/>
                <a:moveTo>
                  <a:pt x="7525056" y="750600"/>
                </a:moveTo>
                <a:cubicBezTo>
                  <a:pt x="7578332" y="1021506"/>
                  <a:pt x="7793175" y="1236303"/>
                  <a:pt x="8068365" y="1295446"/>
                </a:cubicBezTo>
                <a:cubicBezTo>
                  <a:pt x="8015090" y="1024540"/>
                  <a:pt x="7800246" y="809743"/>
                  <a:pt x="7525056" y="750600"/>
                </a:cubicBezTo>
                <a:close/>
                <a:moveTo>
                  <a:pt x="7217807" y="750600"/>
                </a:moveTo>
                <a:cubicBezTo>
                  <a:pt x="6942617" y="809743"/>
                  <a:pt x="6727773" y="1024540"/>
                  <a:pt x="6674498" y="1295446"/>
                </a:cubicBezTo>
                <a:cubicBezTo>
                  <a:pt x="6949688" y="1236303"/>
                  <a:pt x="7164531" y="1021506"/>
                  <a:pt x="7217807" y="750600"/>
                </a:cubicBezTo>
                <a:close/>
                <a:moveTo>
                  <a:pt x="5832905" y="750600"/>
                </a:moveTo>
                <a:cubicBezTo>
                  <a:pt x="5886181" y="1021506"/>
                  <a:pt x="6101024" y="1236303"/>
                  <a:pt x="6376214" y="1295446"/>
                </a:cubicBezTo>
                <a:cubicBezTo>
                  <a:pt x="6322939" y="1024540"/>
                  <a:pt x="6108095" y="809743"/>
                  <a:pt x="5832905" y="750600"/>
                </a:cubicBezTo>
                <a:close/>
                <a:moveTo>
                  <a:pt x="5525656" y="750600"/>
                </a:moveTo>
                <a:cubicBezTo>
                  <a:pt x="5250466" y="809743"/>
                  <a:pt x="5035622" y="1024540"/>
                  <a:pt x="4982347" y="1295446"/>
                </a:cubicBezTo>
                <a:cubicBezTo>
                  <a:pt x="5257537" y="1236303"/>
                  <a:pt x="5472380" y="1021506"/>
                  <a:pt x="5525656" y="750600"/>
                </a:cubicBezTo>
                <a:close/>
                <a:moveTo>
                  <a:pt x="4140754" y="750600"/>
                </a:moveTo>
                <a:cubicBezTo>
                  <a:pt x="4194030" y="1021506"/>
                  <a:pt x="4408873" y="1236303"/>
                  <a:pt x="4684063" y="1295446"/>
                </a:cubicBezTo>
                <a:cubicBezTo>
                  <a:pt x="4630788" y="1024540"/>
                  <a:pt x="4415944" y="809743"/>
                  <a:pt x="4140754" y="750600"/>
                </a:cubicBezTo>
                <a:close/>
                <a:moveTo>
                  <a:pt x="3833505" y="750600"/>
                </a:moveTo>
                <a:cubicBezTo>
                  <a:pt x="3558315" y="809743"/>
                  <a:pt x="3343471" y="1024540"/>
                  <a:pt x="3290196" y="1295446"/>
                </a:cubicBezTo>
                <a:cubicBezTo>
                  <a:pt x="3565386" y="1236303"/>
                  <a:pt x="3780229" y="1021506"/>
                  <a:pt x="3833505" y="750600"/>
                </a:cubicBezTo>
                <a:close/>
                <a:moveTo>
                  <a:pt x="2448603" y="750600"/>
                </a:moveTo>
                <a:cubicBezTo>
                  <a:pt x="2501879" y="1021506"/>
                  <a:pt x="2716722" y="1236303"/>
                  <a:pt x="2991912" y="1295446"/>
                </a:cubicBezTo>
                <a:cubicBezTo>
                  <a:pt x="2938637" y="1024540"/>
                  <a:pt x="2723793" y="809743"/>
                  <a:pt x="2448603" y="750600"/>
                </a:cubicBezTo>
                <a:close/>
                <a:moveTo>
                  <a:pt x="2141354" y="750600"/>
                </a:moveTo>
                <a:cubicBezTo>
                  <a:pt x="1866164" y="809743"/>
                  <a:pt x="1651320" y="1024540"/>
                  <a:pt x="1598045" y="1295446"/>
                </a:cubicBezTo>
                <a:cubicBezTo>
                  <a:pt x="1873235" y="1236303"/>
                  <a:pt x="2088078" y="1021506"/>
                  <a:pt x="2141354" y="750600"/>
                </a:cubicBezTo>
                <a:close/>
                <a:moveTo>
                  <a:pt x="756452" y="750600"/>
                </a:moveTo>
                <a:cubicBezTo>
                  <a:pt x="809728" y="1021506"/>
                  <a:pt x="1024571" y="1236303"/>
                  <a:pt x="1299761" y="1295446"/>
                </a:cubicBezTo>
                <a:cubicBezTo>
                  <a:pt x="1246486" y="1024540"/>
                  <a:pt x="1031642" y="809743"/>
                  <a:pt x="756452" y="750600"/>
                </a:cubicBezTo>
                <a:close/>
                <a:moveTo>
                  <a:pt x="12192000" y="647790"/>
                </a:moveTo>
                <a:lnTo>
                  <a:pt x="12192000" y="780838"/>
                </a:lnTo>
                <a:cubicBezTo>
                  <a:pt x="11966807" y="865550"/>
                  <a:pt x="11797421" y="1059155"/>
                  <a:pt x="11750953" y="1295446"/>
                </a:cubicBezTo>
                <a:cubicBezTo>
                  <a:pt x="11935988" y="1255679"/>
                  <a:pt x="12093739" y="1145540"/>
                  <a:pt x="12192000" y="994335"/>
                </a:cubicBezTo>
                <a:lnTo>
                  <a:pt x="12192000" y="1195909"/>
                </a:lnTo>
                <a:cubicBezTo>
                  <a:pt x="12071770" y="1314911"/>
                  <a:pt x="11914089" y="1397686"/>
                  <a:pt x="11737582" y="1426902"/>
                </a:cubicBezTo>
                <a:lnTo>
                  <a:pt x="11737466" y="1428050"/>
                </a:lnTo>
                <a:cubicBezTo>
                  <a:pt x="11732155" y="1429061"/>
                  <a:pt x="11726826" y="1430009"/>
                  <a:pt x="11721249" y="1429590"/>
                </a:cubicBezTo>
                <a:cubicBezTo>
                  <a:pt x="11690077" y="1435144"/>
                  <a:pt x="11658197" y="1438125"/>
                  <a:pt x="11625822" y="1438652"/>
                </a:cubicBezTo>
                <a:lnTo>
                  <a:pt x="11608704" y="1440278"/>
                </a:lnTo>
                <a:lnTo>
                  <a:pt x="11608678" y="1439783"/>
                </a:lnTo>
                <a:lnTo>
                  <a:pt x="11608179" y="1439816"/>
                </a:lnTo>
                <a:cubicBezTo>
                  <a:pt x="11607613" y="1436014"/>
                  <a:pt x="11607586" y="1432198"/>
                  <a:pt x="11607586" y="1428376"/>
                </a:cubicBezTo>
                <a:cubicBezTo>
                  <a:pt x="11607586" y="1422694"/>
                  <a:pt x="11607645" y="1417025"/>
                  <a:pt x="11608957" y="1411395"/>
                </a:cubicBezTo>
                <a:cubicBezTo>
                  <a:pt x="11608914" y="1380067"/>
                  <a:pt x="11611364" y="1349182"/>
                  <a:pt x="11616421" y="1318938"/>
                </a:cubicBezTo>
                <a:lnTo>
                  <a:pt x="11616961" y="1312248"/>
                </a:lnTo>
                <a:cubicBezTo>
                  <a:pt x="11617130" y="1312243"/>
                  <a:pt x="11617299" y="1312238"/>
                  <a:pt x="11617466" y="1312185"/>
                </a:cubicBezTo>
                <a:cubicBezTo>
                  <a:pt x="11662185" y="998329"/>
                  <a:pt x="11889463" y="741504"/>
                  <a:pt x="12192000" y="647790"/>
                </a:cubicBezTo>
                <a:close/>
                <a:moveTo>
                  <a:pt x="10767111" y="605769"/>
                </a:moveTo>
                <a:lnTo>
                  <a:pt x="10784198" y="607392"/>
                </a:lnTo>
                <a:cubicBezTo>
                  <a:pt x="10816584" y="607919"/>
                  <a:pt x="10848477" y="610900"/>
                  <a:pt x="10879660" y="616457"/>
                </a:cubicBezTo>
                <a:cubicBezTo>
                  <a:pt x="10885236" y="616038"/>
                  <a:pt x="10890564" y="616986"/>
                  <a:pt x="10895873" y="617996"/>
                </a:cubicBezTo>
                <a:lnTo>
                  <a:pt x="10895990" y="619144"/>
                </a:lnTo>
                <a:cubicBezTo>
                  <a:pt x="11254840" y="678542"/>
                  <a:pt x="11535879" y="959319"/>
                  <a:pt x="11586156" y="1312185"/>
                </a:cubicBezTo>
                <a:cubicBezTo>
                  <a:pt x="11586323" y="1312238"/>
                  <a:pt x="11586492" y="1312243"/>
                  <a:pt x="11586661" y="1312248"/>
                </a:cubicBezTo>
                <a:lnTo>
                  <a:pt x="11587201" y="1318938"/>
                </a:lnTo>
                <a:cubicBezTo>
                  <a:pt x="11592258" y="1349182"/>
                  <a:pt x="11594708" y="1380067"/>
                  <a:pt x="11594665" y="1411395"/>
                </a:cubicBezTo>
                <a:cubicBezTo>
                  <a:pt x="11595977" y="1417025"/>
                  <a:pt x="11596036" y="1422694"/>
                  <a:pt x="11596036" y="1428376"/>
                </a:cubicBezTo>
                <a:cubicBezTo>
                  <a:pt x="11596036" y="1432198"/>
                  <a:pt x="11596009" y="1436014"/>
                  <a:pt x="11595443" y="1439816"/>
                </a:cubicBezTo>
                <a:lnTo>
                  <a:pt x="11594944" y="1439783"/>
                </a:lnTo>
                <a:lnTo>
                  <a:pt x="11594918" y="1440278"/>
                </a:lnTo>
                <a:lnTo>
                  <a:pt x="11577800" y="1438652"/>
                </a:lnTo>
                <a:cubicBezTo>
                  <a:pt x="11545425" y="1438125"/>
                  <a:pt x="11513545" y="1435144"/>
                  <a:pt x="11482373" y="1429590"/>
                </a:cubicBezTo>
                <a:cubicBezTo>
                  <a:pt x="11476796" y="1430009"/>
                  <a:pt x="11471467" y="1429061"/>
                  <a:pt x="11466156" y="1428050"/>
                </a:cubicBezTo>
                <a:lnTo>
                  <a:pt x="11466040" y="1426902"/>
                </a:lnTo>
                <a:cubicBezTo>
                  <a:pt x="11107189" y="1367503"/>
                  <a:pt x="10826150" y="1086726"/>
                  <a:pt x="10775875" y="733861"/>
                </a:cubicBezTo>
                <a:cubicBezTo>
                  <a:pt x="10775707" y="733808"/>
                  <a:pt x="10775539" y="733803"/>
                  <a:pt x="10775369" y="733798"/>
                </a:cubicBezTo>
                <a:lnTo>
                  <a:pt x="10774831" y="727122"/>
                </a:lnTo>
                <a:cubicBezTo>
                  <a:pt x="10769772" y="696872"/>
                  <a:pt x="10767321" y="665981"/>
                  <a:pt x="10767364" y="634646"/>
                </a:cubicBezTo>
                <a:cubicBezTo>
                  <a:pt x="10766052" y="629018"/>
                  <a:pt x="10765993" y="623351"/>
                  <a:pt x="10765993" y="617670"/>
                </a:cubicBezTo>
                <a:lnTo>
                  <a:pt x="10766587" y="606230"/>
                </a:lnTo>
                <a:lnTo>
                  <a:pt x="10767085" y="606263"/>
                </a:lnTo>
                <a:close/>
                <a:moveTo>
                  <a:pt x="10744358" y="605769"/>
                </a:moveTo>
                <a:lnTo>
                  <a:pt x="10744384" y="606263"/>
                </a:lnTo>
                <a:lnTo>
                  <a:pt x="10744882" y="606230"/>
                </a:lnTo>
                <a:lnTo>
                  <a:pt x="10745476" y="617670"/>
                </a:lnTo>
                <a:cubicBezTo>
                  <a:pt x="10745476" y="623351"/>
                  <a:pt x="10745417" y="629018"/>
                  <a:pt x="10744105" y="634646"/>
                </a:cubicBezTo>
                <a:cubicBezTo>
                  <a:pt x="10744148" y="665981"/>
                  <a:pt x="10741697" y="696872"/>
                  <a:pt x="10736638" y="727122"/>
                </a:cubicBezTo>
                <a:lnTo>
                  <a:pt x="10736100" y="733798"/>
                </a:lnTo>
                <a:cubicBezTo>
                  <a:pt x="10735930" y="733803"/>
                  <a:pt x="10735762" y="733808"/>
                  <a:pt x="10735594" y="733861"/>
                </a:cubicBezTo>
                <a:cubicBezTo>
                  <a:pt x="10685319" y="1086726"/>
                  <a:pt x="10404280" y="1367503"/>
                  <a:pt x="10045429" y="1426902"/>
                </a:cubicBezTo>
                <a:lnTo>
                  <a:pt x="10045313" y="1428050"/>
                </a:lnTo>
                <a:cubicBezTo>
                  <a:pt x="10040002" y="1429061"/>
                  <a:pt x="10034673" y="1430009"/>
                  <a:pt x="10029096" y="1429590"/>
                </a:cubicBezTo>
                <a:cubicBezTo>
                  <a:pt x="9997924" y="1435144"/>
                  <a:pt x="9966044" y="1438125"/>
                  <a:pt x="9933669" y="1438652"/>
                </a:cubicBezTo>
                <a:lnTo>
                  <a:pt x="9916551" y="1440278"/>
                </a:lnTo>
                <a:lnTo>
                  <a:pt x="9916525" y="1439783"/>
                </a:lnTo>
                <a:lnTo>
                  <a:pt x="9916026" y="1439816"/>
                </a:lnTo>
                <a:cubicBezTo>
                  <a:pt x="9915460" y="1436014"/>
                  <a:pt x="9915433" y="1432198"/>
                  <a:pt x="9915433" y="1428376"/>
                </a:cubicBezTo>
                <a:cubicBezTo>
                  <a:pt x="9915433" y="1422694"/>
                  <a:pt x="9915492" y="1417025"/>
                  <a:pt x="9916804" y="1411395"/>
                </a:cubicBezTo>
                <a:cubicBezTo>
                  <a:pt x="9916761" y="1380067"/>
                  <a:pt x="9919211" y="1349182"/>
                  <a:pt x="9924268" y="1318938"/>
                </a:cubicBezTo>
                <a:lnTo>
                  <a:pt x="9924808" y="1312248"/>
                </a:lnTo>
                <a:cubicBezTo>
                  <a:pt x="9924977" y="1312243"/>
                  <a:pt x="9925146" y="1312238"/>
                  <a:pt x="9925314" y="1312185"/>
                </a:cubicBezTo>
                <a:cubicBezTo>
                  <a:pt x="9975590" y="959319"/>
                  <a:pt x="10256629" y="678542"/>
                  <a:pt x="10615479" y="619144"/>
                </a:cubicBezTo>
                <a:lnTo>
                  <a:pt x="10615596" y="617996"/>
                </a:lnTo>
                <a:cubicBezTo>
                  <a:pt x="10620905" y="616986"/>
                  <a:pt x="10626233" y="616038"/>
                  <a:pt x="10631809" y="616457"/>
                </a:cubicBezTo>
                <a:cubicBezTo>
                  <a:pt x="10662992" y="610900"/>
                  <a:pt x="10694885" y="607919"/>
                  <a:pt x="10727271" y="607392"/>
                </a:cubicBezTo>
                <a:close/>
                <a:moveTo>
                  <a:pt x="9074958" y="605769"/>
                </a:moveTo>
                <a:lnTo>
                  <a:pt x="9092045" y="607392"/>
                </a:lnTo>
                <a:cubicBezTo>
                  <a:pt x="9124431" y="607919"/>
                  <a:pt x="9156324" y="610900"/>
                  <a:pt x="9187507" y="616457"/>
                </a:cubicBezTo>
                <a:cubicBezTo>
                  <a:pt x="9193083" y="616038"/>
                  <a:pt x="9198411" y="616986"/>
                  <a:pt x="9203720" y="617996"/>
                </a:cubicBezTo>
                <a:lnTo>
                  <a:pt x="9203837" y="619144"/>
                </a:lnTo>
                <a:cubicBezTo>
                  <a:pt x="9562687" y="678542"/>
                  <a:pt x="9843726" y="959319"/>
                  <a:pt x="9894002" y="1312185"/>
                </a:cubicBezTo>
                <a:cubicBezTo>
                  <a:pt x="9894170" y="1312238"/>
                  <a:pt x="9894339" y="1312243"/>
                  <a:pt x="9894508" y="1312248"/>
                </a:cubicBezTo>
                <a:lnTo>
                  <a:pt x="9895048" y="1318938"/>
                </a:lnTo>
                <a:cubicBezTo>
                  <a:pt x="9900105" y="1349182"/>
                  <a:pt x="9902555" y="1380067"/>
                  <a:pt x="9902512" y="1411395"/>
                </a:cubicBezTo>
                <a:cubicBezTo>
                  <a:pt x="9903824" y="1417025"/>
                  <a:pt x="9903883" y="1422694"/>
                  <a:pt x="9903883" y="1428376"/>
                </a:cubicBezTo>
                <a:cubicBezTo>
                  <a:pt x="9903883" y="1432198"/>
                  <a:pt x="9903856" y="1436014"/>
                  <a:pt x="9903290" y="1439816"/>
                </a:cubicBezTo>
                <a:lnTo>
                  <a:pt x="9902791" y="1439783"/>
                </a:lnTo>
                <a:lnTo>
                  <a:pt x="9902765" y="1440278"/>
                </a:lnTo>
                <a:lnTo>
                  <a:pt x="9885647" y="1438652"/>
                </a:lnTo>
                <a:cubicBezTo>
                  <a:pt x="9853272" y="1438125"/>
                  <a:pt x="9821392" y="1435144"/>
                  <a:pt x="9790220" y="1429590"/>
                </a:cubicBezTo>
                <a:cubicBezTo>
                  <a:pt x="9784643" y="1430009"/>
                  <a:pt x="9779314" y="1429061"/>
                  <a:pt x="9774003" y="1428050"/>
                </a:cubicBezTo>
                <a:lnTo>
                  <a:pt x="9773887" y="1426902"/>
                </a:lnTo>
                <a:cubicBezTo>
                  <a:pt x="9415036" y="1367503"/>
                  <a:pt x="9133997" y="1086726"/>
                  <a:pt x="9083722" y="733861"/>
                </a:cubicBezTo>
                <a:cubicBezTo>
                  <a:pt x="9083554" y="733808"/>
                  <a:pt x="9083386" y="733803"/>
                  <a:pt x="9083216" y="733798"/>
                </a:cubicBezTo>
                <a:lnTo>
                  <a:pt x="9082678" y="727122"/>
                </a:lnTo>
                <a:cubicBezTo>
                  <a:pt x="9077619" y="696872"/>
                  <a:pt x="9075168" y="665981"/>
                  <a:pt x="9075211" y="634646"/>
                </a:cubicBezTo>
                <a:cubicBezTo>
                  <a:pt x="9073899" y="629018"/>
                  <a:pt x="9073840" y="623351"/>
                  <a:pt x="9073840" y="617670"/>
                </a:cubicBezTo>
                <a:lnTo>
                  <a:pt x="9074434" y="606230"/>
                </a:lnTo>
                <a:lnTo>
                  <a:pt x="9074932" y="606263"/>
                </a:lnTo>
                <a:close/>
                <a:moveTo>
                  <a:pt x="9052207" y="605769"/>
                </a:moveTo>
                <a:lnTo>
                  <a:pt x="9052233" y="606263"/>
                </a:lnTo>
                <a:lnTo>
                  <a:pt x="9052731" y="606230"/>
                </a:lnTo>
                <a:lnTo>
                  <a:pt x="9053325" y="617670"/>
                </a:lnTo>
                <a:cubicBezTo>
                  <a:pt x="9053325" y="623351"/>
                  <a:pt x="9053266" y="629018"/>
                  <a:pt x="9051954" y="634646"/>
                </a:cubicBezTo>
                <a:cubicBezTo>
                  <a:pt x="9051997" y="665981"/>
                  <a:pt x="9049546" y="696872"/>
                  <a:pt x="9044487" y="727122"/>
                </a:cubicBezTo>
                <a:lnTo>
                  <a:pt x="9043949" y="733798"/>
                </a:lnTo>
                <a:cubicBezTo>
                  <a:pt x="9043779" y="733803"/>
                  <a:pt x="9043611" y="733808"/>
                  <a:pt x="9043443" y="733861"/>
                </a:cubicBezTo>
                <a:cubicBezTo>
                  <a:pt x="8993168" y="1086726"/>
                  <a:pt x="8712129" y="1367503"/>
                  <a:pt x="8353278" y="1426902"/>
                </a:cubicBezTo>
                <a:lnTo>
                  <a:pt x="8353162" y="1428050"/>
                </a:lnTo>
                <a:cubicBezTo>
                  <a:pt x="8347851" y="1429061"/>
                  <a:pt x="8342522" y="1430009"/>
                  <a:pt x="8336945" y="1429590"/>
                </a:cubicBezTo>
                <a:cubicBezTo>
                  <a:pt x="8305773" y="1435144"/>
                  <a:pt x="8273893" y="1438125"/>
                  <a:pt x="8241519" y="1438652"/>
                </a:cubicBezTo>
                <a:lnTo>
                  <a:pt x="8224400" y="1440278"/>
                </a:lnTo>
                <a:lnTo>
                  <a:pt x="8224374" y="1439783"/>
                </a:lnTo>
                <a:lnTo>
                  <a:pt x="8223875" y="1439816"/>
                </a:lnTo>
                <a:cubicBezTo>
                  <a:pt x="8223309" y="1436014"/>
                  <a:pt x="8223282" y="1432198"/>
                  <a:pt x="8223282" y="1428376"/>
                </a:cubicBezTo>
                <a:cubicBezTo>
                  <a:pt x="8223282" y="1422694"/>
                  <a:pt x="8223341" y="1417025"/>
                  <a:pt x="8224653" y="1411395"/>
                </a:cubicBezTo>
                <a:cubicBezTo>
                  <a:pt x="8224611" y="1380067"/>
                  <a:pt x="8227060" y="1349182"/>
                  <a:pt x="8232117" y="1318938"/>
                </a:cubicBezTo>
                <a:lnTo>
                  <a:pt x="8232657" y="1312248"/>
                </a:lnTo>
                <a:cubicBezTo>
                  <a:pt x="8232826" y="1312243"/>
                  <a:pt x="8232995" y="1312238"/>
                  <a:pt x="8233163" y="1312185"/>
                </a:cubicBezTo>
                <a:cubicBezTo>
                  <a:pt x="8283439" y="959319"/>
                  <a:pt x="8564478" y="678542"/>
                  <a:pt x="8923328" y="619144"/>
                </a:cubicBezTo>
                <a:lnTo>
                  <a:pt x="8923445" y="617996"/>
                </a:lnTo>
                <a:cubicBezTo>
                  <a:pt x="8928754" y="616986"/>
                  <a:pt x="8934082" y="616038"/>
                  <a:pt x="8939658" y="616457"/>
                </a:cubicBezTo>
                <a:cubicBezTo>
                  <a:pt x="8970841" y="610900"/>
                  <a:pt x="9002734" y="607919"/>
                  <a:pt x="9035120" y="607392"/>
                </a:cubicBezTo>
                <a:close/>
                <a:moveTo>
                  <a:pt x="7382807" y="605769"/>
                </a:moveTo>
                <a:lnTo>
                  <a:pt x="7399895" y="607392"/>
                </a:lnTo>
                <a:cubicBezTo>
                  <a:pt x="7432280" y="607919"/>
                  <a:pt x="7464173" y="610900"/>
                  <a:pt x="7495356" y="616457"/>
                </a:cubicBezTo>
                <a:cubicBezTo>
                  <a:pt x="7500932" y="616038"/>
                  <a:pt x="7506260" y="616986"/>
                  <a:pt x="7511569" y="617996"/>
                </a:cubicBezTo>
                <a:lnTo>
                  <a:pt x="7511686" y="619144"/>
                </a:lnTo>
                <a:cubicBezTo>
                  <a:pt x="7870536" y="678542"/>
                  <a:pt x="8151575" y="959319"/>
                  <a:pt x="8201852" y="1312185"/>
                </a:cubicBezTo>
                <a:cubicBezTo>
                  <a:pt x="8202019" y="1312238"/>
                  <a:pt x="8202189" y="1312243"/>
                  <a:pt x="8202357" y="1312248"/>
                </a:cubicBezTo>
                <a:lnTo>
                  <a:pt x="8202898" y="1318938"/>
                </a:lnTo>
                <a:cubicBezTo>
                  <a:pt x="8207954" y="1349182"/>
                  <a:pt x="8210404" y="1380067"/>
                  <a:pt x="8210362" y="1411395"/>
                </a:cubicBezTo>
                <a:cubicBezTo>
                  <a:pt x="8211674" y="1417025"/>
                  <a:pt x="8211732" y="1422694"/>
                  <a:pt x="8211732" y="1428376"/>
                </a:cubicBezTo>
                <a:cubicBezTo>
                  <a:pt x="8211732" y="1432198"/>
                  <a:pt x="8211705" y="1436014"/>
                  <a:pt x="8211139" y="1439816"/>
                </a:cubicBezTo>
                <a:lnTo>
                  <a:pt x="8210640" y="1439783"/>
                </a:lnTo>
                <a:lnTo>
                  <a:pt x="8210614" y="1440278"/>
                </a:lnTo>
                <a:lnTo>
                  <a:pt x="8193496" y="1438652"/>
                </a:lnTo>
                <a:cubicBezTo>
                  <a:pt x="8161122" y="1438125"/>
                  <a:pt x="8129241" y="1435144"/>
                  <a:pt x="8098069" y="1429590"/>
                </a:cubicBezTo>
                <a:cubicBezTo>
                  <a:pt x="8092492" y="1430009"/>
                  <a:pt x="8087163" y="1429061"/>
                  <a:pt x="8081853" y="1428050"/>
                </a:cubicBezTo>
                <a:lnTo>
                  <a:pt x="8081737" y="1426902"/>
                </a:lnTo>
                <a:cubicBezTo>
                  <a:pt x="7722885" y="1367503"/>
                  <a:pt x="7441846" y="1086726"/>
                  <a:pt x="7391571" y="733861"/>
                </a:cubicBezTo>
                <a:cubicBezTo>
                  <a:pt x="7391403" y="733808"/>
                  <a:pt x="7391235" y="733803"/>
                  <a:pt x="7391065" y="733798"/>
                </a:cubicBezTo>
                <a:lnTo>
                  <a:pt x="7390527" y="727122"/>
                </a:lnTo>
                <a:cubicBezTo>
                  <a:pt x="7385468" y="696872"/>
                  <a:pt x="7383018" y="665981"/>
                  <a:pt x="7383060" y="634646"/>
                </a:cubicBezTo>
                <a:cubicBezTo>
                  <a:pt x="7381748" y="629018"/>
                  <a:pt x="7381689" y="623351"/>
                  <a:pt x="7381689" y="617670"/>
                </a:cubicBezTo>
                <a:lnTo>
                  <a:pt x="7382283" y="606230"/>
                </a:lnTo>
                <a:lnTo>
                  <a:pt x="7382781" y="606263"/>
                </a:lnTo>
                <a:close/>
                <a:moveTo>
                  <a:pt x="5690656" y="605769"/>
                </a:moveTo>
                <a:lnTo>
                  <a:pt x="5707743" y="607392"/>
                </a:lnTo>
                <a:cubicBezTo>
                  <a:pt x="5740129" y="607919"/>
                  <a:pt x="5772021" y="610900"/>
                  <a:pt x="5803205" y="616457"/>
                </a:cubicBezTo>
                <a:cubicBezTo>
                  <a:pt x="5808781" y="616038"/>
                  <a:pt x="5814109" y="616986"/>
                  <a:pt x="5819417" y="617996"/>
                </a:cubicBezTo>
                <a:lnTo>
                  <a:pt x="5819534" y="619144"/>
                </a:lnTo>
                <a:cubicBezTo>
                  <a:pt x="6178385" y="678542"/>
                  <a:pt x="6459424" y="959319"/>
                  <a:pt x="6509700" y="1312185"/>
                </a:cubicBezTo>
                <a:cubicBezTo>
                  <a:pt x="6509868" y="1312238"/>
                  <a:pt x="6510037" y="1312243"/>
                  <a:pt x="6510206" y="1312248"/>
                </a:cubicBezTo>
                <a:lnTo>
                  <a:pt x="6510746" y="1318938"/>
                </a:lnTo>
                <a:cubicBezTo>
                  <a:pt x="6515803" y="1349182"/>
                  <a:pt x="6518252" y="1380067"/>
                  <a:pt x="6518210" y="1411395"/>
                </a:cubicBezTo>
                <a:cubicBezTo>
                  <a:pt x="6519522" y="1417025"/>
                  <a:pt x="6519581" y="1422694"/>
                  <a:pt x="6519581" y="1428376"/>
                </a:cubicBezTo>
                <a:cubicBezTo>
                  <a:pt x="6519581" y="1432198"/>
                  <a:pt x="6519554" y="1436014"/>
                  <a:pt x="6518988" y="1439816"/>
                </a:cubicBezTo>
                <a:lnTo>
                  <a:pt x="6518489" y="1439783"/>
                </a:lnTo>
                <a:lnTo>
                  <a:pt x="6518463" y="1440278"/>
                </a:lnTo>
                <a:lnTo>
                  <a:pt x="6501344" y="1438652"/>
                </a:lnTo>
                <a:cubicBezTo>
                  <a:pt x="6468970" y="1438125"/>
                  <a:pt x="6437090" y="1435144"/>
                  <a:pt x="6405918" y="1429590"/>
                </a:cubicBezTo>
                <a:cubicBezTo>
                  <a:pt x="6400341" y="1430009"/>
                  <a:pt x="6395012" y="1429061"/>
                  <a:pt x="6389701" y="1428050"/>
                </a:cubicBezTo>
                <a:lnTo>
                  <a:pt x="6389585" y="1426902"/>
                </a:lnTo>
                <a:cubicBezTo>
                  <a:pt x="6030734" y="1367503"/>
                  <a:pt x="5749695" y="1086726"/>
                  <a:pt x="5699419" y="733861"/>
                </a:cubicBezTo>
                <a:cubicBezTo>
                  <a:pt x="5699252" y="733808"/>
                  <a:pt x="5699083" y="733803"/>
                  <a:pt x="5698914" y="733798"/>
                </a:cubicBezTo>
                <a:lnTo>
                  <a:pt x="5698375" y="727122"/>
                </a:lnTo>
                <a:cubicBezTo>
                  <a:pt x="5693317" y="696872"/>
                  <a:pt x="5690866" y="665981"/>
                  <a:pt x="5690908" y="634646"/>
                </a:cubicBezTo>
                <a:cubicBezTo>
                  <a:pt x="5689596" y="629018"/>
                  <a:pt x="5689538" y="623351"/>
                  <a:pt x="5689538" y="617670"/>
                </a:cubicBezTo>
                <a:lnTo>
                  <a:pt x="5690132" y="606230"/>
                </a:lnTo>
                <a:lnTo>
                  <a:pt x="5690630" y="606263"/>
                </a:lnTo>
                <a:close/>
                <a:moveTo>
                  <a:pt x="5667905" y="605769"/>
                </a:moveTo>
                <a:lnTo>
                  <a:pt x="5667931" y="606263"/>
                </a:lnTo>
                <a:lnTo>
                  <a:pt x="5668429" y="606230"/>
                </a:lnTo>
                <a:lnTo>
                  <a:pt x="5669023" y="617670"/>
                </a:lnTo>
                <a:cubicBezTo>
                  <a:pt x="5669023" y="623351"/>
                  <a:pt x="5668964" y="629018"/>
                  <a:pt x="5667652" y="634646"/>
                </a:cubicBezTo>
                <a:cubicBezTo>
                  <a:pt x="5667694" y="665981"/>
                  <a:pt x="5665244" y="696872"/>
                  <a:pt x="5660185" y="727122"/>
                </a:cubicBezTo>
                <a:lnTo>
                  <a:pt x="5659647" y="733798"/>
                </a:lnTo>
                <a:cubicBezTo>
                  <a:pt x="5659477" y="733803"/>
                  <a:pt x="5659309" y="733808"/>
                  <a:pt x="5659141" y="733861"/>
                </a:cubicBezTo>
                <a:cubicBezTo>
                  <a:pt x="5608866" y="1086726"/>
                  <a:pt x="5327827" y="1367503"/>
                  <a:pt x="4968975" y="1426902"/>
                </a:cubicBezTo>
                <a:lnTo>
                  <a:pt x="4968859" y="1428050"/>
                </a:lnTo>
                <a:cubicBezTo>
                  <a:pt x="4963549" y="1429061"/>
                  <a:pt x="4958220" y="1430009"/>
                  <a:pt x="4952643" y="1429590"/>
                </a:cubicBezTo>
                <a:cubicBezTo>
                  <a:pt x="4921471" y="1435144"/>
                  <a:pt x="4889590" y="1438125"/>
                  <a:pt x="4857216" y="1438652"/>
                </a:cubicBezTo>
                <a:lnTo>
                  <a:pt x="4840098" y="1440278"/>
                </a:lnTo>
                <a:lnTo>
                  <a:pt x="4840072" y="1439783"/>
                </a:lnTo>
                <a:lnTo>
                  <a:pt x="4839573" y="1439816"/>
                </a:lnTo>
                <a:cubicBezTo>
                  <a:pt x="4839007" y="1436014"/>
                  <a:pt x="4838980" y="1432198"/>
                  <a:pt x="4838980" y="1428376"/>
                </a:cubicBezTo>
                <a:cubicBezTo>
                  <a:pt x="4838980" y="1422694"/>
                  <a:pt x="4839038" y="1417025"/>
                  <a:pt x="4840350" y="1411395"/>
                </a:cubicBezTo>
                <a:cubicBezTo>
                  <a:pt x="4840308" y="1380067"/>
                  <a:pt x="4842758" y="1349182"/>
                  <a:pt x="4847814" y="1318938"/>
                </a:cubicBezTo>
                <a:lnTo>
                  <a:pt x="4848355" y="1312248"/>
                </a:lnTo>
                <a:cubicBezTo>
                  <a:pt x="4848523" y="1312243"/>
                  <a:pt x="4848693" y="1312238"/>
                  <a:pt x="4848860" y="1312185"/>
                </a:cubicBezTo>
                <a:cubicBezTo>
                  <a:pt x="4899137" y="959319"/>
                  <a:pt x="5180176" y="678542"/>
                  <a:pt x="5539026" y="619144"/>
                </a:cubicBezTo>
                <a:lnTo>
                  <a:pt x="5539143" y="617996"/>
                </a:lnTo>
                <a:cubicBezTo>
                  <a:pt x="5544452" y="616986"/>
                  <a:pt x="5549780" y="616038"/>
                  <a:pt x="5555356" y="616457"/>
                </a:cubicBezTo>
                <a:cubicBezTo>
                  <a:pt x="5586539" y="610900"/>
                  <a:pt x="5618432" y="607919"/>
                  <a:pt x="5650817" y="607392"/>
                </a:cubicBezTo>
                <a:close/>
                <a:moveTo>
                  <a:pt x="3998505" y="605769"/>
                </a:moveTo>
                <a:lnTo>
                  <a:pt x="4015592" y="607392"/>
                </a:lnTo>
                <a:cubicBezTo>
                  <a:pt x="4047978" y="607919"/>
                  <a:pt x="4079870" y="610900"/>
                  <a:pt x="4111054" y="616457"/>
                </a:cubicBezTo>
                <a:cubicBezTo>
                  <a:pt x="4116630" y="616038"/>
                  <a:pt x="4121958" y="616986"/>
                  <a:pt x="4127266" y="617996"/>
                </a:cubicBezTo>
                <a:lnTo>
                  <a:pt x="4127384" y="619144"/>
                </a:lnTo>
                <a:cubicBezTo>
                  <a:pt x="4486234" y="678542"/>
                  <a:pt x="4767273" y="959319"/>
                  <a:pt x="4817549" y="1312185"/>
                </a:cubicBezTo>
                <a:cubicBezTo>
                  <a:pt x="4817717" y="1312238"/>
                  <a:pt x="4817886" y="1312243"/>
                  <a:pt x="4818055" y="1312248"/>
                </a:cubicBezTo>
                <a:lnTo>
                  <a:pt x="4818595" y="1318938"/>
                </a:lnTo>
                <a:cubicBezTo>
                  <a:pt x="4823652" y="1349182"/>
                  <a:pt x="4826101" y="1380067"/>
                  <a:pt x="4826059" y="1411395"/>
                </a:cubicBezTo>
                <a:cubicBezTo>
                  <a:pt x="4827371" y="1417025"/>
                  <a:pt x="4827430" y="1422694"/>
                  <a:pt x="4827430" y="1428376"/>
                </a:cubicBezTo>
                <a:cubicBezTo>
                  <a:pt x="4827430" y="1432198"/>
                  <a:pt x="4827403" y="1436014"/>
                  <a:pt x="4826837" y="1439816"/>
                </a:cubicBezTo>
                <a:lnTo>
                  <a:pt x="4826338" y="1439783"/>
                </a:lnTo>
                <a:lnTo>
                  <a:pt x="4826312" y="1440278"/>
                </a:lnTo>
                <a:lnTo>
                  <a:pt x="4809193" y="1438652"/>
                </a:lnTo>
                <a:cubicBezTo>
                  <a:pt x="4776819" y="1438125"/>
                  <a:pt x="4744939" y="1435144"/>
                  <a:pt x="4713767" y="1429590"/>
                </a:cubicBezTo>
                <a:cubicBezTo>
                  <a:pt x="4708190" y="1430009"/>
                  <a:pt x="4702861" y="1429061"/>
                  <a:pt x="4697550" y="1428050"/>
                </a:cubicBezTo>
                <a:lnTo>
                  <a:pt x="4697434" y="1426902"/>
                </a:lnTo>
                <a:cubicBezTo>
                  <a:pt x="4338583" y="1367503"/>
                  <a:pt x="4057544" y="1086726"/>
                  <a:pt x="4007268" y="733861"/>
                </a:cubicBezTo>
                <a:cubicBezTo>
                  <a:pt x="4007101" y="733808"/>
                  <a:pt x="4006932" y="733803"/>
                  <a:pt x="4006763" y="733798"/>
                </a:cubicBezTo>
                <a:lnTo>
                  <a:pt x="4006225" y="727122"/>
                </a:lnTo>
                <a:cubicBezTo>
                  <a:pt x="4001166" y="696872"/>
                  <a:pt x="3998715" y="665981"/>
                  <a:pt x="3998757" y="634646"/>
                </a:cubicBezTo>
                <a:cubicBezTo>
                  <a:pt x="3997445" y="629018"/>
                  <a:pt x="3997387" y="623351"/>
                  <a:pt x="3997387" y="617670"/>
                </a:cubicBezTo>
                <a:lnTo>
                  <a:pt x="3997981" y="606230"/>
                </a:lnTo>
                <a:lnTo>
                  <a:pt x="3998479" y="606263"/>
                </a:lnTo>
                <a:close/>
                <a:moveTo>
                  <a:pt x="3975754" y="605769"/>
                </a:moveTo>
                <a:lnTo>
                  <a:pt x="3975780" y="606263"/>
                </a:lnTo>
                <a:lnTo>
                  <a:pt x="3976278" y="606230"/>
                </a:lnTo>
                <a:lnTo>
                  <a:pt x="3976872" y="617670"/>
                </a:lnTo>
                <a:cubicBezTo>
                  <a:pt x="3976872" y="623351"/>
                  <a:pt x="3976813" y="629018"/>
                  <a:pt x="3975501" y="634646"/>
                </a:cubicBezTo>
                <a:cubicBezTo>
                  <a:pt x="3975543" y="665981"/>
                  <a:pt x="3973093" y="696872"/>
                  <a:pt x="3968034" y="727122"/>
                </a:cubicBezTo>
                <a:lnTo>
                  <a:pt x="3967496" y="733798"/>
                </a:lnTo>
                <a:cubicBezTo>
                  <a:pt x="3967326" y="733803"/>
                  <a:pt x="3967158" y="733808"/>
                  <a:pt x="3966990" y="733861"/>
                </a:cubicBezTo>
                <a:cubicBezTo>
                  <a:pt x="3916715" y="1086726"/>
                  <a:pt x="3635676" y="1367503"/>
                  <a:pt x="3276825" y="1426902"/>
                </a:cubicBezTo>
                <a:lnTo>
                  <a:pt x="3276708" y="1428050"/>
                </a:lnTo>
                <a:cubicBezTo>
                  <a:pt x="3271398" y="1429061"/>
                  <a:pt x="3266069" y="1430009"/>
                  <a:pt x="3260492" y="1429590"/>
                </a:cubicBezTo>
                <a:cubicBezTo>
                  <a:pt x="3229320" y="1435144"/>
                  <a:pt x="3197440" y="1438125"/>
                  <a:pt x="3165065" y="1438652"/>
                </a:cubicBezTo>
                <a:lnTo>
                  <a:pt x="3147947" y="1440278"/>
                </a:lnTo>
                <a:lnTo>
                  <a:pt x="3147921" y="1439783"/>
                </a:lnTo>
                <a:lnTo>
                  <a:pt x="3147422" y="1439816"/>
                </a:lnTo>
                <a:cubicBezTo>
                  <a:pt x="3146856" y="1436014"/>
                  <a:pt x="3146829" y="1432198"/>
                  <a:pt x="3146829" y="1428376"/>
                </a:cubicBezTo>
                <a:cubicBezTo>
                  <a:pt x="3146829" y="1422694"/>
                  <a:pt x="3146887" y="1417025"/>
                  <a:pt x="3148199" y="1411395"/>
                </a:cubicBezTo>
                <a:cubicBezTo>
                  <a:pt x="3148157" y="1380067"/>
                  <a:pt x="3150607" y="1349182"/>
                  <a:pt x="3155663" y="1318938"/>
                </a:cubicBezTo>
                <a:lnTo>
                  <a:pt x="3156204" y="1312248"/>
                </a:lnTo>
                <a:cubicBezTo>
                  <a:pt x="3156372" y="1312243"/>
                  <a:pt x="3156542" y="1312238"/>
                  <a:pt x="3156709" y="1312185"/>
                </a:cubicBezTo>
                <a:cubicBezTo>
                  <a:pt x="3206986" y="959319"/>
                  <a:pt x="3488025" y="678542"/>
                  <a:pt x="3846875" y="619144"/>
                </a:cubicBezTo>
                <a:lnTo>
                  <a:pt x="3846992" y="617996"/>
                </a:lnTo>
                <a:cubicBezTo>
                  <a:pt x="3852301" y="616986"/>
                  <a:pt x="3857629" y="616038"/>
                  <a:pt x="3863205" y="616457"/>
                </a:cubicBezTo>
                <a:cubicBezTo>
                  <a:pt x="3894388" y="610900"/>
                  <a:pt x="3926281" y="607919"/>
                  <a:pt x="3958666" y="607392"/>
                </a:cubicBezTo>
                <a:close/>
                <a:moveTo>
                  <a:pt x="2306354" y="605769"/>
                </a:moveTo>
                <a:lnTo>
                  <a:pt x="2323441" y="607392"/>
                </a:lnTo>
                <a:cubicBezTo>
                  <a:pt x="2355827" y="607919"/>
                  <a:pt x="2387719" y="610900"/>
                  <a:pt x="2418903" y="616457"/>
                </a:cubicBezTo>
                <a:cubicBezTo>
                  <a:pt x="2424479" y="616038"/>
                  <a:pt x="2429807" y="616986"/>
                  <a:pt x="2435115" y="617996"/>
                </a:cubicBezTo>
                <a:lnTo>
                  <a:pt x="2435233" y="619144"/>
                </a:lnTo>
                <a:cubicBezTo>
                  <a:pt x="2794083" y="678542"/>
                  <a:pt x="3075122" y="959319"/>
                  <a:pt x="3125398" y="1312185"/>
                </a:cubicBezTo>
                <a:cubicBezTo>
                  <a:pt x="3125566" y="1312238"/>
                  <a:pt x="3125735" y="1312243"/>
                  <a:pt x="3125904" y="1312248"/>
                </a:cubicBezTo>
                <a:lnTo>
                  <a:pt x="3126444" y="1318938"/>
                </a:lnTo>
                <a:cubicBezTo>
                  <a:pt x="3131501" y="1349182"/>
                  <a:pt x="3133950" y="1380067"/>
                  <a:pt x="3133908" y="1411395"/>
                </a:cubicBezTo>
                <a:cubicBezTo>
                  <a:pt x="3135220" y="1417025"/>
                  <a:pt x="3135279" y="1422694"/>
                  <a:pt x="3135279" y="1428376"/>
                </a:cubicBezTo>
                <a:cubicBezTo>
                  <a:pt x="3135279" y="1432198"/>
                  <a:pt x="3135252" y="1436014"/>
                  <a:pt x="3134686" y="1439816"/>
                </a:cubicBezTo>
                <a:lnTo>
                  <a:pt x="3134187" y="1439783"/>
                </a:lnTo>
                <a:lnTo>
                  <a:pt x="3134161" y="1440278"/>
                </a:lnTo>
                <a:lnTo>
                  <a:pt x="3117042" y="1438652"/>
                </a:lnTo>
                <a:cubicBezTo>
                  <a:pt x="3084668" y="1438125"/>
                  <a:pt x="3052788" y="1435144"/>
                  <a:pt x="3021616" y="1429590"/>
                </a:cubicBezTo>
                <a:cubicBezTo>
                  <a:pt x="3016039" y="1430009"/>
                  <a:pt x="3010710" y="1429061"/>
                  <a:pt x="3005399" y="1428050"/>
                </a:cubicBezTo>
                <a:lnTo>
                  <a:pt x="3005283" y="1426902"/>
                </a:lnTo>
                <a:cubicBezTo>
                  <a:pt x="2646432" y="1367503"/>
                  <a:pt x="2365393" y="1086726"/>
                  <a:pt x="2315117" y="733861"/>
                </a:cubicBezTo>
                <a:cubicBezTo>
                  <a:pt x="2314950" y="733808"/>
                  <a:pt x="2314781" y="733803"/>
                  <a:pt x="2314612" y="733798"/>
                </a:cubicBezTo>
                <a:lnTo>
                  <a:pt x="2314074" y="727122"/>
                </a:lnTo>
                <a:cubicBezTo>
                  <a:pt x="2309015" y="696872"/>
                  <a:pt x="2306564" y="665981"/>
                  <a:pt x="2306606" y="634646"/>
                </a:cubicBezTo>
                <a:cubicBezTo>
                  <a:pt x="2305294" y="629018"/>
                  <a:pt x="2305236" y="623351"/>
                  <a:pt x="2305236" y="617670"/>
                </a:cubicBezTo>
                <a:lnTo>
                  <a:pt x="2305830" y="606230"/>
                </a:lnTo>
                <a:lnTo>
                  <a:pt x="2306328" y="606263"/>
                </a:lnTo>
                <a:close/>
                <a:moveTo>
                  <a:pt x="2283603" y="605769"/>
                </a:moveTo>
                <a:lnTo>
                  <a:pt x="2283629" y="606263"/>
                </a:lnTo>
                <a:lnTo>
                  <a:pt x="2284127" y="606230"/>
                </a:lnTo>
                <a:lnTo>
                  <a:pt x="2284721" y="617670"/>
                </a:lnTo>
                <a:cubicBezTo>
                  <a:pt x="2284721" y="623351"/>
                  <a:pt x="2284662" y="629018"/>
                  <a:pt x="2283350" y="634646"/>
                </a:cubicBezTo>
                <a:cubicBezTo>
                  <a:pt x="2283392" y="665981"/>
                  <a:pt x="2280942" y="696872"/>
                  <a:pt x="2275883" y="727122"/>
                </a:cubicBezTo>
                <a:lnTo>
                  <a:pt x="2275345" y="733798"/>
                </a:lnTo>
                <a:cubicBezTo>
                  <a:pt x="2275175" y="733803"/>
                  <a:pt x="2275007" y="733808"/>
                  <a:pt x="2274839" y="733861"/>
                </a:cubicBezTo>
                <a:cubicBezTo>
                  <a:pt x="2224564" y="1086726"/>
                  <a:pt x="1943525" y="1367503"/>
                  <a:pt x="1584673" y="1426902"/>
                </a:cubicBezTo>
                <a:lnTo>
                  <a:pt x="1584557" y="1428050"/>
                </a:lnTo>
                <a:cubicBezTo>
                  <a:pt x="1579247" y="1429061"/>
                  <a:pt x="1573918" y="1430009"/>
                  <a:pt x="1568341" y="1429590"/>
                </a:cubicBezTo>
                <a:cubicBezTo>
                  <a:pt x="1537169" y="1435144"/>
                  <a:pt x="1505289" y="1438125"/>
                  <a:pt x="1472914" y="1438652"/>
                </a:cubicBezTo>
                <a:lnTo>
                  <a:pt x="1455796" y="1440278"/>
                </a:lnTo>
                <a:lnTo>
                  <a:pt x="1455770" y="1439783"/>
                </a:lnTo>
                <a:lnTo>
                  <a:pt x="1455271" y="1439816"/>
                </a:lnTo>
                <a:cubicBezTo>
                  <a:pt x="1454705" y="1436014"/>
                  <a:pt x="1454678" y="1432198"/>
                  <a:pt x="1454678" y="1428376"/>
                </a:cubicBezTo>
                <a:cubicBezTo>
                  <a:pt x="1454678" y="1422694"/>
                  <a:pt x="1454736" y="1417025"/>
                  <a:pt x="1456048" y="1411395"/>
                </a:cubicBezTo>
                <a:cubicBezTo>
                  <a:pt x="1456006" y="1380067"/>
                  <a:pt x="1458456" y="1349182"/>
                  <a:pt x="1463513" y="1318938"/>
                </a:cubicBezTo>
                <a:lnTo>
                  <a:pt x="1464053" y="1312248"/>
                </a:lnTo>
                <a:cubicBezTo>
                  <a:pt x="1464221" y="1312243"/>
                  <a:pt x="1464391" y="1312238"/>
                  <a:pt x="1464558" y="1312185"/>
                </a:cubicBezTo>
                <a:cubicBezTo>
                  <a:pt x="1514835" y="959319"/>
                  <a:pt x="1795874" y="678542"/>
                  <a:pt x="2154724" y="619144"/>
                </a:cubicBezTo>
                <a:lnTo>
                  <a:pt x="2154841" y="617996"/>
                </a:lnTo>
                <a:cubicBezTo>
                  <a:pt x="2160150" y="616986"/>
                  <a:pt x="2165478" y="616038"/>
                  <a:pt x="2171054" y="616457"/>
                </a:cubicBezTo>
                <a:cubicBezTo>
                  <a:pt x="2202237" y="610900"/>
                  <a:pt x="2234130" y="607919"/>
                  <a:pt x="2266515" y="607392"/>
                </a:cubicBezTo>
                <a:close/>
                <a:moveTo>
                  <a:pt x="614203" y="605769"/>
                </a:moveTo>
                <a:lnTo>
                  <a:pt x="631290" y="607392"/>
                </a:lnTo>
                <a:cubicBezTo>
                  <a:pt x="663676" y="607919"/>
                  <a:pt x="695568" y="610900"/>
                  <a:pt x="726752" y="616457"/>
                </a:cubicBezTo>
                <a:cubicBezTo>
                  <a:pt x="732328" y="616038"/>
                  <a:pt x="737656" y="616986"/>
                  <a:pt x="742964" y="617996"/>
                </a:cubicBezTo>
                <a:lnTo>
                  <a:pt x="743081" y="619144"/>
                </a:lnTo>
                <a:cubicBezTo>
                  <a:pt x="1101932" y="678542"/>
                  <a:pt x="1382971" y="959319"/>
                  <a:pt x="1433247" y="1312185"/>
                </a:cubicBezTo>
                <a:cubicBezTo>
                  <a:pt x="1433415" y="1312238"/>
                  <a:pt x="1433584" y="1312243"/>
                  <a:pt x="1433753" y="1312248"/>
                </a:cubicBezTo>
                <a:lnTo>
                  <a:pt x="1434293" y="1318938"/>
                </a:lnTo>
                <a:cubicBezTo>
                  <a:pt x="1439350" y="1349182"/>
                  <a:pt x="1441799" y="1380067"/>
                  <a:pt x="1441757" y="1411395"/>
                </a:cubicBezTo>
                <a:cubicBezTo>
                  <a:pt x="1443069" y="1417025"/>
                  <a:pt x="1443128" y="1422694"/>
                  <a:pt x="1443128" y="1428376"/>
                </a:cubicBezTo>
                <a:cubicBezTo>
                  <a:pt x="1443128" y="1432198"/>
                  <a:pt x="1443101" y="1436014"/>
                  <a:pt x="1442535" y="1439816"/>
                </a:cubicBezTo>
                <a:lnTo>
                  <a:pt x="1442036" y="1439783"/>
                </a:lnTo>
                <a:lnTo>
                  <a:pt x="1442010" y="1440278"/>
                </a:lnTo>
                <a:lnTo>
                  <a:pt x="1424891" y="1438652"/>
                </a:lnTo>
                <a:cubicBezTo>
                  <a:pt x="1392517" y="1438125"/>
                  <a:pt x="1360637" y="1435144"/>
                  <a:pt x="1329465" y="1429590"/>
                </a:cubicBezTo>
                <a:cubicBezTo>
                  <a:pt x="1323888" y="1430009"/>
                  <a:pt x="1318559" y="1429061"/>
                  <a:pt x="1313248" y="1428050"/>
                </a:cubicBezTo>
                <a:lnTo>
                  <a:pt x="1313132" y="1426902"/>
                </a:lnTo>
                <a:cubicBezTo>
                  <a:pt x="954281" y="1367503"/>
                  <a:pt x="673242" y="1086726"/>
                  <a:pt x="622966" y="733861"/>
                </a:cubicBezTo>
                <a:cubicBezTo>
                  <a:pt x="622799" y="733808"/>
                  <a:pt x="622630" y="733803"/>
                  <a:pt x="622461" y="733798"/>
                </a:cubicBezTo>
                <a:lnTo>
                  <a:pt x="621923" y="727122"/>
                </a:lnTo>
                <a:cubicBezTo>
                  <a:pt x="616864" y="696872"/>
                  <a:pt x="614413" y="665981"/>
                  <a:pt x="614455" y="634646"/>
                </a:cubicBezTo>
                <a:cubicBezTo>
                  <a:pt x="613143" y="629018"/>
                  <a:pt x="613085" y="623351"/>
                  <a:pt x="613085" y="617670"/>
                </a:cubicBezTo>
                <a:lnTo>
                  <a:pt x="613679" y="606230"/>
                </a:lnTo>
                <a:lnTo>
                  <a:pt x="614177" y="606263"/>
                </a:lnTo>
                <a:close/>
                <a:moveTo>
                  <a:pt x="7360056" y="605769"/>
                </a:moveTo>
                <a:lnTo>
                  <a:pt x="7360082" y="606263"/>
                </a:lnTo>
                <a:lnTo>
                  <a:pt x="7360580" y="606230"/>
                </a:lnTo>
                <a:lnTo>
                  <a:pt x="7361174" y="617670"/>
                </a:lnTo>
                <a:cubicBezTo>
                  <a:pt x="7361174" y="623351"/>
                  <a:pt x="7361116" y="629018"/>
                  <a:pt x="7359804" y="634646"/>
                </a:cubicBezTo>
                <a:cubicBezTo>
                  <a:pt x="7359846" y="665981"/>
                  <a:pt x="7357395" y="696872"/>
                  <a:pt x="7352337" y="727122"/>
                </a:cubicBezTo>
                <a:lnTo>
                  <a:pt x="7351798" y="733798"/>
                </a:lnTo>
                <a:cubicBezTo>
                  <a:pt x="7351629" y="733803"/>
                  <a:pt x="7351460" y="733808"/>
                  <a:pt x="7351293" y="733861"/>
                </a:cubicBezTo>
                <a:cubicBezTo>
                  <a:pt x="7301017" y="1086726"/>
                  <a:pt x="7019978" y="1367503"/>
                  <a:pt x="6661127" y="1426902"/>
                </a:cubicBezTo>
                <a:lnTo>
                  <a:pt x="6661011" y="1428050"/>
                </a:lnTo>
                <a:cubicBezTo>
                  <a:pt x="6655700" y="1429061"/>
                  <a:pt x="6650371" y="1430009"/>
                  <a:pt x="6644794" y="1429590"/>
                </a:cubicBezTo>
                <a:cubicBezTo>
                  <a:pt x="6613622" y="1435144"/>
                  <a:pt x="6581742" y="1438125"/>
                  <a:pt x="6549368" y="1438652"/>
                </a:cubicBezTo>
                <a:lnTo>
                  <a:pt x="6532249" y="1440278"/>
                </a:lnTo>
                <a:lnTo>
                  <a:pt x="6532223" y="1439783"/>
                </a:lnTo>
                <a:lnTo>
                  <a:pt x="6531724" y="1439816"/>
                </a:lnTo>
                <a:cubicBezTo>
                  <a:pt x="6531158" y="1436014"/>
                  <a:pt x="6531131" y="1432198"/>
                  <a:pt x="6531131" y="1428376"/>
                </a:cubicBezTo>
                <a:cubicBezTo>
                  <a:pt x="6531131" y="1422694"/>
                  <a:pt x="6531190" y="1417025"/>
                  <a:pt x="6532502" y="1411395"/>
                </a:cubicBezTo>
                <a:cubicBezTo>
                  <a:pt x="6532460" y="1380067"/>
                  <a:pt x="6534909" y="1349182"/>
                  <a:pt x="6539966" y="1318938"/>
                </a:cubicBezTo>
                <a:lnTo>
                  <a:pt x="6540506" y="1312248"/>
                </a:lnTo>
                <a:cubicBezTo>
                  <a:pt x="6540675" y="1312243"/>
                  <a:pt x="6540844" y="1312238"/>
                  <a:pt x="6541012" y="1312185"/>
                </a:cubicBezTo>
                <a:cubicBezTo>
                  <a:pt x="6591288" y="959319"/>
                  <a:pt x="6872327" y="678542"/>
                  <a:pt x="7231178" y="619144"/>
                </a:cubicBezTo>
                <a:lnTo>
                  <a:pt x="7231295" y="617996"/>
                </a:lnTo>
                <a:cubicBezTo>
                  <a:pt x="7236603" y="616986"/>
                  <a:pt x="7241931" y="616038"/>
                  <a:pt x="7247507" y="616457"/>
                </a:cubicBezTo>
                <a:cubicBezTo>
                  <a:pt x="7278691" y="610900"/>
                  <a:pt x="7310583" y="607919"/>
                  <a:pt x="7342969" y="607392"/>
                </a:cubicBezTo>
                <a:close/>
                <a:moveTo>
                  <a:pt x="591452" y="605769"/>
                </a:moveTo>
                <a:lnTo>
                  <a:pt x="591478" y="606263"/>
                </a:lnTo>
                <a:lnTo>
                  <a:pt x="591976" y="606230"/>
                </a:lnTo>
                <a:lnTo>
                  <a:pt x="592570" y="617670"/>
                </a:lnTo>
                <a:cubicBezTo>
                  <a:pt x="592570" y="623351"/>
                  <a:pt x="592511" y="629018"/>
                  <a:pt x="591199" y="634646"/>
                </a:cubicBezTo>
                <a:cubicBezTo>
                  <a:pt x="591242" y="665981"/>
                  <a:pt x="588791" y="696872"/>
                  <a:pt x="583732" y="727122"/>
                </a:cubicBezTo>
                <a:lnTo>
                  <a:pt x="583194" y="733798"/>
                </a:lnTo>
                <a:cubicBezTo>
                  <a:pt x="583024" y="733803"/>
                  <a:pt x="582856" y="733808"/>
                  <a:pt x="582689" y="733861"/>
                </a:cubicBezTo>
                <a:cubicBezTo>
                  <a:pt x="537576" y="1050490"/>
                  <a:pt x="306662" y="1309076"/>
                  <a:pt x="0" y="1400276"/>
                </a:cubicBezTo>
                <a:lnTo>
                  <a:pt x="0" y="1267938"/>
                </a:lnTo>
                <a:cubicBezTo>
                  <a:pt x="229298" y="1185101"/>
                  <a:pt x="402181" y="989705"/>
                  <a:pt x="449203" y="750600"/>
                </a:cubicBezTo>
                <a:cubicBezTo>
                  <a:pt x="258971" y="791484"/>
                  <a:pt x="97576" y="906749"/>
                  <a:pt x="0" y="1064489"/>
                </a:cubicBezTo>
                <a:lnTo>
                  <a:pt x="0" y="857695"/>
                </a:lnTo>
                <a:cubicBezTo>
                  <a:pt x="121484" y="734788"/>
                  <a:pt x="282199" y="649000"/>
                  <a:pt x="462573" y="619144"/>
                </a:cubicBezTo>
                <a:lnTo>
                  <a:pt x="462690" y="617996"/>
                </a:lnTo>
                <a:cubicBezTo>
                  <a:pt x="467999" y="616986"/>
                  <a:pt x="473327" y="616038"/>
                  <a:pt x="478903" y="616457"/>
                </a:cubicBezTo>
                <a:cubicBezTo>
                  <a:pt x="510086" y="610900"/>
                  <a:pt x="541979" y="607919"/>
                  <a:pt x="574365" y="607392"/>
                </a:cubicBezTo>
                <a:close/>
                <a:moveTo>
                  <a:pt x="11969013" y="0"/>
                </a:moveTo>
                <a:lnTo>
                  <a:pt x="12180097" y="0"/>
                </a:lnTo>
                <a:cubicBezTo>
                  <a:pt x="12184579" y="2797"/>
                  <a:pt x="12188307" y="6390"/>
                  <a:pt x="12192000" y="10016"/>
                </a:cubicBezTo>
                <a:lnTo>
                  <a:pt x="12192000" y="210008"/>
                </a:lnTo>
                <a:cubicBezTo>
                  <a:pt x="12135666" y="124006"/>
                  <a:pt x="12059786" y="51396"/>
                  <a:pt x="11969013" y="0"/>
                </a:cubicBezTo>
                <a:close/>
                <a:moveTo>
                  <a:pt x="11640695" y="0"/>
                </a:moveTo>
                <a:lnTo>
                  <a:pt x="11775234" y="0"/>
                </a:lnTo>
                <a:cubicBezTo>
                  <a:pt x="11842228" y="193636"/>
                  <a:pt x="11995970" y="348667"/>
                  <a:pt x="12192000" y="421829"/>
                </a:cubicBezTo>
                <a:lnTo>
                  <a:pt x="12192000" y="553832"/>
                </a:lnTo>
                <a:cubicBezTo>
                  <a:pt x="11924422" y="471599"/>
                  <a:pt x="11715712" y="262771"/>
                  <a:pt x="11640695" y="0"/>
                </a:cubicBezTo>
                <a:close/>
                <a:moveTo>
                  <a:pt x="11023379" y="0"/>
                </a:moveTo>
                <a:lnTo>
                  <a:pt x="11232088" y="0"/>
                </a:lnTo>
                <a:cubicBezTo>
                  <a:pt x="11066618" y="98005"/>
                  <a:pt x="10947209" y="260867"/>
                  <a:pt x="10909358" y="451830"/>
                </a:cubicBezTo>
                <a:cubicBezTo>
                  <a:pt x="11153410" y="399791"/>
                  <a:pt x="11350000" y="226290"/>
                  <a:pt x="11427896" y="0"/>
                </a:cubicBezTo>
                <a:lnTo>
                  <a:pt x="11561912" y="0"/>
                </a:lnTo>
                <a:cubicBezTo>
                  <a:pt x="11477134" y="299826"/>
                  <a:pt x="11217862" y="529393"/>
                  <a:pt x="10895987" y="582253"/>
                </a:cubicBezTo>
                <a:lnTo>
                  <a:pt x="10895871" y="583392"/>
                </a:lnTo>
                <a:cubicBezTo>
                  <a:pt x="10890560" y="584395"/>
                  <a:pt x="10885231" y="585336"/>
                  <a:pt x="10879654" y="584920"/>
                </a:cubicBezTo>
                <a:cubicBezTo>
                  <a:pt x="10848482" y="590430"/>
                  <a:pt x="10816602" y="593388"/>
                  <a:pt x="10784227" y="593911"/>
                </a:cubicBezTo>
                <a:lnTo>
                  <a:pt x="10767109" y="595524"/>
                </a:lnTo>
                <a:lnTo>
                  <a:pt x="10767083" y="595033"/>
                </a:lnTo>
                <a:lnTo>
                  <a:pt x="10766584" y="595066"/>
                </a:lnTo>
                <a:cubicBezTo>
                  <a:pt x="10766018" y="591293"/>
                  <a:pt x="10765991" y="587507"/>
                  <a:pt x="10765991" y="583715"/>
                </a:cubicBezTo>
                <a:cubicBezTo>
                  <a:pt x="10765991" y="578078"/>
                  <a:pt x="10766050" y="572454"/>
                  <a:pt x="10767362" y="566868"/>
                </a:cubicBezTo>
                <a:cubicBezTo>
                  <a:pt x="10767319" y="535786"/>
                  <a:pt x="10769769" y="505143"/>
                  <a:pt x="10774826" y="475137"/>
                </a:cubicBezTo>
                <a:lnTo>
                  <a:pt x="10775366" y="468500"/>
                </a:lnTo>
                <a:cubicBezTo>
                  <a:pt x="10775535" y="468495"/>
                  <a:pt x="10775704" y="468490"/>
                  <a:pt x="10775872" y="468437"/>
                </a:cubicBezTo>
                <a:cubicBezTo>
                  <a:pt x="10802174" y="285283"/>
                  <a:pt x="10891635" y="121704"/>
                  <a:pt x="11023379" y="0"/>
                </a:cubicBezTo>
                <a:close/>
                <a:moveTo>
                  <a:pt x="9949555" y="0"/>
                </a:moveTo>
                <a:lnTo>
                  <a:pt x="10083571" y="0"/>
                </a:lnTo>
                <a:cubicBezTo>
                  <a:pt x="10161467" y="226290"/>
                  <a:pt x="10358057" y="399791"/>
                  <a:pt x="10602109" y="451830"/>
                </a:cubicBezTo>
                <a:cubicBezTo>
                  <a:pt x="10564258" y="260867"/>
                  <a:pt x="10444849" y="98005"/>
                  <a:pt x="10279379" y="0"/>
                </a:cubicBezTo>
                <a:lnTo>
                  <a:pt x="10488089" y="0"/>
                </a:lnTo>
                <a:cubicBezTo>
                  <a:pt x="10619833" y="121704"/>
                  <a:pt x="10709293" y="285283"/>
                  <a:pt x="10735596" y="468437"/>
                </a:cubicBezTo>
                <a:cubicBezTo>
                  <a:pt x="10735763" y="468490"/>
                  <a:pt x="10735932" y="468495"/>
                  <a:pt x="10736101" y="468500"/>
                </a:cubicBezTo>
                <a:lnTo>
                  <a:pt x="10736641" y="475137"/>
                </a:lnTo>
                <a:cubicBezTo>
                  <a:pt x="10741698" y="505143"/>
                  <a:pt x="10744148" y="535786"/>
                  <a:pt x="10744105" y="566868"/>
                </a:cubicBezTo>
                <a:cubicBezTo>
                  <a:pt x="10745417" y="572454"/>
                  <a:pt x="10745476" y="578078"/>
                  <a:pt x="10745476" y="583715"/>
                </a:cubicBezTo>
                <a:cubicBezTo>
                  <a:pt x="10745476" y="587507"/>
                  <a:pt x="10745449" y="591293"/>
                  <a:pt x="10744883" y="595066"/>
                </a:cubicBezTo>
                <a:lnTo>
                  <a:pt x="10744384" y="595033"/>
                </a:lnTo>
                <a:lnTo>
                  <a:pt x="10744358" y="595524"/>
                </a:lnTo>
                <a:lnTo>
                  <a:pt x="10727240" y="593911"/>
                </a:lnTo>
                <a:cubicBezTo>
                  <a:pt x="10694865" y="593388"/>
                  <a:pt x="10662985" y="590430"/>
                  <a:pt x="10631813" y="584920"/>
                </a:cubicBezTo>
                <a:cubicBezTo>
                  <a:pt x="10626236" y="585336"/>
                  <a:pt x="10620907" y="584395"/>
                  <a:pt x="10615596" y="583392"/>
                </a:cubicBezTo>
                <a:lnTo>
                  <a:pt x="10615480" y="582253"/>
                </a:lnTo>
                <a:cubicBezTo>
                  <a:pt x="10293605" y="529393"/>
                  <a:pt x="10034333" y="299826"/>
                  <a:pt x="9949555" y="0"/>
                </a:cubicBezTo>
                <a:close/>
                <a:moveTo>
                  <a:pt x="9331225" y="0"/>
                </a:moveTo>
                <a:lnTo>
                  <a:pt x="9539935" y="0"/>
                </a:lnTo>
                <a:cubicBezTo>
                  <a:pt x="9374465" y="98005"/>
                  <a:pt x="9255056" y="260867"/>
                  <a:pt x="9217205" y="451830"/>
                </a:cubicBezTo>
                <a:cubicBezTo>
                  <a:pt x="9461257" y="399791"/>
                  <a:pt x="9657847" y="226290"/>
                  <a:pt x="9735743" y="0"/>
                </a:cubicBezTo>
                <a:lnTo>
                  <a:pt x="9869759" y="0"/>
                </a:lnTo>
                <a:cubicBezTo>
                  <a:pt x="9784981" y="299826"/>
                  <a:pt x="9525709" y="529393"/>
                  <a:pt x="9203834" y="582253"/>
                </a:cubicBezTo>
                <a:lnTo>
                  <a:pt x="9203718" y="583392"/>
                </a:lnTo>
                <a:cubicBezTo>
                  <a:pt x="9198407" y="584395"/>
                  <a:pt x="9193078" y="585336"/>
                  <a:pt x="9187501" y="584920"/>
                </a:cubicBezTo>
                <a:cubicBezTo>
                  <a:pt x="9156329" y="590430"/>
                  <a:pt x="9124449" y="593388"/>
                  <a:pt x="9092074" y="593911"/>
                </a:cubicBezTo>
                <a:lnTo>
                  <a:pt x="9074956" y="595524"/>
                </a:lnTo>
                <a:lnTo>
                  <a:pt x="9074930" y="595033"/>
                </a:lnTo>
                <a:lnTo>
                  <a:pt x="9074431" y="595066"/>
                </a:lnTo>
                <a:cubicBezTo>
                  <a:pt x="9073865" y="591293"/>
                  <a:pt x="9073838" y="587507"/>
                  <a:pt x="9073838" y="583715"/>
                </a:cubicBezTo>
                <a:cubicBezTo>
                  <a:pt x="9073838" y="578078"/>
                  <a:pt x="9073897" y="572454"/>
                  <a:pt x="9075209" y="566868"/>
                </a:cubicBezTo>
                <a:cubicBezTo>
                  <a:pt x="9075166" y="535786"/>
                  <a:pt x="9077616" y="505143"/>
                  <a:pt x="9082673" y="475137"/>
                </a:cubicBezTo>
                <a:lnTo>
                  <a:pt x="9083213" y="468500"/>
                </a:lnTo>
                <a:cubicBezTo>
                  <a:pt x="9083382" y="468495"/>
                  <a:pt x="9083551" y="468490"/>
                  <a:pt x="9083718" y="468437"/>
                </a:cubicBezTo>
                <a:cubicBezTo>
                  <a:pt x="9110021" y="285283"/>
                  <a:pt x="9199481" y="121704"/>
                  <a:pt x="9331225" y="0"/>
                </a:cubicBezTo>
                <a:close/>
                <a:moveTo>
                  <a:pt x="8257405" y="0"/>
                </a:moveTo>
                <a:lnTo>
                  <a:pt x="8391420" y="0"/>
                </a:lnTo>
                <a:cubicBezTo>
                  <a:pt x="8469316" y="226290"/>
                  <a:pt x="8665906" y="399791"/>
                  <a:pt x="8909958" y="451830"/>
                </a:cubicBezTo>
                <a:cubicBezTo>
                  <a:pt x="8872107" y="260867"/>
                  <a:pt x="8752698" y="98005"/>
                  <a:pt x="8587228" y="0"/>
                </a:cubicBezTo>
                <a:lnTo>
                  <a:pt x="8795937" y="0"/>
                </a:lnTo>
                <a:cubicBezTo>
                  <a:pt x="8927681" y="121704"/>
                  <a:pt x="9017142" y="285283"/>
                  <a:pt x="9043444" y="468437"/>
                </a:cubicBezTo>
                <a:cubicBezTo>
                  <a:pt x="9043612" y="468490"/>
                  <a:pt x="9043781" y="468495"/>
                  <a:pt x="9043950" y="468500"/>
                </a:cubicBezTo>
                <a:lnTo>
                  <a:pt x="9044490" y="475137"/>
                </a:lnTo>
                <a:cubicBezTo>
                  <a:pt x="9049547" y="505143"/>
                  <a:pt x="9051997" y="535786"/>
                  <a:pt x="9051954" y="566868"/>
                </a:cubicBezTo>
                <a:cubicBezTo>
                  <a:pt x="9053266" y="572454"/>
                  <a:pt x="9053325" y="578078"/>
                  <a:pt x="9053325" y="583715"/>
                </a:cubicBezTo>
                <a:cubicBezTo>
                  <a:pt x="9053325" y="587507"/>
                  <a:pt x="9053298" y="591293"/>
                  <a:pt x="9052732" y="595066"/>
                </a:cubicBezTo>
                <a:lnTo>
                  <a:pt x="9052233" y="595033"/>
                </a:lnTo>
                <a:lnTo>
                  <a:pt x="9052207" y="595524"/>
                </a:lnTo>
                <a:lnTo>
                  <a:pt x="9035089" y="593911"/>
                </a:lnTo>
                <a:cubicBezTo>
                  <a:pt x="9002714" y="593388"/>
                  <a:pt x="8970834" y="590430"/>
                  <a:pt x="8939662" y="584920"/>
                </a:cubicBezTo>
                <a:cubicBezTo>
                  <a:pt x="8934085" y="585336"/>
                  <a:pt x="8928756" y="584395"/>
                  <a:pt x="8923445" y="583392"/>
                </a:cubicBezTo>
                <a:lnTo>
                  <a:pt x="8923329" y="582253"/>
                </a:lnTo>
                <a:cubicBezTo>
                  <a:pt x="8601454" y="529393"/>
                  <a:pt x="8342182" y="299826"/>
                  <a:pt x="8257405" y="0"/>
                </a:cubicBezTo>
                <a:close/>
                <a:moveTo>
                  <a:pt x="7639075" y="0"/>
                </a:moveTo>
                <a:lnTo>
                  <a:pt x="7847784" y="0"/>
                </a:lnTo>
                <a:cubicBezTo>
                  <a:pt x="7682314" y="98005"/>
                  <a:pt x="7562905" y="260867"/>
                  <a:pt x="7525054" y="451830"/>
                </a:cubicBezTo>
                <a:cubicBezTo>
                  <a:pt x="7769107" y="399791"/>
                  <a:pt x="7965696" y="226290"/>
                  <a:pt x="8043592" y="0"/>
                </a:cubicBezTo>
                <a:lnTo>
                  <a:pt x="8177609" y="0"/>
                </a:lnTo>
                <a:cubicBezTo>
                  <a:pt x="8092830" y="299826"/>
                  <a:pt x="7833558" y="529393"/>
                  <a:pt x="7511683" y="582253"/>
                </a:cubicBezTo>
                <a:lnTo>
                  <a:pt x="7511567" y="583392"/>
                </a:lnTo>
                <a:cubicBezTo>
                  <a:pt x="7506256" y="584395"/>
                  <a:pt x="7500927" y="585336"/>
                  <a:pt x="7495350" y="584920"/>
                </a:cubicBezTo>
                <a:cubicBezTo>
                  <a:pt x="7464178" y="590430"/>
                  <a:pt x="7432298" y="593388"/>
                  <a:pt x="7399924" y="593911"/>
                </a:cubicBezTo>
                <a:lnTo>
                  <a:pt x="7382805" y="595524"/>
                </a:lnTo>
                <a:lnTo>
                  <a:pt x="7382779" y="595033"/>
                </a:lnTo>
                <a:lnTo>
                  <a:pt x="7382280" y="595066"/>
                </a:lnTo>
                <a:cubicBezTo>
                  <a:pt x="7381714" y="591293"/>
                  <a:pt x="7381687" y="587507"/>
                  <a:pt x="7381687" y="583715"/>
                </a:cubicBezTo>
                <a:cubicBezTo>
                  <a:pt x="7381687" y="578078"/>
                  <a:pt x="7381746" y="572454"/>
                  <a:pt x="7383058" y="566868"/>
                </a:cubicBezTo>
                <a:cubicBezTo>
                  <a:pt x="7383016" y="535786"/>
                  <a:pt x="7385465" y="505143"/>
                  <a:pt x="7390522" y="475137"/>
                </a:cubicBezTo>
                <a:lnTo>
                  <a:pt x="7391062" y="468500"/>
                </a:lnTo>
                <a:cubicBezTo>
                  <a:pt x="7391231" y="468495"/>
                  <a:pt x="7391400" y="468490"/>
                  <a:pt x="7391568" y="468437"/>
                </a:cubicBezTo>
                <a:cubicBezTo>
                  <a:pt x="7417870" y="285283"/>
                  <a:pt x="7507331" y="121703"/>
                  <a:pt x="7639075" y="0"/>
                </a:cubicBezTo>
                <a:close/>
                <a:moveTo>
                  <a:pt x="6565254" y="0"/>
                </a:moveTo>
                <a:lnTo>
                  <a:pt x="6699270" y="0"/>
                </a:lnTo>
                <a:cubicBezTo>
                  <a:pt x="6777166" y="226290"/>
                  <a:pt x="6973755" y="399791"/>
                  <a:pt x="7217807" y="451830"/>
                </a:cubicBezTo>
                <a:cubicBezTo>
                  <a:pt x="7179956" y="260867"/>
                  <a:pt x="7060547" y="98005"/>
                  <a:pt x="6895077" y="0"/>
                </a:cubicBezTo>
                <a:lnTo>
                  <a:pt x="7103787" y="0"/>
                </a:lnTo>
                <a:cubicBezTo>
                  <a:pt x="7235531" y="121704"/>
                  <a:pt x="7324992" y="285283"/>
                  <a:pt x="7351294" y="468437"/>
                </a:cubicBezTo>
                <a:cubicBezTo>
                  <a:pt x="7351461" y="468490"/>
                  <a:pt x="7351631" y="468495"/>
                  <a:pt x="7351799" y="468500"/>
                </a:cubicBezTo>
                <a:lnTo>
                  <a:pt x="7352340" y="475137"/>
                </a:lnTo>
                <a:cubicBezTo>
                  <a:pt x="7357396" y="505143"/>
                  <a:pt x="7359846" y="535786"/>
                  <a:pt x="7359804" y="566868"/>
                </a:cubicBezTo>
                <a:cubicBezTo>
                  <a:pt x="7361116" y="572454"/>
                  <a:pt x="7361174" y="578078"/>
                  <a:pt x="7361174" y="583715"/>
                </a:cubicBezTo>
                <a:cubicBezTo>
                  <a:pt x="7361174" y="587507"/>
                  <a:pt x="7361147" y="591293"/>
                  <a:pt x="7360581" y="595066"/>
                </a:cubicBezTo>
                <a:lnTo>
                  <a:pt x="7360082" y="595033"/>
                </a:lnTo>
                <a:lnTo>
                  <a:pt x="7360056" y="595524"/>
                </a:lnTo>
                <a:lnTo>
                  <a:pt x="7342938" y="593911"/>
                </a:lnTo>
                <a:cubicBezTo>
                  <a:pt x="7310564" y="593388"/>
                  <a:pt x="7278683" y="590430"/>
                  <a:pt x="7247511" y="584920"/>
                </a:cubicBezTo>
                <a:cubicBezTo>
                  <a:pt x="7241934" y="585336"/>
                  <a:pt x="7236605" y="584395"/>
                  <a:pt x="7231295" y="583392"/>
                </a:cubicBezTo>
                <a:lnTo>
                  <a:pt x="7231179" y="582253"/>
                </a:lnTo>
                <a:cubicBezTo>
                  <a:pt x="6909304" y="529393"/>
                  <a:pt x="6650032" y="299826"/>
                  <a:pt x="6565254" y="0"/>
                </a:cubicBezTo>
                <a:close/>
                <a:moveTo>
                  <a:pt x="5946924" y="0"/>
                </a:moveTo>
                <a:lnTo>
                  <a:pt x="6155633" y="0"/>
                </a:lnTo>
                <a:cubicBezTo>
                  <a:pt x="5990163" y="98005"/>
                  <a:pt x="5870754" y="260867"/>
                  <a:pt x="5832903" y="451830"/>
                </a:cubicBezTo>
                <a:cubicBezTo>
                  <a:pt x="6076956" y="399791"/>
                  <a:pt x="6273545" y="226290"/>
                  <a:pt x="6351441" y="0"/>
                </a:cubicBezTo>
                <a:lnTo>
                  <a:pt x="6485457" y="0"/>
                </a:lnTo>
                <a:cubicBezTo>
                  <a:pt x="6400679" y="299826"/>
                  <a:pt x="6141407" y="529393"/>
                  <a:pt x="5819531" y="582253"/>
                </a:cubicBezTo>
                <a:lnTo>
                  <a:pt x="5819415" y="583392"/>
                </a:lnTo>
                <a:cubicBezTo>
                  <a:pt x="5814105" y="584395"/>
                  <a:pt x="5808776" y="585336"/>
                  <a:pt x="5803199" y="584920"/>
                </a:cubicBezTo>
                <a:cubicBezTo>
                  <a:pt x="5772027" y="590430"/>
                  <a:pt x="5740146" y="593388"/>
                  <a:pt x="5707772" y="593911"/>
                </a:cubicBezTo>
                <a:lnTo>
                  <a:pt x="5690654" y="595524"/>
                </a:lnTo>
                <a:lnTo>
                  <a:pt x="5690628" y="595033"/>
                </a:lnTo>
                <a:lnTo>
                  <a:pt x="5690129" y="595066"/>
                </a:lnTo>
                <a:cubicBezTo>
                  <a:pt x="5689563" y="591293"/>
                  <a:pt x="5689536" y="587507"/>
                  <a:pt x="5689536" y="583715"/>
                </a:cubicBezTo>
                <a:cubicBezTo>
                  <a:pt x="5689536" y="578078"/>
                  <a:pt x="5689594" y="572454"/>
                  <a:pt x="5690906" y="566868"/>
                </a:cubicBezTo>
                <a:cubicBezTo>
                  <a:pt x="5690864" y="535786"/>
                  <a:pt x="5693314" y="505143"/>
                  <a:pt x="5698370" y="475137"/>
                </a:cubicBezTo>
                <a:lnTo>
                  <a:pt x="5698911" y="468500"/>
                </a:lnTo>
                <a:cubicBezTo>
                  <a:pt x="5699079" y="468495"/>
                  <a:pt x="5699249" y="468490"/>
                  <a:pt x="5699416" y="468437"/>
                </a:cubicBezTo>
                <a:cubicBezTo>
                  <a:pt x="5725719" y="285283"/>
                  <a:pt x="5815180" y="121704"/>
                  <a:pt x="5946924" y="0"/>
                </a:cubicBezTo>
                <a:close/>
                <a:moveTo>
                  <a:pt x="4873102" y="0"/>
                </a:moveTo>
                <a:lnTo>
                  <a:pt x="5007119" y="0"/>
                </a:lnTo>
                <a:cubicBezTo>
                  <a:pt x="5085015" y="226291"/>
                  <a:pt x="5281604" y="399791"/>
                  <a:pt x="5525656" y="451830"/>
                </a:cubicBezTo>
                <a:cubicBezTo>
                  <a:pt x="5487805" y="260867"/>
                  <a:pt x="5368397" y="98005"/>
                  <a:pt x="5202927" y="0"/>
                </a:cubicBezTo>
                <a:lnTo>
                  <a:pt x="5411635" y="0"/>
                </a:lnTo>
                <a:cubicBezTo>
                  <a:pt x="5543380" y="121703"/>
                  <a:pt x="5632840" y="285283"/>
                  <a:pt x="5659142" y="468437"/>
                </a:cubicBezTo>
                <a:cubicBezTo>
                  <a:pt x="5659310" y="468490"/>
                  <a:pt x="5659479" y="468495"/>
                  <a:pt x="5659648" y="468499"/>
                </a:cubicBezTo>
                <a:lnTo>
                  <a:pt x="5660188" y="475137"/>
                </a:lnTo>
                <a:cubicBezTo>
                  <a:pt x="5665245" y="505143"/>
                  <a:pt x="5667694" y="535786"/>
                  <a:pt x="5667652" y="566868"/>
                </a:cubicBezTo>
                <a:cubicBezTo>
                  <a:pt x="5668964" y="572454"/>
                  <a:pt x="5669023" y="578078"/>
                  <a:pt x="5669023" y="583715"/>
                </a:cubicBezTo>
                <a:cubicBezTo>
                  <a:pt x="5669023" y="587508"/>
                  <a:pt x="5668996" y="591293"/>
                  <a:pt x="5668430" y="595066"/>
                </a:cubicBezTo>
                <a:lnTo>
                  <a:pt x="5667931" y="595033"/>
                </a:lnTo>
                <a:lnTo>
                  <a:pt x="5667905" y="595524"/>
                </a:lnTo>
                <a:lnTo>
                  <a:pt x="5650786" y="593911"/>
                </a:lnTo>
                <a:cubicBezTo>
                  <a:pt x="5618412" y="593388"/>
                  <a:pt x="5586532" y="590430"/>
                  <a:pt x="5555360" y="584920"/>
                </a:cubicBezTo>
                <a:cubicBezTo>
                  <a:pt x="5549783" y="585336"/>
                  <a:pt x="5544454" y="584395"/>
                  <a:pt x="5539143" y="583392"/>
                </a:cubicBezTo>
                <a:lnTo>
                  <a:pt x="5539027" y="582253"/>
                </a:lnTo>
                <a:cubicBezTo>
                  <a:pt x="5217153" y="529393"/>
                  <a:pt x="4957881" y="299826"/>
                  <a:pt x="4873102" y="0"/>
                </a:cubicBezTo>
                <a:close/>
                <a:moveTo>
                  <a:pt x="4254773" y="0"/>
                </a:moveTo>
                <a:lnTo>
                  <a:pt x="4463482" y="0"/>
                </a:lnTo>
                <a:cubicBezTo>
                  <a:pt x="4298012" y="98005"/>
                  <a:pt x="4178603" y="260867"/>
                  <a:pt x="4140752" y="451830"/>
                </a:cubicBezTo>
                <a:cubicBezTo>
                  <a:pt x="4384804" y="399791"/>
                  <a:pt x="4581394" y="226291"/>
                  <a:pt x="4659290" y="0"/>
                </a:cubicBezTo>
                <a:lnTo>
                  <a:pt x="4793306" y="0"/>
                </a:lnTo>
                <a:cubicBezTo>
                  <a:pt x="4708528" y="299826"/>
                  <a:pt x="4449256" y="529393"/>
                  <a:pt x="4127381" y="582253"/>
                </a:cubicBezTo>
                <a:lnTo>
                  <a:pt x="4127264" y="583392"/>
                </a:lnTo>
                <a:cubicBezTo>
                  <a:pt x="4121954" y="584395"/>
                  <a:pt x="4116625" y="585336"/>
                  <a:pt x="4111048" y="584920"/>
                </a:cubicBezTo>
                <a:cubicBezTo>
                  <a:pt x="4079876" y="590430"/>
                  <a:pt x="4047996" y="593388"/>
                  <a:pt x="4015621" y="593911"/>
                </a:cubicBezTo>
                <a:lnTo>
                  <a:pt x="3998503" y="595524"/>
                </a:lnTo>
                <a:lnTo>
                  <a:pt x="3998477" y="595033"/>
                </a:lnTo>
                <a:lnTo>
                  <a:pt x="3997978" y="595066"/>
                </a:lnTo>
                <a:cubicBezTo>
                  <a:pt x="3997412" y="591293"/>
                  <a:pt x="3997385" y="587507"/>
                  <a:pt x="3997385" y="583715"/>
                </a:cubicBezTo>
                <a:cubicBezTo>
                  <a:pt x="3997385" y="578078"/>
                  <a:pt x="3997443" y="572454"/>
                  <a:pt x="3998755" y="566868"/>
                </a:cubicBezTo>
                <a:cubicBezTo>
                  <a:pt x="3998713" y="535786"/>
                  <a:pt x="4001163" y="505143"/>
                  <a:pt x="4006219" y="475137"/>
                </a:cubicBezTo>
                <a:lnTo>
                  <a:pt x="4006760" y="468499"/>
                </a:lnTo>
                <a:cubicBezTo>
                  <a:pt x="4006928" y="468495"/>
                  <a:pt x="4007098" y="468490"/>
                  <a:pt x="4007265" y="468437"/>
                </a:cubicBezTo>
                <a:cubicBezTo>
                  <a:pt x="4033568" y="285283"/>
                  <a:pt x="4123028" y="121703"/>
                  <a:pt x="4254773" y="0"/>
                </a:cubicBezTo>
                <a:close/>
                <a:moveTo>
                  <a:pt x="3180951" y="0"/>
                </a:moveTo>
                <a:lnTo>
                  <a:pt x="3314968" y="0"/>
                </a:lnTo>
                <a:cubicBezTo>
                  <a:pt x="3392864" y="226291"/>
                  <a:pt x="3589453" y="399791"/>
                  <a:pt x="3833505" y="451830"/>
                </a:cubicBezTo>
                <a:cubicBezTo>
                  <a:pt x="3795654" y="260867"/>
                  <a:pt x="3676245" y="98005"/>
                  <a:pt x="3510776" y="0"/>
                </a:cubicBezTo>
                <a:lnTo>
                  <a:pt x="3719484" y="0"/>
                </a:lnTo>
                <a:cubicBezTo>
                  <a:pt x="3851229" y="121703"/>
                  <a:pt x="3940689" y="285283"/>
                  <a:pt x="3966991" y="468437"/>
                </a:cubicBezTo>
                <a:cubicBezTo>
                  <a:pt x="3967159" y="468490"/>
                  <a:pt x="3967328" y="468495"/>
                  <a:pt x="3967497" y="468499"/>
                </a:cubicBezTo>
                <a:lnTo>
                  <a:pt x="3968037" y="475137"/>
                </a:lnTo>
                <a:cubicBezTo>
                  <a:pt x="3973094" y="505143"/>
                  <a:pt x="3975543" y="535786"/>
                  <a:pt x="3975501" y="566868"/>
                </a:cubicBezTo>
                <a:cubicBezTo>
                  <a:pt x="3976813" y="572454"/>
                  <a:pt x="3976872" y="578078"/>
                  <a:pt x="3976872" y="583715"/>
                </a:cubicBezTo>
                <a:cubicBezTo>
                  <a:pt x="3976872" y="587508"/>
                  <a:pt x="3976845" y="591293"/>
                  <a:pt x="3976279" y="595066"/>
                </a:cubicBezTo>
                <a:lnTo>
                  <a:pt x="3975780" y="595033"/>
                </a:lnTo>
                <a:lnTo>
                  <a:pt x="3975754" y="595524"/>
                </a:lnTo>
                <a:lnTo>
                  <a:pt x="3958635" y="593911"/>
                </a:lnTo>
                <a:cubicBezTo>
                  <a:pt x="3926261" y="593388"/>
                  <a:pt x="3894381" y="590430"/>
                  <a:pt x="3863209" y="584920"/>
                </a:cubicBezTo>
                <a:cubicBezTo>
                  <a:pt x="3857632" y="585336"/>
                  <a:pt x="3852303" y="584395"/>
                  <a:pt x="3846992" y="583392"/>
                </a:cubicBezTo>
                <a:lnTo>
                  <a:pt x="3846876" y="582253"/>
                </a:lnTo>
                <a:cubicBezTo>
                  <a:pt x="3525002" y="529393"/>
                  <a:pt x="3265729" y="299826"/>
                  <a:pt x="3180951" y="0"/>
                </a:cubicBezTo>
                <a:close/>
                <a:moveTo>
                  <a:pt x="2562622" y="0"/>
                </a:moveTo>
                <a:lnTo>
                  <a:pt x="2771330" y="0"/>
                </a:lnTo>
                <a:cubicBezTo>
                  <a:pt x="2605861" y="98005"/>
                  <a:pt x="2486452" y="260867"/>
                  <a:pt x="2448601" y="451830"/>
                </a:cubicBezTo>
                <a:cubicBezTo>
                  <a:pt x="2692653" y="399791"/>
                  <a:pt x="2889242" y="226291"/>
                  <a:pt x="2967139" y="0"/>
                </a:cubicBezTo>
                <a:lnTo>
                  <a:pt x="3101155" y="0"/>
                </a:lnTo>
                <a:cubicBezTo>
                  <a:pt x="3016377" y="299826"/>
                  <a:pt x="2757105" y="529393"/>
                  <a:pt x="2435230" y="582253"/>
                </a:cubicBezTo>
                <a:lnTo>
                  <a:pt x="2435113" y="583392"/>
                </a:lnTo>
                <a:cubicBezTo>
                  <a:pt x="2429803" y="584395"/>
                  <a:pt x="2424474" y="585336"/>
                  <a:pt x="2418897" y="584920"/>
                </a:cubicBezTo>
                <a:cubicBezTo>
                  <a:pt x="2387725" y="590430"/>
                  <a:pt x="2355845" y="593388"/>
                  <a:pt x="2323470" y="593911"/>
                </a:cubicBezTo>
                <a:lnTo>
                  <a:pt x="2306352" y="595524"/>
                </a:lnTo>
                <a:lnTo>
                  <a:pt x="2306326" y="595033"/>
                </a:lnTo>
                <a:lnTo>
                  <a:pt x="2305827" y="595066"/>
                </a:lnTo>
                <a:cubicBezTo>
                  <a:pt x="2305261" y="591293"/>
                  <a:pt x="2305234" y="587507"/>
                  <a:pt x="2305234" y="583715"/>
                </a:cubicBezTo>
                <a:cubicBezTo>
                  <a:pt x="2305234" y="578078"/>
                  <a:pt x="2305292" y="572454"/>
                  <a:pt x="2306604" y="566868"/>
                </a:cubicBezTo>
                <a:cubicBezTo>
                  <a:pt x="2306562" y="535786"/>
                  <a:pt x="2309012" y="505143"/>
                  <a:pt x="2314068" y="475137"/>
                </a:cubicBezTo>
                <a:lnTo>
                  <a:pt x="2314609" y="468499"/>
                </a:lnTo>
                <a:cubicBezTo>
                  <a:pt x="2314777" y="468495"/>
                  <a:pt x="2314947" y="468490"/>
                  <a:pt x="2315114" y="468437"/>
                </a:cubicBezTo>
                <a:cubicBezTo>
                  <a:pt x="2341417" y="285283"/>
                  <a:pt x="2430877" y="121704"/>
                  <a:pt x="2562622" y="0"/>
                </a:cubicBezTo>
                <a:close/>
                <a:moveTo>
                  <a:pt x="1488800" y="0"/>
                </a:moveTo>
                <a:lnTo>
                  <a:pt x="1622816" y="0"/>
                </a:lnTo>
                <a:cubicBezTo>
                  <a:pt x="1700712" y="226290"/>
                  <a:pt x="1897302" y="399791"/>
                  <a:pt x="2141354" y="451830"/>
                </a:cubicBezTo>
                <a:cubicBezTo>
                  <a:pt x="2103503" y="260867"/>
                  <a:pt x="1984094" y="98005"/>
                  <a:pt x="1818624" y="0"/>
                </a:cubicBezTo>
                <a:lnTo>
                  <a:pt x="2027333" y="0"/>
                </a:lnTo>
                <a:cubicBezTo>
                  <a:pt x="2159078" y="121703"/>
                  <a:pt x="2248538" y="285283"/>
                  <a:pt x="2274840" y="468437"/>
                </a:cubicBezTo>
                <a:cubicBezTo>
                  <a:pt x="2275008" y="468490"/>
                  <a:pt x="2275177" y="468495"/>
                  <a:pt x="2275346" y="468500"/>
                </a:cubicBezTo>
                <a:lnTo>
                  <a:pt x="2275886" y="475137"/>
                </a:lnTo>
                <a:cubicBezTo>
                  <a:pt x="2280943" y="505143"/>
                  <a:pt x="2283392" y="535786"/>
                  <a:pt x="2283350" y="566868"/>
                </a:cubicBezTo>
                <a:cubicBezTo>
                  <a:pt x="2284662" y="572454"/>
                  <a:pt x="2284721" y="578078"/>
                  <a:pt x="2284721" y="583715"/>
                </a:cubicBezTo>
                <a:cubicBezTo>
                  <a:pt x="2284721" y="587508"/>
                  <a:pt x="2284694" y="591293"/>
                  <a:pt x="2284128" y="595066"/>
                </a:cubicBezTo>
                <a:lnTo>
                  <a:pt x="2283629" y="595033"/>
                </a:lnTo>
                <a:lnTo>
                  <a:pt x="2283603" y="595524"/>
                </a:lnTo>
                <a:lnTo>
                  <a:pt x="2266484" y="593911"/>
                </a:lnTo>
                <a:cubicBezTo>
                  <a:pt x="2234110" y="593388"/>
                  <a:pt x="2202230" y="590430"/>
                  <a:pt x="2171058" y="584920"/>
                </a:cubicBezTo>
                <a:cubicBezTo>
                  <a:pt x="2165481" y="585336"/>
                  <a:pt x="2160152" y="584395"/>
                  <a:pt x="2154841" y="583392"/>
                </a:cubicBezTo>
                <a:lnTo>
                  <a:pt x="2154725" y="582253"/>
                </a:lnTo>
                <a:cubicBezTo>
                  <a:pt x="1832850" y="529393"/>
                  <a:pt x="1573578" y="299826"/>
                  <a:pt x="1488800" y="0"/>
                </a:cubicBezTo>
                <a:close/>
                <a:moveTo>
                  <a:pt x="870471" y="0"/>
                </a:moveTo>
                <a:lnTo>
                  <a:pt x="1079179" y="0"/>
                </a:lnTo>
                <a:cubicBezTo>
                  <a:pt x="913710" y="98005"/>
                  <a:pt x="794301" y="260867"/>
                  <a:pt x="756450" y="451830"/>
                </a:cubicBezTo>
                <a:cubicBezTo>
                  <a:pt x="1000502" y="399791"/>
                  <a:pt x="1197091" y="226291"/>
                  <a:pt x="1274988" y="0"/>
                </a:cubicBezTo>
                <a:lnTo>
                  <a:pt x="1409004" y="0"/>
                </a:lnTo>
                <a:cubicBezTo>
                  <a:pt x="1324226" y="299826"/>
                  <a:pt x="1064954" y="529393"/>
                  <a:pt x="743078" y="582253"/>
                </a:cubicBezTo>
                <a:lnTo>
                  <a:pt x="742962" y="583392"/>
                </a:lnTo>
                <a:cubicBezTo>
                  <a:pt x="737652" y="584395"/>
                  <a:pt x="732323" y="585336"/>
                  <a:pt x="726746" y="584920"/>
                </a:cubicBezTo>
                <a:cubicBezTo>
                  <a:pt x="695574" y="590430"/>
                  <a:pt x="663693" y="593388"/>
                  <a:pt x="631319" y="593911"/>
                </a:cubicBezTo>
                <a:lnTo>
                  <a:pt x="614201" y="595524"/>
                </a:lnTo>
                <a:lnTo>
                  <a:pt x="614175" y="595033"/>
                </a:lnTo>
                <a:lnTo>
                  <a:pt x="613676" y="595066"/>
                </a:lnTo>
                <a:cubicBezTo>
                  <a:pt x="613110" y="591293"/>
                  <a:pt x="613083" y="587507"/>
                  <a:pt x="613083" y="583715"/>
                </a:cubicBezTo>
                <a:cubicBezTo>
                  <a:pt x="613083" y="578078"/>
                  <a:pt x="613141" y="572454"/>
                  <a:pt x="614453" y="566868"/>
                </a:cubicBezTo>
                <a:cubicBezTo>
                  <a:pt x="614411" y="535786"/>
                  <a:pt x="616861" y="505143"/>
                  <a:pt x="621918" y="475137"/>
                </a:cubicBezTo>
                <a:lnTo>
                  <a:pt x="622458" y="468499"/>
                </a:lnTo>
                <a:cubicBezTo>
                  <a:pt x="622626" y="468495"/>
                  <a:pt x="622796" y="468490"/>
                  <a:pt x="622963" y="468437"/>
                </a:cubicBezTo>
                <a:cubicBezTo>
                  <a:pt x="649266" y="285283"/>
                  <a:pt x="738726" y="121703"/>
                  <a:pt x="870471" y="0"/>
                </a:cubicBezTo>
                <a:close/>
                <a:moveTo>
                  <a:pt x="126374" y="0"/>
                </a:moveTo>
                <a:lnTo>
                  <a:pt x="334376" y="0"/>
                </a:lnTo>
                <a:cubicBezTo>
                  <a:pt x="466684" y="121261"/>
                  <a:pt x="556352" y="285035"/>
                  <a:pt x="582690" y="468437"/>
                </a:cubicBezTo>
                <a:cubicBezTo>
                  <a:pt x="582857" y="468490"/>
                  <a:pt x="583026" y="468495"/>
                  <a:pt x="583195" y="468499"/>
                </a:cubicBezTo>
                <a:lnTo>
                  <a:pt x="583735" y="475137"/>
                </a:lnTo>
                <a:cubicBezTo>
                  <a:pt x="588792" y="505143"/>
                  <a:pt x="591242" y="535786"/>
                  <a:pt x="591199" y="566868"/>
                </a:cubicBezTo>
                <a:cubicBezTo>
                  <a:pt x="592511" y="572454"/>
                  <a:pt x="592570" y="578078"/>
                  <a:pt x="592570" y="583715"/>
                </a:cubicBezTo>
                <a:cubicBezTo>
                  <a:pt x="592570" y="587507"/>
                  <a:pt x="592543" y="591293"/>
                  <a:pt x="591977" y="595066"/>
                </a:cubicBezTo>
                <a:lnTo>
                  <a:pt x="591478" y="595033"/>
                </a:lnTo>
                <a:lnTo>
                  <a:pt x="591452" y="595524"/>
                </a:lnTo>
                <a:lnTo>
                  <a:pt x="574334" y="593911"/>
                </a:lnTo>
                <a:cubicBezTo>
                  <a:pt x="541959" y="593388"/>
                  <a:pt x="510079" y="590430"/>
                  <a:pt x="478907" y="584920"/>
                </a:cubicBezTo>
                <a:cubicBezTo>
                  <a:pt x="473330" y="585336"/>
                  <a:pt x="468001" y="584395"/>
                  <a:pt x="462690" y="583392"/>
                </a:cubicBezTo>
                <a:lnTo>
                  <a:pt x="462574" y="582253"/>
                </a:lnTo>
                <a:cubicBezTo>
                  <a:pt x="282200" y="552631"/>
                  <a:pt x="121485" y="467518"/>
                  <a:pt x="0" y="345575"/>
                </a:cubicBezTo>
                <a:lnTo>
                  <a:pt x="0" y="140406"/>
                </a:lnTo>
                <a:cubicBezTo>
                  <a:pt x="97584" y="296912"/>
                  <a:pt x="258975" y="411268"/>
                  <a:pt x="449203" y="451830"/>
                </a:cubicBezTo>
                <a:cubicBezTo>
                  <a:pt x="411344" y="260824"/>
                  <a:pt x="291889" y="97931"/>
                  <a:pt x="126374" y="0"/>
                </a:cubicBezTo>
                <a:close/>
              </a:path>
            </a:pathLst>
          </a:cu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457200" y="4960137"/>
            <a:ext cx="7772400" cy="1463040"/>
          </a:xfrm>
        </p:spPr>
        <p:txBody>
          <a:bodyPr anchor="ctr">
            <a:normAutofit/>
          </a:bodyPr>
          <a:lstStyle>
            <a:lvl1pPr algn="r">
              <a:defRPr sz="5000" spc="200" baseline="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8610600" y="4960137"/>
            <a:ext cx="3200400" cy="1463040"/>
          </a:xfrm>
        </p:spPr>
        <p:txBody>
          <a:bodyPr lIns="91440" rIns="91440" anchor="ctr">
            <a:normAutofit/>
          </a:bodyPr>
          <a:lstStyle>
            <a:lvl1pPr marL="0" indent="0" algn="l">
              <a:lnSpc>
                <a:spcPct val="100000"/>
              </a:lnSpc>
              <a:spcBef>
                <a:spcPts val="0"/>
              </a:spcBef>
              <a:buNone/>
              <a:defRPr sz="1800">
                <a:solidFill>
                  <a:schemeClr val="tx1">
                    <a:lumMod val="95000"/>
                    <a:lumOff val="5000"/>
                  </a:schemeClr>
                </a:solidFill>
              </a:defRPr>
            </a:lvl1pPr>
            <a:lvl2pPr marL="457200" indent="0" algn="ctr">
              <a:buNone/>
              <a:defRPr sz="18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800"/>
            </a:lvl4pPr>
            <a:lvl5pPr marL="1828800" indent="0" algn="ctr">
              <a:buNone/>
              <a:defRPr sz="1800"/>
            </a:lvl5pPr>
            <a:lvl6pPr marL="2286000" indent="0" algn="ctr">
              <a:buNone/>
              <a:defRPr sz="1800"/>
            </a:lvl6pPr>
            <a:lvl7pPr marL="2743200" indent="0" algn="ctr">
              <a:buNone/>
              <a:defRPr sz="1800"/>
            </a:lvl7pPr>
            <a:lvl8pPr marL="3200400" indent="0" algn="ctr">
              <a:buNone/>
              <a:defRPr sz="1800"/>
            </a:lvl8pPr>
            <a:lvl9pPr marL="3657600" indent="0" algn="ctr">
              <a:buNone/>
              <a:defRPr sz="1800"/>
            </a:lvl9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 algn="l">
              <a:defRPr/>
            </a:lvl1pPr>
          </a:lstStyle>
          <a:p>
            <a:fld id="{ECF0DD94-3770-4A43-9B22-80284D031154}" type="datetime1">
              <a:rPr lang="en-US" smtClean="0"/>
              <a:t>10/2/25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852B8ED-7F2B-5448-BD79-1530102DF259}" type="slidenum">
              <a:rPr lang="en-US" smtClean="0"/>
              <a:t>‹#›</a:t>
            </a:fld>
            <a:endParaRPr lang="en-US"/>
          </a:p>
        </p:txBody>
      </p:sp>
      <p:cxnSp>
        <p:nvCxnSpPr>
          <p:cNvPr id="8" name="Straight Connector 7"/>
          <p:cNvCxnSpPr/>
          <p:nvPr/>
        </p:nvCxnSpPr>
        <p:spPr>
          <a:xfrm flipV="1">
            <a:off x="8386843" y="5264106"/>
            <a:ext cx="0" cy="914400"/>
          </a:xfrm>
          <a:prstGeom prst="line">
            <a:avLst/>
          </a:prstGeom>
          <a:ln w="19050">
            <a:solidFill>
              <a:schemeClr val="accent1">
                <a:lumMod val="7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477293062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3494754-273E-E948-9018-5261C08CB644}" type="datetime1">
              <a:rPr lang="en-US" smtClean="0"/>
              <a:t>10/2/25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852B8ED-7F2B-5448-BD79-1530102DF25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378682800"/>
      </p:ext>
    </p:extLst>
  </p:cSld>
  <p:clrMapOvr>
    <a:masterClrMapping/>
  </p:clrMapOvr>
  <p:hf hdr="0" ftr="0" dt="0"/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Rectangle 8"/>
          <p:cNvSpPr/>
          <p:nvPr/>
        </p:nvSpPr>
        <p:spPr>
          <a:xfrm>
            <a:off x="0" y="0"/>
            <a:ext cx="12192000" cy="4572001"/>
          </a:xfrm>
          <a:prstGeom prst="rect">
            <a:avLst/>
          </a:prstGeom>
          <a:solidFill>
            <a:schemeClr val="accent3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11" name="Oval 5"/>
          <p:cNvSpPr/>
          <p:nvPr/>
        </p:nvSpPr>
        <p:spPr>
          <a:xfrm>
            <a:off x="-1" y="0"/>
            <a:ext cx="12192000" cy="4572001"/>
          </a:xfrm>
          <a:custGeom>
            <a:avLst/>
            <a:gdLst/>
            <a:ahLst/>
            <a:cxnLst/>
            <a:rect l="l" t="t" r="r" b="b"/>
            <a:pathLst>
              <a:path w="12192000" h="4572001">
                <a:moveTo>
                  <a:pt x="12192000" y="4387986"/>
                </a:moveTo>
                <a:lnTo>
                  <a:pt x="12192000" y="4572001"/>
                </a:lnTo>
                <a:lnTo>
                  <a:pt x="12013927" y="4572001"/>
                </a:lnTo>
                <a:cubicBezTo>
                  <a:pt x="12084901" y="4522707"/>
                  <a:pt x="12145198" y="4460004"/>
                  <a:pt x="12192000" y="4387986"/>
                </a:cubicBezTo>
                <a:close/>
                <a:moveTo>
                  <a:pt x="12192000" y="4041440"/>
                </a:moveTo>
                <a:lnTo>
                  <a:pt x="12192000" y="4174488"/>
                </a:lnTo>
                <a:cubicBezTo>
                  <a:pt x="12005469" y="4244657"/>
                  <a:pt x="11857227" y="4389538"/>
                  <a:pt x="11786673" y="4572001"/>
                </a:cubicBezTo>
                <a:lnTo>
                  <a:pt x="11649784" y="4572001"/>
                </a:lnTo>
                <a:cubicBezTo>
                  <a:pt x="11730542" y="4320085"/>
                  <a:pt x="11933879" y="4121396"/>
                  <a:pt x="12192000" y="4041440"/>
                </a:cubicBezTo>
                <a:close/>
                <a:moveTo>
                  <a:pt x="10767111" y="3999419"/>
                </a:moveTo>
                <a:lnTo>
                  <a:pt x="10784198" y="4001042"/>
                </a:lnTo>
                <a:cubicBezTo>
                  <a:pt x="10816584" y="4001569"/>
                  <a:pt x="10848477" y="4004550"/>
                  <a:pt x="10879660" y="4010107"/>
                </a:cubicBezTo>
                <a:cubicBezTo>
                  <a:pt x="10885236" y="4009688"/>
                  <a:pt x="10890564" y="4010636"/>
                  <a:pt x="10895873" y="4011646"/>
                </a:cubicBezTo>
                <a:lnTo>
                  <a:pt x="10895990" y="4012794"/>
                </a:lnTo>
                <a:cubicBezTo>
                  <a:pt x="11208069" y="4064450"/>
                  <a:pt x="11461298" y="4283539"/>
                  <a:pt x="11554662" y="4572001"/>
                </a:cubicBezTo>
                <a:lnTo>
                  <a:pt x="11417114" y="4572001"/>
                </a:lnTo>
                <a:cubicBezTo>
                  <a:pt x="11333731" y="4357380"/>
                  <a:pt x="11143362" y="4194541"/>
                  <a:pt x="10909360" y="4144250"/>
                </a:cubicBezTo>
                <a:cubicBezTo>
                  <a:pt x="10943854" y="4319651"/>
                  <a:pt x="11046077" y="4471530"/>
                  <a:pt x="11189175" y="4572001"/>
                </a:cubicBezTo>
                <a:lnTo>
                  <a:pt x="10994934" y="4572001"/>
                </a:lnTo>
                <a:cubicBezTo>
                  <a:pt x="10878802" y="4452596"/>
                  <a:pt x="10800240" y="4298519"/>
                  <a:pt x="10775875" y="4127511"/>
                </a:cubicBezTo>
                <a:cubicBezTo>
                  <a:pt x="10775707" y="4127458"/>
                  <a:pt x="10775539" y="4127453"/>
                  <a:pt x="10775369" y="4127448"/>
                </a:cubicBezTo>
                <a:lnTo>
                  <a:pt x="10774831" y="4120772"/>
                </a:lnTo>
                <a:cubicBezTo>
                  <a:pt x="10769772" y="4090522"/>
                  <a:pt x="10767321" y="4059631"/>
                  <a:pt x="10767364" y="4028296"/>
                </a:cubicBezTo>
                <a:cubicBezTo>
                  <a:pt x="10766052" y="4022668"/>
                  <a:pt x="10765993" y="4017001"/>
                  <a:pt x="10765993" y="4011320"/>
                </a:cubicBezTo>
                <a:lnTo>
                  <a:pt x="10766587" y="3999880"/>
                </a:lnTo>
                <a:lnTo>
                  <a:pt x="10767085" y="3999913"/>
                </a:lnTo>
                <a:close/>
                <a:moveTo>
                  <a:pt x="10744358" y="3999419"/>
                </a:moveTo>
                <a:lnTo>
                  <a:pt x="10744384" y="3999913"/>
                </a:lnTo>
                <a:lnTo>
                  <a:pt x="10744882" y="3999880"/>
                </a:lnTo>
                <a:lnTo>
                  <a:pt x="10745476" y="4011320"/>
                </a:lnTo>
                <a:cubicBezTo>
                  <a:pt x="10745476" y="4017001"/>
                  <a:pt x="10745417" y="4022668"/>
                  <a:pt x="10744105" y="4028296"/>
                </a:cubicBezTo>
                <a:cubicBezTo>
                  <a:pt x="10744148" y="4059631"/>
                  <a:pt x="10741697" y="4090522"/>
                  <a:pt x="10736638" y="4120772"/>
                </a:cubicBezTo>
                <a:lnTo>
                  <a:pt x="10736100" y="4127448"/>
                </a:lnTo>
                <a:cubicBezTo>
                  <a:pt x="10735930" y="4127453"/>
                  <a:pt x="10735762" y="4127458"/>
                  <a:pt x="10735594" y="4127511"/>
                </a:cubicBezTo>
                <a:cubicBezTo>
                  <a:pt x="10711229" y="4298519"/>
                  <a:pt x="10632667" y="4452596"/>
                  <a:pt x="10516535" y="4572001"/>
                </a:cubicBezTo>
                <a:lnTo>
                  <a:pt x="10322294" y="4572001"/>
                </a:lnTo>
                <a:cubicBezTo>
                  <a:pt x="10465392" y="4471530"/>
                  <a:pt x="10567615" y="4319650"/>
                  <a:pt x="10602109" y="4144250"/>
                </a:cubicBezTo>
                <a:cubicBezTo>
                  <a:pt x="10368107" y="4194541"/>
                  <a:pt x="10177738" y="4357380"/>
                  <a:pt x="10094355" y="4572001"/>
                </a:cubicBezTo>
                <a:lnTo>
                  <a:pt x="9956808" y="4572001"/>
                </a:lnTo>
                <a:cubicBezTo>
                  <a:pt x="10050171" y="4283539"/>
                  <a:pt x="10303400" y="4064450"/>
                  <a:pt x="10615479" y="4012794"/>
                </a:cubicBezTo>
                <a:lnTo>
                  <a:pt x="10615596" y="4011646"/>
                </a:lnTo>
                <a:cubicBezTo>
                  <a:pt x="10620905" y="4010636"/>
                  <a:pt x="10626233" y="4009688"/>
                  <a:pt x="10631809" y="4010107"/>
                </a:cubicBezTo>
                <a:cubicBezTo>
                  <a:pt x="10662992" y="4004550"/>
                  <a:pt x="10694885" y="4001569"/>
                  <a:pt x="10727271" y="4001042"/>
                </a:cubicBezTo>
                <a:close/>
                <a:moveTo>
                  <a:pt x="9074958" y="3999419"/>
                </a:moveTo>
                <a:lnTo>
                  <a:pt x="9092045" y="4001042"/>
                </a:lnTo>
                <a:cubicBezTo>
                  <a:pt x="9124431" y="4001569"/>
                  <a:pt x="9156324" y="4004550"/>
                  <a:pt x="9187507" y="4010107"/>
                </a:cubicBezTo>
                <a:cubicBezTo>
                  <a:pt x="9193083" y="4009688"/>
                  <a:pt x="9198411" y="4010636"/>
                  <a:pt x="9203720" y="4011646"/>
                </a:cubicBezTo>
                <a:lnTo>
                  <a:pt x="9203837" y="4012794"/>
                </a:lnTo>
                <a:cubicBezTo>
                  <a:pt x="9515916" y="4064450"/>
                  <a:pt x="9769145" y="4283539"/>
                  <a:pt x="9862508" y="4572001"/>
                </a:cubicBezTo>
                <a:lnTo>
                  <a:pt x="9724961" y="4572001"/>
                </a:lnTo>
                <a:cubicBezTo>
                  <a:pt x="9641578" y="4357380"/>
                  <a:pt x="9451209" y="4194541"/>
                  <a:pt x="9217207" y="4144250"/>
                </a:cubicBezTo>
                <a:cubicBezTo>
                  <a:pt x="9251701" y="4319651"/>
                  <a:pt x="9353924" y="4471530"/>
                  <a:pt x="9497022" y="4572001"/>
                </a:cubicBezTo>
                <a:lnTo>
                  <a:pt x="9302781" y="4572001"/>
                </a:lnTo>
                <a:cubicBezTo>
                  <a:pt x="9186649" y="4452596"/>
                  <a:pt x="9108087" y="4298519"/>
                  <a:pt x="9083722" y="4127511"/>
                </a:cubicBezTo>
                <a:cubicBezTo>
                  <a:pt x="9083554" y="4127458"/>
                  <a:pt x="9083386" y="4127453"/>
                  <a:pt x="9083216" y="4127448"/>
                </a:cubicBezTo>
                <a:lnTo>
                  <a:pt x="9082678" y="4120772"/>
                </a:lnTo>
                <a:cubicBezTo>
                  <a:pt x="9077619" y="4090522"/>
                  <a:pt x="9075168" y="4059631"/>
                  <a:pt x="9075211" y="4028296"/>
                </a:cubicBezTo>
                <a:cubicBezTo>
                  <a:pt x="9073899" y="4022668"/>
                  <a:pt x="9073840" y="4017001"/>
                  <a:pt x="9073840" y="4011320"/>
                </a:cubicBezTo>
                <a:lnTo>
                  <a:pt x="9074434" y="3999880"/>
                </a:lnTo>
                <a:lnTo>
                  <a:pt x="9074932" y="3999913"/>
                </a:lnTo>
                <a:close/>
                <a:moveTo>
                  <a:pt x="9052207" y="3999419"/>
                </a:moveTo>
                <a:lnTo>
                  <a:pt x="9052233" y="3999913"/>
                </a:lnTo>
                <a:lnTo>
                  <a:pt x="9052731" y="3999880"/>
                </a:lnTo>
                <a:lnTo>
                  <a:pt x="9053325" y="4011320"/>
                </a:lnTo>
                <a:cubicBezTo>
                  <a:pt x="9053325" y="4017001"/>
                  <a:pt x="9053266" y="4022668"/>
                  <a:pt x="9051954" y="4028296"/>
                </a:cubicBezTo>
                <a:cubicBezTo>
                  <a:pt x="9051997" y="4059631"/>
                  <a:pt x="9049546" y="4090522"/>
                  <a:pt x="9044487" y="4120772"/>
                </a:cubicBezTo>
                <a:lnTo>
                  <a:pt x="9043949" y="4127448"/>
                </a:lnTo>
                <a:cubicBezTo>
                  <a:pt x="9043779" y="4127453"/>
                  <a:pt x="9043611" y="4127458"/>
                  <a:pt x="9043443" y="4127511"/>
                </a:cubicBezTo>
                <a:cubicBezTo>
                  <a:pt x="9019078" y="4298519"/>
                  <a:pt x="8940516" y="4452596"/>
                  <a:pt x="8824384" y="4572001"/>
                </a:cubicBezTo>
                <a:lnTo>
                  <a:pt x="8630143" y="4572001"/>
                </a:lnTo>
                <a:cubicBezTo>
                  <a:pt x="8773241" y="4471530"/>
                  <a:pt x="8875464" y="4319651"/>
                  <a:pt x="8909958" y="4144250"/>
                </a:cubicBezTo>
                <a:cubicBezTo>
                  <a:pt x="8675956" y="4194541"/>
                  <a:pt x="8485587" y="4357380"/>
                  <a:pt x="8402204" y="4572001"/>
                </a:cubicBezTo>
                <a:lnTo>
                  <a:pt x="8264656" y="4572001"/>
                </a:lnTo>
                <a:cubicBezTo>
                  <a:pt x="8358019" y="4283539"/>
                  <a:pt x="8611249" y="4064450"/>
                  <a:pt x="8923328" y="4012794"/>
                </a:cubicBezTo>
                <a:lnTo>
                  <a:pt x="8923445" y="4011646"/>
                </a:lnTo>
                <a:cubicBezTo>
                  <a:pt x="8928754" y="4010636"/>
                  <a:pt x="8934082" y="4009688"/>
                  <a:pt x="8939658" y="4010107"/>
                </a:cubicBezTo>
                <a:cubicBezTo>
                  <a:pt x="8970841" y="4004550"/>
                  <a:pt x="9002734" y="4001569"/>
                  <a:pt x="9035120" y="4001042"/>
                </a:cubicBezTo>
                <a:close/>
                <a:moveTo>
                  <a:pt x="7382807" y="3999419"/>
                </a:moveTo>
                <a:lnTo>
                  <a:pt x="7399895" y="4001042"/>
                </a:lnTo>
                <a:cubicBezTo>
                  <a:pt x="7432280" y="4001569"/>
                  <a:pt x="7464173" y="4004550"/>
                  <a:pt x="7495356" y="4010107"/>
                </a:cubicBezTo>
                <a:cubicBezTo>
                  <a:pt x="7500932" y="4009688"/>
                  <a:pt x="7506260" y="4010636"/>
                  <a:pt x="7511569" y="4011646"/>
                </a:cubicBezTo>
                <a:lnTo>
                  <a:pt x="7511686" y="4012794"/>
                </a:lnTo>
                <a:cubicBezTo>
                  <a:pt x="7823765" y="4064450"/>
                  <a:pt x="8076994" y="4283539"/>
                  <a:pt x="8170358" y="4572001"/>
                </a:cubicBezTo>
                <a:lnTo>
                  <a:pt x="8032809" y="4572001"/>
                </a:lnTo>
                <a:cubicBezTo>
                  <a:pt x="7949426" y="4357380"/>
                  <a:pt x="7759058" y="4194541"/>
                  <a:pt x="7525056" y="4144250"/>
                </a:cubicBezTo>
                <a:cubicBezTo>
                  <a:pt x="7559550" y="4319650"/>
                  <a:pt x="7661773" y="4471530"/>
                  <a:pt x="7804870" y="4572001"/>
                </a:cubicBezTo>
                <a:lnTo>
                  <a:pt x="7610630" y="4572001"/>
                </a:lnTo>
                <a:cubicBezTo>
                  <a:pt x="7494498" y="4452596"/>
                  <a:pt x="7415935" y="4298519"/>
                  <a:pt x="7391571" y="4127511"/>
                </a:cubicBezTo>
                <a:cubicBezTo>
                  <a:pt x="7391403" y="4127458"/>
                  <a:pt x="7391235" y="4127453"/>
                  <a:pt x="7391065" y="4127448"/>
                </a:cubicBezTo>
                <a:lnTo>
                  <a:pt x="7390527" y="4120772"/>
                </a:lnTo>
                <a:cubicBezTo>
                  <a:pt x="7385468" y="4090522"/>
                  <a:pt x="7383018" y="4059631"/>
                  <a:pt x="7383060" y="4028296"/>
                </a:cubicBezTo>
                <a:cubicBezTo>
                  <a:pt x="7381748" y="4022668"/>
                  <a:pt x="7381689" y="4017001"/>
                  <a:pt x="7381689" y="4011320"/>
                </a:cubicBezTo>
                <a:lnTo>
                  <a:pt x="7382283" y="3999880"/>
                </a:lnTo>
                <a:lnTo>
                  <a:pt x="7382781" y="3999913"/>
                </a:lnTo>
                <a:close/>
                <a:moveTo>
                  <a:pt x="7360056" y="3999419"/>
                </a:moveTo>
                <a:lnTo>
                  <a:pt x="7360082" y="3999913"/>
                </a:lnTo>
                <a:lnTo>
                  <a:pt x="7360580" y="3999880"/>
                </a:lnTo>
                <a:lnTo>
                  <a:pt x="7361174" y="4011320"/>
                </a:lnTo>
                <a:cubicBezTo>
                  <a:pt x="7361174" y="4017001"/>
                  <a:pt x="7361115" y="4022668"/>
                  <a:pt x="7359803" y="4028296"/>
                </a:cubicBezTo>
                <a:cubicBezTo>
                  <a:pt x="7359845" y="4059631"/>
                  <a:pt x="7357395" y="4090522"/>
                  <a:pt x="7352336" y="4120772"/>
                </a:cubicBezTo>
                <a:lnTo>
                  <a:pt x="7351798" y="4127448"/>
                </a:lnTo>
                <a:cubicBezTo>
                  <a:pt x="7351628" y="4127453"/>
                  <a:pt x="7351460" y="4127458"/>
                  <a:pt x="7351292" y="4127511"/>
                </a:cubicBezTo>
                <a:cubicBezTo>
                  <a:pt x="7326927" y="4298519"/>
                  <a:pt x="7248364" y="4452596"/>
                  <a:pt x="7132233" y="4572001"/>
                </a:cubicBezTo>
                <a:lnTo>
                  <a:pt x="6937992" y="4572001"/>
                </a:lnTo>
                <a:cubicBezTo>
                  <a:pt x="7081090" y="4471530"/>
                  <a:pt x="7183313" y="4319650"/>
                  <a:pt x="7217807" y="4144250"/>
                </a:cubicBezTo>
                <a:cubicBezTo>
                  <a:pt x="6983804" y="4194541"/>
                  <a:pt x="6793436" y="4357380"/>
                  <a:pt x="6710053" y="4572001"/>
                </a:cubicBezTo>
                <a:lnTo>
                  <a:pt x="6572505" y="4572001"/>
                </a:lnTo>
                <a:cubicBezTo>
                  <a:pt x="6665868" y="4283539"/>
                  <a:pt x="6919098" y="4064450"/>
                  <a:pt x="7231177" y="4012794"/>
                </a:cubicBezTo>
                <a:lnTo>
                  <a:pt x="7231294" y="4011646"/>
                </a:lnTo>
                <a:cubicBezTo>
                  <a:pt x="7236603" y="4010636"/>
                  <a:pt x="7241931" y="4009688"/>
                  <a:pt x="7247507" y="4010107"/>
                </a:cubicBezTo>
                <a:cubicBezTo>
                  <a:pt x="7278690" y="4004550"/>
                  <a:pt x="7310583" y="4001569"/>
                  <a:pt x="7342968" y="4001042"/>
                </a:cubicBezTo>
                <a:close/>
                <a:moveTo>
                  <a:pt x="5690656" y="3999419"/>
                </a:moveTo>
                <a:lnTo>
                  <a:pt x="5707743" y="4001042"/>
                </a:lnTo>
                <a:cubicBezTo>
                  <a:pt x="5740129" y="4001569"/>
                  <a:pt x="5772021" y="4004550"/>
                  <a:pt x="5803205" y="4010107"/>
                </a:cubicBezTo>
                <a:cubicBezTo>
                  <a:pt x="5808781" y="4009688"/>
                  <a:pt x="5814109" y="4010636"/>
                  <a:pt x="5819417" y="4011646"/>
                </a:cubicBezTo>
                <a:lnTo>
                  <a:pt x="5819534" y="4012794"/>
                </a:lnTo>
                <a:cubicBezTo>
                  <a:pt x="6131614" y="4064450"/>
                  <a:pt x="6384843" y="4283539"/>
                  <a:pt x="6478206" y="4572001"/>
                </a:cubicBezTo>
                <a:lnTo>
                  <a:pt x="6340658" y="4572001"/>
                </a:lnTo>
                <a:cubicBezTo>
                  <a:pt x="6257275" y="4357380"/>
                  <a:pt x="6066907" y="4194541"/>
                  <a:pt x="5832905" y="4144250"/>
                </a:cubicBezTo>
                <a:cubicBezTo>
                  <a:pt x="5867399" y="4319651"/>
                  <a:pt x="5969622" y="4471530"/>
                  <a:pt x="6112719" y="4572001"/>
                </a:cubicBezTo>
                <a:lnTo>
                  <a:pt x="5918478" y="4572001"/>
                </a:lnTo>
                <a:cubicBezTo>
                  <a:pt x="5802347" y="4452596"/>
                  <a:pt x="5723784" y="4298519"/>
                  <a:pt x="5699419" y="4127511"/>
                </a:cubicBezTo>
                <a:cubicBezTo>
                  <a:pt x="5699252" y="4127458"/>
                  <a:pt x="5699083" y="4127453"/>
                  <a:pt x="5698914" y="4127448"/>
                </a:cubicBezTo>
                <a:lnTo>
                  <a:pt x="5698375" y="4120772"/>
                </a:lnTo>
                <a:cubicBezTo>
                  <a:pt x="5693317" y="4090522"/>
                  <a:pt x="5690866" y="4059631"/>
                  <a:pt x="5690908" y="4028296"/>
                </a:cubicBezTo>
                <a:cubicBezTo>
                  <a:pt x="5689596" y="4022668"/>
                  <a:pt x="5689538" y="4017001"/>
                  <a:pt x="5689538" y="4011320"/>
                </a:cubicBezTo>
                <a:lnTo>
                  <a:pt x="5690132" y="3999880"/>
                </a:lnTo>
                <a:lnTo>
                  <a:pt x="5690630" y="3999913"/>
                </a:lnTo>
                <a:close/>
                <a:moveTo>
                  <a:pt x="5667905" y="3999419"/>
                </a:moveTo>
                <a:lnTo>
                  <a:pt x="5667931" y="3999913"/>
                </a:lnTo>
                <a:lnTo>
                  <a:pt x="5668429" y="3999880"/>
                </a:lnTo>
                <a:lnTo>
                  <a:pt x="5669023" y="4011320"/>
                </a:lnTo>
                <a:cubicBezTo>
                  <a:pt x="5669023" y="4017001"/>
                  <a:pt x="5668964" y="4022668"/>
                  <a:pt x="5667652" y="4028296"/>
                </a:cubicBezTo>
                <a:cubicBezTo>
                  <a:pt x="5667694" y="4059631"/>
                  <a:pt x="5665244" y="4090522"/>
                  <a:pt x="5660185" y="4120772"/>
                </a:cubicBezTo>
                <a:lnTo>
                  <a:pt x="5659647" y="4127448"/>
                </a:lnTo>
                <a:cubicBezTo>
                  <a:pt x="5659477" y="4127453"/>
                  <a:pt x="5659309" y="4127458"/>
                  <a:pt x="5659141" y="4127511"/>
                </a:cubicBezTo>
                <a:cubicBezTo>
                  <a:pt x="5634776" y="4298519"/>
                  <a:pt x="5556213" y="4452596"/>
                  <a:pt x="5440082" y="4572001"/>
                </a:cubicBezTo>
                <a:lnTo>
                  <a:pt x="5245841" y="4572001"/>
                </a:lnTo>
                <a:cubicBezTo>
                  <a:pt x="5388939" y="4471530"/>
                  <a:pt x="5491162" y="4319651"/>
                  <a:pt x="5525656" y="4144250"/>
                </a:cubicBezTo>
                <a:cubicBezTo>
                  <a:pt x="5291653" y="4194541"/>
                  <a:pt x="5101285" y="4357380"/>
                  <a:pt x="5017902" y="4572001"/>
                </a:cubicBezTo>
                <a:lnTo>
                  <a:pt x="4880354" y="4572001"/>
                </a:lnTo>
                <a:cubicBezTo>
                  <a:pt x="4973717" y="4283539"/>
                  <a:pt x="5226947" y="4064450"/>
                  <a:pt x="5539026" y="4012794"/>
                </a:cubicBezTo>
                <a:lnTo>
                  <a:pt x="5539143" y="4011646"/>
                </a:lnTo>
                <a:cubicBezTo>
                  <a:pt x="5544452" y="4010636"/>
                  <a:pt x="5549780" y="4009688"/>
                  <a:pt x="5555356" y="4010107"/>
                </a:cubicBezTo>
                <a:cubicBezTo>
                  <a:pt x="5586539" y="4004550"/>
                  <a:pt x="5618432" y="4001569"/>
                  <a:pt x="5650817" y="4001042"/>
                </a:cubicBezTo>
                <a:close/>
                <a:moveTo>
                  <a:pt x="3998505" y="3999419"/>
                </a:moveTo>
                <a:lnTo>
                  <a:pt x="4015592" y="4001042"/>
                </a:lnTo>
                <a:cubicBezTo>
                  <a:pt x="4047978" y="4001569"/>
                  <a:pt x="4079870" y="4004550"/>
                  <a:pt x="4111054" y="4010107"/>
                </a:cubicBezTo>
                <a:cubicBezTo>
                  <a:pt x="4116630" y="4009688"/>
                  <a:pt x="4121958" y="4010636"/>
                  <a:pt x="4127266" y="4011646"/>
                </a:cubicBezTo>
                <a:lnTo>
                  <a:pt x="4127384" y="4012794"/>
                </a:lnTo>
                <a:cubicBezTo>
                  <a:pt x="4439463" y="4064450"/>
                  <a:pt x="4692692" y="4283539"/>
                  <a:pt x="4786055" y="4572001"/>
                </a:cubicBezTo>
                <a:lnTo>
                  <a:pt x="4648508" y="4572001"/>
                </a:lnTo>
                <a:cubicBezTo>
                  <a:pt x="4565124" y="4357380"/>
                  <a:pt x="4374756" y="4194541"/>
                  <a:pt x="4140754" y="4144250"/>
                </a:cubicBezTo>
                <a:cubicBezTo>
                  <a:pt x="4175248" y="4319650"/>
                  <a:pt x="4277471" y="4471530"/>
                  <a:pt x="4420568" y="4572001"/>
                </a:cubicBezTo>
                <a:lnTo>
                  <a:pt x="4226327" y="4572001"/>
                </a:lnTo>
                <a:cubicBezTo>
                  <a:pt x="4110196" y="4452596"/>
                  <a:pt x="4031633" y="4298519"/>
                  <a:pt x="4007268" y="4127511"/>
                </a:cubicBezTo>
                <a:cubicBezTo>
                  <a:pt x="4007101" y="4127458"/>
                  <a:pt x="4006932" y="4127453"/>
                  <a:pt x="4006763" y="4127448"/>
                </a:cubicBezTo>
                <a:lnTo>
                  <a:pt x="4006225" y="4120772"/>
                </a:lnTo>
                <a:cubicBezTo>
                  <a:pt x="4001166" y="4090522"/>
                  <a:pt x="3998715" y="4059631"/>
                  <a:pt x="3998757" y="4028296"/>
                </a:cubicBezTo>
                <a:cubicBezTo>
                  <a:pt x="3997445" y="4022668"/>
                  <a:pt x="3997387" y="4017001"/>
                  <a:pt x="3997387" y="4011320"/>
                </a:cubicBezTo>
                <a:lnTo>
                  <a:pt x="3997981" y="3999880"/>
                </a:lnTo>
                <a:lnTo>
                  <a:pt x="3998479" y="3999913"/>
                </a:lnTo>
                <a:close/>
                <a:moveTo>
                  <a:pt x="3975754" y="3999419"/>
                </a:moveTo>
                <a:lnTo>
                  <a:pt x="3975780" y="3999913"/>
                </a:lnTo>
                <a:lnTo>
                  <a:pt x="3976278" y="3999880"/>
                </a:lnTo>
                <a:lnTo>
                  <a:pt x="3976872" y="4011320"/>
                </a:lnTo>
                <a:cubicBezTo>
                  <a:pt x="3976872" y="4017001"/>
                  <a:pt x="3976813" y="4022668"/>
                  <a:pt x="3975501" y="4028296"/>
                </a:cubicBezTo>
                <a:cubicBezTo>
                  <a:pt x="3975543" y="4059631"/>
                  <a:pt x="3973093" y="4090522"/>
                  <a:pt x="3968034" y="4120772"/>
                </a:cubicBezTo>
                <a:lnTo>
                  <a:pt x="3967496" y="4127448"/>
                </a:lnTo>
                <a:cubicBezTo>
                  <a:pt x="3967326" y="4127453"/>
                  <a:pt x="3967158" y="4127458"/>
                  <a:pt x="3966990" y="4127511"/>
                </a:cubicBezTo>
                <a:cubicBezTo>
                  <a:pt x="3942625" y="4298519"/>
                  <a:pt x="3864063" y="4452596"/>
                  <a:pt x="3747931" y="4572001"/>
                </a:cubicBezTo>
                <a:lnTo>
                  <a:pt x="3553690" y="4572001"/>
                </a:lnTo>
                <a:cubicBezTo>
                  <a:pt x="3696788" y="4471530"/>
                  <a:pt x="3799011" y="4319651"/>
                  <a:pt x="3833505" y="4144250"/>
                </a:cubicBezTo>
                <a:cubicBezTo>
                  <a:pt x="3599503" y="4194541"/>
                  <a:pt x="3409134" y="4357380"/>
                  <a:pt x="3325751" y="4572001"/>
                </a:cubicBezTo>
                <a:lnTo>
                  <a:pt x="3188203" y="4572001"/>
                </a:lnTo>
                <a:cubicBezTo>
                  <a:pt x="3281566" y="4283539"/>
                  <a:pt x="3534796" y="4064450"/>
                  <a:pt x="3846875" y="4012794"/>
                </a:cubicBezTo>
                <a:lnTo>
                  <a:pt x="3846992" y="4011646"/>
                </a:lnTo>
                <a:cubicBezTo>
                  <a:pt x="3852301" y="4010636"/>
                  <a:pt x="3857629" y="4009688"/>
                  <a:pt x="3863205" y="4010107"/>
                </a:cubicBezTo>
                <a:cubicBezTo>
                  <a:pt x="3894388" y="4004550"/>
                  <a:pt x="3926281" y="4001569"/>
                  <a:pt x="3958666" y="4001042"/>
                </a:cubicBezTo>
                <a:close/>
                <a:moveTo>
                  <a:pt x="2306354" y="3999419"/>
                </a:moveTo>
                <a:lnTo>
                  <a:pt x="2323441" y="4001042"/>
                </a:lnTo>
                <a:cubicBezTo>
                  <a:pt x="2355827" y="4001569"/>
                  <a:pt x="2387719" y="4004550"/>
                  <a:pt x="2418903" y="4010107"/>
                </a:cubicBezTo>
                <a:cubicBezTo>
                  <a:pt x="2424479" y="4009688"/>
                  <a:pt x="2429807" y="4010636"/>
                  <a:pt x="2435115" y="4011646"/>
                </a:cubicBezTo>
                <a:lnTo>
                  <a:pt x="2435233" y="4012794"/>
                </a:lnTo>
                <a:cubicBezTo>
                  <a:pt x="2747312" y="4064450"/>
                  <a:pt x="3000542" y="4283539"/>
                  <a:pt x="3093904" y="4572001"/>
                </a:cubicBezTo>
                <a:lnTo>
                  <a:pt x="2956357" y="4572001"/>
                </a:lnTo>
                <a:cubicBezTo>
                  <a:pt x="2872974" y="4357380"/>
                  <a:pt x="2682605" y="4194541"/>
                  <a:pt x="2448603" y="4144250"/>
                </a:cubicBezTo>
                <a:cubicBezTo>
                  <a:pt x="2483097" y="4319651"/>
                  <a:pt x="2585320" y="4471530"/>
                  <a:pt x="2728418" y="4572001"/>
                </a:cubicBezTo>
                <a:lnTo>
                  <a:pt x="2534177" y="4572001"/>
                </a:lnTo>
                <a:cubicBezTo>
                  <a:pt x="2418045" y="4452596"/>
                  <a:pt x="2339482" y="4298519"/>
                  <a:pt x="2315117" y="4127511"/>
                </a:cubicBezTo>
                <a:cubicBezTo>
                  <a:pt x="2314950" y="4127458"/>
                  <a:pt x="2314781" y="4127453"/>
                  <a:pt x="2314612" y="4127448"/>
                </a:cubicBezTo>
                <a:lnTo>
                  <a:pt x="2314074" y="4120772"/>
                </a:lnTo>
                <a:cubicBezTo>
                  <a:pt x="2309015" y="4090522"/>
                  <a:pt x="2306564" y="4059631"/>
                  <a:pt x="2306606" y="4028296"/>
                </a:cubicBezTo>
                <a:cubicBezTo>
                  <a:pt x="2305294" y="4022668"/>
                  <a:pt x="2305236" y="4017001"/>
                  <a:pt x="2305236" y="4011320"/>
                </a:cubicBezTo>
                <a:lnTo>
                  <a:pt x="2305830" y="3999880"/>
                </a:lnTo>
                <a:lnTo>
                  <a:pt x="2306328" y="3999913"/>
                </a:lnTo>
                <a:close/>
                <a:moveTo>
                  <a:pt x="2283603" y="3999419"/>
                </a:moveTo>
                <a:lnTo>
                  <a:pt x="2283629" y="3999913"/>
                </a:lnTo>
                <a:lnTo>
                  <a:pt x="2284127" y="3999880"/>
                </a:lnTo>
                <a:lnTo>
                  <a:pt x="2284721" y="4011320"/>
                </a:lnTo>
                <a:cubicBezTo>
                  <a:pt x="2284721" y="4017001"/>
                  <a:pt x="2284662" y="4022668"/>
                  <a:pt x="2283350" y="4028296"/>
                </a:cubicBezTo>
                <a:cubicBezTo>
                  <a:pt x="2283392" y="4059631"/>
                  <a:pt x="2280942" y="4090522"/>
                  <a:pt x="2275883" y="4120772"/>
                </a:cubicBezTo>
                <a:lnTo>
                  <a:pt x="2275345" y="4127448"/>
                </a:lnTo>
                <a:cubicBezTo>
                  <a:pt x="2275175" y="4127453"/>
                  <a:pt x="2275007" y="4127458"/>
                  <a:pt x="2274839" y="4127511"/>
                </a:cubicBezTo>
                <a:cubicBezTo>
                  <a:pt x="2250474" y="4298519"/>
                  <a:pt x="2171912" y="4452596"/>
                  <a:pt x="2055780" y="4572001"/>
                </a:cubicBezTo>
                <a:lnTo>
                  <a:pt x="1861539" y="4572001"/>
                </a:lnTo>
                <a:cubicBezTo>
                  <a:pt x="2004637" y="4471530"/>
                  <a:pt x="2106860" y="4319650"/>
                  <a:pt x="2141354" y="4144250"/>
                </a:cubicBezTo>
                <a:cubicBezTo>
                  <a:pt x="1907352" y="4194541"/>
                  <a:pt x="1716983" y="4357380"/>
                  <a:pt x="1633600" y="4572001"/>
                </a:cubicBezTo>
                <a:lnTo>
                  <a:pt x="1496052" y="4572001"/>
                </a:lnTo>
                <a:cubicBezTo>
                  <a:pt x="1589416" y="4283539"/>
                  <a:pt x="1842645" y="4064450"/>
                  <a:pt x="2154724" y="4012794"/>
                </a:cubicBezTo>
                <a:lnTo>
                  <a:pt x="2154841" y="4011646"/>
                </a:lnTo>
                <a:cubicBezTo>
                  <a:pt x="2160150" y="4010636"/>
                  <a:pt x="2165478" y="4009688"/>
                  <a:pt x="2171054" y="4010107"/>
                </a:cubicBezTo>
                <a:cubicBezTo>
                  <a:pt x="2202237" y="4004550"/>
                  <a:pt x="2234130" y="4001569"/>
                  <a:pt x="2266515" y="4001042"/>
                </a:cubicBezTo>
                <a:close/>
                <a:moveTo>
                  <a:pt x="614203" y="3999419"/>
                </a:moveTo>
                <a:lnTo>
                  <a:pt x="631290" y="4001042"/>
                </a:lnTo>
                <a:cubicBezTo>
                  <a:pt x="663676" y="4001569"/>
                  <a:pt x="695568" y="4004550"/>
                  <a:pt x="726752" y="4010107"/>
                </a:cubicBezTo>
                <a:cubicBezTo>
                  <a:pt x="732328" y="4009688"/>
                  <a:pt x="737656" y="4010636"/>
                  <a:pt x="742964" y="4011646"/>
                </a:cubicBezTo>
                <a:lnTo>
                  <a:pt x="743081" y="4012794"/>
                </a:lnTo>
                <a:cubicBezTo>
                  <a:pt x="1055161" y="4064450"/>
                  <a:pt x="1308390" y="4283539"/>
                  <a:pt x="1401754" y="4572001"/>
                </a:cubicBezTo>
                <a:lnTo>
                  <a:pt x="1264205" y="4572001"/>
                </a:lnTo>
                <a:cubicBezTo>
                  <a:pt x="1180823" y="4357380"/>
                  <a:pt x="990454" y="4194541"/>
                  <a:pt x="756452" y="4144250"/>
                </a:cubicBezTo>
                <a:cubicBezTo>
                  <a:pt x="790946" y="4319651"/>
                  <a:pt x="893169" y="4471530"/>
                  <a:pt x="1036266" y="4572001"/>
                </a:cubicBezTo>
                <a:lnTo>
                  <a:pt x="842026" y="4572001"/>
                </a:lnTo>
                <a:cubicBezTo>
                  <a:pt x="725894" y="4452596"/>
                  <a:pt x="647331" y="4298519"/>
                  <a:pt x="622966" y="4127511"/>
                </a:cubicBezTo>
                <a:cubicBezTo>
                  <a:pt x="622799" y="4127458"/>
                  <a:pt x="622630" y="4127453"/>
                  <a:pt x="622461" y="4127448"/>
                </a:cubicBezTo>
                <a:lnTo>
                  <a:pt x="621923" y="4120772"/>
                </a:lnTo>
                <a:cubicBezTo>
                  <a:pt x="616864" y="4090522"/>
                  <a:pt x="614413" y="4059631"/>
                  <a:pt x="614455" y="4028296"/>
                </a:cubicBezTo>
                <a:cubicBezTo>
                  <a:pt x="613143" y="4022668"/>
                  <a:pt x="613085" y="4017001"/>
                  <a:pt x="613085" y="4011320"/>
                </a:cubicBezTo>
                <a:lnTo>
                  <a:pt x="613679" y="3999880"/>
                </a:lnTo>
                <a:lnTo>
                  <a:pt x="614177" y="3999913"/>
                </a:lnTo>
                <a:close/>
                <a:moveTo>
                  <a:pt x="591452" y="3999419"/>
                </a:moveTo>
                <a:lnTo>
                  <a:pt x="591478" y="3999913"/>
                </a:lnTo>
                <a:lnTo>
                  <a:pt x="591976" y="3999880"/>
                </a:lnTo>
                <a:lnTo>
                  <a:pt x="592570" y="4011320"/>
                </a:lnTo>
                <a:cubicBezTo>
                  <a:pt x="592570" y="4017001"/>
                  <a:pt x="592511" y="4022668"/>
                  <a:pt x="591199" y="4028296"/>
                </a:cubicBezTo>
                <a:cubicBezTo>
                  <a:pt x="591242" y="4059631"/>
                  <a:pt x="588791" y="4090522"/>
                  <a:pt x="583732" y="4120772"/>
                </a:cubicBezTo>
                <a:lnTo>
                  <a:pt x="583194" y="4127448"/>
                </a:lnTo>
                <a:cubicBezTo>
                  <a:pt x="583024" y="4127453"/>
                  <a:pt x="582856" y="4127458"/>
                  <a:pt x="582689" y="4127511"/>
                </a:cubicBezTo>
                <a:cubicBezTo>
                  <a:pt x="558275" y="4298863"/>
                  <a:pt x="479445" y="4453216"/>
                  <a:pt x="362360" y="4572001"/>
                </a:cubicBezTo>
                <a:lnTo>
                  <a:pt x="169811" y="4572001"/>
                </a:lnTo>
                <a:cubicBezTo>
                  <a:pt x="312603" y="4471357"/>
                  <a:pt x="414729" y="4319551"/>
                  <a:pt x="449203" y="4144250"/>
                </a:cubicBezTo>
                <a:cubicBezTo>
                  <a:pt x="258971" y="4185134"/>
                  <a:pt x="97576" y="4300399"/>
                  <a:pt x="0" y="4458139"/>
                </a:cubicBezTo>
                <a:lnTo>
                  <a:pt x="0" y="4251345"/>
                </a:lnTo>
                <a:cubicBezTo>
                  <a:pt x="121484" y="4128438"/>
                  <a:pt x="282199" y="4042650"/>
                  <a:pt x="462573" y="4012794"/>
                </a:cubicBezTo>
                <a:lnTo>
                  <a:pt x="462690" y="4011646"/>
                </a:lnTo>
                <a:cubicBezTo>
                  <a:pt x="467999" y="4010636"/>
                  <a:pt x="473327" y="4009688"/>
                  <a:pt x="478903" y="4010107"/>
                </a:cubicBezTo>
                <a:cubicBezTo>
                  <a:pt x="510086" y="4004550"/>
                  <a:pt x="541979" y="4001569"/>
                  <a:pt x="574365" y="4001042"/>
                </a:cubicBezTo>
                <a:close/>
                <a:moveTo>
                  <a:pt x="11452667" y="3304913"/>
                </a:moveTo>
                <a:cubicBezTo>
                  <a:pt x="11177477" y="3363591"/>
                  <a:pt x="10962633" y="3576701"/>
                  <a:pt x="10909358" y="3845480"/>
                </a:cubicBezTo>
                <a:cubicBezTo>
                  <a:pt x="11184548" y="3786801"/>
                  <a:pt x="11399391" y="3573691"/>
                  <a:pt x="11452667" y="3304913"/>
                </a:cubicBezTo>
                <a:close/>
                <a:moveTo>
                  <a:pt x="10058800" y="3304913"/>
                </a:moveTo>
                <a:cubicBezTo>
                  <a:pt x="10112076" y="3573691"/>
                  <a:pt x="10326919" y="3786801"/>
                  <a:pt x="10602109" y="3845480"/>
                </a:cubicBezTo>
                <a:cubicBezTo>
                  <a:pt x="10548834" y="3576701"/>
                  <a:pt x="10333990" y="3363591"/>
                  <a:pt x="10058800" y="3304913"/>
                </a:cubicBezTo>
                <a:close/>
                <a:moveTo>
                  <a:pt x="9760514" y="3304913"/>
                </a:moveTo>
                <a:cubicBezTo>
                  <a:pt x="9485324" y="3363591"/>
                  <a:pt x="9270480" y="3576701"/>
                  <a:pt x="9217205" y="3845480"/>
                </a:cubicBezTo>
                <a:cubicBezTo>
                  <a:pt x="9492395" y="3786801"/>
                  <a:pt x="9707238" y="3573691"/>
                  <a:pt x="9760514" y="3304913"/>
                </a:cubicBezTo>
                <a:close/>
                <a:moveTo>
                  <a:pt x="8366649" y="3304913"/>
                </a:moveTo>
                <a:cubicBezTo>
                  <a:pt x="8419925" y="3573691"/>
                  <a:pt x="8634768" y="3786801"/>
                  <a:pt x="8909958" y="3845480"/>
                </a:cubicBezTo>
                <a:cubicBezTo>
                  <a:pt x="8856683" y="3576701"/>
                  <a:pt x="8641839" y="3363591"/>
                  <a:pt x="8366649" y="3304913"/>
                </a:cubicBezTo>
                <a:close/>
                <a:moveTo>
                  <a:pt x="8068363" y="3304913"/>
                </a:moveTo>
                <a:cubicBezTo>
                  <a:pt x="7793173" y="3363591"/>
                  <a:pt x="7578329" y="3576701"/>
                  <a:pt x="7525054" y="3845480"/>
                </a:cubicBezTo>
                <a:cubicBezTo>
                  <a:pt x="7800244" y="3786801"/>
                  <a:pt x="8015087" y="3573691"/>
                  <a:pt x="8068363" y="3304913"/>
                </a:cubicBezTo>
                <a:close/>
                <a:moveTo>
                  <a:pt x="6674498" y="3304913"/>
                </a:moveTo>
                <a:cubicBezTo>
                  <a:pt x="6727774" y="3573691"/>
                  <a:pt x="6942617" y="3786801"/>
                  <a:pt x="7217807" y="3845480"/>
                </a:cubicBezTo>
                <a:cubicBezTo>
                  <a:pt x="7164532" y="3576701"/>
                  <a:pt x="6949688" y="3363591"/>
                  <a:pt x="6674498" y="3304913"/>
                </a:cubicBezTo>
                <a:close/>
                <a:moveTo>
                  <a:pt x="6376212" y="3304913"/>
                </a:moveTo>
                <a:cubicBezTo>
                  <a:pt x="6101022" y="3363591"/>
                  <a:pt x="5886178" y="3576701"/>
                  <a:pt x="5832903" y="3845480"/>
                </a:cubicBezTo>
                <a:cubicBezTo>
                  <a:pt x="6108093" y="3786801"/>
                  <a:pt x="6322936" y="3573691"/>
                  <a:pt x="6376212" y="3304913"/>
                </a:cubicBezTo>
                <a:close/>
                <a:moveTo>
                  <a:pt x="4982347" y="3304913"/>
                </a:moveTo>
                <a:cubicBezTo>
                  <a:pt x="5035623" y="3573691"/>
                  <a:pt x="5250466" y="3786801"/>
                  <a:pt x="5525656" y="3845480"/>
                </a:cubicBezTo>
                <a:cubicBezTo>
                  <a:pt x="5472381" y="3576701"/>
                  <a:pt x="5257537" y="3363591"/>
                  <a:pt x="4982347" y="3304913"/>
                </a:cubicBezTo>
                <a:close/>
                <a:moveTo>
                  <a:pt x="4684061" y="3304913"/>
                </a:moveTo>
                <a:cubicBezTo>
                  <a:pt x="4408871" y="3363591"/>
                  <a:pt x="4194027" y="3576701"/>
                  <a:pt x="4140752" y="3845480"/>
                </a:cubicBezTo>
                <a:cubicBezTo>
                  <a:pt x="4415942" y="3786801"/>
                  <a:pt x="4630785" y="3573691"/>
                  <a:pt x="4684061" y="3304913"/>
                </a:cubicBezTo>
                <a:close/>
                <a:moveTo>
                  <a:pt x="3290196" y="3304913"/>
                </a:moveTo>
                <a:cubicBezTo>
                  <a:pt x="3343472" y="3573691"/>
                  <a:pt x="3558315" y="3786801"/>
                  <a:pt x="3833505" y="3845480"/>
                </a:cubicBezTo>
                <a:cubicBezTo>
                  <a:pt x="3780230" y="3576701"/>
                  <a:pt x="3565386" y="3363591"/>
                  <a:pt x="3290196" y="3304913"/>
                </a:cubicBezTo>
                <a:close/>
                <a:moveTo>
                  <a:pt x="2991910" y="3304913"/>
                </a:moveTo>
                <a:cubicBezTo>
                  <a:pt x="2716720" y="3363591"/>
                  <a:pt x="2501876" y="3576701"/>
                  <a:pt x="2448601" y="3845480"/>
                </a:cubicBezTo>
                <a:cubicBezTo>
                  <a:pt x="2723791" y="3786801"/>
                  <a:pt x="2938634" y="3573691"/>
                  <a:pt x="2991910" y="3304913"/>
                </a:cubicBezTo>
                <a:close/>
                <a:moveTo>
                  <a:pt x="1598045" y="3304913"/>
                </a:moveTo>
                <a:cubicBezTo>
                  <a:pt x="1651321" y="3573691"/>
                  <a:pt x="1866164" y="3786801"/>
                  <a:pt x="2141354" y="3845480"/>
                </a:cubicBezTo>
                <a:cubicBezTo>
                  <a:pt x="2088079" y="3576701"/>
                  <a:pt x="1873235" y="3363591"/>
                  <a:pt x="1598045" y="3304913"/>
                </a:cubicBezTo>
                <a:close/>
                <a:moveTo>
                  <a:pt x="1299759" y="3304913"/>
                </a:moveTo>
                <a:cubicBezTo>
                  <a:pt x="1024569" y="3363591"/>
                  <a:pt x="809725" y="3576701"/>
                  <a:pt x="756450" y="3845480"/>
                </a:cubicBezTo>
                <a:cubicBezTo>
                  <a:pt x="1031640" y="3786801"/>
                  <a:pt x="1246483" y="3573691"/>
                  <a:pt x="1299759" y="3304913"/>
                </a:cubicBezTo>
                <a:close/>
                <a:moveTo>
                  <a:pt x="0" y="3200906"/>
                </a:moveTo>
                <a:cubicBezTo>
                  <a:pt x="306658" y="3291386"/>
                  <a:pt x="537576" y="3547942"/>
                  <a:pt x="582690" y="3862087"/>
                </a:cubicBezTo>
                <a:cubicBezTo>
                  <a:pt x="582857" y="3862140"/>
                  <a:pt x="583026" y="3862145"/>
                  <a:pt x="583195" y="3862150"/>
                </a:cubicBezTo>
                <a:lnTo>
                  <a:pt x="583735" y="3868787"/>
                </a:lnTo>
                <a:cubicBezTo>
                  <a:pt x="588792" y="3898794"/>
                  <a:pt x="591242" y="3929436"/>
                  <a:pt x="591199" y="3960518"/>
                </a:cubicBezTo>
                <a:cubicBezTo>
                  <a:pt x="592511" y="3966104"/>
                  <a:pt x="592570" y="3971728"/>
                  <a:pt x="592570" y="3977366"/>
                </a:cubicBezTo>
                <a:cubicBezTo>
                  <a:pt x="592570" y="3981158"/>
                  <a:pt x="592543" y="3984944"/>
                  <a:pt x="591977" y="3988716"/>
                </a:cubicBezTo>
                <a:lnTo>
                  <a:pt x="591478" y="3988683"/>
                </a:lnTo>
                <a:lnTo>
                  <a:pt x="591452" y="3989174"/>
                </a:lnTo>
                <a:lnTo>
                  <a:pt x="574334" y="3987561"/>
                </a:lnTo>
                <a:cubicBezTo>
                  <a:pt x="541959" y="3987038"/>
                  <a:pt x="510079" y="3984080"/>
                  <a:pt x="478907" y="3978570"/>
                </a:cubicBezTo>
                <a:cubicBezTo>
                  <a:pt x="473330" y="3978986"/>
                  <a:pt x="468001" y="3978045"/>
                  <a:pt x="462690" y="3977042"/>
                </a:cubicBezTo>
                <a:lnTo>
                  <a:pt x="462574" y="3975903"/>
                </a:lnTo>
                <a:cubicBezTo>
                  <a:pt x="282200" y="3946281"/>
                  <a:pt x="121485" y="3861168"/>
                  <a:pt x="0" y="3739225"/>
                </a:cubicBezTo>
                <a:lnTo>
                  <a:pt x="0" y="3534056"/>
                </a:lnTo>
                <a:cubicBezTo>
                  <a:pt x="97584" y="3690562"/>
                  <a:pt x="258975" y="3804918"/>
                  <a:pt x="449203" y="3845480"/>
                </a:cubicBezTo>
                <a:cubicBezTo>
                  <a:pt x="402182" y="3608252"/>
                  <a:pt x="229297" y="3414390"/>
                  <a:pt x="0" y="3332205"/>
                </a:cubicBezTo>
                <a:close/>
                <a:moveTo>
                  <a:pt x="11608704" y="3161219"/>
                </a:moveTo>
                <a:lnTo>
                  <a:pt x="11625791" y="3162829"/>
                </a:lnTo>
                <a:cubicBezTo>
                  <a:pt x="11658177" y="3163352"/>
                  <a:pt x="11690070" y="3166310"/>
                  <a:pt x="11721253" y="3171823"/>
                </a:cubicBezTo>
                <a:cubicBezTo>
                  <a:pt x="11726829" y="3171407"/>
                  <a:pt x="11732157" y="3172348"/>
                  <a:pt x="11737466" y="3173350"/>
                </a:cubicBezTo>
                <a:lnTo>
                  <a:pt x="11737583" y="3174489"/>
                </a:lnTo>
                <a:cubicBezTo>
                  <a:pt x="11914088" y="3203476"/>
                  <a:pt x="12071767" y="3285599"/>
                  <a:pt x="12192000" y="3403667"/>
                </a:cubicBezTo>
                <a:lnTo>
                  <a:pt x="12192000" y="3603658"/>
                </a:lnTo>
                <a:cubicBezTo>
                  <a:pt x="12093732" y="3453636"/>
                  <a:pt x="11935983" y="3344367"/>
                  <a:pt x="11750953" y="3304913"/>
                </a:cubicBezTo>
                <a:cubicBezTo>
                  <a:pt x="11797422" y="3539349"/>
                  <a:pt x="11966808" y="3731433"/>
                  <a:pt x="12192000" y="3815480"/>
                </a:cubicBezTo>
                <a:lnTo>
                  <a:pt x="12192000" y="3947482"/>
                </a:lnTo>
                <a:cubicBezTo>
                  <a:pt x="11889465" y="3854506"/>
                  <a:pt x="11662185" y="3599697"/>
                  <a:pt x="11617468" y="3288305"/>
                </a:cubicBezTo>
                <a:cubicBezTo>
                  <a:pt x="11617300" y="3288253"/>
                  <a:pt x="11617132" y="3288248"/>
                  <a:pt x="11616962" y="3288243"/>
                </a:cubicBezTo>
                <a:lnTo>
                  <a:pt x="11616424" y="3281619"/>
                </a:lnTo>
                <a:cubicBezTo>
                  <a:pt x="11611365" y="3251607"/>
                  <a:pt x="11608914" y="3220958"/>
                  <a:pt x="11608957" y="3189869"/>
                </a:cubicBezTo>
                <a:cubicBezTo>
                  <a:pt x="11607645" y="3184286"/>
                  <a:pt x="11607586" y="3178663"/>
                  <a:pt x="11607586" y="3173027"/>
                </a:cubicBezTo>
                <a:lnTo>
                  <a:pt x="11608180" y="3161677"/>
                </a:lnTo>
                <a:lnTo>
                  <a:pt x="11608678" y="3161709"/>
                </a:lnTo>
                <a:close/>
                <a:moveTo>
                  <a:pt x="11594916" y="3161219"/>
                </a:moveTo>
                <a:lnTo>
                  <a:pt x="11594942" y="3161709"/>
                </a:lnTo>
                <a:lnTo>
                  <a:pt x="11595440" y="3161677"/>
                </a:lnTo>
                <a:lnTo>
                  <a:pt x="11596034" y="3173027"/>
                </a:lnTo>
                <a:cubicBezTo>
                  <a:pt x="11596034" y="3178663"/>
                  <a:pt x="11595975" y="3184286"/>
                  <a:pt x="11594663" y="3189869"/>
                </a:cubicBezTo>
                <a:cubicBezTo>
                  <a:pt x="11594706" y="3220958"/>
                  <a:pt x="11592255" y="3251607"/>
                  <a:pt x="11587196" y="3281619"/>
                </a:cubicBezTo>
                <a:lnTo>
                  <a:pt x="11586658" y="3288243"/>
                </a:lnTo>
                <a:cubicBezTo>
                  <a:pt x="11586488" y="3288248"/>
                  <a:pt x="11586320" y="3288253"/>
                  <a:pt x="11586152" y="3288305"/>
                </a:cubicBezTo>
                <a:cubicBezTo>
                  <a:pt x="11535877" y="3638399"/>
                  <a:pt x="11254838" y="3916971"/>
                  <a:pt x="10895987" y="3975903"/>
                </a:cubicBezTo>
                <a:lnTo>
                  <a:pt x="10895871" y="3977042"/>
                </a:lnTo>
                <a:cubicBezTo>
                  <a:pt x="10890560" y="3978045"/>
                  <a:pt x="10885231" y="3978986"/>
                  <a:pt x="10879654" y="3978570"/>
                </a:cubicBezTo>
                <a:cubicBezTo>
                  <a:pt x="10848482" y="3984080"/>
                  <a:pt x="10816602" y="3987038"/>
                  <a:pt x="10784227" y="3987561"/>
                </a:cubicBezTo>
                <a:lnTo>
                  <a:pt x="10767109" y="3989174"/>
                </a:lnTo>
                <a:lnTo>
                  <a:pt x="10767083" y="3988683"/>
                </a:lnTo>
                <a:lnTo>
                  <a:pt x="10766584" y="3988716"/>
                </a:lnTo>
                <a:cubicBezTo>
                  <a:pt x="10766018" y="3984944"/>
                  <a:pt x="10765991" y="3981158"/>
                  <a:pt x="10765991" y="3977366"/>
                </a:cubicBezTo>
                <a:cubicBezTo>
                  <a:pt x="10765991" y="3971728"/>
                  <a:pt x="10766050" y="3966104"/>
                  <a:pt x="10767362" y="3960518"/>
                </a:cubicBezTo>
                <a:cubicBezTo>
                  <a:pt x="10767319" y="3929436"/>
                  <a:pt x="10769769" y="3898794"/>
                  <a:pt x="10774826" y="3868787"/>
                </a:cubicBezTo>
                <a:lnTo>
                  <a:pt x="10775366" y="3862150"/>
                </a:lnTo>
                <a:cubicBezTo>
                  <a:pt x="10775535" y="3862145"/>
                  <a:pt x="10775704" y="3862140"/>
                  <a:pt x="10775872" y="3862087"/>
                </a:cubicBezTo>
                <a:cubicBezTo>
                  <a:pt x="10826148" y="3511992"/>
                  <a:pt x="11107187" y="3233421"/>
                  <a:pt x="11466037" y="3174489"/>
                </a:cubicBezTo>
                <a:lnTo>
                  <a:pt x="11466154" y="3173350"/>
                </a:lnTo>
                <a:cubicBezTo>
                  <a:pt x="11471463" y="3172348"/>
                  <a:pt x="11476791" y="3171407"/>
                  <a:pt x="11482367" y="3171823"/>
                </a:cubicBezTo>
                <a:cubicBezTo>
                  <a:pt x="11513550" y="3166310"/>
                  <a:pt x="11545443" y="3163352"/>
                  <a:pt x="11577829" y="3162829"/>
                </a:cubicBezTo>
                <a:close/>
                <a:moveTo>
                  <a:pt x="9916551" y="3161219"/>
                </a:moveTo>
                <a:lnTo>
                  <a:pt x="9933638" y="3162829"/>
                </a:lnTo>
                <a:cubicBezTo>
                  <a:pt x="9966024" y="3163352"/>
                  <a:pt x="9997917" y="3166310"/>
                  <a:pt x="10029100" y="3171823"/>
                </a:cubicBezTo>
                <a:cubicBezTo>
                  <a:pt x="10034676" y="3171407"/>
                  <a:pt x="10040004" y="3172348"/>
                  <a:pt x="10045313" y="3173350"/>
                </a:cubicBezTo>
                <a:lnTo>
                  <a:pt x="10045430" y="3174489"/>
                </a:lnTo>
                <a:cubicBezTo>
                  <a:pt x="10404280" y="3233421"/>
                  <a:pt x="10685319" y="3511992"/>
                  <a:pt x="10735596" y="3862087"/>
                </a:cubicBezTo>
                <a:cubicBezTo>
                  <a:pt x="10735763" y="3862140"/>
                  <a:pt x="10735932" y="3862145"/>
                  <a:pt x="10736101" y="3862150"/>
                </a:cubicBezTo>
                <a:lnTo>
                  <a:pt x="10736641" y="3868787"/>
                </a:lnTo>
                <a:cubicBezTo>
                  <a:pt x="10741698" y="3898794"/>
                  <a:pt x="10744148" y="3929436"/>
                  <a:pt x="10744105" y="3960518"/>
                </a:cubicBezTo>
                <a:cubicBezTo>
                  <a:pt x="10745417" y="3966104"/>
                  <a:pt x="10745476" y="3971728"/>
                  <a:pt x="10745476" y="3977366"/>
                </a:cubicBezTo>
                <a:cubicBezTo>
                  <a:pt x="10745476" y="3981158"/>
                  <a:pt x="10745449" y="3984944"/>
                  <a:pt x="10744883" y="3988716"/>
                </a:cubicBezTo>
                <a:lnTo>
                  <a:pt x="10744384" y="3988683"/>
                </a:lnTo>
                <a:lnTo>
                  <a:pt x="10744358" y="3989174"/>
                </a:lnTo>
                <a:lnTo>
                  <a:pt x="10727240" y="3987561"/>
                </a:lnTo>
                <a:cubicBezTo>
                  <a:pt x="10694865" y="3987038"/>
                  <a:pt x="10662985" y="3984080"/>
                  <a:pt x="10631813" y="3978570"/>
                </a:cubicBezTo>
                <a:cubicBezTo>
                  <a:pt x="10626236" y="3978986"/>
                  <a:pt x="10620907" y="3978045"/>
                  <a:pt x="10615596" y="3977042"/>
                </a:cubicBezTo>
                <a:lnTo>
                  <a:pt x="10615480" y="3975903"/>
                </a:lnTo>
                <a:cubicBezTo>
                  <a:pt x="10256629" y="3916971"/>
                  <a:pt x="9975590" y="3638399"/>
                  <a:pt x="9925315" y="3288305"/>
                </a:cubicBezTo>
                <a:cubicBezTo>
                  <a:pt x="9925147" y="3288253"/>
                  <a:pt x="9924979" y="3288248"/>
                  <a:pt x="9924809" y="3288243"/>
                </a:cubicBezTo>
                <a:lnTo>
                  <a:pt x="9924271" y="3281619"/>
                </a:lnTo>
                <a:cubicBezTo>
                  <a:pt x="9919212" y="3251607"/>
                  <a:pt x="9916761" y="3220958"/>
                  <a:pt x="9916804" y="3189869"/>
                </a:cubicBezTo>
                <a:cubicBezTo>
                  <a:pt x="9915492" y="3184286"/>
                  <a:pt x="9915433" y="3178663"/>
                  <a:pt x="9915433" y="3173027"/>
                </a:cubicBezTo>
                <a:lnTo>
                  <a:pt x="9916027" y="3161677"/>
                </a:lnTo>
                <a:lnTo>
                  <a:pt x="9916525" y="3161709"/>
                </a:lnTo>
                <a:close/>
                <a:moveTo>
                  <a:pt x="9902763" y="3161219"/>
                </a:moveTo>
                <a:lnTo>
                  <a:pt x="9902789" y="3161709"/>
                </a:lnTo>
                <a:lnTo>
                  <a:pt x="9903287" y="3161677"/>
                </a:lnTo>
                <a:lnTo>
                  <a:pt x="9903881" y="3173027"/>
                </a:lnTo>
                <a:cubicBezTo>
                  <a:pt x="9903881" y="3178663"/>
                  <a:pt x="9903822" y="3184286"/>
                  <a:pt x="9902510" y="3189869"/>
                </a:cubicBezTo>
                <a:cubicBezTo>
                  <a:pt x="9902553" y="3220958"/>
                  <a:pt x="9900102" y="3251607"/>
                  <a:pt x="9895043" y="3281619"/>
                </a:cubicBezTo>
                <a:lnTo>
                  <a:pt x="9894505" y="3288243"/>
                </a:lnTo>
                <a:cubicBezTo>
                  <a:pt x="9894335" y="3288248"/>
                  <a:pt x="9894167" y="3288253"/>
                  <a:pt x="9893999" y="3288305"/>
                </a:cubicBezTo>
                <a:cubicBezTo>
                  <a:pt x="9843724" y="3638399"/>
                  <a:pt x="9562685" y="3916971"/>
                  <a:pt x="9203834" y="3975903"/>
                </a:cubicBezTo>
                <a:lnTo>
                  <a:pt x="9203718" y="3977042"/>
                </a:lnTo>
                <a:cubicBezTo>
                  <a:pt x="9198407" y="3978045"/>
                  <a:pt x="9193078" y="3978986"/>
                  <a:pt x="9187501" y="3978570"/>
                </a:cubicBezTo>
                <a:cubicBezTo>
                  <a:pt x="9156329" y="3984080"/>
                  <a:pt x="9124449" y="3987038"/>
                  <a:pt x="9092074" y="3987561"/>
                </a:cubicBezTo>
                <a:lnTo>
                  <a:pt x="9074956" y="3989174"/>
                </a:lnTo>
                <a:lnTo>
                  <a:pt x="9074930" y="3988683"/>
                </a:lnTo>
                <a:lnTo>
                  <a:pt x="9074431" y="3988716"/>
                </a:lnTo>
                <a:cubicBezTo>
                  <a:pt x="9073865" y="3984944"/>
                  <a:pt x="9073838" y="3981158"/>
                  <a:pt x="9073838" y="3977366"/>
                </a:cubicBezTo>
                <a:cubicBezTo>
                  <a:pt x="9073838" y="3971728"/>
                  <a:pt x="9073897" y="3966104"/>
                  <a:pt x="9075209" y="3960518"/>
                </a:cubicBezTo>
                <a:cubicBezTo>
                  <a:pt x="9075166" y="3929436"/>
                  <a:pt x="9077616" y="3898794"/>
                  <a:pt x="9082673" y="3868787"/>
                </a:cubicBezTo>
                <a:lnTo>
                  <a:pt x="9083213" y="3862150"/>
                </a:lnTo>
                <a:cubicBezTo>
                  <a:pt x="9083382" y="3862145"/>
                  <a:pt x="9083551" y="3862140"/>
                  <a:pt x="9083718" y="3862087"/>
                </a:cubicBezTo>
                <a:cubicBezTo>
                  <a:pt x="9133995" y="3511992"/>
                  <a:pt x="9415034" y="3233421"/>
                  <a:pt x="9773884" y="3174489"/>
                </a:cubicBezTo>
                <a:lnTo>
                  <a:pt x="9774001" y="3173350"/>
                </a:lnTo>
                <a:cubicBezTo>
                  <a:pt x="9779310" y="3172348"/>
                  <a:pt x="9784638" y="3171407"/>
                  <a:pt x="9790214" y="3171823"/>
                </a:cubicBezTo>
                <a:cubicBezTo>
                  <a:pt x="9821397" y="3166310"/>
                  <a:pt x="9853290" y="3163352"/>
                  <a:pt x="9885676" y="3162829"/>
                </a:cubicBezTo>
                <a:close/>
                <a:moveTo>
                  <a:pt x="8224400" y="3161219"/>
                </a:moveTo>
                <a:lnTo>
                  <a:pt x="8241488" y="3162829"/>
                </a:lnTo>
                <a:cubicBezTo>
                  <a:pt x="8273873" y="3163352"/>
                  <a:pt x="8305766" y="3166310"/>
                  <a:pt x="8336949" y="3171823"/>
                </a:cubicBezTo>
                <a:cubicBezTo>
                  <a:pt x="8342525" y="3171407"/>
                  <a:pt x="8347853" y="3172348"/>
                  <a:pt x="8353162" y="3173350"/>
                </a:cubicBezTo>
                <a:lnTo>
                  <a:pt x="8353279" y="3174489"/>
                </a:lnTo>
                <a:cubicBezTo>
                  <a:pt x="8712129" y="3233421"/>
                  <a:pt x="8993168" y="3511992"/>
                  <a:pt x="9043444" y="3862087"/>
                </a:cubicBezTo>
                <a:cubicBezTo>
                  <a:pt x="9043612" y="3862140"/>
                  <a:pt x="9043781" y="3862145"/>
                  <a:pt x="9043950" y="3862150"/>
                </a:cubicBezTo>
                <a:lnTo>
                  <a:pt x="9044490" y="3868787"/>
                </a:lnTo>
                <a:cubicBezTo>
                  <a:pt x="9049547" y="3898794"/>
                  <a:pt x="9051997" y="3929436"/>
                  <a:pt x="9051954" y="3960518"/>
                </a:cubicBezTo>
                <a:cubicBezTo>
                  <a:pt x="9053266" y="3966104"/>
                  <a:pt x="9053325" y="3971728"/>
                  <a:pt x="9053325" y="3977366"/>
                </a:cubicBezTo>
                <a:cubicBezTo>
                  <a:pt x="9053325" y="3981158"/>
                  <a:pt x="9053298" y="3984944"/>
                  <a:pt x="9052732" y="3988716"/>
                </a:cubicBezTo>
                <a:lnTo>
                  <a:pt x="9052233" y="3988683"/>
                </a:lnTo>
                <a:lnTo>
                  <a:pt x="9052207" y="3989174"/>
                </a:lnTo>
                <a:lnTo>
                  <a:pt x="9035089" y="3987561"/>
                </a:lnTo>
                <a:cubicBezTo>
                  <a:pt x="9002714" y="3987038"/>
                  <a:pt x="8970834" y="3984080"/>
                  <a:pt x="8939662" y="3978570"/>
                </a:cubicBezTo>
                <a:cubicBezTo>
                  <a:pt x="8934085" y="3978986"/>
                  <a:pt x="8928756" y="3978045"/>
                  <a:pt x="8923445" y="3977042"/>
                </a:cubicBezTo>
                <a:lnTo>
                  <a:pt x="8923329" y="3975903"/>
                </a:lnTo>
                <a:cubicBezTo>
                  <a:pt x="8564478" y="3916971"/>
                  <a:pt x="8283439" y="3638399"/>
                  <a:pt x="8233164" y="3288305"/>
                </a:cubicBezTo>
                <a:cubicBezTo>
                  <a:pt x="8232996" y="3288253"/>
                  <a:pt x="8232828" y="3288248"/>
                  <a:pt x="8232658" y="3288243"/>
                </a:cubicBezTo>
                <a:lnTo>
                  <a:pt x="8232120" y="3281619"/>
                </a:lnTo>
                <a:cubicBezTo>
                  <a:pt x="8227061" y="3251607"/>
                  <a:pt x="8224611" y="3220958"/>
                  <a:pt x="8224653" y="3189869"/>
                </a:cubicBezTo>
                <a:cubicBezTo>
                  <a:pt x="8223341" y="3184286"/>
                  <a:pt x="8223282" y="3178663"/>
                  <a:pt x="8223282" y="3173027"/>
                </a:cubicBezTo>
                <a:lnTo>
                  <a:pt x="8223876" y="3161677"/>
                </a:lnTo>
                <a:lnTo>
                  <a:pt x="8224374" y="3161709"/>
                </a:lnTo>
                <a:close/>
                <a:moveTo>
                  <a:pt x="8210612" y="3161219"/>
                </a:moveTo>
                <a:lnTo>
                  <a:pt x="8210638" y="3161709"/>
                </a:lnTo>
                <a:lnTo>
                  <a:pt x="8211136" y="3161677"/>
                </a:lnTo>
                <a:lnTo>
                  <a:pt x="8211730" y="3173027"/>
                </a:lnTo>
                <a:cubicBezTo>
                  <a:pt x="8211730" y="3178663"/>
                  <a:pt x="8211672" y="3184286"/>
                  <a:pt x="8210360" y="3189869"/>
                </a:cubicBezTo>
                <a:cubicBezTo>
                  <a:pt x="8210402" y="3220958"/>
                  <a:pt x="8207951" y="3251607"/>
                  <a:pt x="8202893" y="3281619"/>
                </a:cubicBezTo>
                <a:lnTo>
                  <a:pt x="8202354" y="3288243"/>
                </a:lnTo>
                <a:cubicBezTo>
                  <a:pt x="8202185" y="3288248"/>
                  <a:pt x="8202016" y="3288253"/>
                  <a:pt x="8201849" y="3288305"/>
                </a:cubicBezTo>
                <a:cubicBezTo>
                  <a:pt x="8151573" y="3638399"/>
                  <a:pt x="7870534" y="3916971"/>
                  <a:pt x="7511683" y="3975903"/>
                </a:cubicBezTo>
                <a:lnTo>
                  <a:pt x="7511567" y="3977042"/>
                </a:lnTo>
                <a:cubicBezTo>
                  <a:pt x="7506256" y="3978045"/>
                  <a:pt x="7500927" y="3978986"/>
                  <a:pt x="7495350" y="3978570"/>
                </a:cubicBezTo>
                <a:cubicBezTo>
                  <a:pt x="7464178" y="3984080"/>
                  <a:pt x="7432298" y="3987038"/>
                  <a:pt x="7399924" y="3987561"/>
                </a:cubicBezTo>
                <a:lnTo>
                  <a:pt x="7382805" y="3989174"/>
                </a:lnTo>
                <a:lnTo>
                  <a:pt x="7382779" y="3988683"/>
                </a:lnTo>
                <a:lnTo>
                  <a:pt x="7382280" y="3988716"/>
                </a:lnTo>
                <a:cubicBezTo>
                  <a:pt x="7381714" y="3984944"/>
                  <a:pt x="7381687" y="3981158"/>
                  <a:pt x="7381687" y="3977366"/>
                </a:cubicBezTo>
                <a:cubicBezTo>
                  <a:pt x="7381687" y="3971728"/>
                  <a:pt x="7381746" y="3966104"/>
                  <a:pt x="7383058" y="3960518"/>
                </a:cubicBezTo>
                <a:cubicBezTo>
                  <a:pt x="7383016" y="3929436"/>
                  <a:pt x="7385465" y="3898794"/>
                  <a:pt x="7390522" y="3868787"/>
                </a:cubicBezTo>
                <a:lnTo>
                  <a:pt x="7391062" y="3862150"/>
                </a:lnTo>
                <a:cubicBezTo>
                  <a:pt x="7391231" y="3862145"/>
                  <a:pt x="7391400" y="3862140"/>
                  <a:pt x="7391568" y="3862087"/>
                </a:cubicBezTo>
                <a:cubicBezTo>
                  <a:pt x="7441844" y="3511992"/>
                  <a:pt x="7722883" y="3233421"/>
                  <a:pt x="8081734" y="3174489"/>
                </a:cubicBezTo>
                <a:lnTo>
                  <a:pt x="8081851" y="3173350"/>
                </a:lnTo>
                <a:cubicBezTo>
                  <a:pt x="8087159" y="3172348"/>
                  <a:pt x="8092487" y="3171407"/>
                  <a:pt x="8098063" y="3171823"/>
                </a:cubicBezTo>
                <a:cubicBezTo>
                  <a:pt x="8129247" y="3166310"/>
                  <a:pt x="8161139" y="3163352"/>
                  <a:pt x="8193525" y="3162829"/>
                </a:cubicBezTo>
                <a:close/>
                <a:moveTo>
                  <a:pt x="6532249" y="3161219"/>
                </a:moveTo>
                <a:lnTo>
                  <a:pt x="6549337" y="3162829"/>
                </a:lnTo>
                <a:cubicBezTo>
                  <a:pt x="6581722" y="3163352"/>
                  <a:pt x="6613615" y="3166310"/>
                  <a:pt x="6644798" y="3171823"/>
                </a:cubicBezTo>
                <a:cubicBezTo>
                  <a:pt x="6650374" y="3171407"/>
                  <a:pt x="6655702" y="3172348"/>
                  <a:pt x="6661011" y="3173350"/>
                </a:cubicBezTo>
                <a:lnTo>
                  <a:pt x="6661128" y="3174489"/>
                </a:lnTo>
                <a:cubicBezTo>
                  <a:pt x="7019978" y="3233421"/>
                  <a:pt x="7301017" y="3511992"/>
                  <a:pt x="7351294" y="3862087"/>
                </a:cubicBezTo>
                <a:cubicBezTo>
                  <a:pt x="7351461" y="3862140"/>
                  <a:pt x="7351631" y="3862145"/>
                  <a:pt x="7351799" y="3862150"/>
                </a:cubicBezTo>
                <a:lnTo>
                  <a:pt x="7352340" y="3868787"/>
                </a:lnTo>
                <a:cubicBezTo>
                  <a:pt x="7357396" y="3898794"/>
                  <a:pt x="7359846" y="3929436"/>
                  <a:pt x="7359804" y="3960518"/>
                </a:cubicBezTo>
                <a:cubicBezTo>
                  <a:pt x="7361116" y="3966104"/>
                  <a:pt x="7361174" y="3971728"/>
                  <a:pt x="7361174" y="3977366"/>
                </a:cubicBezTo>
                <a:cubicBezTo>
                  <a:pt x="7361174" y="3981158"/>
                  <a:pt x="7361147" y="3984944"/>
                  <a:pt x="7360581" y="3988716"/>
                </a:cubicBezTo>
                <a:lnTo>
                  <a:pt x="7360082" y="3988683"/>
                </a:lnTo>
                <a:lnTo>
                  <a:pt x="7360056" y="3989174"/>
                </a:lnTo>
                <a:lnTo>
                  <a:pt x="7342938" y="3987561"/>
                </a:lnTo>
                <a:cubicBezTo>
                  <a:pt x="7310564" y="3987038"/>
                  <a:pt x="7278683" y="3984080"/>
                  <a:pt x="7247511" y="3978570"/>
                </a:cubicBezTo>
                <a:cubicBezTo>
                  <a:pt x="7241934" y="3978986"/>
                  <a:pt x="7236605" y="3978045"/>
                  <a:pt x="7231295" y="3977042"/>
                </a:cubicBezTo>
                <a:lnTo>
                  <a:pt x="7231179" y="3975903"/>
                </a:lnTo>
                <a:cubicBezTo>
                  <a:pt x="6872327" y="3916971"/>
                  <a:pt x="6591288" y="3638399"/>
                  <a:pt x="6541013" y="3288305"/>
                </a:cubicBezTo>
                <a:cubicBezTo>
                  <a:pt x="6540845" y="3288253"/>
                  <a:pt x="6540677" y="3288248"/>
                  <a:pt x="6540507" y="3288243"/>
                </a:cubicBezTo>
                <a:lnTo>
                  <a:pt x="6539969" y="3281619"/>
                </a:lnTo>
                <a:cubicBezTo>
                  <a:pt x="6534910" y="3251607"/>
                  <a:pt x="6532460" y="3220958"/>
                  <a:pt x="6532502" y="3189869"/>
                </a:cubicBezTo>
                <a:cubicBezTo>
                  <a:pt x="6531190" y="3184286"/>
                  <a:pt x="6531131" y="3178663"/>
                  <a:pt x="6531131" y="3173027"/>
                </a:cubicBezTo>
                <a:lnTo>
                  <a:pt x="6531725" y="3161677"/>
                </a:lnTo>
                <a:lnTo>
                  <a:pt x="6532223" y="3161709"/>
                </a:lnTo>
                <a:close/>
                <a:moveTo>
                  <a:pt x="6518461" y="3161219"/>
                </a:moveTo>
                <a:lnTo>
                  <a:pt x="6518487" y="3161709"/>
                </a:lnTo>
                <a:lnTo>
                  <a:pt x="6518985" y="3161677"/>
                </a:lnTo>
                <a:lnTo>
                  <a:pt x="6519579" y="3173027"/>
                </a:lnTo>
                <a:cubicBezTo>
                  <a:pt x="6519579" y="3178663"/>
                  <a:pt x="6519520" y="3184286"/>
                  <a:pt x="6518208" y="3189869"/>
                </a:cubicBezTo>
                <a:cubicBezTo>
                  <a:pt x="6518250" y="3220958"/>
                  <a:pt x="6515800" y="3251607"/>
                  <a:pt x="6510741" y="3281619"/>
                </a:cubicBezTo>
                <a:lnTo>
                  <a:pt x="6510203" y="3288243"/>
                </a:lnTo>
                <a:cubicBezTo>
                  <a:pt x="6510033" y="3288248"/>
                  <a:pt x="6509865" y="3288253"/>
                  <a:pt x="6509697" y="3288305"/>
                </a:cubicBezTo>
                <a:cubicBezTo>
                  <a:pt x="6459422" y="3638399"/>
                  <a:pt x="6178383" y="3916971"/>
                  <a:pt x="5819531" y="3975903"/>
                </a:cubicBezTo>
                <a:lnTo>
                  <a:pt x="5819415" y="3977042"/>
                </a:lnTo>
                <a:cubicBezTo>
                  <a:pt x="5814105" y="3978045"/>
                  <a:pt x="5808776" y="3978986"/>
                  <a:pt x="5803199" y="3978570"/>
                </a:cubicBezTo>
                <a:cubicBezTo>
                  <a:pt x="5772027" y="3984080"/>
                  <a:pt x="5740146" y="3987038"/>
                  <a:pt x="5707772" y="3987561"/>
                </a:cubicBezTo>
                <a:lnTo>
                  <a:pt x="5690654" y="3989174"/>
                </a:lnTo>
                <a:lnTo>
                  <a:pt x="5690628" y="3988683"/>
                </a:lnTo>
                <a:lnTo>
                  <a:pt x="5690129" y="3988716"/>
                </a:lnTo>
                <a:cubicBezTo>
                  <a:pt x="5689563" y="3984944"/>
                  <a:pt x="5689536" y="3981158"/>
                  <a:pt x="5689536" y="3977366"/>
                </a:cubicBezTo>
                <a:cubicBezTo>
                  <a:pt x="5689536" y="3971728"/>
                  <a:pt x="5689594" y="3966104"/>
                  <a:pt x="5690906" y="3960518"/>
                </a:cubicBezTo>
                <a:cubicBezTo>
                  <a:pt x="5690864" y="3929436"/>
                  <a:pt x="5693314" y="3898794"/>
                  <a:pt x="5698370" y="3868787"/>
                </a:cubicBezTo>
                <a:lnTo>
                  <a:pt x="5698911" y="3862150"/>
                </a:lnTo>
                <a:cubicBezTo>
                  <a:pt x="5699079" y="3862145"/>
                  <a:pt x="5699249" y="3862140"/>
                  <a:pt x="5699416" y="3862087"/>
                </a:cubicBezTo>
                <a:cubicBezTo>
                  <a:pt x="5749693" y="3511992"/>
                  <a:pt x="6030732" y="3233421"/>
                  <a:pt x="6389582" y="3174489"/>
                </a:cubicBezTo>
                <a:lnTo>
                  <a:pt x="6389699" y="3173350"/>
                </a:lnTo>
                <a:cubicBezTo>
                  <a:pt x="6395008" y="3172348"/>
                  <a:pt x="6400336" y="3171407"/>
                  <a:pt x="6405912" y="3171823"/>
                </a:cubicBezTo>
                <a:cubicBezTo>
                  <a:pt x="6437095" y="3166310"/>
                  <a:pt x="6468988" y="3163352"/>
                  <a:pt x="6501373" y="3162829"/>
                </a:cubicBezTo>
                <a:close/>
                <a:moveTo>
                  <a:pt x="4840098" y="3161219"/>
                </a:moveTo>
                <a:lnTo>
                  <a:pt x="4857185" y="3162829"/>
                </a:lnTo>
                <a:cubicBezTo>
                  <a:pt x="4889571" y="3163352"/>
                  <a:pt x="4921463" y="3166310"/>
                  <a:pt x="4952647" y="3171823"/>
                </a:cubicBezTo>
                <a:cubicBezTo>
                  <a:pt x="4958223" y="3171407"/>
                  <a:pt x="4963551" y="3172348"/>
                  <a:pt x="4968859" y="3173350"/>
                </a:cubicBezTo>
                <a:lnTo>
                  <a:pt x="4968976" y="3174489"/>
                </a:lnTo>
                <a:cubicBezTo>
                  <a:pt x="5327827" y="3233421"/>
                  <a:pt x="5608866" y="3511992"/>
                  <a:pt x="5659142" y="3862087"/>
                </a:cubicBezTo>
                <a:cubicBezTo>
                  <a:pt x="5659310" y="3862140"/>
                  <a:pt x="5659479" y="3862145"/>
                  <a:pt x="5659648" y="3862150"/>
                </a:cubicBezTo>
                <a:lnTo>
                  <a:pt x="5660188" y="3868787"/>
                </a:lnTo>
                <a:cubicBezTo>
                  <a:pt x="5665245" y="3898794"/>
                  <a:pt x="5667694" y="3929436"/>
                  <a:pt x="5667652" y="3960518"/>
                </a:cubicBezTo>
                <a:cubicBezTo>
                  <a:pt x="5668964" y="3966104"/>
                  <a:pt x="5669023" y="3971728"/>
                  <a:pt x="5669023" y="3977366"/>
                </a:cubicBezTo>
                <a:cubicBezTo>
                  <a:pt x="5669023" y="3981158"/>
                  <a:pt x="5668996" y="3984944"/>
                  <a:pt x="5668430" y="3988716"/>
                </a:cubicBezTo>
                <a:lnTo>
                  <a:pt x="5667931" y="3988683"/>
                </a:lnTo>
                <a:lnTo>
                  <a:pt x="5667905" y="3989174"/>
                </a:lnTo>
                <a:lnTo>
                  <a:pt x="5650786" y="3987561"/>
                </a:lnTo>
                <a:cubicBezTo>
                  <a:pt x="5618412" y="3987038"/>
                  <a:pt x="5586532" y="3984080"/>
                  <a:pt x="5555360" y="3978570"/>
                </a:cubicBezTo>
                <a:cubicBezTo>
                  <a:pt x="5549783" y="3978986"/>
                  <a:pt x="5544454" y="3978045"/>
                  <a:pt x="5539143" y="3977042"/>
                </a:cubicBezTo>
                <a:lnTo>
                  <a:pt x="5539027" y="3975903"/>
                </a:lnTo>
                <a:cubicBezTo>
                  <a:pt x="5180176" y="3916971"/>
                  <a:pt x="4899137" y="3638399"/>
                  <a:pt x="4848861" y="3288305"/>
                </a:cubicBezTo>
                <a:cubicBezTo>
                  <a:pt x="4848694" y="3288253"/>
                  <a:pt x="4848525" y="3288248"/>
                  <a:pt x="4848356" y="3288243"/>
                </a:cubicBezTo>
                <a:lnTo>
                  <a:pt x="4847817" y="3281619"/>
                </a:lnTo>
                <a:cubicBezTo>
                  <a:pt x="4842759" y="3251607"/>
                  <a:pt x="4840308" y="3220958"/>
                  <a:pt x="4840350" y="3189869"/>
                </a:cubicBezTo>
                <a:cubicBezTo>
                  <a:pt x="4839038" y="3184286"/>
                  <a:pt x="4838980" y="3178663"/>
                  <a:pt x="4838980" y="3173027"/>
                </a:cubicBezTo>
                <a:lnTo>
                  <a:pt x="4839574" y="3161677"/>
                </a:lnTo>
                <a:lnTo>
                  <a:pt x="4840072" y="3161709"/>
                </a:lnTo>
                <a:close/>
                <a:moveTo>
                  <a:pt x="4826310" y="3161219"/>
                </a:moveTo>
                <a:lnTo>
                  <a:pt x="4826336" y="3161709"/>
                </a:lnTo>
                <a:lnTo>
                  <a:pt x="4826834" y="3161677"/>
                </a:lnTo>
                <a:lnTo>
                  <a:pt x="4827428" y="3173027"/>
                </a:lnTo>
                <a:cubicBezTo>
                  <a:pt x="4827428" y="3178663"/>
                  <a:pt x="4827369" y="3184286"/>
                  <a:pt x="4826057" y="3189869"/>
                </a:cubicBezTo>
                <a:cubicBezTo>
                  <a:pt x="4826099" y="3220958"/>
                  <a:pt x="4823649" y="3251607"/>
                  <a:pt x="4818590" y="3281619"/>
                </a:cubicBezTo>
                <a:lnTo>
                  <a:pt x="4818052" y="3288243"/>
                </a:lnTo>
                <a:cubicBezTo>
                  <a:pt x="4817882" y="3288248"/>
                  <a:pt x="4817714" y="3288253"/>
                  <a:pt x="4817546" y="3288305"/>
                </a:cubicBezTo>
                <a:cubicBezTo>
                  <a:pt x="4767271" y="3638399"/>
                  <a:pt x="4486232" y="3916971"/>
                  <a:pt x="4127381" y="3975903"/>
                </a:cubicBezTo>
                <a:lnTo>
                  <a:pt x="4127264" y="3977042"/>
                </a:lnTo>
                <a:cubicBezTo>
                  <a:pt x="4121954" y="3978045"/>
                  <a:pt x="4116625" y="3978986"/>
                  <a:pt x="4111048" y="3978570"/>
                </a:cubicBezTo>
                <a:cubicBezTo>
                  <a:pt x="4079876" y="3984080"/>
                  <a:pt x="4047996" y="3987038"/>
                  <a:pt x="4015621" y="3987561"/>
                </a:cubicBezTo>
                <a:lnTo>
                  <a:pt x="3998503" y="3989174"/>
                </a:lnTo>
                <a:lnTo>
                  <a:pt x="3998477" y="3988683"/>
                </a:lnTo>
                <a:lnTo>
                  <a:pt x="3997978" y="3988716"/>
                </a:lnTo>
                <a:cubicBezTo>
                  <a:pt x="3997412" y="3984944"/>
                  <a:pt x="3997385" y="3981158"/>
                  <a:pt x="3997385" y="3977366"/>
                </a:cubicBezTo>
                <a:cubicBezTo>
                  <a:pt x="3997385" y="3971728"/>
                  <a:pt x="3997443" y="3966104"/>
                  <a:pt x="3998755" y="3960518"/>
                </a:cubicBezTo>
                <a:cubicBezTo>
                  <a:pt x="3998713" y="3929436"/>
                  <a:pt x="4001163" y="3898794"/>
                  <a:pt x="4006219" y="3868787"/>
                </a:cubicBezTo>
                <a:lnTo>
                  <a:pt x="4006760" y="3862150"/>
                </a:lnTo>
                <a:cubicBezTo>
                  <a:pt x="4006928" y="3862145"/>
                  <a:pt x="4007098" y="3862140"/>
                  <a:pt x="4007265" y="3862087"/>
                </a:cubicBezTo>
                <a:cubicBezTo>
                  <a:pt x="4057542" y="3511992"/>
                  <a:pt x="4338581" y="3233421"/>
                  <a:pt x="4697431" y="3174489"/>
                </a:cubicBezTo>
                <a:lnTo>
                  <a:pt x="4697548" y="3173350"/>
                </a:lnTo>
                <a:cubicBezTo>
                  <a:pt x="4702857" y="3172348"/>
                  <a:pt x="4708185" y="3171407"/>
                  <a:pt x="4713761" y="3171823"/>
                </a:cubicBezTo>
                <a:cubicBezTo>
                  <a:pt x="4744944" y="3166310"/>
                  <a:pt x="4776837" y="3163352"/>
                  <a:pt x="4809222" y="3162829"/>
                </a:cubicBezTo>
                <a:close/>
                <a:moveTo>
                  <a:pt x="3147947" y="3161219"/>
                </a:moveTo>
                <a:lnTo>
                  <a:pt x="3165034" y="3162829"/>
                </a:lnTo>
                <a:cubicBezTo>
                  <a:pt x="3197420" y="3163352"/>
                  <a:pt x="3229312" y="3166310"/>
                  <a:pt x="3260496" y="3171823"/>
                </a:cubicBezTo>
                <a:cubicBezTo>
                  <a:pt x="3266072" y="3171407"/>
                  <a:pt x="3271400" y="3172348"/>
                  <a:pt x="3276708" y="3173350"/>
                </a:cubicBezTo>
                <a:lnTo>
                  <a:pt x="3276826" y="3174489"/>
                </a:lnTo>
                <a:cubicBezTo>
                  <a:pt x="3635676" y="3233421"/>
                  <a:pt x="3916715" y="3511992"/>
                  <a:pt x="3966991" y="3862087"/>
                </a:cubicBezTo>
                <a:cubicBezTo>
                  <a:pt x="3967159" y="3862140"/>
                  <a:pt x="3967328" y="3862145"/>
                  <a:pt x="3967497" y="3862150"/>
                </a:cubicBezTo>
                <a:lnTo>
                  <a:pt x="3968037" y="3868787"/>
                </a:lnTo>
                <a:cubicBezTo>
                  <a:pt x="3973094" y="3898794"/>
                  <a:pt x="3975543" y="3929436"/>
                  <a:pt x="3975501" y="3960518"/>
                </a:cubicBezTo>
                <a:cubicBezTo>
                  <a:pt x="3976813" y="3966104"/>
                  <a:pt x="3976872" y="3971728"/>
                  <a:pt x="3976872" y="3977366"/>
                </a:cubicBezTo>
                <a:cubicBezTo>
                  <a:pt x="3976872" y="3981158"/>
                  <a:pt x="3976845" y="3984944"/>
                  <a:pt x="3976279" y="3988716"/>
                </a:cubicBezTo>
                <a:lnTo>
                  <a:pt x="3975780" y="3988683"/>
                </a:lnTo>
                <a:lnTo>
                  <a:pt x="3975754" y="3989174"/>
                </a:lnTo>
                <a:lnTo>
                  <a:pt x="3958635" y="3987561"/>
                </a:lnTo>
                <a:cubicBezTo>
                  <a:pt x="3926261" y="3987038"/>
                  <a:pt x="3894381" y="3984080"/>
                  <a:pt x="3863209" y="3978570"/>
                </a:cubicBezTo>
                <a:cubicBezTo>
                  <a:pt x="3857632" y="3978986"/>
                  <a:pt x="3852303" y="3978045"/>
                  <a:pt x="3846992" y="3977042"/>
                </a:cubicBezTo>
                <a:lnTo>
                  <a:pt x="3846876" y="3975903"/>
                </a:lnTo>
                <a:cubicBezTo>
                  <a:pt x="3488025" y="3916971"/>
                  <a:pt x="3206986" y="3638399"/>
                  <a:pt x="3156710" y="3288305"/>
                </a:cubicBezTo>
                <a:cubicBezTo>
                  <a:pt x="3156543" y="3288253"/>
                  <a:pt x="3156374" y="3288248"/>
                  <a:pt x="3156205" y="3288243"/>
                </a:cubicBezTo>
                <a:lnTo>
                  <a:pt x="3155667" y="3281619"/>
                </a:lnTo>
                <a:cubicBezTo>
                  <a:pt x="3150608" y="3251607"/>
                  <a:pt x="3148157" y="3220958"/>
                  <a:pt x="3148199" y="3189869"/>
                </a:cubicBezTo>
                <a:cubicBezTo>
                  <a:pt x="3146887" y="3184286"/>
                  <a:pt x="3146829" y="3178663"/>
                  <a:pt x="3146829" y="3173027"/>
                </a:cubicBezTo>
                <a:lnTo>
                  <a:pt x="3147423" y="3161677"/>
                </a:lnTo>
                <a:lnTo>
                  <a:pt x="3147921" y="3161709"/>
                </a:lnTo>
                <a:close/>
                <a:moveTo>
                  <a:pt x="3134159" y="3161219"/>
                </a:moveTo>
                <a:lnTo>
                  <a:pt x="3134185" y="3161709"/>
                </a:lnTo>
                <a:lnTo>
                  <a:pt x="3134683" y="3161677"/>
                </a:lnTo>
                <a:lnTo>
                  <a:pt x="3135277" y="3173027"/>
                </a:lnTo>
                <a:cubicBezTo>
                  <a:pt x="3135277" y="3178663"/>
                  <a:pt x="3135218" y="3184286"/>
                  <a:pt x="3133906" y="3189869"/>
                </a:cubicBezTo>
                <a:cubicBezTo>
                  <a:pt x="3133948" y="3220958"/>
                  <a:pt x="3131498" y="3251607"/>
                  <a:pt x="3126439" y="3281619"/>
                </a:cubicBezTo>
                <a:lnTo>
                  <a:pt x="3125901" y="3288243"/>
                </a:lnTo>
                <a:cubicBezTo>
                  <a:pt x="3125731" y="3288248"/>
                  <a:pt x="3125563" y="3288253"/>
                  <a:pt x="3125395" y="3288305"/>
                </a:cubicBezTo>
                <a:cubicBezTo>
                  <a:pt x="3075120" y="3638399"/>
                  <a:pt x="2794081" y="3916971"/>
                  <a:pt x="2435230" y="3975903"/>
                </a:cubicBezTo>
                <a:lnTo>
                  <a:pt x="2435113" y="3977042"/>
                </a:lnTo>
                <a:cubicBezTo>
                  <a:pt x="2429803" y="3978045"/>
                  <a:pt x="2424474" y="3978986"/>
                  <a:pt x="2418897" y="3978570"/>
                </a:cubicBezTo>
                <a:cubicBezTo>
                  <a:pt x="2387725" y="3984080"/>
                  <a:pt x="2355845" y="3987038"/>
                  <a:pt x="2323470" y="3987561"/>
                </a:cubicBezTo>
                <a:lnTo>
                  <a:pt x="2306352" y="3989174"/>
                </a:lnTo>
                <a:lnTo>
                  <a:pt x="2306326" y="3988683"/>
                </a:lnTo>
                <a:lnTo>
                  <a:pt x="2305827" y="3988716"/>
                </a:lnTo>
                <a:cubicBezTo>
                  <a:pt x="2305261" y="3984944"/>
                  <a:pt x="2305234" y="3981158"/>
                  <a:pt x="2305234" y="3977366"/>
                </a:cubicBezTo>
                <a:cubicBezTo>
                  <a:pt x="2305234" y="3971728"/>
                  <a:pt x="2305292" y="3966104"/>
                  <a:pt x="2306604" y="3960518"/>
                </a:cubicBezTo>
                <a:cubicBezTo>
                  <a:pt x="2306562" y="3929436"/>
                  <a:pt x="2309012" y="3898794"/>
                  <a:pt x="2314068" y="3868787"/>
                </a:cubicBezTo>
                <a:lnTo>
                  <a:pt x="2314609" y="3862150"/>
                </a:lnTo>
                <a:cubicBezTo>
                  <a:pt x="2314777" y="3862145"/>
                  <a:pt x="2314947" y="3862140"/>
                  <a:pt x="2315114" y="3862087"/>
                </a:cubicBezTo>
                <a:cubicBezTo>
                  <a:pt x="2365391" y="3511992"/>
                  <a:pt x="2646430" y="3233421"/>
                  <a:pt x="3005280" y="3174489"/>
                </a:cubicBezTo>
                <a:lnTo>
                  <a:pt x="3005397" y="3173350"/>
                </a:lnTo>
                <a:cubicBezTo>
                  <a:pt x="3010706" y="3172348"/>
                  <a:pt x="3016034" y="3171407"/>
                  <a:pt x="3021610" y="3171823"/>
                </a:cubicBezTo>
                <a:cubicBezTo>
                  <a:pt x="3052793" y="3166310"/>
                  <a:pt x="3084686" y="3163352"/>
                  <a:pt x="3117071" y="3162829"/>
                </a:cubicBezTo>
                <a:close/>
                <a:moveTo>
                  <a:pt x="1455796" y="3161219"/>
                </a:moveTo>
                <a:lnTo>
                  <a:pt x="1472883" y="3162829"/>
                </a:lnTo>
                <a:cubicBezTo>
                  <a:pt x="1505269" y="3163352"/>
                  <a:pt x="1537161" y="3166310"/>
                  <a:pt x="1568345" y="3171823"/>
                </a:cubicBezTo>
                <a:cubicBezTo>
                  <a:pt x="1573921" y="3171407"/>
                  <a:pt x="1579249" y="3172348"/>
                  <a:pt x="1584557" y="3173350"/>
                </a:cubicBezTo>
                <a:lnTo>
                  <a:pt x="1584675" y="3174489"/>
                </a:lnTo>
                <a:cubicBezTo>
                  <a:pt x="1943525" y="3233421"/>
                  <a:pt x="2224564" y="3511992"/>
                  <a:pt x="2274840" y="3862087"/>
                </a:cubicBezTo>
                <a:cubicBezTo>
                  <a:pt x="2275008" y="3862140"/>
                  <a:pt x="2275177" y="3862145"/>
                  <a:pt x="2275346" y="3862150"/>
                </a:cubicBezTo>
                <a:lnTo>
                  <a:pt x="2275886" y="3868787"/>
                </a:lnTo>
                <a:cubicBezTo>
                  <a:pt x="2280943" y="3898794"/>
                  <a:pt x="2283392" y="3929436"/>
                  <a:pt x="2283350" y="3960518"/>
                </a:cubicBezTo>
                <a:cubicBezTo>
                  <a:pt x="2284662" y="3966104"/>
                  <a:pt x="2284721" y="3971728"/>
                  <a:pt x="2284721" y="3977366"/>
                </a:cubicBezTo>
                <a:cubicBezTo>
                  <a:pt x="2284721" y="3981158"/>
                  <a:pt x="2284694" y="3984944"/>
                  <a:pt x="2284128" y="3988716"/>
                </a:cubicBezTo>
                <a:lnTo>
                  <a:pt x="2283629" y="3988683"/>
                </a:lnTo>
                <a:lnTo>
                  <a:pt x="2283603" y="3989174"/>
                </a:lnTo>
                <a:lnTo>
                  <a:pt x="2266484" y="3987561"/>
                </a:lnTo>
                <a:cubicBezTo>
                  <a:pt x="2234110" y="3987038"/>
                  <a:pt x="2202230" y="3984080"/>
                  <a:pt x="2171058" y="3978570"/>
                </a:cubicBezTo>
                <a:cubicBezTo>
                  <a:pt x="2165481" y="3978986"/>
                  <a:pt x="2160152" y="3978045"/>
                  <a:pt x="2154841" y="3977042"/>
                </a:cubicBezTo>
                <a:lnTo>
                  <a:pt x="2154725" y="3975903"/>
                </a:lnTo>
                <a:cubicBezTo>
                  <a:pt x="1795874" y="3916971"/>
                  <a:pt x="1514835" y="3638399"/>
                  <a:pt x="1464559" y="3288305"/>
                </a:cubicBezTo>
                <a:cubicBezTo>
                  <a:pt x="1464392" y="3288253"/>
                  <a:pt x="1464223" y="3288248"/>
                  <a:pt x="1464054" y="3288243"/>
                </a:cubicBezTo>
                <a:lnTo>
                  <a:pt x="1463515" y="3281619"/>
                </a:lnTo>
                <a:cubicBezTo>
                  <a:pt x="1458457" y="3251607"/>
                  <a:pt x="1456006" y="3220958"/>
                  <a:pt x="1456048" y="3189869"/>
                </a:cubicBezTo>
                <a:cubicBezTo>
                  <a:pt x="1454736" y="3184286"/>
                  <a:pt x="1454678" y="3178663"/>
                  <a:pt x="1454678" y="3173027"/>
                </a:cubicBezTo>
                <a:lnTo>
                  <a:pt x="1455272" y="3161677"/>
                </a:lnTo>
                <a:lnTo>
                  <a:pt x="1455770" y="3161709"/>
                </a:lnTo>
                <a:close/>
                <a:moveTo>
                  <a:pt x="1442008" y="3161219"/>
                </a:moveTo>
                <a:lnTo>
                  <a:pt x="1442034" y="3161709"/>
                </a:lnTo>
                <a:lnTo>
                  <a:pt x="1442532" y="3161677"/>
                </a:lnTo>
                <a:lnTo>
                  <a:pt x="1443126" y="3173027"/>
                </a:lnTo>
                <a:cubicBezTo>
                  <a:pt x="1443126" y="3178663"/>
                  <a:pt x="1443067" y="3184286"/>
                  <a:pt x="1441755" y="3189869"/>
                </a:cubicBezTo>
                <a:cubicBezTo>
                  <a:pt x="1441797" y="3220958"/>
                  <a:pt x="1439347" y="3251607"/>
                  <a:pt x="1434288" y="3281619"/>
                </a:cubicBezTo>
                <a:lnTo>
                  <a:pt x="1433750" y="3288243"/>
                </a:lnTo>
                <a:cubicBezTo>
                  <a:pt x="1433580" y="3288248"/>
                  <a:pt x="1433412" y="3288253"/>
                  <a:pt x="1433244" y="3288305"/>
                </a:cubicBezTo>
                <a:cubicBezTo>
                  <a:pt x="1382969" y="3638399"/>
                  <a:pt x="1101930" y="3916971"/>
                  <a:pt x="743079" y="3975903"/>
                </a:cubicBezTo>
                <a:lnTo>
                  <a:pt x="742962" y="3977042"/>
                </a:lnTo>
                <a:cubicBezTo>
                  <a:pt x="737652" y="3978045"/>
                  <a:pt x="732323" y="3978986"/>
                  <a:pt x="726746" y="3978570"/>
                </a:cubicBezTo>
                <a:cubicBezTo>
                  <a:pt x="695574" y="3984080"/>
                  <a:pt x="663693" y="3987038"/>
                  <a:pt x="631319" y="3987561"/>
                </a:cubicBezTo>
                <a:lnTo>
                  <a:pt x="614201" y="3989174"/>
                </a:lnTo>
                <a:lnTo>
                  <a:pt x="614175" y="3988683"/>
                </a:lnTo>
                <a:lnTo>
                  <a:pt x="613676" y="3988716"/>
                </a:lnTo>
                <a:cubicBezTo>
                  <a:pt x="613110" y="3984944"/>
                  <a:pt x="613083" y="3981158"/>
                  <a:pt x="613083" y="3977366"/>
                </a:cubicBezTo>
                <a:cubicBezTo>
                  <a:pt x="613083" y="3971728"/>
                  <a:pt x="613141" y="3966104"/>
                  <a:pt x="614453" y="3960518"/>
                </a:cubicBezTo>
                <a:cubicBezTo>
                  <a:pt x="614411" y="3929436"/>
                  <a:pt x="616861" y="3898794"/>
                  <a:pt x="621917" y="3868787"/>
                </a:cubicBezTo>
                <a:lnTo>
                  <a:pt x="622458" y="3862150"/>
                </a:lnTo>
                <a:cubicBezTo>
                  <a:pt x="622626" y="3862145"/>
                  <a:pt x="622796" y="3862140"/>
                  <a:pt x="622963" y="3862087"/>
                </a:cubicBezTo>
                <a:cubicBezTo>
                  <a:pt x="673240" y="3511992"/>
                  <a:pt x="954279" y="3233421"/>
                  <a:pt x="1313129" y="3174489"/>
                </a:cubicBezTo>
                <a:lnTo>
                  <a:pt x="1313246" y="3173350"/>
                </a:lnTo>
                <a:cubicBezTo>
                  <a:pt x="1318555" y="3172348"/>
                  <a:pt x="1323883" y="3171407"/>
                  <a:pt x="1329459" y="3171823"/>
                </a:cubicBezTo>
                <a:cubicBezTo>
                  <a:pt x="1360642" y="3166310"/>
                  <a:pt x="1392535" y="3163352"/>
                  <a:pt x="1424920" y="3162829"/>
                </a:cubicBezTo>
                <a:close/>
                <a:moveTo>
                  <a:pt x="10909360" y="2447425"/>
                </a:moveTo>
                <a:cubicBezTo>
                  <a:pt x="10962636" y="2718331"/>
                  <a:pt x="11177479" y="2933128"/>
                  <a:pt x="11452669" y="2992271"/>
                </a:cubicBezTo>
                <a:cubicBezTo>
                  <a:pt x="11399394" y="2721365"/>
                  <a:pt x="11184550" y="2506568"/>
                  <a:pt x="10909360" y="2447425"/>
                </a:cubicBezTo>
                <a:close/>
                <a:moveTo>
                  <a:pt x="10602109" y="2447425"/>
                </a:moveTo>
                <a:cubicBezTo>
                  <a:pt x="10326919" y="2506568"/>
                  <a:pt x="10112075" y="2721365"/>
                  <a:pt x="10058800" y="2992271"/>
                </a:cubicBezTo>
                <a:cubicBezTo>
                  <a:pt x="10333990" y="2933128"/>
                  <a:pt x="10548833" y="2718331"/>
                  <a:pt x="10602109" y="2447425"/>
                </a:cubicBezTo>
                <a:close/>
                <a:moveTo>
                  <a:pt x="9217207" y="2447425"/>
                </a:moveTo>
                <a:cubicBezTo>
                  <a:pt x="9270483" y="2718331"/>
                  <a:pt x="9485326" y="2933128"/>
                  <a:pt x="9760516" y="2992271"/>
                </a:cubicBezTo>
                <a:cubicBezTo>
                  <a:pt x="9707241" y="2721365"/>
                  <a:pt x="9492397" y="2506568"/>
                  <a:pt x="9217207" y="2447425"/>
                </a:cubicBezTo>
                <a:close/>
                <a:moveTo>
                  <a:pt x="8909958" y="2447425"/>
                </a:moveTo>
                <a:cubicBezTo>
                  <a:pt x="8634768" y="2506568"/>
                  <a:pt x="8419924" y="2721365"/>
                  <a:pt x="8366649" y="2992271"/>
                </a:cubicBezTo>
                <a:cubicBezTo>
                  <a:pt x="8641839" y="2933128"/>
                  <a:pt x="8856682" y="2718331"/>
                  <a:pt x="8909958" y="2447425"/>
                </a:cubicBezTo>
                <a:close/>
                <a:moveTo>
                  <a:pt x="7525056" y="2447425"/>
                </a:moveTo>
                <a:cubicBezTo>
                  <a:pt x="7578332" y="2718331"/>
                  <a:pt x="7793175" y="2933128"/>
                  <a:pt x="8068365" y="2992271"/>
                </a:cubicBezTo>
                <a:cubicBezTo>
                  <a:pt x="8015090" y="2721365"/>
                  <a:pt x="7800246" y="2506568"/>
                  <a:pt x="7525056" y="2447425"/>
                </a:cubicBezTo>
                <a:close/>
                <a:moveTo>
                  <a:pt x="7217807" y="2447425"/>
                </a:moveTo>
                <a:cubicBezTo>
                  <a:pt x="6942617" y="2506568"/>
                  <a:pt x="6727773" y="2721365"/>
                  <a:pt x="6674498" y="2992271"/>
                </a:cubicBezTo>
                <a:cubicBezTo>
                  <a:pt x="6949688" y="2933128"/>
                  <a:pt x="7164531" y="2718331"/>
                  <a:pt x="7217807" y="2447425"/>
                </a:cubicBezTo>
                <a:close/>
                <a:moveTo>
                  <a:pt x="5832905" y="2447425"/>
                </a:moveTo>
                <a:cubicBezTo>
                  <a:pt x="5886181" y="2718331"/>
                  <a:pt x="6101024" y="2933128"/>
                  <a:pt x="6376214" y="2992271"/>
                </a:cubicBezTo>
                <a:cubicBezTo>
                  <a:pt x="6322939" y="2721365"/>
                  <a:pt x="6108095" y="2506568"/>
                  <a:pt x="5832905" y="2447425"/>
                </a:cubicBezTo>
                <a:close/>
                <a:moveTo>
                  <a:pt x="5525656" y="2447425"/>
                </a:moveTo>
                <a:cubicBezTo>
                  <a:pt x="5250466" y="2506568"/>
                  <a:pt x="5035622" y="2721365"/>
                  <a:pt x="4982347" y="2992271"/>
                </a:cubicBezTo>
                <a:cubicBezTo>
                  <a:pt x="5257537" y="2933128"/>
                  <a:pt x="5472380" y="2718331"/>
                  <a:pt x="5525656" y="2447425"/>
                </a:cubicBezTo>
                <a:close/>
                <a:moveTo>
                  <a:pt x="4140754" y="2447425"/>
                </a:moveTo>
                <a:cubicBezTo>
                  <a:pt x="4194030" y="2718331"/>
                  <a:pt x="4408873" y="2933128"/>
                  <a:pt x="4684063" y="2992271"/>
                </a:cubicBezTo>
                <a:cubicBezTo>
                  <a:pt x="4630788" y="2721365"/>
                  <a:pt x="4415944" y="2506568"/>
                  <a:pt x="4140754" y="2447425"/>
                </a:cubicBezTo>
                <a:close/>
                <a:moveTo>
                  <a:pt x="3833505" y="2447425"/>
                </a:moveTo>
                <a:cubicBezTo>
                  <a:pt x="3558315" y="2506568"/>
                  <a:pt x="3343471" y="2721365"/>
                  <a:pt x="3290196" y="2992271"/>
                </a:cubicBezTo>
                <a:cubicBezTo>
                  <a:pt x="3565386" y="2933128"/>
                  <a:pt x="3780229" y="2718331"/>
                  <a:pt x="3833505" y="2447425"/>
                </a:cubicBezTo>
                <a:close/>
                <a:moveTo>
                  <a:pt x="2448603" y="2447425"/>
                </a:moveTo>
                <a:cubicBezTo>
                  <a:pt x="2501879" y="2718331"/>
                  <a:pt x="2716722" y="2933128"/>
                  <a:pt x="2991912" y="2992271"/>
                </a:cubicBezTo>
                <a:cubicBezTo>
                  <a:pt x="2938637" y="2721365"/>
                  <a:pt x="2723793" y="2506568"/>
                  <a:pt x="2448603" y="2447425"/>
                </a:cubicBezTo>
                <a:close/>
                <a:moveTo>
                  <a:pt x="2141354" y="2447425"/>
                </a:moveTo>
                <a:cubicBezTo>
                  <a:pt x="1866164" y="2506568"/>
                  <a:pt x="1651320" y="2721365"/>
                  <a:pt x="1598045" y="2992271"/>
                </a:cubicBezTo>
                <a:cubicBezTo>
                  <a:pt x="1873235" y="2933128"/>
                  <a:pt x="2088078" y="2718331"/>
                  <a:pt x="2141354" y="2447425"/>
                </a:cubicBezTo>
                <a:close/>
                <a:moveTo>
                  <a:pt x="756452" y="2447425"/>
                </a:moveTo>
                <a:cubicBezTo>
                  <a:pt x="809728" y="2718331"/>
                  <a:pt x="1024571" y="2933128"/>
                  <a:pt x="1299761" y="2992271"/>
                </a:cubicBezTo>
                <a:cubicBezTo>
                  <a:pt x="1246486" y="2721365"/>
                  <a:pt x="1031642" y="2506568"/>
                  <a:pt x="756452" y="2447425"/>
                </a:cubicBezTo>
                <a:close/>
                <a:moveTo>
                  <a:pt x="12192000" y="2344615"/>
                </a:moveTo>
                <a:lnTo>
                  <a:pt x="12192000" y="2477663"/>
                </a:lnTo>
                <a:cubicBezTo>
                  <a:pt x="11966807" y="2562375"/>
                  <a:pt x="11797421" y="2755980"/>
                  <a:pt x="11750953" y="2992271"/>
                </a:cubicBezTo>
                <a:cubicBezTo>
                  <a:pt x="11935988" y="2952504"/>
                  <a:pt x="12093739" y="2842365"/>
                  <a:pt x="12192000" y="2691161"/>
                </a:cubicBezTo>
                <a:lnTo>
                  <a:pt x="12192000" y="2892735"/>
                </a:lnTo>
                <a:cubicBezTo>
                  <a:pt x="12071770" y="3011736"/>
                  <a:pt x="11914089" y="3094511"/>
                  <a:pt x="11737582" y="3123727"/>
                </a:cubicBezTo>
                <a:lnTo>
                  <a:pt x="11737466" y="3124875"/>
                </a:lnTo>
                <a:cubicBezTo>
                  <a:pt x="11732155" y="3125886"/>
                  <a:pt x="11726826" y="3126834"/>
                  <a:pt x="11721249" y="3126415"/>
                </a:cubicBezTo>
                <a:cubicBezTo>
                  <a:pt x="11690077" y="3131969"/>
                  <a:pt x="11658197" y="3134950"/>
                  <a:pt x="11625822" y="3135477"/>
                </a:cubicBezTo>
                <a:lnTo>
                  <a:pt x="11608704" y="3137103"/>
                </a:lnTo>
                <a:lnTo>
                  <a:pt x="11608678" y="3136608"/>
                </a:lnTo>
                <a:lnTo>
                  <a:pt x="11608179" y="3136641"/>
                </a:lnTo>
                <a:cubicBezTo>
                  <a:pt x="11607613" y="3132839"/>
                  <a:pt x="11607586" y="3129023"/>
                  <a:pt x="11607586" y="3125201"/>
                </a:cubicBezTo>
                <a:cubicBezTo>
                  <a:pt x="11607586" y="3119519"/>
                  <a:pt x="11607645" y="3113850"/>
                  <a:pt x="11608957" y="3108220"/>
                </a:cubicBezTo>
                <a:cubicBezTo>
                  <a:pt x="11608914" y="3076892"/>
                  <a:pt x="11611364" y="3046007"/>
                  <a:pt x="11616421" y="3015763"/>
                </a:cubicBezTo>
                <a:lnTo>
                  <a:pt x="11616961" y="3009073"/>
                </a:lnTo>
                <a:cubicBezTo>
                  <a:pt x="11617130" y="3009068"/>
                  <a:pt x="11617299" y="3009063"/>
                  <a:pt x="11617466" y="3009010"/>
                </a:cubicBezTo>
                <a:cubicBezTo>
                  <a:pt x="11662185" y="2695154"/>
                  <a:pt x="11889463" y="2438329"/>
                  <a:pt x="12192000" y="2344615"/>
                </a:cubicBezTo>
                <a:close/>
                <a:moveTo>
                  <a:pt x="10767111" y="2302594"/>
                </a:moveTo>
                <a:lnTo>
                  <a:pt x="10784198" y="2304217"/>
                </a:lnTo>
                <a:cubicBezTo>
                  <a:pt x="10816584" y="2304744"/>
                  <a:pt x="10848477" y="2307725"/>
                  <a:pt x="10879660" y="2313282"/>
                </a:cubicBezTo>
                <a:cubicBezTo>
                  <a:pt x="10885236" y="2312863"/>
                  <a:pt x="10890564" y="2313811"/>
                  <a:pt x="10895873" y="2314821"/>
                </a:cubicBezTo>
                <a:lnTo>
                  <a:pt x="10895990" y="2315969"/>
                </a:lnTo>
                <a:cubicBezTo>
                  <a:pt x="11254840" y="2375367"/>
                  <a:pt x="11535879" y="2656144"/>
                  <a:pt x="11586156" y="3009010"/>
                </a:cubicBezTo>
                <a:cubicBezTo>
                  <a:pt x="11586323" y="3009063"/>
                  <a:pt x="11586492" y="3009068"/>
                  <a:pt x="11586661" y="3009073"/>
                </a:cubicBezTo>
                <a:lnTo>
                  <a:pt x="11587201" y="3015763"/>
                </a:lnTo>
                <a:cubicBezTo>
                  <a:pt x="11592258" y="3046007"/>
                  <a:pt x="11594708" y="3076892"/>
                  <a:pt x="11594665" y="3108220"/>
                </a:cubicBezTo>
                <a:cubicBezTo>
                  <a:pt x="11595977" y="3113850"/>
                  <a:pt x="11596036" y="3119519"/>
                  <a:pt x="11596036" y="3125201"/>
                </a:cubicBezTo>
                <a:cubicBezTo>
                  <a:pt x="11596036" y="3129023"/>
                  <a:pt x="11596009" y="3132839"/>
                  <a:pt x="11595443" y="3136641"/>
                </a:cubicBezTo>
                <a:lnTo>
                  <a:pt x="11594944" y="3136608"/>
                </a:lnTo>
                <a:lnTo>
                  <a:pt x="11594918" y="3137103"/>
                </a:lnTo>
                <a:lnTo>
                  <a:pt x="11577800" y="3135477"/>
                </a:lnTo>
                <a:cubicBezTo>
                  <a:pt x="11545425" y="3134950"/>
                  <a:pt x="11513545" y="3131969"/>
                  <a:pt x="11482373" y="3126415"/>
                </a:cubicBezTo>
                <a:cubicBezTo>
                  <a:pt x="11476796" y="3126834"/>
                  <a:pt x="11471467" y="3125886"/>
                  <a:pt x="11466156" y="3124875"/>
                </a:cubicBezTo>
                <a:lnTo>
                  <a:pt x="11466040" y="3123727"/>
                </a:lnTo>
                <a:cubicBezTo>
                  <a:pt x="11107189" y="3064328"/>
                  <a:pt x="10826150" y="2783551"/>
                  <a:pt x="10775875" y="2430686"/>
                </a:cubicBezTo>
                <a:cubicBezTo>
                  <a:pt x="10775707" y="2430633"/>
                  <a:pt x="10775539" y="2430628"/>
                  <a:pt x="10775369" y="2430623"/>
                </a:cubicBezTo>
                <a:lnTo>
                  <a:pt x="10774831" y="2423947"/>
                </a:lnTo>
                <a:cubicBezTo>
                  <a:pt x="10769772" y="2393697"/>
                  <a:pt x="10767321" y="2362806"/>
                  <a:pt x="10767364" y="2331471"/>
                </a:cubicBezTo>
                <a:cubicBezTo>
                  <a:pt x="10766052" y="2325843"/>
                  <a:pt x="10765993" y="2320176"/>
                  <a:pt x="10765993" y="2314495"/>
                </a:cubicBezTo>
                <a:lnTo>
                  <a:pt x="10766587" y="2303055"/>
                </a:lnTo>
                <a:lnTo>
                  <a:pt x="10767085" y="2303088"/>
                </a:lnTo>
                <a:close/>
                <a:moveTo>
                  <a:pt x="10744358" y="2302594"/>
                </a:moveTo>
                <a:lnTo>
                  <a:pt x="10744384" y="2303088"/>
                </a:lnTo>
                <a:lnTo>
                  <a:pt x="10744882" y="2303055"/>
                </a:lnTo>
                <a:lnTo>
                  <a:pt x="10745476" y="2314495"/>
                </a:lnTo>
                <a:cubicBezTo>
                  <a:pt x="10745476" y="2320176"/>
                  <a:pt x="10745417" y="2325843"/>
                  <a:pt x="10744105" y="2331471"/>
                </a:cubicBezTo>
                <a:cubicBezTo>
                  <a:pt x="10744148" y="2362806"/>
                  <a:pt x="10741697" y="2393697"/>
                  <a:pt x="10736638" y="2423947"/>
                </a:cubicBezTo>
                <a:lnTo>
                  <a:pt x="10736100" y="2430623"/>
                </a:lnTo>
                <a:cubicBezTo>
                  <a:pt x="10735930" y="2430628"/>
                  <a:pt x="10735762" y="2430633"/>
                  <a:pt x="10735594" y="2430686"/>
                </a:cubicBezTo>
                <a:cubicBezTo>
                  <a:pt x="10685319" y="2783551"/>
                  <a:pt x="10404280" y="3064328"/>
                  <a:pt x="10045429" y="3123727"/>
                </a:cubicBezTo>
                <a:lnTo>
                  <a:pt x="10045313" y="3124875"/>
                </a:lnTo>
                <a:cubicBezTo>
                  <a:pt x="10040002" y="3125886"/>
                  <a:pt x="10034673" y="3126834"/>
                  <a:pt x="10029096" y="3126415"/>
                </a:cubicBezTo>
                <a:cubicBezTo>
                  <a:pt x="9997924" y="3131969"/>
                  <a:pt x="9966044" y="3134950"/>
                  <a:pt x="9933669" y="3135477"/>
                </a:cubicBezTo>
                <a:lnTo>
                  <a:pt x="9916551" y="3137103"/>
                </a:lnTo>
                <a:lnTo>
                  <a:pt x="9916525" y="3136608"/>
                </a:lnTo>
                <a:lnTo>
                  <a:pt x="9916026" y="3136641"/>
                </a:lnTo>
                <a:cubicBezTo>
                  <a:pt x="9915460" y="3132839"/>
                  <a:pt x="9915433" y="3129023"/>
                  <a:pt x="9915433" y="3125201"/>
                </a:cubicBezTo>
                <a:cubicBezTo>
                  <a:pt x="9915433" y="3119519"/>
                  <a:pt x="9915492" y="3113850"/>
                  <a:pt x="9916804" y="3108220"/>
                </a:cubicBezTo>
                <a:cubicBezTo>
                  <a:pt x="9916761" y="3076892"/>
                  <a:pt x="9919211" y="3046007"/>
                  <a:pt x="9924268" y="3015763"/>
                </a:cubicBezTo>
                <a:lnTo>
                  <a:pt x="9924808" y="3009073"/>
                </a:lnTo>
                <a:cubicBezTo>
                  <a:pt x="9924977" y="3009068"/>
                  <a:pt x="9925146" y="3009063"/>
                  <a:pt x="9925314" y="3009010"/>
                </a:cubicBezTo>
                <a:cubicBezTo>
                  <a:pt x="9975590" y="2656144"/>
                  <a:pt x="10256629" y="2375367"/>
                  <a:pt x="10615479" y="2315969"/>
                </a:cubicBezTo>
                <a:lnTo>
                  <a:pt x="10615596" y="2314821"/>
                </a:lnTo>
                <a:cubicBezTo>
                  <a:pt x="10620905" y="2313811"/>
                  <a:pt x="10626233" y="2312863"/>
                  <a:pt x="10631809" y="2313282"/>
                </a:cubicBezTo>
                <a:cubicBezTo>
                  <a:pt x="10662992" y="2307725"/>
                  <a:pt x="10694885" y="2304744"/>
                  <a:pt x="10727271" y="2304217"/>
                </a:cubicBezTo>
                <a:close/>
                <a:moveTo>
                  <a:pt x="9074958" y="2302594"/>
                </a:moveTo>
                <a:lnTo>
                  <a:pt x="9092045" y="2304217"/>
                </a:lnTo>
                <a:cubicBezTo>
                  <a:pt x="9124431" y="2304744"/>
                  <a:pt x="9156324" y="2307725"/>
                  <a:pt x="9187507" y="2313282"/>
                </a:cubicBezTo>
                <a:cubicBezTo>
                  <a:pt x="9193083" y="2312863"/>
                  <a:pt x="9198411" y="2313811"/>
                  <a:pt x="9203720" y="2314821"/>
                </a:cubicBezTo>
                <a:lnTo>
                  <a:pt x="9203837" y="2315969"/>
                </a:lnTo>
                <a:cubicBezTo>
                  <a:pt x="9562687" y="2375367"/>
                  <a:pt x="9843726" y="2656144"/>
                  <a:pt x="9894002" y="3009010"/>
                </a:cubicBezTo>
                <a:cubicBezTo>
                  <a:pt x="9894170" y="3009063"/>
                  <a:pt x="9894339" y="3009068"/>
                  <a:pt x="9894508" y="3009073"/>
                </a:cubicBezTo>
                <a:lnTo>
                  <a:pt x="9895048" y="3015763"/>
                </a:lnTo>
                <a:cubicBezTo>
                  <a:pt x="9900105" y="3046007"/>
                  <a:pt x="9902555" y="3076892"/>
                  <a:pt x="9902512" y="3108220"/>
                </a:cubicBezTo>
                <a:cubicBezTo>
                  <a:pt x="9903824" y="3113850"/>
                  <a:pt x="9903883" y="3119519"/>
                  <a:pt x="9903883" y="3125201"/>
                </a:cubicBezTo>
                <a:cubicBezTo>
                  <a:pt x="9903883" y="3129023"/>
                  <a:pt x="9903856" y="3132839"/>
                  <a:pt x="9903290" y="3136641"/>
                </a:cubicBezTo>
                <a:lnTo>
                  <a:pt x="9902791" y="3136608"/>
                </a:lnTo>
                <a:lnTo>
                  <a:pt x="9902765" y="3137103"/>
                </a:lnTo>
                <a:lnTo>
                  <a:pt x="9885647" y="3135477"/>
                </a:lnTo>
                <a:cubicBezTo>
                  <a:pt x="9853272" y="3134950"/>
                  <a:pt x="9821392" y="3131969"/>
                  <a:pt x="9790220" y="3126415"/>
                </a:cubicBezTo>
                <a:cubicBezTo>
                  <a:pt x="9784643" y="3126834"/>
                  <a:pt x="9779314" y="3125886"/>
                  <a:pt x="9774003" y="3124875"/>
                </a:cubicBezTo>
                <a:lnTo>
                  <a:pt x="9773887" y="3123727"/>
                </a:lnTo>
                <a:cubicBezTo>
                  <a:pt x="9415036" y="3064328"/>
                  <a:pt x="9133997" y="2783551"/>
                  <a:pt x="9083722" y="2430686"/>
                </a:cubicBezTo>
                <a:cubicBezTo>
                  <a:pt x="9083554" y="2430633"/>
                  <a:pt x="9083386" y="2430628"/>
                  <a:pt x="9083216" y="2430623"/>
                </a:cubicBezTo>
                <a:lnTo>
                  <a:pt x="9082678" y="2423947"/>
                </a:lnTo>
                <a:cubicBezTo>
                  <a:pt x="9077619" y="2393697"/>
                  <a:pt x="9075168" y="2362806"/>
                  <a:pt x="9075211" y="2331471"/>
                </a:cubicBezTo>
                <a:cubicBezTo>
                  <a:pt x="9073899" y="2325843"/>
                  <a:pt x="9073840" y="2320176"/>
                  <a:pt x="9073840" y="2314495"/>
                </a:cubicBezTo>
                <a:lnTo>
                  <a:pt x="9074434" y="2303055"/>
                </a:lnTo>
                <a:lnTo>
                  <a:pt x="9074932" y="2303088"/>
                </a:lnTo>
                <a:close/>
                <a:moveTo>
                  <a:pt x="9052207" y="2302594"/>
                </a:moveTo>
                <a:lnTo>
                  <a:pt x="9052233" y="2303088"/>
                </a:lnTo>
                <a:lnTo>
                  <a:pt x="9052731" y="2303055"/>
                </a:lnTo>
                <a:lnTo>
                  <a:pt x="9053325" y="2314495"/>
                </a:lnTo>
                <a:cubicBezTo>
                  <a:pt x="9053325" y="2320176"/>
                  <a:pt x="9053266" y="2325843"/>
                  <a:pt x="9051954" y="2331471"/>
                </a:cubicBezTo>
                <a:cubicBezTo>
                  <a:pt x="9051997" y="2362806"/>
                  <a:pt x="9049546" y="2393697"/>
                  <a:pt x="9044487" y="2423947"/>
                </a:cubicBezTo>
                <a:lnTo>
                  <a:pt x="9043949" y="2430623"/>
                </a:lnTo>
                <a:cubicBezTo>
                  <a:pt x="9043779" y="2430628"/>
                  <a:pt x="9043611" y="2430633"/>
                  <a:pt x="9043443" y="2430686"/>
                </a:cubicBezTo>
                <a:cubicBezTo>
                  <a:pt x="8993168" y="2783551"/>
                  <a:pt x="8712129" y="3064328"/>
                  <a:pt x="8353278" y="3123727"/>
                </a:cubicBezTo>
                <a:lnTo>
                  <a:pt x="8353162" y="3124875"/>
                </a:lnTo>
                <a:cubicBezTo>
                  <a:pt x="8347851" y="3125886"/>
                  <a:pt x="8342522" y="3126834"/>
                  <a:pt x="8336945" y="3126415"/>
                </a:cubicBezTo>
                <a:cubicBezTo>
                  <a:pt x="8305773" y="3131969"/>
                  <a:pt x="8273893" y="3134950"/>
                  <a:pt x="8241519" y="3135477"/>
                </a:cubicBezTo>
                <a:lnTo>
                  <a:pt x="8224400" y="3137103"/>
                </a:lnTo>
                <a:lnTo>
                  <a:pt x="8224374" y="3136608"/>
                </a:lnTo>
                <a:lnTo>
                  <a:pt x="8223875" y="3136641"/>
                </a:lnTo>
                <a:cubicBezTo>
                  <a:pt x="8223309" y="3132839"/>
                  <a:pt x="8223282" y="3129023"/>
                  <a:pt x="8223282" y="3125201"/>
                </a:cubicBezTo>
                <a:cubicBezTo>
                  <a:pt x="8223282" y="3119519"/>
                  <a:pt x="8223341" y="3113850"/>
                  <a:pt x="8224653" y="3108220"/>
                </a:cubicBezTo>
                <a:cubicBezTo>
                  <a:pt x="8224611" y="3076892"/>
                  <a:pt x="8227060" y="3046007"/>
                  <a:pt x="8232117" y="3015763"/>
                </a:cubicBezTo>
                <a:lnTo>
                  <a:pt x="8232657" y="3009073"/>
                </a:lnTo>
                <a:cubicBezTo>
                  <a:pt x="8232826" y="3009068"/>
                  <a:pt x="8232995" y="3009063"/>
                  <a:pt x="8233163" y="3009010"/>
                </a:cubicBezTo>
                <a:cubicBezTo>
                  <a:pt x="8283439" y="2656144"/>
                  <a:pt x="8564478" y="2375367"/>
                  <a:pt x="8923328" y="2315969"/>
                </a:cubicBezTo>
                <a:lnTo>
                  <a:pt x="8923445" y="2314821"/>
                </a:lnTo>
                <a:cubicBezTo>
                  <a:pt x="8928754" y="2313811"/>
                  <a:pt x="8934082" y="2312863"/>
                  <a:pt x="8939658" y="2313282"/>
                </a:cubicBezTo>
                <a:cubicBezTo>
                  <a:pt x="8970841" y="2307725"/>
                  <a:pt x="9002734" y="2304744"/>
                  <a:pt x="9035120" y="2304217"/>
                </a:cubicBezTo>
                <a:close/>
                <a:moveTo>
                  <a:pt x="7382807" y="2302594"/>
                </a:moveTo>
                <a:lnTo>
                  <a:pt x="7399895" y="2304217"/>
                </a:lnTo>
                <a:cubicBezTo>
                  <a:pt x="7432280" y="2304744"/>
                  <a:pt x="7464173" y="2307725"/>
                  <a:pt x="7495356" y="2313282"/>
                </a:cubicBezTo>
                <a:cubicBezTo>
                  <a:pt x="7500932" y="2312863"/>
                  <a:pt x="7506260" y="2313811"/>
                  <a:pt x="7511569" y="2314821"/>
                </a:cubicBezTo>
                <a:lnTo>
                  <a:pt x="7511686" y="2315969"/>
                </a:lnTo>
                <a:cubicBezTo>
                  <a:pt x="7870536" y="2375367"/>
                  <a:pt x="8151575" y="2656144"/>
                  <a:pt x="8201852" y="3009010"/>
                </a:cubicBezTo>
                <a:cubicBezTo>
                  <a:pt x="8202019" y="3009063"/>
                  <a:pt x="8202189" y="3009068"/>
                  <a:pt x="8202357" y="3009073"/>
                </a:cubicBezTo>
                <a:lnTo>
                  <a:pt x="8202898" y="3015763"/>
                </a:lnTo>
                <a:cubicBezTo>
                  <a:pt x="8207954" y="3046007"/>
                  <a:pt x="8210404" y="3076892"/>
                  <a:pt x="8210362" y="3108220"/>
                </a:cubicBezTo>
                <a:cubicBezTo>
                  <a:pt x="8211674" y="3113850"/>
                  <a:pt x="8211732" y="3119519"/>
                  <a:pt x="8211732" y="3125201"/>
                </a:cubicBezTo>
                <a:cubicBezTo>
                  <a:pt x="8211732" y="3129023"/>
                  <a:pt x="8211705" y="3132839"/>
                  <a:pt x="8211139" y="3136641"/>
                </a:cubicBezTo>
                <a:lnTo>
                  <a:pt x="8210640" y="3136608"/>
                </a:lnTo>
                <a:lnTo>
                  <a:pt x="8210614" y="3137103"/>
                </a:lnTo>
                <a:lnTo>
                  <a:pt x="8193496" y="3135477"/>
                </a:lnTo>
                <a:cubicBezTo>
                  <a:pt x="8161122" y="3134950"/>
                  <a:pt x="8129241" y="3131969"/>
                  <a:pt x="8098069" y="3126415"/>
                </a:cubicBezTo>
                <a:cubicBezTo>
                  <a:pt x="8092492" y="3126834"/>
                  <a:pt x="8087163" y="3125886"/>
                  <a:pt x="8081853" y="3124875"/>
                </a:cubicBezTo>
                <a:lnTo>
                  <a:pt x="8081737" y="3123727"/>
                </a:lnTo>
                <a:cubicBezTo>
                  <a:pt x="7722885" y="3064328"/>
                  <a:pt x="7441846" y="2783551"/>
                  <a:pt x="7391571" y="2430686"/>
                </a:cubicBezTo>
                <a:cubicBezTo>
                  <a:pt x="7391403" y="2430633"/>
                  <a:pt x="7391235" y="2430628"/>
                  <a:pt x="7391065" y="2430623"/>
                </a:cubicBezTo>
                <a:lnTo>
                  <a:pt x="7390527" y="2423947"/>
                </a:lnTo>
                <a:cubicBezTo>
                  <a:pt x="7385468" y="2393697"/>
                  <a:pt x="7383018" y="2362806"/>
                  <a:pt x="7383060" y="2331471"/>
                </a:cubicBezTo>
                <a:cubicBezTo>
                  <a:pt x="7381748" y="2325843"/>
                  <a:pt x="7381689" y="2320176"/>
                  <a:pt x="7381689" y="2314495"/>
                </a:cubicBezTo>
                <a:lnTo>
                  <a:pt x="7382283" y="2303055"/>
                </a:lnTo>
                <a:lnTo>
                  <a:pt x="7382781" y="2303088"/>
                </a:lnTo>
                <a:close/>
                <a:moveTo>
                  <a:pt x="7360056" y="2302594"/>
                </a:moveTo>
                <a:lnTo>
                  <a:pt x="7360082" y="2303088"/>
                </a:lnTo>
                <a:lnTo>
                  <a:pt x="7360580" y="2303055"/>
                </a:lnTo>
                <a:lnTo>
                  <a:pt x="7361174" y="2314495"/>
                </a:lnTo>
                <a:cubicBezTo>
                  <a:pt x="7361174" y="2320176"/>
                  <a:pt x="7361116" y="2325843"/>
                  <a:pt x="7359804" y="2331471"/>
                </a:cubicBezTo>
                <a:cubicBezTo>
                  <a:pt x="7359846" y="2362806"/>
                  <a:pt x="7357395" y="2393697"/>
                  <a:pt x="7352337" y="2423947"/>
                </a:cubicBezTo>
                <a:lnTo>
                  <a:pt x="7351798" y="2430623"/>
                </a:lnTo>
                <a:cubicBezTo>
                  <a:pt x="7351629" y="2430628"/>
                  <a:pt x="7351460" y="2430633"/>
                  <a:pt x="7351293" y="2430686"/>
                </a:cubicBezTo>
                <a:cubicBezTo>
                  <a:pt x="7301017" y="2783551"/>
                  <a:pt x="7019978" y="3064328"/>
                  <a:pt x="6661127" y="3123727"/>
                </a:cubicBezTo>
                <a:lnTo>
                  <a:pt x="6661011" y="3124875"/>
                </a:lnTo>
                <a:cubicBezTo>
                  <a:pt x="6655700" y="3125886"/>
                  <a:pt x="6650371" y="3126834"/>
                  <a:pt x="6644794" y="3126415"/>
                </a:cubicBezTo>
                <a:cubicBezTo>
                  <a:pt x="6613622" y="3131969"/>
                  <a:pt x="6581742" y="3134950"/>
                  <a:pt x="6549368" y="3135477"/>
                </a:cubicBezTo>
                <a:lnTo>
                  <a:pt x="6532249" y="3137103"/>
                </a:lnTo>
                <a:lnTo>
                  <a:pt x="6532223" y="3136608"/>
                </a:lnTo>
                <a:lnTo>
                  <a:pt x="6531724" y="3136641"/>
                </a:lnTo>
                <a:cubicBezTo>
                  <a:pt x="6531158" y="3132839"/>
                  <a:pt x="6531131" y="3129023"/>
                  <a:pt x="6531131" y="3125201"/>
                </a:cubicBezTo>
                <a:cubicBezTo>
                  <a:pt x="6531131" y="3119519"/>
                  <a:pt x="6531190" y="3113850"/>
                  <a:pt x="6532502" y="3108220"/>
                </a:cubicBezTo>
                <a:cubicBezTo>
                  <a:pt x="6532460" y="3076892"/>
                  <a:pt x="6534909" y="3046007"/>
                  <a:pt x="6539966" y="3015763"/>
                </a:cubicBezTo>
                <a:lnTo>
                  <a:pt x="6540506" y="3009073"/>
                </a:lnTo>
                <a:cubicBezTo>
                  <a:pt x="6540675" y="3009068"/>
                  <a:pt x="6540844" y="3009063"/>
                  <a:pt x="6541012" y="3009010"/>
                </a:cubicBezTo>
                <a:cubicBezTo>
                  <a:pt x="6591288" y="2656144"/>
                  <a:pt x="6872327" y="2375367"/>
                  <a:pt x="7231178" y="2315969"/>
                </a:cubicBezTo>
                <a:lnTo>
                  <a:pt x="7231295" y="2314821"/>
                </a:lnTo>
                <a:cubicBezTo>
                  <a:pt x="7236603" y="2313811"/>
                  <a:pt x="7241931" y="2312863"/>
                  <a:pt x="7247507" y="2313282"/>
                </a:cubicBezTo>
                <a:cubicBezTo>
                  <a:pt x="7278691" y="2307725"/>
                  <a:pt x="7310583" y="2304744"/>
                  <a:pt x="7342969" y="2304217"/>
                </a:cubicBezTo>
                <a:close/>
                <a:moveTo>
                  <a:pt x="5690656" y="2302594"/>
                </a:moveTo>
                <a:lnTo>
                  <a:pt x="5707743" y="2304217"/>
                </a:lnTo>
                <a:cubicBezTo>
                  <a:pt x="5740129" y="2304744"/>
                  <a:pt x="5772021" y="2307725"/>
                  <a:pt x="5803205" y="2313282"/>
                </a:cubicBezTo>
                <a:cubicBezTo>
                  <a:pt x="5808781" y="2312863"/>
                  <a:pt x="5814109" y="2313811"/>
                  <a:pt x="5819417" y="2314821"/>
                </a:cubicBezTo>
                <a:lnTo>
                  <a:pt x="5819534" y="2315969"/>
                </a:lnTo>
                <a:cubicBezTo>
                  <a:pt x="6178385" y="2375367"/>
                  <a:pt x="6459424" y="2656144"/>
                  <a:pt x="6509700" y="3009010"/>
                </a:cubicBezTo>
                <a:cubicBezTo>
                  <a:pt x="6509868" y="3009063"/>
                  <a:pt x="6510037" y="3009068"/>
                  <a:pt x="6510206" y="3009073"/>
                </a:cubicBezTo>
                <a:lnTo>
                  <a:pt x="6510746" y="3015763"/>
                </a:lnTo>
                <a:cubicBezTo>
                  <a:pt x="6515803" y="3046007"/>
                  <a:pt x="6518252" y="3076892"/>
                  <a:pt x="6518210" y="3108220"/>
                </a:cubicBezTo>
                <a:cubicBezTo>
                  <a:pt x="6519522" y="3113850"/>
                  <a:pt x="6519581" y="3119519"/>
                  <a:pt x="6519581" y="3125201"/>
                </a:cubicBezTo>
                <a:cubicBezTo>
                  <a:pt x="6519581" y="3129023"/>
                  <a:pt x="6519554" y="3132839"/>
                  <a:pt x="6518988" y="3136641"/>
                </a:cubicBezTo>
                <a:lnTo>
                  <a:pt x="6518489" y="3136608"/>
                </a:lnTo>
                <a:lnTo>
                  <a:pt x="6518463" y="3137103"/>
                </a:lnTo>
                <a:lnTo>
                  <a:pt x="6501344" y="3135477"/>
                </a:lnTo>
                <a:cubicBezTo>
                  <a:pt x="6468970" y="3134950"/>
                  <a:pt x="6437090" y="3131969"/>
                  <a:pt x="6405918" y="3126415"/>
                </a:cubicBezTo>
                <a:cubicBezTo>
                  <a:pt x="6400341" y="3126834"/>
                  <a:pt x="6395012" y="3125886"/>
                  <a:pt x="6389701" y="3124875"/>
                </a:cubicBezTo>
                <a:lnTo>
                  <a:pt x="6389585" y="3123727"/>
                </a:lnTo>
                <a:cubicBezTo>
                  <a:pt x="6030734" y="3064328"/>
                  <a:pt x="5749695" y="2783551"/>
                  <a:pt x="5699419" y="2430686"/>
                </a:cubicBezTo>
                <a:cubicBezTo>
                  <a:pt x="5699252" y="2430633"/>
                  <a:pt x="5699083" y="2430628"/>
                  <a:pt x="5698914" y="2430623"/>
                </a:cubicBezTo>
                <a:lnTo>
                  <a:pt x="5698375" y="2423947"/>
                </a:lnTo>
                <a:cubicBezTo>
                  <a:pt x="5693317" y="2393697"/>
                  <a:pt x="5690866" y="2362806"/>
                  <a:pt x="5690908" y="2331471"/>
                </a:cubicBezTo>
                <a:cubicBezTo>
                  <a:pt x="5689596" y="2325843"/>
                  <a:pt x="5689538" y="2320176"/>
                  <a:pt x="5689538" y="2314495"/>
                </a:cubicBezTo>
                <a:lnTo>
                  <a:pt x="5690132" y="2303055"/>
                </a:lnTo>
                <a:lnTo>
                  <a:pt x="5690630" y="2303088"/>
                </a:lnTo>
                <a:close/>
                <a:moveTo>
                  <a:pt x="5667905" y="2302594"/>
                </a:moveTo>
                <a:lnTo>
                  <a:pt x="5667931" y="2303088"/>
                </a:lnTo>
                <a:lnTo>
                  <a:pt x="5668429" y="2303055"/>
                </a:lnTo>
                <a:lnTo>
                  <a:pt x="5669023" y="2314495"/>
                </a:lnTo>
                <a:cubicBezTo>
                  <a:pt x="5669023" y="2320176"/>
                  <a:pt x="5668964" y="2325843"/>
                  <a:pt x="5667652" y="2331471"/>
                </a:cubicBezTo>
                <a:cubicBezTo>
                  <a:pt x="5667694" y="2362806"/>
                  <a:pt x="5665244" y="2393697"/>
                  <a:pt x="5660185" y="2423947"/>
                </a:cubicBezTo>
                <a:lnTo>
                  <a:pt x="5659647" y="2430623"/>
                </a:lnTo>
                <a:cubicBezTo>
                  <a:pt x="5659477" y="2430628"/>
                  <a:pt x="5659309" y="2430633"/>
                  <a:pt x="5659141" y="2430686"/>
                </a:cubicBezTo>
                <a:cubicBezTo>
                  <a:pt x="5608866" y="2783551"/>
                  <a:pt x="5327827" y="3064328"/>
                  <a:pt x="4968975" y="3123727"/>
                </a:cubicBezTo>
                <a:lnTo>
                  <a:pt x="4968859" y="3124875"/>
                </a:lnTo>
                <a:cubicBezTo>
                  <a:pt x="4963549" y="3125886"/>
                  <a:pt x="4958220" y="3126834"/>
                  <a:pt x="4952643" y="3126415"/>
                </a:cubicBezTo>
                <a:cubicBezTo>
                  <a:pt x="4921471" y="3131969"/>
                  <a:pt x="4889590" y="3134950"/>
                  <a:pt x="4857216" y="3135477"/>
                </a:cubicBezTo>
                <a:lnTo>
                  <a:pt x="4840098" y="3137103"/>
                </a:lnTo>
                <a:lnTo>
                  <a:pt x="4840072" y="3136608"/>
                </a:lnTo>
                <a:lnTo>
                  <a:pt x="4839573" y="3136641"/>
                </a:lnTo>
                <a:cubicBezTo>
                  <a:pt x="4839007" y="3132839"/>
                  <a:pt x="4838980" y="3129023"/>
                  <a:pt x="4838980" y="3125201"/>
                </a:cubicBezTo>
                <a:cubicBezTo>
                  <a:pt x="4838980" y="3119519"/>
                  <a:pt x="4839038" y="3113850"/>
                  <a:pt x="4840350" y="3108220"/>
                </a:cubicBezTo>
                <a:cubicBezTo>
                  <a:pt x="4840308" y="3076892"/>
                  <a:pt x="4842758" y="3046007"/>
                  <a:pt x="4847814" y="3015763"/>
                </a:cubicBezTo>
                <a:lnTo>
                  <a:pt x="4848355" y="3009073"/>
                </a:lnTo>
                <a:cubicBezTo>
                  <a:pt x="4848523" y="3009068"/>
                  <a:pt x="4848693" y="3009063"/>
                  <a:pt x="4848860" y="3009010"/>
                </a:cubicBezTo>
                <a:cubicBezTo>
                  <a:pt x="4899137" y="2656144"/>
                  <a:pt x="5180176" y="2375367"/>
                  <a:pt x="5539026" y="2315969"/>
                </a:cubicBezTo>
                <a:lnTo>
                  <a:pt x="5539143" y="2314821"/>
                </a:lnTo>
                <a:cubicBezTo>
                  <a:pt x="5544452" y="2313811"/>
                  <a:pt x="5549780" y="2312863"/>
                  <a:pt x="5555356" y="2313282"/>
                </a:cubicBezTo>
                <a:cubicBezTo>
                  <a:pt x="5586539" y="2307725"/>
                  <a:pt x="5618432" y="2304744"/>
                  <a:pt x="5650817" y="2304217"/>
                </a:cubicBezTo>
                <a:close/>
                <a:moveTo>
                  <a:pt x="3998505" y="2302594"/>
                </a:moveTo>
                <a:lnTo>
                  <a:pt x="4015592" y="2304217"/>
                </a:lnTo>
                <a:cubicBezTo>
                  <a:pt x="4047978" y="2304744"/>
                  <a:pt x="4079870" y="2307725"/>
                  <a:pt x="4111054" y="2313282"/>
                </a:cubicBezTo>
                <a:cubicBezTo>
                  <a:pt x="4116630" y="2312863"/>
                  <a:pt x="4121958" y="2313811"/>
                  <a:pt x="4127266" y="2314821"/>
                </a:cubicBezTo>
                <a:lnTo>
                  <a:pt x="4127384" y="2315969"/>
                </a:lnTo>
                <a:cubicBezTo>
                  <a:pt x="4486234" y="2375367"/>
                  <a:pt x="4767273" y="2656144"/>
                  <a:pt x="4817549" y="3009010"/>
                </a:cubicBezTo>
                <a:cubicBezTo>
                  <a:pt x="4817717" y="3009063"/>
                  <a:pt x="4817886" y="3009068"/>
                  <a:pt x="4818055" y="3009073"/>
                </a:cubicBezTo>
                <a:lnTo>
                  <a:pt x="4818595" y="3015763"/>
                </a:lnTo>
                <a:cubicBezTo>
                  <a:pt x="4823652" y="3046007"/>
                  <a:pt x="4826101" y="3076892"/>
                  <a:pt x="4826059" y="3108220"/>
                </a:cubicBezTo>
                <a:cubicBezTo>
                  <a:pt x="4827371" y="3113850"/>
                  <a:pt x="4827430" y="3119519"/>
                  <a:pt x="4827430" y="3125201"/>
                </a:cubicBezTo>
                <a:cubicBezTo>
                  <a:pt x="4827430" y="3129023"/>
                  <a:pt x="4827403" y="3132839"/>
                  <a:pt x="4826837" y="3136641"/>
                </a:cubicBezTo>
                <a:lnTo>
                  <a:pt x="4826338" y="3136608"/>
                </a:lnTo>
                <a:lnTo>
                  <a:pt x="4826312" y="3137103"/>
                </a:lnTo>
                <a:lnTo>
                  <a:pt x="4809193" y="3135477"/>
                </a:lnTo>
                <a:cubicBezTo>
                  <a:pt x="4776819" y="3134950"/>
                  <a:pt x="4744939" y="3131969"/>
                  <a:pt x="4713767" y="3126415"/>
                </a:cubicBezTo>
                <a:cubicBezTo>
                  <a:pt x="4708190" y="3126834"/>
                  <a:pt x="4702861" y="3125886"/>
                  <a:pt x="4697550" y="3124875"/>
                </a:cubicBezTo>
                <a:lnTo>
                  <a:pt x="4697434" y="3123727"/>
                </a:lnTo>
                <a:cubicBezTo>
                  <a:pt x="4338583" y="3064328"/>
                  <a:pt x="4057544" y="2783551"/>
                  <a:pt x="4007268" y="2430686"/>
                </a:cubicBezTo>
                <a:cubicBezTo>
                  <a:pt x="4007101" y="2430633"/>
                  <a:pt x="4006932" y="2430628"/>
                  <a:pt x="4006763" y="2430623"/>
                </a:cubicBezTo>
                <a:lnTo>
                  <a:pt x="4006225" y="2423947"/>
                </a:lnTo>
                <a:cubicBezTo>
                  <a:pt x="4001166" y="2393697"/>
                  <a:pt x="3998715" y="2362806"/>
                  <a:pt x="3998757" y="2331471"/>
                </a:cubicBezTo>
                <a:cubicBezTo>
                  <a:pt x="3997445" y="2325843"/>
                  <a:pt x="3997387" y="2320176"/>
                  <a:pt x="3997387" y="2314495"/>
                </a:cubicBezTo>
                <a:lnTo>
                  <a:pt x="3997981" y="2303055"/>
                </a:lnTo>
                <a:lnTo>
                  <a:pt x="3998479" y="2303088"/>
                </a:lnTo>
                <a:close/>
                <a:moveTo>
                  <a:pt x="3975754" y="2302594"/>
                </a:moveTo>
                <a:lnTo>
                  <a:pt x="3975780" y="2303088"/>
                </a:lnTo>
                <a:lnTo>
                  <a:pt x="3976278" y="2303055"/>
                </a:lnTo>
                <a:lnTo>
                  <a:pt x="3976872" y="2314495"/>
                </a:lnTo>
                <a:cubicBezTo>
                  <a:pt x="3976872" y="2320176"/>
                  <a:pt x="3976813" y="2325843"/>
                  <a:pt x="3975501" y="2331471"/>
                </a:cubicBezTo>
                <a:cubicBezTo>
                  <a:pt x="3975543" y="2362806"/>
                  <a:pt x="3973093" y="2393697"/>
                  <a:pt x="3968034" y="2423947"/>
                </a:cubicBezTo>
                <a:lnTo>
                  <a:pt x="3967496" y="2430623"/>
                </a:lnTo>
                <a:cubicBezTo>
                  <a:pt x="3967326" y="2430628"/>
                  <a:pt x="3967158" y="2430633"/>
                  <a:pt x="3966990" y="2430686"/>
                </a:cubicBezTo>
                <a:cubicBezTo>
                  <a:pt x="3916715" y="2783551"/>
                  <a:pt x="3635676" y="3064328"/>
                  <a:pt x="3276825" y="3123727"/>
                </a:cubicBezTo>
                <a:lnTo>
                  <a:pt x="3276708" y="3124875"/>
                </a:lnTo>
                <a:cubicBezTo>
                  <a:pt x="3271398" y="3125886"/>
                  <a:pt x="3266069" y="3126834"/>
                  <a:pt x="3260492" y="3126415"/>
                </a:cubicBezTo>
                <a:cubicBezTo>
                  <a:pt x="3229320" y="3131969"/>
                  <a:pt x="3197440" y="3134950"/>
                  <a:pt x="3165065" y="3135477"/>
                </a:cubicBezTo>
                <a:lnTo>
                  <a:pt x="3147947" y="3137103"/>
                </a:lnTo>
                <a:lnTo>
                  <a:pt x="3147921" y="3136608"/>
                </a:lnTo>
                <a:lnTo>
                  <a:pt x="3147422" y="3136641"/>
                </a:lnTo>
                <a:cubicBezTo>
                  <a:pt x="3146856" y="3132839"/>
                  <a:pt x="3146829" y="3129023"/>
                  <a:pt x="3146829" y="3125201"/>
                </a:cubicBezTo>
                <a:cubicBezTo>
                  <a:pt x="3146829" y="3119519"/>
                  <a:pt x="3146887" y="3113850"/>
                  <a:pt x="3148199" y="3108220"/>
                </a:cubicBezTo>
                <a:cubicBezTo>
                  <a:pt x="3148157" y="3076892"/>
                  <a:pt x="3150607" y="3046007"/>
                  <a:pt x="3155663" y="3015763"/>
                </a:cubicBezTo>
                <a:lnTo>
                  <a:pt x="3156204" y="3009073"/>
                </a:lnTo>
                <a:cubicBezTo>
                  <a:pt x="3156372" y="3009068"/>
                  <a:pt x="3156542" y="3009063"/>
                  <a:pt x="3156709" y="3009010"/>
                </a:cubicBezTo>
                <a:cubicBezTo>
                  <a:pt x="3206986" y="2656144"/>
                  <a:pt x="3488025" y="2375367"/>
                  <a:pt x="3846875" y="2315969"/>
                </a:cubicBezTo>
                <a:lnTo>
                  <a:pt x="3846992" y="2314821"/>
                </a:lnTo>
                <a:cubicBezTo>
                  <a:pt x="3852301" y="2313811"/>
                  <a:pt x="3857629" y="2312863"/>
                  <a:pt x="3863205" y="2313282"/>
                </a:cubicBezTo>
                <a:cubicBezTo>
                  <a:pt x="3894388" y="2307725"/>
                  <a:pt x="3926281" y="2304744"/>
                  <a:pt x="3958666" y="2304217"/>
                </a:cubicBezTo>
                <a:close/>
                <a:moveTo>
                  <a:pt x="2306354" y="2302594"/>
                </a:moveTo>
                <a:lnTo>
                  <a:pt x="2323441" y="2304217"/>
                </a:lnTo>
                <a:cubicBezTo>
                  <a:pt x="2355827" y="2304744"/>
                  <a:pt x="2387719" y="2307725"/>
                  <a:pt x="2418903" y="2313282"/>
                </a:cubicBezTo>
                <a:cubicBezTo>
                  <a:pt x="2424479" y="2312863"/>
                  <a:pt x="2429807" y="2313811"/>
                  <a:pt x="2435115" y="2314821"/>
                </a:cubicBezTo>
                <a:lnTo>
                  <a:pt x="2435233" y="2315969"/>
                </a:lnTo>
                <a:cubicBezTo>
                  <a:pt x="2794083" y="2375367"/>
                  <a:pt x="3075122" y="2656144"/>
                  <a:pt x="3125398" y="3009010"/>
                </a:cubicBezTo>
                <a:cubicBezTo>
                  <a:pt x="3125566" y="3009063"/>
                  <a:pt x="3125735" y="3009068"/>
                  <a:pt x="3125904" y="3009073"/>
                </a:cubicBezTo>
                <a:lnTo>
                  <a:pt x="3126444" y="3015763"/>
                </a:lnTo>
                <a:cubicBezTo>
                  <a:pt x="3131501" y="3046007"/>
                  <a:pt x="3133950" y="3076892"/>
                  <a:pt x="3133908" y="3108220"/>
                </a:cubicBezTo>
                <a:cubicBezTo>
                  <a:pt x="3135220" y="3113850"/>
                  <a:pt x="3135279" y="3119519"/>
                  <a:pt x="3135279" y="3125201"/>
                </a:cubicBezTo>
                <a:cubicBezTo>
                  <a:pt x="3135279" y="3129023"/>
                  <a:pt x="3135252" y="3132839"/>
                  <a:pt x="3134686" y="3136641"/>
                </a:cubicBezTo>
                <a:lnTo>
                  <a:pt x="3134187" y="3136608"/>
                </a:lnTo>
                <a:lnTo>
                  <a:pt x="3134161" y="3137103"/>
                </a:lnTo>
                <a:lnTo>
                  <a:pt x="3117042" y="3135477"/>
                </a:lnTo>
                <a:cubicBezTo>
                  <a:pt x="3084668" y="3134950"/>
                  <a:pt x="3052788" y="3131969"/>
                  <a:pt x="3021616" y="3126415"/>
                </a:cubicBezTo>
                <a:cubicBezTo>
                  <a:pt x="3016039" y="3126834"/>
                  <a:pt x="3010710" y="3125886"/>
                  <a:pt x="3005399" y="3124875"/>
                </a:cubicBezTo>
                <a:lnTo>
                  <a:pt x="3005283" y="3123727"/>
                </a:lnTo>
                <a:cubicBezTo>
                  <a:pt x="2646432" y="3064328"/>
                  <a:pt x="2365393" y="2783551"/>
                  <a:pt x="2315117" y="2430686"/>
                </a:cubicBezTo>
                <a:cubicBezTo>
                  <a:pt x="2314950" y="2430633"/>
                  <a:pt x="2314781" y="2430628"/>
                  <a:pt x="2314612" y="2430623"/>
                </a:cubicBezTo>
                <a:lnTo>
                  <a:pt x="2314074" y="2423947"/>
                </a:lnTo>
                <a:cubicBezTo>
                  <a:pt x="2309015" y="2393697"/>
                  <a:pt x="2306564" y="2362806"/>
                  <a:pt x="2306606" y="2331471"/>
                </a:cubicBezTo>
                <a:cubicBezTo>
                  <a:pt x="2305294" y="2325843"/>
                  <a:pt x="2305236" y="2320176"/>
                  <a:pt x="2305236" y="2314495"/>
                </a:cubicBezTo>
                <a:lnTo>
                  <a:pt x="2305830" y="2303055"/>
                </a:lnTo>
                <a:lnTo>
                  <a:pt x="2306328" y="2303088"/>
                </a:lnTo>
                <a:close/>
                <a:moveTo>
                  <a:pt x="2283603" y="2302594"/>
                </a:moveTo>
                <a:lnTo>
                  <a:pt x="2283629" y="2303088"/>
                </a:lnTo>
                <a:lnTo>
                  <a:pt x="2284127" y="2303055"/>
                </a:lnTo>
                <a:lnTo>
                  <a:pt x="2284721" y="2314495"/>
                </a:lnTo>
                <a:cubicBezTo>
                  <a:pt x="2284721" y="2320176"/>
                  <a:pt x="2284662" y="2325843"/>
                  <a:pt x="2283350" y="2331471"/>
                </a:cubicBezTo>
                <a:cubicBezTo>
                  <a:pt x="2283392" y="2362806"/>
                  <a:pt x="2280942" y="2393697"/>
                  <a:pt x="2275883" y="2423947"/>
                </a:cubicBezTo>
                <a:lnTo>
                  <a:pt x="2275345" y="2430623"/>
                </a:lnTo>
                <a:cubicBezTo>
                  <a:pt x="2275175" y="2430628"/>
                  <a:pt x="2275007" y="2430633"/>
                  <a:pt x="2274839" y="2430686"/>
                </a:cubicBezTo>
                <a:cubicBezTo>
                  <a:pt x="2224564" y="2783551"/>
                  <a:pt x="1943525" y="3064328"/>
                  <a:pt x="1584673" y="3123727"/>
                </a:cubicBezTo>
                <a:lnTo>
                  <a:pt x="1584557" y="3124875"/>
                </a:lnTo>
                <a:cubicBezTo>
                  <a:pt x="1579247" y="3125886"/>
                  <a:pt x="1573918" y="3126834"/>
                  <a:pt x="1568341" y="3126415"/>
                </a:cubicBezTo>
                <a:cubicBezTo>
                  <a:pt x="1537169" y="3131969"/>
                  <a:pt x="1505289" y="3134950"/>
                  <a:pt x="1472914" y="3135477"/>
                </a:cubicBezTo>
                <a:lnTo>
                  <a:pt x="1455796" y="3137103"/>
                </a:lnTo>
                <a:lnTo>
                  <a:pt x="1455770" y="3136608"/>
                </a:lnTo>
                <a:lnTo>
                  <a:pt x="1455271" y="3136641"/>
                </a:lnTo>
                <a:cubicBezTo>
                  <a:pt x="1454705" y="3132839"/>
                  <a:pt x="1454678" y="3129023"/>
                  <a:pt x="1454678" y="3125201"/>
                </a:cubicBezTo>
                <a:cubicBezTo>
                  <a:pt x="1454678" y="3119519"/>
                  <a:pt x="1454736" y="3113850"/>
                  <a:pt x="1456048" y="3108220"/>
                </a:cubicBezTo>
                <a:cubicBezTo>
                  <a:pt x="1456006" y="3076892"/>
                  <a:pt x="1458456" y="3046007"/>
                  <a:pt x="1463513" y="3015763"/>
                </a:cubicBezTo>
                <a:lnTo>
                  <a:pt x="1464053" y="3009073"/>
                </a:lnTo>
                <a:cubicBezTo>
                  <a:pt x="1464221" y="3009068"/>
                  <a:pt x="1464391" y="3009063"/>
                  <a:pt x="1464558" y="3009010"/>
                </a:cubicBezTo>
                <a:cubicBezTo>
                  <a:pt x="1514835" y="2656144"/>
                  <a:pt x="1795874" y="2375367"/>
                  <a:pt x="2154724" y="2315969"/>
                </a:cubicBezTo>
                <a:lnTo>
                  <a:pt x="2154841" y="2314821"/>
                </a:lnTo>
                <a:cubicBezTo>
                  <a:pt x="2160150" y="2313811"/>
                  <a:pt x="2165478" y="2312863"/>
                  <a:pt x="2171054" y="2313282"/>
                </a:cubicBezTo>
                <a:cubicBezTo>
                  <a:pt x="2202237" y="2307725"/>
                  <a:pt x="2234130" y="2304744"/>
                  <a:pt x="2266515" y="2304217"/>
                </a:cubicBezTo>
                <a:close/>
                <a:moveTo>
                  <a:pt x="614203" y="2302594"/>
                </a:moveTo>
                <a:lnTo>
                  <a:pt x="631290" y="2304217"/>
                </a:lnTo>
                <a:cubicBezTo>
                  <a:pt x="663676" y="2304744"/>
                  <a:pt x="695568" y="2307725"/>
                  <a:pt x="726752" y="2313282"/>
                </a:cubicBezTo>
                <a:cubicBezTo>
                  <a:pt x="732328" y="2312863"/>
                  <a:pt x="737656" y="2313811"/>
                  <a:pt x="742964" y="2314821"/>
                </a:cubicBezTo>
                <a:lnTo>
                  <a:pt x="743081" y="2315969"/>
                </a:lnTo>
                <a:cubicBezTo>
                  <a:pt x="1101932" y="2375367"/>
                  <a:pt x="1382971" y="2656144"/>
                  <a:pt x="1433247" y="3009010"/>
                </a:cubicBezTo>
                <a:cubicBezTo>
                  <a:pt x="1433415" y="3009063"/>
                  <a:pt x="1433584" y="3009068"/>
                  <a:pt x="1433753" y="3009073"/>
                </a:cubicBezTo>
                <a:lnTo>
                  <a:pt x="1434293" y="3015763"/>
                </a:lnTo>
                <a:cubicBezTo>
                  <a:pt x="1439350" y="3046007"/>
                  <a:pt x="1441799" y="3076892"/>
                  <a:pt x="1441757" y="3108220"/>
                </a:cubicBezTo>
                <a:cubicBezTo>
                  <a:pt x="1443069" y="3113850"/>
                  <a:pt x="1443128" y="3119519"/>
                  <a:pt x="1443128" y="3125201"/>
                </a:cubicBezTo>
                <a:cubicBezTo>
                  <a:pt x="1443128" y="3129023"/>
                  <a:pt x="1443101" y="3132839"/>
                  <a:pt x="1442535" y="3136641"/>
                </a:cubicBezTo>
                <a:lnTo>
                  <a:pt x="1442036" y="3136608"/>
                </a:lnTo>
                <a:lnTo>
                  <a:pt x="1442010" y="3137103"/>
                </a:lnTo>
                <a:lnTo>
                  <a:pt x="1424891" y="3135477"/>
                </a:lnTo>
                <a:cubicBezTo>
                  <a:pt x="1392517" y="3134950"/>
                  <a:pt x="1360637" y="3131969"/>
                  <a:pt x="1329465" y="3126415"/>
                </a:cubicBezTo>
                <a:cubicBezTo>
                  <a:pt x="1323888" y="3126834"/>
                  <a:pt x="1318559" y="3125886"/>
                  <a:pt x="1313248" y="3124875"/>
                </a:cubicBezTo>
                <a:lnTo>
                  <a:pt x="1313132" y="3123727"/>
                </a:lnTo>
                <a:cubicBezTo>
                  <a:pt x="954281" y="3064328"/>
                  <a:pt x="673242" y="2783551"/>
                  <a:pt x="622966" y="2430686"/>
                </a:cubicBezTo>
                <a:cubicBezTo>
                  <a:pt x="622799" y="2430633"/>
                  <a:pt x="622630" y="2430628"/>
                  <a:pt x="622461" y="2430623"/>
                </a:cubicBezTo>
                <a:lnTo>
                  <a:pt x="621923" y="2423947"/>
                </a:lnTo>
                <a:cubicBezTo>
                  <a:pt x="616864" y="2393697"/>
                  <a:pt x="614413" y="2362806"/>
                  <a:pt x="614455" y="2331471"/>
                </a:cubicBezTo>
                <a:cubicBezTo>
                  <a:pt x="613143" y="2325843"/>
                  <a:pt x="613085" y="2320176"/>
                  <a:pt x="613085" y="2314495"/>
                </a:cubicBezTo>
                <a:lnTo>
                  <a:pt x="613679" y="2303055"/>
                </a:lnTo>
                <a:lnTo>
                  <a:pt x="614177" y="2303088"/>
                </a:lnTo>
                <a:close/>
                <a:moveTo>
                  <a:pt x="591452" y="2302594"/>
                </a:moveTo>
                <a:lnTo>
                  <a:pt x="591478" y="2303088"/>
                </a:lnTo>
                <a:lnTo>
                  <a:pt x="591976" y="2303055"/>
                </a:lnTo>
                <a:lnTo>
                  <a:pt x="592570" y="2314495"/>
                </a:lnTo>
                <a:cubicBezTo>
                  <a:pt x="592570" y="2320176"/>
                  <a:pt x="592511" y="2325843"/>
                  <a:pt x="591199" y="2331471"/>
                </a:cubicBezTo>
                <a:cubicBezTo>
                  <a:pt x="591242" y="2362806"/>
                  <a:pt x="588791" y="2393697"/>
                  <a:pt x="583732" y="2423947"/>
                </a:cubicBezTo>
                <a:lnTo>
                  <a:pt x="583194" y="2430623"/>
                </a:lnTo>
                <a:cubicBezTo>
                  <a:pt x="583024" y="2430628"/>
                  <a:pt x="582856" y="2430633"/>
                  <a:pt x="582689" y="2430686"/>
                </a:cubicBezTo>
                <a:cubicBezTo>
                  <a:pt x="537576" y="2747315"/>
                  <a:pt x="306662" y="3005901"/>
                  <a:pt x="0" y="3097101"/>
                </a:cubicBezTo>
                <a:lnTo>
                  <a:pt x="0" y="2964763"/>
                </a:lnTo>
                <a:cubicBezTo>
                  <a:pt x="229298" y="2881926"/>
                  <a:pt x="402181" y="2686530"/>
                  <a:pt x="449203" y="2447425"/>
                </a:cubicBezTo>
                <a:cubicBezTo>
                  <a:pt x="258971" y="2488309"/>
                  <a:pt x="97576" y="2603574"/>
                  <a:pt x="0" y="2761314"/>
                </a:cubicBezTo>
                <a:lnTo>
                  <a:pt x="0" y="2554520"/>
                </a:lnTo>
                <a:cubicBezTo>
                  <a:pt x="121484" y="2431613"/>
                  <a:pt x="282199" y="2345825"/>
                  <a:pt x="462573" y="2315969"/>
                </a:cubicBezTo>
                <a:lnTo>
                  <a:pt x="462690" y="2314821"/>
                </a:lnTo>
                <a:cubicBezTo>
                  <a:pt x="467999" y="2313811"/>
                  <a:pt x="473327" y="2312863"/>
                  <a:pt x="478903" y="2313282"/>
                </a:cubicBezTo>
                <a:cubicBezTo>
                  <a:pt x="510086" y="2307725"/>
                  <a:pt x="541979" y="2304744"/>
                  <a:pt x="574365" y="2304217"/>
                </a:cubicBezTo>
                <a:close/>
                <a:moveTo>
                  <a:pt x="11452667" y="1608087"/>
                </a:moveTo>
                <a:cubicBezTo>
                  <a:pt x="11177477" y="1666766"/>
                  <a:pt x="10962633" y="1879876"/>
                  <a:pt x="10909358" y="2148655"/>
                </a:cubicBezTo>
                <a:cubicBezTo>
                  <a:pt x="11184548" y="2089976"/>
                  <a:pt x="11399391" y="1876866"/>
                  <a:pt x="11452667" y="1608087"/>
                </a:cubicBezTo>
                <a:close/>
                <a:moveTo>
                  <a:pt x="10058800" y="1608087"/>
                </a:moveTo>
                <a:cubicBezTo>
                  <a:pt x="10112076" y="1876866"/>
                  <a:pt x="10326919" y="2089976"/>
                  <a:pt x="10602109" y="2148655"/>
                </a:cubicBezTo>
                <a:cubicBezTo>
                  <a:pt x="10548834" y="1879876"/>
                  <a:pt x="10333990" y="1666766"/>
                  <a:pt x="10058800" y="1608087"/>
                </a:cubicBezTo>
                <a:close/>
                <a:moveTo>
                  <a:pt x="9760514" y="1608087"/>
                </a:moveTo>
                <a:cubicBezTo>
                  <a:pt x="9485324" y="1666766"/>
                  <a:pt x="9270480" y="1879876"/>
                  <a:pt x="9217205" y="2148655"/>
                </a:cubicBezTo>
                <a:cubicBezTo>
                  <a:pt x="9492395" y="2089976"/>
                  <a:pt x="9707238" y="1876866"/>
                  <a:pt x="9760514" y="1608087"/>
                </a:cubicBezTo>
                <a:close/>
                <a:moveTo>
                  <a:pt x="8366649" y="1608087"/>
                </a:moveTo>
                <a:cubicBezTo>
                  <a:pt x="8419925" y="1876866"/>
                  <a:pt x="8634768" y="2089976"/>
                  <a:pt x="8909958" y="2148655"/>
                </a:cubicBezTo>
                <a:cubicBezTo>
                  <a:pt x="8856683" y="1879876"/>
                  <a:pt x="8641839" y="1666766"/>
                  <a:pt x="8366649" y="1608087"/>
                </a:cubicBezTo>
                <a:close/>
                <a:moveTo>
                  <a:pt x="8068363" y="1608087"/>
                </a:moveTo>
                <a:cubicBezTo>
                  <a:pt x="7793173" y="1666766"/>
                  <a:pt x="7578329" y="1879876"/>
                  <a:pt x="7525054" y="2148655"/>
                </a:cubicBezTo>
                <a:cubicBezTo>
                  <a:pt x="7800244" y="2089976"/>
                  <a:pt x="8015087" y="1876866"/>
                  <a:pt x="8068363" y="1608087"/>
                </a:cubicBezTo>
                <a:close/>
                <a:moveTo>
                  <a:pt x="6674498" y="1608087"/>
                </a:moveTo>
                <a:cubicBezTo>
                  <a:pt x="6727774" y="1876866"/>
                  <a:pt x="6942617" y="2089976"/>
                  <a:pt x="7217807" y="2148655"/>
                </a:cubicBezTo>
                <a:cubicBezTo>
                  <a:pt x="7164532" y="1879876"/>
                  <a:pt x="6949688" y="1666766"/>
                  <a:pt x="6674498" y="1608087"/>
                </a:cubicBezTo>
                <a:close/>
                <a:moveTo>
                  <a:pt x="6376212" y="1608087"/>
                </a:moveTo>
                <a:cubicBezTo>
                  <a:pt x="6101022" y="1666766"/>
                  <a:pt x="5886178" y="1879876"/>
                  <a:pt x="5832903" y="2148655"/>
                </a:cubicBezTo>
                <a:cubicBezTo>
                  <a:pt x="6108093" y="2089976"/>
                  <a:pt x="6322936" y="1876866"/>
                  <a:pt x="6376212" y="1608087"/>
                </a:cubicBezTo>
                <a:close/>
                <a:moveTo>
                  <a:pt x="4982347" y="1608087"/>
                </a:moveTo>
                <a:cubicBezTo>
                  <a:pt x="5035623" y="1876866"/>
                  <a:pt x="5250466" y="2089976"/>
                  <a:pt x="5525656" y="2148655"/>
                </a:cubicBezTo>
                <a:cubicBezTo>
                  <a:pt x="5472381" y="1879876"/>
                  <a:pt x="5257537" y="1666766"/>
                  <a:pt x="4982347" y="1608087"/>
                </a:cubicBezTo>
                <a:close/>
                <a:moveTo>
                  <a:pt x="4684061" y="1608087"/>
                </a:moveTo>
                <a:cubicBezTo>
                  <a:pt x="4408871" y="1666766"/>
                  <a:pt x="4194027" y="1879876"/>
                  <a:pt x="4140752" y="2148655"/>
                </a:cubicBezTo>
                <a:cubicBezTo>
                  <a:pt x="4415942" y="2089976"/>
                  <a:pt x="4630785" y="1876866"/>
                  <a:pt x="4684061" y="1608087"/>
                </a:cubicBezTo>
                <a:close/>
                <a:moveTo>
                  <a:pt x="3290196" y="1608087"/>
                </a:moveTo>
                <a:cubicBezTo>
                  <a:pt x="3343472" y="1876866"/>
                  <a:pt x="3558315" y="2089976"/>
                  <a:pt x="3833505" y="2148655"/>
                </a:cubicBezTo>
                <a:cubicBezTo>
                  <a:pt x="3780230" y="1879876"/>
                  <a:pt x="3565386" y="1666766"/>
                  <a:pt x="3290196" y="1608087"/>
                </a:cubicBezTo>
                <a:close/>
                <a:moveTo>
                  <a:pt x="2991910" y="1608087"/>
                </a:moveTo>
                <a:cubicBezTo>
                  <a:pt x="2716720" y="1666766"/>
                  <a:pt x="2501876" y="1879876"/>
                  <a:pt x="2448601" y="2148655"/>
                </a:cubicBezTo>
                <a:cubicBezTo>
                  <a:pt x="2723791" y="2089976"/>
                  <a:pt x="2938634" y="1876866"/>
                  <a:pt x="2991910" y="1608087"/>
                </a:cubicBezTo>
                <a:close/>
                <a:moveTo>
                  <a:pt x="1598045" y="1608087"/>
                </a:moveTo>
                <a:cubicBezTo>
                  <a:pt x="1651321" y="1876866"/>
                  <a:pt x="1866164" y="2089976"/>
                  <a:pt x="2141354" y="2148655"/>
                </a:cubicBezTo>
                <a:cubicBezTo>
                  <a:pt x="2088079" y="1879876"/>
                  <a:pt x="1873235" y="1666766"/>
                  <a:pt x="1598045" y="1608087"/>
                </a:cubicBezTo>
                <a:close/>
                <a:moveTo>
                  <a:pt x="1299759" y="1608087"/>
                </a:moveTo>
                <a:cubicBezTo>
                  <a:pt x="1024569" y="1666766"/>
                  <a:pt x="809725" y="1879876"/>
                  <a:pt x="756450" y="2148655"/>
                </a:cubicBezTo>
                <a:cubicBezTo>
                  <a:pt x="1031640" y="2089976"/>
                  <a:pt x="1246483" y="1876866"/>
                  <a:pt x="1299759" y="1608087"/>
                </a:cubicBezTo>
                <a:close/>
                <a:moveTo>
                  <a:pt x="0" y="1504081"/>
                </a:moveTo>
                <a:cubicBezTo>
                  <a:pt x="306658" y="1594561"/>
                  <a:pt x="537576" y="1851117"/>
                  <a:pt x="582690" y="2165262"/>
                </a:cubicBezTo>
                <a:cubicBezTo>
                  <a:pt x="582857" y="2165315"/>
                  <a:pt x="583026" y="2165320"/>
                  <a:pt x="583195" y="2165325"/>
                </a:cubicBezTo>
                <a:lnTo>
                  <a:pt x="583735" y="2171962"/>
                </a:lnTo>
                <a:cubicBezTo>
                  <a:pt x="588792" y="2201969"/>
                  <a:pt x="591242" y="2232611"/>
                  <a:pt x="591199" y="2263693"/>
                </a:cubicBezTo>
                <a:cubicBezTo>
                  <a:pt x="592511" y="2269279"/>
                  <a:pt x="592570" y="2274903"/>
                  <a:pt x="592570" y="2280541"/>
                </a:cubicBezTo>
                <a:cubicBezTo>
                  <a:pt x="592570" y="2284333"/>
                  <a:pt x="592543" y="2288119"/>
                  <a:pt x="591977" y="2291891"/>
                </a:cubicBezTo>
                <a:lnTo>
                  <a:pt x="591478" y="2291858"/>
                </a:lnTo>
                <a:lnTo>
                  <a:pt x="591452" y="2292349"/>
                </a:lnTo>
                <a:lnTo>
                  <a:pt x="574334" y="2290736"/>
                </a:lnTo>
                <a:cubicBezTo>
                  <a:pt x="541959" y="2290213"/>
                  <a:pt x="510079" y="2287255"/>
                  <a:pt x="478907" y="2281745"/>
                </a:cubicBezTo>
                <a:cubicBezTo>
                  <a:pt x="473330" y="2282161"/>
                  <a:pt x="468001" y="2281220"/>
                  <a:pt x="462690" y="2280217"/>
                </a:cubicBezTo>
                <a:lnTo>
                  <a:pt x="462574" y="2279078"/>
                </a:lnTo>
                <a:cubicBezTo>
                  <a:pt x="282200" y="2249456"/>
                  <a:pt x="121485" y="2164343"/>
                  <a:pt x="0" y="2042401"/>
                </a:cubicBezTo>
                <a:lnTo>
                  <a:pt x="0" y="1837231"/>
                </a:lnTo>
                <a:cubicBezTo>
                  <a:pt x="97584" y="1993737"/>
                  <a:pt x="258975" y="2108093"/>
                  <a:pt x="449203" y="2148655"/>
                </a:cubicBezTo>
                <a:cubicBezTo>
                  <a:pt x="402182" y="1911427"/>
                  <a:pt x="229297" y="1717565"/>
                  <a:pt x="0" y="1635380"/>
                </a:cubicBezTo>
                <a:close/>
                <a:moveTo>
                  <a:pt x="11608704" y="1464394"/>
                </a:moveTo>
                <a:lnTo>
                  <a:pt x="11625791" y="1466004"/>
                </a:lnTo>
                <a:cubicBezTo>
                  <a:pt x="11658177" y="1466527"/>
                  <a:pt x="11690070" y="1469485"/>
                  <a:pt x="11721253" y="1474998"/>
                </a:cubicBezTo>
                <a:cubicBezTo>
                  <a:pt x="11726829" y="1474582"/>
                  <a:pt x="11732157" y="1475523"/>
                  <a:pt x="11737466" y="1476525"/>
                </a:cubicBezTo>
                <a:lnTo>
                  <a:pt x="11737583" y="1477664"/>
                </a:lnTo>
                <a:cubicBezTo>
                  <a:pt x="11914088" y="1506650"/>
                  <a:pt x="12071767" y="1588774"/>
                  <a:pt x="12192000" y="1706842"/>
                </a:cubicBezTo>
                <a:lnTo>
                  <a:pt x="12192000" y="1906833"/>
                </a:lnTo>
                <a:cubicBezTo>
                  <a:pt x="12093732" y="1756811"/>
                  <a:pt x="11935983" y="1647542"/>
                  <a:pt x="11750953" y="1608088"/>
                </a:cubicBezTo>
                <a:cubicBezTo>
                  <a:pt x="11797422" y="1842524"/>
                  <a:pt x="11966808" y="2034608"/>
                  <a:pt x="12192000" y="2118654"/>
                </a:cubicBezTo>
                <a:lnTo>
                  <a:pt x="12192000" y="2250657"/>
                </a:lnTo>
                <a:cubicBezTo>
                  <a:pt x="11889465" y="2157681"/>
                  <a:pt x="11662185" y="1902872"/>
                  <a:pt x="11617468" y="1591480"/>
                </a:cubicBezTo>
                <a:cubicBezTo>
                  <a:pt x="11617300" y="1591427"/>
                  <a:pt x="11617132" y="1591423"/>
                  <a:pt x="11616962" y="1591418"/>
                </a:cubicBezTo>
                <a:lnTo>
                  <a:pt x="11616424" y="1584794"/>
                </a:lnTo>
                <a:cubicBezTo>
                  <a:pt x="11611365" y="1554782"/>
                  <a:pt x="11608914" y="1524133"/>
                  <a:pt x="11608957" y="1493044"/>
                </a:cubicBezTo>
                <a:cubicBezTo>
                  <a:pt x="11607645" y="1487460"/>
                  <a:pt x="11607586" y="1481838"/>
                  <a:pt x="11607586" y="1476202"/>
                </a:cubicBezTo>
                <a:lnTo>
                  <a:pt x="11608180" y="1464851"/>
                </a:lnTo>
                <a:lnTo>
                  <a:pt x="11608678" y="1464884"/>
                </a:lnTo>
                <a:close/>
                <a:moveTo>
                  <a:pt x="11594916" y="1464394"/>
                </a:moveTo>
                <a:lnTo>
                  <a:pt x="11594942" y="1464884"/>
                </a:lnTo>
                <a:lnTo>
                  <a:pt x="11595440" y="1464852"/>
                </a:lnTo>
                <a:lnTo>
                  <a:pt x="11596034" y="1476202"/>
                </a:lnTo>
                <a:cubicBezTo>
                  <a:pt x="11596034" y="1481838"/>
                  <a:pt x="11595975" y="1487460"/>
                  <a:pt x="11594663" y="1493044"/>
                </a:cubicBezTo>
                <a:cubicBezTo>
                  <a:pt x="11594706" y="1524133"/>
                  <a:pt x="11592255" y="1554782"/>
                  <a:pt x="11587196" y="1584794"/>
                </a:cubicBezTo>
                <a:lnTo>
                  <a:pt x="11586658" y="1591418"/>
                </a:lnTo>
                <a:cubicBezTo>
                  <a:pt x="11586488" y="1591423"/>
                  <a:pt x="11586320" y="1591427"/>
                  <a:pt x="11586152" y="1591480"/>
                </a:cubicBezTo>
                <a:cubicBezTo>
                  <a:pt x="11535877" y="1941574"/>
                  <a:pt x="11254838" y="2220146"/>
                  <a:pt x="10895987" y="2279078"/>
                </a:cubicBezTo>
                <a:lnTo>
                  <a:pt x="10895871" y="2280217"/>
                </a:lnTo>
                <a:cubicBezTo>
                  <a:pt x="10890560" y="2281220"/>
                  <a:pt x="10885231" y="2282161"/>
                  <a:pt x="10879654" y="2281745"/>
                </a:cubicBezTo>
                <a:cubicBezTo>
                  <a:pt x="10848482" y="2287255"/>
                  <a:pt x="10816602" y="2290213"/>
                  <a:pt x="10784227" y="2290736"/>
                </a:cubicBezTo>
                <a:lnTo>
                  <a:pt x="10767109" y="2292349"/>
                </a:lnTo>
                <a:lnTo>
                  <a:pt x="10767083" y="2291858"/>
                </a:lnTo>
                <a:lnTo>
                  <a:pt x="10766584" y="2291891"/>
                </a:lnTo>
                <a:cubicBezTo>
                  <a:pt x="10766018" y="2288119"/>
                  <a:pt x="10765991" y="2284333"/>
                  <a:pt x="10765991" y="2280541"/>
                </a:cubicBezTo>
                <a:cubicBezTo>
                  <a:pt x="10765991" y="2274903"/>
                  <a:pt x="10766050" y="2269279"/>
                  <a:pt x="10767362" y="2263693"/>
                </a:cubicBezTo>
                <a:cubicBezTo>
                  <a:pt x="10767319" y="2232611"/>
                  <a:pt x="10769769" y="2201969"/>
                  <a:pt x="10774826" y="2171962"/>
                </a:cubicBezTo>
                <a:lnTo>
                  <a:pt x="10775366" y="2165325"/>
                </a:lnTo>
                <a:cubicBezTo>
                  <a:pt x="10775535" y="2165320"/>
                  <a:pt x="10775704" y="2165315"/>
                  <a:pt x="10775872" y="2165262"/>
                </a:cubicBezTo>
                <a:cubicBezTo>
                  <a:pt x="10826148" y="1815167"/>
                  <a:pt x="11107187" y="1536596"/>
                  <a:pt x="11466037" y="1477664"/>
                </a:cubicBezTo>
                <a:lnTo>
                  <a:pt x="11466154" y="1476525"/>
                </a:lnTo>
                <a:cubicBezTo>
                  <a:pt x="11471463" y="1475523"/>
                  <a:pt x="11476791" y="1474582"/>
                  <a:pt x="11482367" y="1474998"/>
                </a:cubicBezTo>
                <a:cubicBezTo>
                  <a:pt x="11513550" y="1469485"/>
                  <a:pt x="11545443" y="1466527"/>
                  <a:pt x="11577829" y="1466004"/>
                </a:cubicBezTo>
                <a:close/>
                <a:moveTo>
                  <a:pt x="9916551" y="1464394"/>
                </a:moveTo>
                <a:lnTo>
                  <a:pt x="9933638" y="1466004"/>
                </a:lnTo>
                <a:cubicBezTo>
                  <a:pt x="9966024" y="1466527"/>
                  <a:pt x="9997917" y="1469485"/>
                  <a:pt x="10029100" y="1474998"/>
                </a:cubicBezTo>
                <a:cubicBezTo>
                  <a:pt x="10034676" y="1474582"/>
                  <a:pt x="10040004" y="1475523"/>
                  <a:pt x="10045313" y="1476525"/>
                </a:cubicBezTo>
                <a:lnTo>
                  <a:pt x="10045430" y="1477664"/>
                </a:lnTo>
                <a:cubicBezTo>
                  <a:pt x="10404280" y="1536596"/>
                  <a:pt x="10685319" y="1815167"/>
                  <a:pt x="10735596" y="2165262"/>
                </a:cubicBezTo>
                <a:cubicBezTo>
                  <a:pt x="10735763" y="2165315"/>
                  <a:pt x="10735932" y="2165320"/>
                  <a:pt x="10736101" y="2165325"/>
                </a:cubicBezTo>
                <a:lnTo>
                  <a:pt x="10736641" y="2171962"/>
                </a:lnTo>
                <a:cubicBezTo>
                  <a:pt x="10741698" y="2201969"/>
                  <a:pt x="10744148" y="2232611"/>
                  <a:pt x="10744105" y="2263693"/>
                </a:cubicBezTo>
                <a:cubicBezTo>
                  <a:pt x="10745417" y="2269279"/>
                  <a:pt x="10745476" y="2274903"/>
                  <a:pt x="10745476" y="2280541"/>
                </a:cubicBezTo>
                <a:cubicBezTo>
                  <a:pt x="10745476" y="2284333"/>
                  <a:pt x="10745449" y="2288119"/>
                  <a:pt x="10744883" y="2291891"/>
                </a:cubicBezTo>
                <a:lnTo>
                  <a:pt x="10744384" y="2291858"/>
                </a:lnTo>
                <a:lnTo>
                  <a:pt x="10744358" y="2292349"/>
                </a:lnTo>
                <a:lnTo>
                  <a:pt x="10727240" y="2290736"/>
                </a:lnTo>
                <a:cubicBezTo>
                  <a:pt x="10694865" y="2290213"/>
                  <a:pt x="10662985" y="2287255"/>
                  <a:pt x="10631813" y="2281745"/>
                </a:cubicBezTo>
                <a:cubicBezTo>
                  <a:pt x="10626236" y="2282161"/>
                  <a:pt x="10620907" y="2281220"/>
                  <a:pt x="10615596" y="2280217"/>
                </a:cubicBezTo>
                <a:lnTo>
                  <a:pt x="10615480" y="2279078"/>
                </a:lnTo>
                <a:cubicBezTo>
                  <a:pt x="10256629" y="2220146"/>
                  <a:pt x="9975590" y="1941574"/>
                  <a:pt x="9925315" y="1591480"/>
                </a:cubicBezTo>
                <a:cubicBezTo>
                  <a:pt x="9925147" y="1591427"/>
                  <a:pt x="9924979" y="1591423"/>
                  <a:pt x="9924809" y="1591418"/>
                </a:cubicBezTo>
                <a:lnTo>
                  <a:pt x="9924271" y="1584794"/>
                </a:lnTo>
                <a:cubicBezTo>
                  <a:pt x="9919212" y="1554782"/>
                  <a:pt x="9916761" y="1524133"/>
                  <a:pt x="9916804" y="1493044"/>
                </a:cubicBezTo>
                <a:cubicBezTo>
                  <a:pt x="9915492" y="1487460"/>
                  <a:pt x="9915433" y="1481838"/>
                  <a:pt x="9915433" y="1476202"/>
                </a:cubicBezTo>
                <a:lnTo>
                  <a:pt x="9916027" y="1464852"/>
                </a:lnTo>
                <a:lnTo>
                  <a:pt x="9916525" y="1464884"/>
                </a:lnTo>
                <a:close/>
                <a:moveTo>
                  <a:pt x="9902763" y="1464394"/>
                </a:moveTo>
                <a:lnTo>
                  <a:pt x="9902789" y="1464884"/>
                </a:lnTo>
                <a:lnTo>
                  <a:pt x="9903287" y="1464852"/>
                </a:lnTo>
                <a:lnTo>
                  <a:pt x="9903881" y="1476202"/>
                </a:lnTo>
                <a:cubicBezTo>
                  <a:pt x="9903881" y="1481838"/>
                  <a:pt x="9903822" y="1487460"/>
                  <a:pt x="9902510" y="1493044"/>
                </a:cubicBezTo>
                <a:cubicBezTo>
                  <a:pt x="9902553" y="1524133"/>
                  <a:pt x="9900102" y="1554782"/>
                  <a:pt x="9895043" y="1584794"/>
                </a:cubicBezTo>
                <a:lnTo>
                  <a:pt x="9894505" y="1591418"/>
                </a:lnTo>
                <a:cubicBezTo>
                  <a:pt x="9894335" y="1591423"/>
                  <a:pt x="9894167" y="1591427"/>
                  <a:pt x="9893999" y="1591480"/>
                </a:cubicBezTo>
                <a:cubicBezTo>
                  <a:pt x="9843724" y="1941574"/>
                  <a:pt x="9562685" y="2220146"/>
                  <a:pt x="9203834" y="2279078"/>
                </a:cubicBezTo>
                <a:lnTo>
                  <a:pt x="9203718" y="2280217"/>
                </a:lnTo>
                <a:cubicBezTo>
                  <a:pt x="9198407" y="2281220"/>
                  <a:pt x="9193078" y="2282161"/>
                  <a:pt x="9187501" y="2281745"/>
                </a:cubicBezTo>
                <a:cubicBezTo>
                  <a:pt x="9156329" y="2287255"/>
                  <a:pt x="9124449" y="2290213"/>
                  <a:pt x="9092074" y="2290736"/>
                </a:cubicBezTo>
                <a:lnTo>
                  <a:pt x="9074956" y="2292349"/>
                </a:lnTo>
                <a:lnTo>
                  <a:pt x="9074930" y="2291858"/>
                </a:lnTo>
                <a:lnTo>
                  <a:pt x="9074431" y="2291891"/>
                </a:lnTo>
                <a:cubicBezTo>
                  <a:pt x="9073865" y="2288119"/>
                  <a:pt x="9073838" y="2284333"/>
                  <a:pt x="9073838" y="2280541"/>
                </a:cubicBezTo>
                <a:cubicBezTo>
                  <a:pt x="9073838" y="2274903"/>
                  <a:pt x="9073897" y="2269279"/>
                  <a:pt x="9075209" y="2263693"/>
                </a:cubicBezTo>
                <a:cubicBezTo>
                  <a:pt x="9075166" y="2232611"/>
                  <a:pt x="9077616" y="2201969"/>
                  <a:pt x="9082673" y="2171962"/>
                </a:cubicBezTo>
                <a:lnTo>
                  <a:pt x="9083213" y="2165325"/>
                </a:lnTo>
                <a:cubicBezTo>
                  <a:pt x="9083382" y="2165320"/>
                  <a:pt x="9083551" y="2165315"/>
                  <a:pt x="9083718" y="2165262"/>
                </a:cubicBezTo>
                <a:cubicBezTo>
                  <a:pt x="9133995" y="1815167"/>
                  <a:pt x="9415034" y="1536596"/>
                  <a:pt x="9773884" y="1477664"/>
                </a:cubicBezTo>
                <a:lnTo>
                  <a:pt x="9774001" y="1476525"/>
                </a:lnTo>
                <a:cubicBezTo>
                  <a:pt x="9779310" y="1475523"/>
                  <a:pt x="9784638" y="1474582"/>
                  <a:pt x="9790214" y="1474998"/>
                </a:cubicBezTo>
                <a:cubicBezTo>
                  <a:pt x="9821397" y="1469485"/>
                  <a:pt x="9853290" y="1466527"/>
                  <a:pt x="9885676" y="1466004"/>
                </a:cubicBezTo>
                <a:close/>
                <a:moveTo>
                  <a:pt x="8224400" y="1464394"/>
                </a:moveTo>
                <a:lnTo>
                  <a:pt x="8241488" y="1466004"/>
                </a:lnTo>
                <a:cubicBezTo>
                  <a:pt x="8273873" y="1466527"/>
                  <a:pt x="8305766" y="1469485"/>
                  <a:pt x="8336949" y="1474998"/>
                </a:cubicBezTo>
                <a:cubicBezTo>
                  <a:pt x="8342525" y="1474582"/>
                  <a:pt x="8347853" y="1475523"/>
                  <a:pt x="8353162" y="1476525"/>
                </a:cubicBezTo>
                <a:lnTo>
                  <a:pt x="8353279" y="1477664"/>
                </a:lnTo>
                <a:cubicBezTo>
                  <a:pt x="8712129" y="1536596"/>
                  <a:pt x="8993168" y="1815167"/>
                  <a:pt x="9043444" y="2165262"/>
                </a:cubicBezTo>
                <a:cubicBezTo>
                  <a:pt x="9043612" y="2165315"/>
                  <a:pt x="9043781" y="2165320"/>
                  <a:pt x="9043950" y="2165325"/>
                </a:cubicBezTo>
                <a:lnTo>
                  <a:pt x="9044490" y="2171962"/>
                </a:lnTo>
                <a:cubicBezTo>
                  <a:pt x="9049547" y="2201969"/>
                  <a:pt x="9051997" y="2232611"/>
                  <a:pt x="9051954" y="2263693"/>
                </a:cubicBezTo>
                <a:cubicBezTo>
                  <a:pt x="9053266" y="2269279"/>
                  <a:pt x="9053325" y="2274903"/>
                  <a:pt x="9053325" y="2280541"/>
                </a:cubicBezTo>
                <a:cubicBezTo>
                  <a:pt x="9053325" y="2284333"/>
                  <a:pt x="9053298" y="2288119"/>
                  <a:pt x="9052732" y="2291891"/>
                </a:cubicBezTo>
                <a:lnTo>
                  <a:pt x="9052233" y="2291858"/>
                </a:lnTo>
                <a:lnTo>
                  <a:pt x="9052207" y="2292349"/>
                </a:lnTo>
                <a:lnTo>
                  <a:pt x="9035089" y="2290736"/>
                </a:lnTo>
                <a:cubicBezTo>
                  <a:pt x="9002714" y="2290213"/>
                  <a:pt x="8970834" y="2287255"/>
                  <a:pt x="8939662" y="2281745"/>
                </a:cubicBezTo>
                <a:cubicBezTo>
                  <a:pt x="8934085" y="2282161"/>
                  <a:pt x="8928756" y="2281220"/>
                  <a:pt x="8923445" y="2280217"/>
                </a:cubicBezTo>
                <a:lnTo>
                  <a:pt x="8923329" y="2279078"/>
                </a:lnTo>
                <a:cubicBezTo>
                  <a:pt x="8564478" y="2220146"/>
                  <a:pt x="8283439" y="1941574"/>
                  <a:pt x="8233164" y="1591480"/>
                </a:cubicBezTo>
                <a:cubicBezTo>
                  <a:pt x="8232996" y="1591427"/>
                  <a:pt x="8232828" y="1591423"/>
                  <a:pt x="8232658" y="1591418"/>
                </a:cubicBezTo>
                <a:lnTo>
                  <a:pt x="8232120" y="1584794"/>
                </a:lnTo>
                <a:cubicBezTo>
                  <a:pt x="8227061" y="1554782"/>
                  <a:pt x="8224611" y="1524133"/>
                  <a:pt x="8224653" y="1493044"/>
                </a:cubicBezTo>
                <a:cubicBezTo>
                  <a:pt x="8223341" y="1487460"/>
                  <a:pt x="8223282" y="1481838"/>
                  <a:pt x="8223282" y="1476202"/>
                </a:cubicBezTo>
                <a:lnTo>
                  <a:pt x="8223876" y="1464852"/>
                </a:lnTo>
                <a:lnTo>
                  <a:pt x="8224374" y="1464884"/>
                </a:lnTo>
                <a:close/>
                <a:moveTo>
                  <a:pt x="8210612" y="1464394"/>
                </a:moveTo>
                <a:lnTo>
                  <a:pt x="8210638" y="1464884"/>
                </a:lnTo>
                <a:lnTo>
                  <a:pt x="8211136" y="1464852"/>
                </a:lnTo>
                <a:lnTo>
                  <a:pt x="8211730" y="1476202"/>
                </a:lnTo>
                <a:cubicBezTo>
                  <a:pt x="8211730" y="1481838"/>
                  <a:pt x="8211672" y="1487460"/>
                  <a:pt x="8210360" y="1493044"/>
                </a:cubicBezTo>
                <a:cubicBezTo>
                  <a:pt x="8210402" y="1524133"/>
                  <a:pt x="8207951" y="1554782"/>
                  <a:pt x="8202893" y="1584794"/>
                </a:cubicBezTo>
                <a:lnTo>
                  <a:pt x="8202354" y="1591418"/>
                </a:lnTo>
                <a:cubicBezTo>
                  <a:pt x="8202185" y="1591423"/>
                  <a:pt x="8202016" y="1591427"/>
                  <a:pt x="8201849" y="1591480"/>
                </a:cubicBezTo>
                <a:cubicBezTo>
                  <a:pt x="8151573" y="1941574"/>
                  <a:pt x="7870534" y="2220146"/>
                  <a:pt x="7511683" y="2279078"/>
                </a:cubicBezTo>
                <a:lnTo>
                  <a:pt x="7511567" y="2280217"/>
                </a:lnTo>
                <a:cubicBezTo>
                  <a:pt x="7506256" y="2281220"/>
                  <a:pt x="7500927" y="2282161"/>
                  <a:pt x="7495350" y="2281745"/>
                </a:cubicBezTo>
                <a:cubicBezTo>
                  <a:pt x="7464178" y="2287255"/>
                  <a:pt x="7432298" y="2290213"/>
                  <a:pt x="7399924" y="2290736"/>
                </a:cubicBezTo>
                <a:lnTo>
                  <a:pt x="7382805" y="2292349"/>
                </a:lnTo>
                <a:lnTo>
                  <a:pt x="7382779" y="2291858"/>
                </a:lnTo>
                <a:lnTo>
                  <a:pt x="7382280" y="2291891"/>
                </a:lnTo>
                <a:cubicBezTo>
                  <a:pt x="7381714" y="2288119"/>
                  <a:pt x="7381687" y="2284333"/>
                  <a:pt x="7381687" y="2280541"/>
                </a:cubicBezTo>
                <a:cubicBezTo>
                  <a:pt x="7381687" y="2274903"/>
                  <a:pt x="7381746" y="2269279"/>
                  <a:pt x="7383058" y="2263693"/>
                </a:cubicBezTo>
                <a:cubicBezTo>
                  <a:pt x="7383016" y="2232611"/>
                  <a:pt x="7385465" y="2201969"/>
                  <a:pt x="7390522" y="2171962"/>
                </a:cubicBezTo>
                <a:lnTo>
                  <a:pt x="7391062" y="2165325"/>
                </a:lnTo>
                <a:cubicBezTo>
                  <a:pt x="7391231" y="2165320"/>
                  <a:pt x="7391400" y="2165315"/>
                  <a:pt x="7391568" y="2165262"/>
                </a:cubicBezTo>
                <a:cubicBezTo>
                  <a:pt x="7441844" y="1815167"/>
                  <a:pt x="7722883" y="1536596"/>
                  <a:pt x="8081734" y="1477664"/>
                </a:cubicBezTo>
                <a:lnTo>
                  <a:pt x="8081851" y="1476525"/>
                </a:lnTo>
                <a:cubicBezTo>
                  <a:pt x="8087159" y="1475523"/>
                  <a:pt x="8092487" y="1474582"/>
                  <a:pt x="8098063" y="1474998"/>
                </a:cubicBezTo>
                <a:cubicBezTo>
                  <a:pt x="8129247" y="1469485"/>
                  <a:pt x="8161139" y="1466527"/>
                  <a:pt x="8193525" y="1466004"/>
                </a:cubicBezTo>
                <a:close/>
                <a:moveTo>
                  <a:pt x="6532249" y="1464394"/>
                </a:moveTo>
                <a:lnTo>
                  <a:pt x="6549337" y="1466004"/>
                </a:lnTo>
                <a:cubicBezTo>
                  <a:pt x="6581722" y="1466527"/>
                  <a:pt x="6613615" y="1469485"/>
                  <a:pt x="6644798" y="1474998"/>
                </a:cubicBezTo>
                <a:cubicBezTo>
                  <a:pt x="6650374" y="1474582"/>
                  <a:pt x="6655702" y="1475523"/>
                  <a:pt x="6661011" y="1476525"/>
                </a:cubicBezTo>
                <a:lnTo>
                  <a:pt x="6661128" y="1477664"/>
                </a:lnTo>
                <a:cubicBezTo>
                  <a:pt x="7019978" y="1536596"/>
                  <a:pt x="7301017" y="1815167"/>
                  <a:pt x="7351294" y="2165262"/>
                </a:cubicBezTo>
                <a:cubicBezTo>
                  <a:pt x="7351461" y="2165315"/>
                  <a:pt x="7351631" y="2165320"/>
                  <a:pt x="7351799" y="2165325"/>
                </a:cubicBezTo>
                <a:lnTo>
                  <a:pt x="7352340" y="2171962"/>
                </a:lnTo>
                <a:cubicBezTo>
                  <a:pt x="7357396" y="2201969"/>
                  <a:pt x="7359846" y="2232611"/>
                  <a:pt x="7359804" y="2263693"/>
                </a:cubicBezTo>
                <a:cubicBezTo>
                  <a:pt x="7361116" y="2269279"/>
                  <a:pt x="7361174" y="2274903"/>
                  <a:pt x="7361174" y="2280541"/>
                </a:cubicBezTo>
                <a:cubicBezTo>
                  <a:pt x="7361174" y="2284333"/>
                  <a:pt x="7361147" y="2288119"/>
                  <a:pt x="7360581" y="2291891"/>
                </a:cubicBezTo>
                <a:lnTo>
                  <a:pt x="7360082" y="2291858"/>
                </a:lnTo>
                <a:lnTo>
                  <a:pt x="7360056" y="2292349"/>
                </a:lnTo>
                <a:lnTo>
                  <a:pt x="7342938" y="2290736"/>
                </a:lnTo>
                <a:cubicBezTo>
                  <a:pt x="7310564" y="2290213"/>
                  <a:pt x="7278683" y="2287255"/>
                  <a:pt x="7247511" y="2281745"/>
                </a:cubicBezTo>
                <a:cubicBezTo>
                  <a:pt x="7241934" y="2282161"/>
                  <a:pt x="7236605" y="2281220"/>
                  <a:pt x="7231295" y="2280217"/>
                </a:cubicBezTo>
                <a:lnTo>
                  <a:pt x="7231179" y="2279078"/>
                </a:lnTo>
                <a:cubicBezTo>
                  <a:pt x="6872327" y="2220146"/>
                  <a:pt x="6591288" y="1941574"/>
                  <a:pt x="6541013" y="1591480"/>
                </a:cubicBezTo>
                <a:cubicBezTo>
                  <a:pt x="6540845" y="1591427"/>
                  <a:pt x="6540677" y="1591423"/>
                  <a:pt x="6540507" y="1591418"/>
                </a:cubicBezTo>
                <a:lnTo>
                  <a:pt x="6539969" y="1584794"/>
                </a:lnTo>
                <a:cubicBezTo>
                  <a:pt x="6534910" y="1554782"/>
                  <a:pt x="6532460" y="1524133"/>
                  <a:pt x="6532502" y="1493044"/>
                </a:cubicBezTo>
                <a:cubicBezTo>
                  <a:pt x="6531190" y="1487460"/>
                  <a:pt x="6531131" y="1481838"/>
                  <a:pt x="6531131" y="1476202"/>
                </a:cubicBezTo>
                <a:lnTo>
                  <a:pt x="6531725" y="1464852"/>
                </a:lnTo>
                <a:lnTo>
                  <a:pt x="6532223" y="1464884"/>
                </a:lnTo>
                <a:close/>
                <a:moveTo>
                  <a:pt x="6518461" y="1464394"/>
                </a:moveTo>
                <a:lnTo>
                  <a:pt x="6518487" y="1464884"/>
                </a:lnTo>
                <a:lnTo>
                  <a:pt x="6518985" y="1464852"/>
                </a:lnTo>
                <a:lnTo>
                  <a:pt x="6519579" y="1476202"/>
                </a:lnTo>
                <a:cubicBezTo>
                  <a:pt x="6519579" y="1481838"/>
                  <a:pt x="6519520" y="1487460"/>
                  <a:pt x="6518208" y="1493044"/>
                </a:cubicBezTo>
                <a:cubicBezTo>
                  <a:pt x="6518250" y="1524133"/>
                  <a:pt x="6515800" y="1554782"/>
                  <a:pt x="6510741" y="1584794"/>
                </a:cubicBezTo>
                <a:lnTo>
                  <a:pt x="6510203" y="1591418"/>
                </a:lnTo>
                <a:cubicBezTo>
                  <a:pt x="6510033" y="1591423"/>
                  <a:pt x="6509865" y="1591427"/>
                  <a:pt x="6509697" y="1591480"/>
                </a:cubicBezTo>
                <a:cubicBezTo>
                  <a:pt x="6459422" y="1941574"/>
                  <a:pt x="6178383" y="2220146"/>
                  <a:pt x="5819531" y="2279078"/>
                </a:cubicBezTo>
                <a:lnTo>
                  <a:pt x="5819415" y="2280217"/>
                </a:lnTo>
                <a:cubicBezTo>
                  <a:pt x="5814105" y="2281220"/>
                  <a:pt x="5808776" y="2282161"/>
                  <a:pt x="5803199" y="2281745"/>
                </a:cubicBezTo>
                <a:cubicBezTo>
                  <a:pt x="5772027" y="2287255"/>
                  <a:pt x="5740146" y="2290213"/>
                  <a:pt x="5707772" y="2290736"/>
                </a:cubicBezTo>
                <a:lnTo>
                  <a:pt x="5690654" y="2292349"/>
                </a:lnTo>
                <a:lnTo>
                  <a:pt x="5690628" y="2291858"/>
                </a:lnTo>
                <a:lnTo>
                  <a:pt x="5690129" y="2291891"/>
                </a:lnTo>
                <a:cubicBezTo>
                  <a:pt x="5689563" y="2288119"/>
                  <a:pt x="5689536" y="2284333"/>
                  <a:pt x="5689536" y="2280541"/>
                </a:cubicBezTo>
                <a:cubicBezTo>
                  <a:pt x="5689536" y="2274903"/>
                  <a:pt x="5689594" y="2269279"/>
                  <a:pt x="5690906" y="2263693"/>
                </a:cubicBezTo>
                <a:cubicBezTo>
                  <a:pt x="5690864" y="2232611"/>
                  <a:pt x="5693314" y="2201969"/>
                  <a:pt x="5698370" y="2171962"/>
                </a:cubicBezTo>
                <a:lnTo>
                  <a:pt x="5698911" y="2165325"/>
                </a:lnTo>
                <a:cubicBezTo>
                  <a:pt x="5699079" y="2165320"/>
                  <a:pt x="5699249" y="2165315"/>
                  <a:pt x="5699416" y="2165262"/>
                </a:cubicBezTo>
                <a:cubicBezTo>
                  <a:pt x="5749693" y="1815167"/>
                  <a:pt x="6030732" y="1536596"/>
                  <a:pt x="6389582" y="1477664"/>
                </a:cubicBezTo>
                <a:lnTo>
                  <a:pt x="6389699" y="1476525"/>
                </a:lnTo>
                <a:cubicBezTo>
                  <a:pt x="6395008" y="1475523"/>
                  <a:pt x="6400336" y="1474582"/>
                  <a:pt x="6405912" y="1474998"/>
                </a:cubicBezTo>
                <a:cubicBezTo>
                  <a:pt x="6437095" y="1469485"/>
                  <a:pt x="6468988" y="1466527"/>
                  <a:pt x="6501373" y="1466004"/>
                </a:cubicBezTo>
                <a:close/>
                <a:moveTo>
                  <a:pt x="4840098" y="1464394"/>
                </a:moveTo>
                <a:lnTo>
                  <a:pt x="4857185" y="1466004"/>
                </a:lnTo>
                <a:cubicBezTo>
                  <a:pt x="4889571" y="1466527"/>
                  <a:pt x="4921463" y="1469485"/>
                  <a:pt x="4952647" y="1474998"/>
                </a:cubicBezTo>
                <a:cubicBezTo>
                  <a:pt x="4958223" y="1474582"/>
                  <a:pt x="4963551" y="1475523"/>
                  <a:pt x="4968859" y="1476525"/>
                </a:cubicBezTo>
                <a:lnTo>
                  <a:pt x="4968976" y="1477664"/>
                </a:lnTo>
                <a:cubicBezTo>
                  <a:pt x="5327827" y="1536596"/>
                  <a:pt x="5608866" y="1815167"/>
                  <a:pt x="5659142" y="2165262"/>
                </a:cubicBezTo>
                <a:cubicBezTo>
                  <a:pt x="5659310" y="2165315"/>
                  <a:pt x="5659479" y="2165320"/>
                  <a:pt x="5659648" y="2165325"/>
                </a:cubicBezTo>
                <a:lnTo>
                  <a:pt x="5660188" y="2171962"/>
                </a:lnTo>
                <a:cubicBezTo>
                  <a:pt x="5665245" y="2201969"/>
                  <a:pt x="5667694" y="2232611"/>
                  <a:pt x="5667652" y="2263693"/>
                </a:cubicBezTo>
                <a:cubicBezTo>
                  <a:pt x="5668964" y="2269279"/>
                  <a:pt x="5669023" y="2274903"/>
                  <a:pt x="5669023" y="2280541"/>
                </a:cubicBezTo>
                <a:cubicBezTo>
                  <a:pt x="5669023" y="2284333"/>
                  <a:pt x="5668996" y="2288119"/>
                  <a:pt x="5668430" y="2291891"/>
                </a:cubicBezTo>
                <a:lnTo>
                  <a:pt x="5667931" y="2291858"/>
                </a:lnTo>
                <a:lnTo>
                  <a:pt x="5667905" y="2292349"/>
                </a:lnTo>
                <a:lnTo>
                  <a:pt x="5650786" y="2290736"/>
                </a:lnTo>
                <a:cubicBezTo>
                  <a:pt x="5618412" y="2290213"/>
                  <a:pt x="5586532" y="2287255"/>
                  <a:pt x="5555360" y="2281745"/>
                </a:cubicBezTo>
                <a:cubicBezTo>
                  <a:pt x="5549783" y="2282161"/>
                  <a:pt x="5544454" y="2281220"/>
                  <a:pt x="5539143" y="2280217"/>
                </a:cubicBezTo>
                <a:lnTo>
                  <a:pt x="5539027" y="2279078"/>
                </a:lnTo>
                <a:cubicBezTo>
                  <a:pt x="5180176" y="2220146"/>
                  <a:pt x="4899137" y="1941574"/>
                  <a:pt x="4848861" y="1591480"/>
                </a:cubicBezTo>
                <a:cubicBezTo>
                  <a:pt x="4848694" y="1591427"/>
                  <a:pt x="4848525" y="1591423"/>
                  <a:pt x="4848356" y="1591418"/>
                </a:cubicBezTo>
                <a:lnTo>
                  <a:pt x="4847817" y="1584794"/>
                </a:lnTo>
                <a:cubicBezTo>
                  <a:pt x="4842759" y="1554782"/>
                  <a:pt x="4840308" y="1524133"/>
                  <a:pt x="4840350" y="1493044"/>
                </a:cubicBezTo>
                <a:cubicBezTo>
                  <a:pt x="4839038" y="1487460"/>
                  <a:pt x="4838980" y="1481838"/>
                  <a:pt x="4838980" y="1476202"/>
                </a:cubicBezTo>
                <a:lnTo>
                  <a:pt x="4839574" y="1464852"/>
                </a:lnTo>
                <a:lnTo>
                  <a:pt x="4840072" y="1464884"/>
                </a:lnTo>
                <a:close/>
                <a:moveTo>
                  <a:pt x="4826310" y="1464394"/>
                </a:moveTo>
                <a:lnTo>
                  <a:pt x="4826336" y="1464884"/>
                </a:lnTo>
                <a:lnTo>
                  <a:pt x="4826834" y="1464852"/>
                </a:lnTo>
                <a:lnTo>
                  <a:pt x="4827428" y="1476202"/>
                </a:lnTo>
                <a:cubicBezTo>
                  <a:pt x="4827428" y="1481838"/>
                  <a:pt x="4827369" y="1487460"/>
                  <a:pt x="4826057" y="1493044"/>
                </a:cubicBezTo>
                <a:cubicBezTo>
                  <a:pt x="4826099" y="1524133"/>
                  <a:pt x="4823649" y="1554782"/>
                  <a:pt x="4818590" y="1584794"/>
                </a:cubicBezTo>
                <a:lnTo>
                  <a:pt x="4818052" y="1591418"/>
                </a:lnTo>
                <a:cubicBezTo>
                  <a:pt x="4817882" y="1591423"/>
                  <a:pt x="4817714" y="1591427"/>
                  <a:pt x="4817546" y="1591480"/>
                </a:cubicBezTo>
                <a:cubicBezTo>
                  <a:pt x="4767271" y="1941574"/>
                  <a:pt x="4486232" y="2220146"/>
                  <a:pt x="4127381" y="2279078"/>
                </a:cubicBezTo>
                <a:lnTo>
                  <a:pt x="4127264" y="2280217"/>
                </a:lnTo>
                <a:cubicBezTo>
                  <a:pt x="4121954" y="2281220"/>
                  <a:pt x="4116625" y="2282161"/>
                  <a:pt x="4111048" y="2281745"/>
                </a:cubicBezTo>
                <a:cubicBezTo>
                  <a:pt x="4079876" y="2287255"/>
                  <a:pt x="4047996" y="2290213"/>
                  <a:pt x="4015621" y="2290736"/>
                </a:cubicBezTo>
                <a:lnTo>
                  <a:pt x="3998503" y="2292349"/>
                </a:lnTo>
                <a:lnTo>
                  <a:pt x="3998477" y="2291858"/>
                </a:lnTo>
                <a:lnTo>
                  <a:pt x="3997978" y="2291891"/>
                </a:lnTo>
                <a:cubicBezTo>
                  <a:pt x="3997412" y="2288119"/>
                  <a:pt x="3997385" y="2284333"/>
                  <a:pt x="3997385" y="2280541"/>
                </a:cubicBezTo>
                <a:cubicBezTo>
                  <a:pt x="3997385" y="2274903"/>
                  <a:pt x="3997443" y="2269279"/>
                  <a:pt x="3998755" y="2263693"/>
                </a:cubicBezTo>
                <a:cubicBezTo>
                  <a:pt x="3998713" y="2232611"/>
                  <a:pt x="4001163" y="2201969"/>
                  <a:pt x="4006219" y="2171962"/>
                </a:cubicBezTo>
                <a:lnTo>
                  <a:pt x="4006760" y="2165325"/>
                </a:lnTo>
                <a:cubicBezTo>
                  <a:pt x="4006928" y="2165320"/>
                  <a:pt x="4007098" y="2165315"/>
                  <a:pt x="4007265" y="2165262"/>
                </a:cubicBezTo>
                <a:cubicBezTo>
                  <a:pt x="4057542" y="1815167"/>
                  <a:pt x="4338581" y="1536596"/>
                  <a:pt x="4697431" y="1477664"/>
                </a:cubicBezTo>
                <a:lnTo>
                  <a:pt x="4697548" y="1476525"/>
                </a:lnTo>
                <a:cubicBezTo>
                  <a:pt x="4702857" y="1475523"/>
                  <a:pt x="4708185" y="1474582"/>
                  <a:pt x="4713761" y="1474998"/>
                </a:cubicBezTo>
                <a:cubicBezTo>
                  <a:pt x="4744944" y="1469485"/>
                  <a:pt x="4776837" y="1466527"/>
                  <a:pt x="4809222" y="1466004"/>
                </a:cubicBezTo>
                <a:close/>
                <a:moveTo>
                  <a:pt x="3147947" y="1464394"/>
                </a:moveTo>
                <a:lnTo>
                  <a:pt x="3165034" y="1466004"/>
                </a:lnTo>
                <a:cubicBezTo>
                  <a:pt x="3197420" y="1466527"/>
                  <a:pt x="3229312" y="1469485"/>
                  <a:pt x="3260496" y="1474998"/>
                </a:cubicBezTo>
                <a:cubicBezTo>
                  <a:pt x="3266072" y="1474582"/>
                  <a:pt x="3271400" y="1475523"/>
                  <a:pt x="3276708" y="1476525"/>
                </a:cubicBezTo>
                <a:lnTo>
                  <a:pt x="3276826" y="1477664"/>
                </a:lnTo>
                <a:cubicBezTo>
                  <a:pt x="3635676" y="1536596"/>
                  <a:pt x="3916715" y="1815167"/>
                  <a:pt x="3966991" y="2165262"/>
                </a:cubicBezTo>
                <a:cubicBezTo>
                  <a:pt x="3967159" y="2165315"/>
                  <a:pt x="3967328" y="2165320"/>
                  <a:pt x="3967497" y="2165325"/>
                </a:cubicBezTo>
                <a:lnTo>
                  <a:pt x="3968037" y="2171962"/>
                </a:lnTo>
                <a:cubicBezTo>
                  <a:pt x="3973094" y="2201969"/>
                  <a:pt x="3975543" y="2232611"/>
                  <a:pt x="3975501" y="2263693"/>
                </a:cubicBezTo>
                <a:cubicBezTo>
                  <a:pt x="3976813" y="2269279"/>
                  <a:pt x="3976872" y="2274903"/>
                  <a:pt x="3976872" y="2280541"/>
                </a:cubicBezTo>
                <a:cubicBezTo>
                  <a:pt x="3976872" y="2284333"/>
                  <a:pt x="3976845" y="2288119"/>
                  <a:pt x="3976279" y="2291891"/>
                </a:cubicBezTo>
                <a:lnTo>
                  <a:pt x="3975780" y="2291858"/>
                </a:lnTo>
                <a:lnTo>
                  <a:pt x="3975754" y="2292349"/>
                </a:lnTo>
                <a:lnTo>
                  <a:pt x="3958635" y="2290736"/>
                </a:lnTo>
                <a:cubicBezTo>
                  <a:pt x="3926261" y="2290213"/>
                  <a:pt x="3894381" y="2287255"/>
                  <a:pt x="3863209" y="2281745"/>
                </a:cubicBezTo>
                <a:cubicBezTo>
                  <a:pt x="3857632" y="2282161"/>
                  <a:pt x="3852303" y="2281220"/>
                  <a:pt x="3846992" y="2280217"/>
                </a:cubicBezTo>
                <a:lnTo>
                  <a:pt x="3846876" y="2279078"/>
                </a:lnTo>
                <a:cubicBezTo>
                  <a:pt x="3488025" y="2220146"/>
                  <a:pt x="3206986" y="1941574"/>
                  <a:pt x="3156710" y="1591480"/>
                </a:cubicBezTo>
                <a:cubicBezTo>
                  <a:pt x="3156543" y="1591427"/>
                  <a:pt x="3156374" y="1591423"/>
                  <a:pt x="3156205" y="1591418"/>
                </a:cubicBezTo>
                <a:lnTo>
                  <a:pt x="3155667" y="1584794"/>
                </a:lnTo>
                <a:cubicBezTo>
                  <a:pt x="3150608" y="1554782"/>
                  <a:pt x="3148157" y="1524133"/>
                  <a:pt x="3148199" y="1493044"/>
                </a:cubicBezTo>
                <a:cubicBezTo>
                  <a:pt x="3146887" y="1487460"/>
                  <a:pt x="3146829" y="1481838"/>
                  <a:pt x="3146829" y="1476202"/>
                </a:cubicBezTo>
                <a:lnTo>
                  <a:pt x="3147423" y="1464852"/>
                </a:lnTo>
                <a:lnTo>
                  <a:pt x="3147921" y="1464884"/>
                </a:lnTo>
                <a:close/>
                <a:moveTo>
                  <a:pt x="3134159" y="1464394"/>
                </a:moveTo>
                <a:lnTo>
                  <a:pt x="3134185" y="1464884"/>
                </a:lnTo>
                <a:lnTo>
                  <a:pt x="3134683" y="1464852"/>
                </a:lnTo>
                <a:lnTo>
                  <a:pt x="3135277" y="1476202"/>
                </a:lnTo>
                <a:cubicBezTo>
                  <a:pt x="3135277" y="1481838"/>
                  <a:pt x="3135218" y="1487460"/>
                  <a:pt x="3133906" y="1493044"/>
                </a:cubicBezTo>
                <a:cubicBezTo>
                  <a:pt x="3133948" y="1524133"/>
                  <a:pt x="3131498" y="1554782"/>
                  <a:pt x="3126439" y="1584794"/>
                </a:cubicBezTo>
                <a:lnTo>
                  <a:pt x="3125901" y="1591418"/>
                </a:lnTo>
                <a:cubicBezTo>
                  <a:pt x="3125731" y="1591423"/>
                  <a:pt x="3125563" y="1591427"/>
                  <a:pt x="3125395" y="1591480"/>
                </a:cubicBezTo>
                <a:cubicBezTo>
                  <a:pt x="3075120" y="1941574"/>
                  <a:pt x="2794081" y="2220146"/>
                  <a:pt x="2435230" y="2279078"/>
                </a:cubicBezTo>
                <a:lnTo>
                  <a:pt x="2435113" y="2280217"/>
                </a:lnTo>
                <a:cubicBezTo>
                  <a:pt x="2429803" y="2281220"/>
                  <a:pt x="2424474" y="2282161"/>
                  <a:pt x="2418897" y="2281745"/>
                </a:cubicBezTo>
                <a:cubicBezTo>
                  <a:pt x="2387725" y="2287255"/>
                  <a:pt x="2355845" y="2290213"/>
                  <a:pt x="2323470" y="2290736"/>
                </a:cubicBezTo>
                <a:lnTo>
                  <a:pt x="2306352" y="2292349"/>
                </a:lnTo>
                <a:lnTo>
                  <a:pt x="2306326" y="2291858"/>
                </a:lnTo>
                <a:lnTo>
                  <a:pt x="2305827" y="2291891"/>
                </a:lnTo>
                <a:cubicBezTo>
                  <a:pt x="2305261" y="2288119"/>
                  <a:pt x="2305234" y="2284333"/>
                  <a:pt x="2305234" y="2280541"/>
                </a:cubicBezTo>
                <a:cubicBezTo>
                  <a:pt x="2305234" y="2274903"/>
                  <a:pt x="2305292" y="2269279"/>
                  <a:pt x="2306604" y="2263693"/>
                </a:cubicBezTo>
                <a:cubicBezTo>
                  <a:pt x="2306562" y="2232611"/>
                  <a:pt x="2309012" y="2201969"/>
                  <a:pt x="2314068" y="2171962"/>
                </a:cubicBezTo>
                <a:lnTo>
                  <a:pt x="2314609" y="2165325"/>
                </a:lnTo>
                <a:cubicBezTo>
                  <a:pt x="2314777" y="2165320"/>
                  <a:pt x="2314947" y="2165315"/>
                  <a:pt x="2315114" y="2165262"/>
                </a:cubicBezTo>
                <a:cubicBezTo>
                  <a:pt x="2365391" y="1815167"/>
                  <a:pt x="2646430" y="1536596"/>
                  <a:pt x="3005280" y="1477664"/>
                </a:cubicBezTo>
                <a:lnTo>
                  <a:pt x="3005397" y="1476525"/>
                </a:lnTo>
                <a:cubicBezTo>
                  <a:pt x="3010706" y="1475523"/>
                  <a:pt x="3016034" y="1474582"/>
                  <a:pt x="3021610" y="1474998"/>
                </a:cubicBezTo>
                <a:cubicBezTo>
                  <a:pt x="3052793" y="1469485"/>
                  <a:pt x="3084686" y="1466527"/>
                  <a:pt x="3117071" y="1466004"/>
                </a:cubicBezTo>
                <a:close/>
                <a:moveTo>
                  <a:pt x="1455796" y="1464394"/>
                </a:moveTo>
                <a:lnTo>
                  <a:pt x="1472883" y="1466004"/>
                </a:lnTo>
                <a:cubicBezTo>
                  <a:pt x="1505269" y="1466527"/>
                  <a:pt x="1537161" y="1469485"/>
                  <a:pt x="1568345" y="1474998"/>
                </a:cubicBezTo>
                <a:cubicBezTo>
                  <a:pt x="1573921" y="1474582"/>
                  <a:pt x="1579249" y="1475523"/>
                  <a:pt x="1584557" y="1476525"/>
                </a:cubicBezTo>
                <a:lnTo>
                  <a:pt x="1584675" y="1477664"/>
                </a:lnTo>
                <a:cubicBezTo>
                  <a:pt x="1943525" y="1536596"/>
                  <a:pt x="2224564" y="1815167"/>
                  <a:pt x="2274840" y="2165262"/>
                </a:cubicBezTo>
                <a:cubicBezTo>
                  <a:pt x="2275008" y="2165315"/>
                  <a:pt x="2275177" y="2165320"/>
                  <a:pt x="2275346" y="2165325"/>
                </a:cubicBezTo>
                <a:lnTo>
                  <a:pt x="2275886" y="2171962"/>
                </a:lnTo>
                <a:cubicBezTo>
                  <a:pt x="2280943" y="2201969"/>
                  <a:pt x="2283392" y="2232611"/>
                  <a:pt x="2283350" y="2263693"/>
                </a:cubicBezTo>
                <a:cubicBezTo>
                  <a:pt x="2284662" y="2269279"/>
                  <a:pt x="2284721" y="2274903"/>
                  <a:pt x="2284721" y="2280541"/>
                </a:cubicBezTo>
                <a:cubicBezTo>
                  <a:pt x="2284721" y="2284333"/>
                  <a:pt x="2284694" y="2288119"/>
                  <a:pt x="2284128" y="2291891"/>
                </a:cubicBezTo>
                <a:lnTo>
                  <a:pt x="2283629" y="2291858"/>
                </a:lnTo>
                <a:lnTo>
                  <a:pt x="2283603" y="2292349"/>
                </a:lnTo>
                <a:lnTo>
                  <a:pt x="2266484" y="2290736"/>
                </a:lnTo>
                <a:cubicBezTo>
                  <a:pt x="2234110" y="2290213"/>
                  <a:pt x="2202230" y="2287255"/>
                  <a:pt x="2171058" y="2281745"/>
                </a:cubicBezTo>
                <a:cubicBezTo>
                  <a:pt x="2165481" y="2282161"/>
                  <a:pt x="2160152" y="2281220"/>
                  <a:pt x="2154841" y="2280217"/>
                </a:cubicBezTo>
                <a:lnTo>
                  <a:pt x="2154725" y="2279078"/>
                </a:lnTo>
                <a:cubicBezTo>
                  <a:pt x="1795874" y="2220146"/>
                  <a:pt x="1514835" y="1941574"/>
                  <a:pt x="1464559" y="1591480"/>
                </a:cubicBezTo>
                <a:cubicBezTo>
                  <a:pt x="1464392" y="1591427"/>
                  <a:pt x="1464223" y="1591423"/>
                  <a:pt x="1464054" y="1591418"/>
                </a:cubicBezTo>
                <a:lnTo>
                  <a:pt x="1463515" y="1584794"/>
                </a:lnTo>
                <a:cubicBezTo>
                  <a:pt x="1458457" y="1554782"/>
                  <a:pt x="1456006" y="1524133"/>
                  <a:pt x="1456048" y="1493044"/>
                </a:cubicBezTo>
                <a:cubicBezTo>
                  <a:pt x="1454736" y="1487460"/>
                  <a:pt x="1454678" y="1481838"/>
                  <a:pt x="1454678" y="1476202"/>
                </a:cubicBezTo>
                <a:lnTo>
                  <a:pt x="1455272" y="1464852"/>
                </a:lnTo>
                <a:lnTo>
                  <a:pt x="1455770" y="1464884"/>
                </a:lnTo>
                <a:close/>
                <a:moveTo>
                  <a:pt x="1442008" y="1464394"/>
                </a:moveTo>
                <a:lnTo>
                  <a:pt x="1442034" y="1464884"/>
                </a:lnTo>
                <a:lnTo>
                  <a:pt x="1442532" y="1464852"/>
                </a:lnTo>
                <a:lnTo>
                  <a:pt x="1443126" y="1476202"/>
                </a:lnTo>
                <a:cubicBezTo>
                  <a:pt x="1443126" y="1481838"/>
                  <a:pt x="1443067" y="1487460"/>
                  <a:pt x="1441755" y="1493044"/>
                </a:cubicBezTo>
                <a:cubicBezTo>
                  <a:pt x="1441797" y="1524133"/>
                  <a:pt x="1439347" y="1554782"/>
                  <a:pt x="1434288" y="1584794"/>
                </a:cubicBezTo>
                <a:lnTo>
                  <a:pt x="1433750" y="1591418"/>
                </a:lnTo>
                <a:cubicBezTo>
                  <a:pt x="1433580" y="1591423"/>
                  <a:pt x="1433412" y="1591427"/>
                  <a:pt x="1433244" y="1591480"/>
                </a:cubicBezTo>
                <a:cubicBezTo>
                  <a:pt x="1382969" y="1941574"/>
                  <a:pt x="1101930" y="2220146"/>
                  <a:pt x="743079" y="2279078"/>
                </a:cubicBezTo>
                <a:lnTo>
                  <a:pt x="742962" y="2280217"/>
                </a:lnTo>
                <a:cubicBezTo>
                  <a:pt x="737652" y="2281220"/>
                  <a:pt x="732323" y="2282161"/>
                  <a:pt x="726746" y="2281745"/>
                </a:cubicBezTo>
                <a:cubicBezTo>
                  <a:pt x="695574" y="2287255"/>
                  <a:pt x="663693" y="2290213"/>
                  <a:pt x="631319" y="2290736"/>
                </a:cubicBezTo>
                <a:lnTo>
                  <a:pt x="614201" y="2292349"/>
                </a:lnTo>
                <a:lnTo>
                  <a:pt x="614175" y="2291858"/>
                </a:lnTo>
                <a:lnTo>
                  <a:pt x="613676" y="2291891"/>
                </a:lnTo>
                <a:cubicBezTo>
                  <a:pt x="613110" y="2288119"/>
                  <a:pt x="613083" y="2284333"/>
                  <a:pt x="613083" y="2280541"/>
                </a:cubicBezTo>
                <a:cubicBezTo>
                  <a:pt x="613083" y="2274903"/>
                  <a:pt x="613141" y="2269279"/>
                  <a:pt x="614453" y="2263693"/>
                </a:cubicBezTo>
                <a:cubicBezTo>
                  <a:pt x="614411" y="2232611"/>
                  <a:pt x="616861" y="2201969"/>
                  <a:pt x="621917" y="2171962"/>
                </a:cubicBezTo>
                <a:lnTo>
                  <a:pt x="622458" y="2165325"/>
                </a:lnTo>
                <a:cubicBezTo>
                  <a:pt x="622626" y="2165320"/>
                  <a:pt x="622796" y="2165315"/>
                  <a:pt x="622963" y="2165262"/>
                </a:cubicBezTo>
                <a:cubicBezTo>
                  <a:pt x="673240" y="1815167"/>
                  <a:pt x="954279" y="1536596"/>
                  <a:pt x="1313129" y="1477664"/>
                </a:cubicBezTo>
                <a:lnTo>
                  <a:pt x="1313246" y="1476525"/>
                </a:lnTo>
                <a:cubicBezTo>
                  <a:pt x="1318555" y="1475523"/>
                  <a:pt x="1323883" y="1474582"/>
                  <a:pt x="1329459" y="1474998"/>
                </a:cubicBezTo>
                <a:cubicBezTo>
                  <a:pt x="1360642" y="1469485"/>
                  <a:pt x="1392535" y="1466527"/>
                  <a:pt x="1424920" y="1466004"/>
                </a:cubicBezTo>
                <a:close/>
                <a:moveTo>
                  <a:pt x="10909360" y="750600"/>
                </a:moveTo>
                <a:cubicBezTo>
                  <a:pt x="10962636" y="1021506"/>
                  <a:pt x="11177479" y="1236303"/>
                  <a:pt x="11452669" y="1295446"/>
                </a:cubicBezTo>
                <a:cubicBezTo>
                  <a:pt x="11399394" y="1024540"/>
                  <a:pt x="11184550" y="809743"/>
                  <a:pt x="10909360" y="750600"/>
                </a:cubicBezTo>
                <a:close/>
                <a:moveTo>
                  <a:pt x="10602109" y="750600"/>
                </a:moveTo>
                <a:cubicBezTo>
                  <a:pt x="10326919" y="809743"/>
                  <a:pt x="10112075" y="1024540"/>
                  <a:pt x="10058800" y="1295446"/>
                </a:cubicBezTo>
                <a:cubicBezTo>
                  <a:pt x="10333990" y="1236303"/>
                  <a:pt x="10548833" y="1021506"/>
                  <a:pt x="10602109" y="750600"/>
                </a:cubicBezTo>
                <a:close/>
                <a:moveTo>
                  <a:pt x="9217207" y="750600"/>
                </a:moveTo>
                <a:cubicBezTo>
                  <a:pt x="9270483" y="1021506"/>
                  <a:pt x="9485326" y="1236303"/>
                  <a:pt x="9760516" y="1295446"/>
                </a:cubicBezTo>
                <a:cubicBezTo>
                  <a:pt x="9707241" y="1024540"/>
                  <a:pt x="9492397" y="809743"/>
                  <a:pt x="9217207" y="750600"/>
                </a:cubicBezTo>
                <a:close/>
                <a:moveTo>
                  <a:pt x="8909958" y="750600"/>
                </a:moveTo>
                <a:cubicBezTo>
                  <a:pt x="8634768" y="809743"/>
                  <a:pt x="8419924" y="1024540"/>
                  <a:pt x="8366649" y="1295446"/>
                </a:cubicBezTo>
                <a:cubicBezTo>
                  <a:pt x="8641839" y="1236303"/>
                  <a:pt x="8856682" y="1021506"/>
                  <a:pt x="8909958" y="750600"/>
                </a:cubicBezTo>
                <a:close/>
                <a:moveTo>
                  <a:pt x="7525056" y="750600"/>
                </a:moveTo>
                <a:cubicBezTo>
                  <a:pt x="7578332" y="1021506"/>
                  <a:pt x="7793175" y="1236303"/>
                  <a:pt x="8068365" y="1295446"/>
                </a:cubicBezTo>
                <a:cubicBezTo>
                  <a:pt x="8015090" y="1024540"/>
                  <a:pt x="7800246" y="809743"/>
                  <a:pt x="7525056" y="750600"/>
                </a:cubicBezTo>
                <a:close/>
                <a:moveTo>
                  <a:pt x="7217807" y="750600"/>
                </a:moveTo>
                <a:cubicBezTo>
                  <a:pt x="6942617" y="809743"/>
                  <a:pt x="6727773" y="1024540"/>
                  <a:pt x="6674498" y="1295446"/>
                </a:cubicBezTo>
                <a:cubicBezTo>
                  <a:pt x="6949688" y="1236303"/>
                  <a:pt x="7164531" y="1021506"/>
                  <a:pt x="7217807" y="750600"/>
                </a:cubicBezTo>
                <a:close/>
                <a:moveTo>
                  <a:pt x="5832905" y="750600"/>
                </a:moveTo>
                <a:cubicBezTo>
                  <a:pt x="5886181" y="1021506"/>
                  <a:pt x="6101024" y="1236303"/>
                  <a:pt x="6376214" y="1295446"/>
                </a:cubicBezTo>
                <a:cubicBezTo>
                  <a:pt x="6322939" y="1024540"/>
                  <a:pt x="6108095" y="809743"/>
                  <a:pt x="5832905" y="750600"/>
                </a:cubicBezTo>
                <a:close/>
                <a:moveTo>
                  <a:pt x="5525656" y="750600"/>
                </a:moveTo>
                <a:cubicBezTo>
                  <a:pt x="5250466" y="809743"/>
                  <a:pt x="5035622" y="1024540"/>
                  <a:pt x="4982347" y="1295446"/>
                </a:cubicBezTo>
                <a:cubicBezTo>
                  <a:pt x="5257537" y="1236303"/>
                  <a:pt x="5472380" y="1021506"/>
                  <a:pt x="5525656" y="750600"/>
                </a:cubicBezTo>
                <a:close/>
                <a:moveTo>
                  <a:pt x="4140754" y="750600"/>
                </a:moveTo>
                <a:cubicBezTo>
                  <a:pt x="4194030" y="1021506"/>
                  <a:pt x="4408873" y="1236303"/>
                  <a:pt x="4684063" y="1295446"/>
                </a:cubicBezTo>
                <a:cubicBezTo>
                  <a:pt x="4630788" y="1024540"/>
                  <a:pt x="4415944" y="809743"/>
                  <a:pt x="4140754" y="750600"/>
                </a:cubicBezTo>
                <a:close/>
                <a:moveTo>
                  <a:pt x="3833505" y="750600"/>
                </a:moveTo>
                <a:cubicBezTo>
                  <a:pt x="3558315" y="809743"/>
                  <a:pt x="3343471" y="1024540"/>
                  <a:pt x="3290196" y="1295446"/>
                </a:cubicBezTo>
                <a:cubicBezTo>
                  <a:pt x="3565386" y="1236303"/>
                  <a:pt x="3780229" y="1021506"/>
                  <a:pt x="3833505" y="750600"/>
                </a:cubicBezTo>
                <a:close/>
                <a:moveTo>
                  <a:pt x="2448603" y="750600"/>
                </a:moveTo>
                <a:cubicBezTo>
                  <a:pt x="2501879" y="1021506"/>
                  <a:pt x="2716722" y="1236303"/>
                  <a:pt x="2991912" y="1295446"/>
                </a:cubicBezTo>
                <a:cubicBezTo>
                  <a:pt x="2938637" y="1024540"/>
                  <a:pt x="2723793" y="809743"/>
                  <a:pt x="2448603" y="750600"/>
                </a:cubicBezTo>
                <a:close/>
                <a:moveTo>
                  <a:pt x="2141354" y="750600"/>
                </a:moveTo>
                <a:cubicBezTo>
                  <a:pt x="1866164" y="809743"/>
                  <a:pt x="1651320" y="1024540"/>
                  <a:pt x="1598045" y="1295446"/>
                </a:cubicBezTo>
                <a:cubicBezTo>
                  <a:pt x="1873235" y="1236303"/>
                  <a:pt x="2088078" y="1021506"/>
                  <a:pt x="2141354" y="750600"/>
                </a:cubicBezTo>
                <a:close/>
                <a:moveTo>
                  <a:pt x="756452" y="750600"/>
                </a:moveTo>
                <a:cubicBezTo>
                  <a:pt x="809728" y="1021506"/>
                  <a:pt x="1024571" y="1236303"/>
                  <a:pt x="1299761" y="1295446"/>
                </a:cubicBezTo>
                <a:cubicBezTo>
                  <a:pt x="1246486" y="1024540"/>
                  <a:pt x="1031642" y="809743"/>
                  <a:pt x="756452" y="750600"/>
                </a:cubicBezTo>
                <a:close/>
                <a:moveTo>
                  <a:pt x="12192000" y="647790"/>
                </a:moveTo>
                <a:lnTo>
                  <a:pt x="12192000" y="780838"/>
                </a:lnTo>
                <a:cubicBezTo>
                  <a:pt x="11966807" y="865550"/>
                  <a:pt x="11797421" y="1059155"/>
                  <a:pt x="11750953" y="1295446"/>
                </a:cubicBezTo>
                <a:cubicBezTo>
                  <a:pt x="11935988" y="1255679"/>
                  <a:pt x="12093739" y="1145540"/>
                  <a:pt x="12192000" y="994335"/>
                </a:cubicBezTo>
                <a:lnTo>
                  <a:pt x="12192000" y="1195909"/>
                </a:lnTo>
                <a:cubicBezTo>
                  <a:pt x="12071770" y="1314911"/>
                  <a:pt x="11914089" y="1397686"/>
                  <a:pt x="11737582" y="1426902"/>
                </a:cubicBezTo>
                <a:lnTo>
                  <a:pt x="11737466" y="1428050"/>
                </a:lnTo>
                <a:cubicBezTo>
                  <a:pt x="11732155" y="1429061"/>
                  <a:pt x="11726826" y="1430009"/>
                  <a:pt x="11721249" y="1429590"/>
                </a:cubicBezTo>
                <a:cubicBezTo>
                  <a:pt x="11690077" y="1435144"/>
                  <a:pt x="11658197" y="1438125"/>
                  <a:pt x="11625822" y="1438652"/>
                </a:cubicBezTo>
                <a:lnTo>
                  <a:pt x="11608704" y="1440278"/>
                </a:lnTo>
                <a:lnTo>
                  <a:pt x="11608678" y="1439783"/>
                </a:lnTo>
                <a:lnTo>
                  <a:pt x="11608179" y="1439816"/>
                </a:lnTo>
                <a:cubicBezTo>
                  <a:pt x="11607613" y="1436014"/>
                  <a:pt x="11607586" y="1432198"/>
                  <a:pt x="11607586" y="1428376"/>
                </a:cubicBezTo>
                <a:cubicBezTo>
                  <a:pt x="11607586" y="1422694"/>
                  <a:pt x="11607645" y="1417025"/>
                  <a:pt x="11608957" y="1411395"/>
                </a:cubicBezTo>
                <a:cubicBezTo>
                  <a:pt x="11608914" y="1380067"/>
                  <a:pt x="11611364" y="1349182"/>
                  <a:pt x="11616421" y="1318938"/>
                </a:cubicBezTo>
                <a:lnTo>
                  <a:pt x="11616961" y="1312248"/>
                </a:lnTo>
                <a:cubicBezTo>
                  <a:pt x="11617130" y="1312243"/>
                  <a:pt x="11617299" y="1312238"/>
                  <a:pt x="11617466" y="1312185"/>
                </a:cubicBezTo>
                <a:cubicBezTo>
                  <a:pt x="11662185" y="998329"/>
                  <a:pt x="11889463" y="741504"/>
                  <a:pt x="12192000" y="647790"/>
                </a:cubicBezTo>
                <a:close/>
                <a:moveTo>
                  <a:pt x="10767111" y="605769"/>
                </a:moveTo>
                <a:lnTo>
                  <a:pt x="10784198" y="607392"/>
                </a:lnTo>
                <a:cubicBezTo>
                  <a:pt x="10816584" y="607919"/>
                  <a:pt x="10848477" y="610900"/>
                  <a:pt x="10879660" y="616457"/>
                </a:cubicBezTo>
                <a:cubicBezTo>
                  <a:pt x="10885236" y="616038"/>
                  <a:pt x="10890564" y="616986"/>
                  <a:pt x="10895873" y="617996"/>
                </a:cubicBezTo>
                <a:lnTo>
                  <a:pt x="10895990" y="619144"/>
                </a:lnTo>
                <a:cubicBezTo>
                  <a:pt x="11254840" y="678542"/>
                  <a:pt x="11535879" y="959319"/>
                  <a:pt x="11586156" y="1312185"/>
                </a:cubicBezTo>
                <a:cubicBezTo>
                  <a:pt x="11586323" y="1312238"/>
                  <a:pt x="11586492" y="1312243"/>
                  <a:pt x="11586661" y="1312248"/>
                </a:cubicBezTo>
                <a:lnTo>
                  <a:pt x="11587201" y="1318938"/>
                </a:lnTo>
                <a:cubicBezTo>
                  <a:pt x="11592258" y="1349182"/>
                  <a:pt x="11594708" y="1380067"/>
                  <a:pt x="11594665" y="1411395"/>
                </a:cubicBezTo>
                <a:cubicBezTo>
                  <a:pt x="11595977" y="1417025"/>
                  <a:pt x="11596036" y="1422694"/>
                  <a:pt x="11596036" y="1428376"/>
                </a:cubicBezTo>
                <a:cubicBezTo>
                  <a:pt x="11596036" y="1432198"/>
                  <a:pt x="11596009" y="1436014"/>
                  <a:pt x="11595443" y="1439816"/>
                </a:cubicBezTo>
                <a:lnTo>
                  <a:pt x="11594944" y="1439783"/>
                </a:lnTo>
                <a:lnTo>
                  <a:pt x="11594918" y="1440278"/>
                </a:lnTo>
                <a:lnTo>
                  <a:pt x="11577800" y="1438652"/>
                </a:lnTo>
                <a:cubicBezTo>
                  <a:pt x="11545425" y="1438125"/>
                  <a:pt x="11513545" y="1435144"/>
                  <a:pt x="11482373" y="1429590"/>
                </a:cubicBezTo>
                <a:cubicBezTo>
                  <a:pt x="11476796" y="1430009"/>
                  <a:pt x="11471467" y="1429061"/>
                  <a:pt x="11466156" y="1428050"/>
                </a:cubicBezTo>
                <a:lnTo>
                  <a:pt x="11466040" y="1426902"/>
                </a:lnTo>
                <a:cubicBezTo>
                  <a:pt x="11107189" y="1367503"/>
                  <a:pt x="10826150" y="1086726"/>
                  <a:pt x="10775875" y="733861"/>
                </a:cubicBezTo>
                <a:cubicBezTo>
                  <a:pt x="10775707" y="733808"/>
                  <a:pt x="10775539" y="733803"/>
                  <a:pt x="10775369" y="733798"/>
                </a:cubicBezTo>
                <a:lnTo>
                  <a:pt x="10774831" y="727122"/>
                </a:lnTo>
                <a:cubicBezTo>
                  <a:pt x="10769772" y="696872"/>
                  <a:pt x="10767321" y="665981"/>
                  <a:pt x="10767364" y="634646"/>
                </a:cubicBezTo>
                <a:cubicBezTo>
                  <a:pt x="10766052" y="629018"/>
                  <a:pt x="10765993" y="623351"/>
                  <a:pt x="10765993" y="617670"/>
                </a:cubicBezTo>
                <a:lnTo>
                  <a:pt x="10766587" y="606230"/>
                </a:lnTo>
                <a:lnTo>
                  <a:pt x="10767085" y="606263"/>
                </a:lnTo>
                <a:close/>
                <a:moveTo>
                  <a:pt x="10744358" y="605769"/>
                </a:moveTo>
                <a:lnTo>
                  <a:pt x="10744384" y="606263"/>
                </a:lnTo>
                <a:lnTo>
                  <a:pt x="10744882" y="606230"/>
                </a:lnTo>
                <a:lnTo>
                  <a:pt x="10745476" y="617670"/>
                </a:lnTo>
                <a:cubicBezTo>
                  <a:pt x="10745476" y="623351"/>
                  <a:pt x="10745417" y="629018"/>
                  <a:pt x="10744105" y="634646"/>
                </a:cubicBezTo>
                <a:cubicBezTo>
                  <a:pt x="10744148" y="665981"/>
                  <a:pt x="10741697" y="696872"/>
                  <a:pt x="10736638" y="727122"/>
                </a:cubicBezTo>
                <a:lnTo>
                  <a:pt x="10736100" y="733798"/>
                </a:lnTo>
                <a:cubicBezTo>
                  <a:pt x="10735930" y="733803"/>
                  <a:pt x="10735762" y="733808"/>
                  <a:pt x="10735594" y="733861"/>
                </a:cubicBezTo>
                <a:cubicBezTo>
                  <a:pt x="10685319" y="1086726"/>
                  <a:pt x="10404280" y="1367503"/>
                  <a:pt x="10045429" y="1426902"/>
                </a:cubicBezTo>
                <a:lnTo>
                  <a:pt x="10045313" y="1428050"/>
                </a:lnTo>
                <a:cubicBezTo>
                  <a:pt x="10040002" y="1429061"/>
                  <a:pt x="10034673" y="1430009"/>
                  <a:pt x="10029096" y="1429590"/>
                </a:cubicBezTo>
                <a:cubicBezTo>
                  <a:pt x="9997924" y="1435144"/>
                  <a:pt x="9966044" y="1438125"/>
                  <a:pt x="9933669" y="1438652"/>
                </a:cubicBezTo>
                <a:lnTo>
                  <a:pt x="9916551" y="1440278"/>
                </a:lnTo>
                <a:lnTo>
                  <a:pt x="9916525" y="1439783"/>
                </a:lnTo>
                <a:lnTo>
                  <a:pt x="9916026" y="1439816"/>
                </a:lnTo>
                <a:cubicBezTo>
                  <a:pt x="9915460" y="1436014"/>
                  <a:pt x="9915433" y="1432198"/>
                  <a:pt x="9915433" y="1428376"/>
                </a:cubicBezTo>
                <a:cubicBezTo>
                  <a:pt x="9915433" y="1422694"/>
                  <a:pt x="9915492" y="1417025"/>
                  <a:pt x="9916804" y="1411395"/>
                </a:cubicBezTo>
                <a:cubicBezTo>
                  <a:pt x="9916761" y="1380067"/>
                  <a:pt x="9919211" y="1349182"/>
                  <a:pt x="9924268" y="1318938"/>
                </a:cubicBezTo>
                <a:lnTo>
                  <a:pt x="9924808" y="1312248"/>
                </a:lnTo>
                <a:cubicBezTo>
                  <a:pt x="9924977" y="1312243"/>
                  <a:pt x="9925146" y="1312238"/>
                  <a:pt x="9925314" y="1312185"/>
                </a:cubicBezTo>
                <a:cubicBezTo>
                  <a:pt x="9975590" y="959319"/>
                  <a:pt x="10256629" y="678542"/>
                  <a:pt x="10615479" y="619144"/>
                </a:cubicBezTo>
                <a:lnTo>
                  <a:pt x="10615596" y="617996"/>
                </a:lnTo>
                <a:cubicBezTo>
                  <a:pt x="10620905" y="616986"/>
                  <a:pt x="10626233" y="616038"/>
                  <a:pt x="10631809" y="616457"/>
                </a:cubicBezTo>
                <a:cubicBezTo>
                  <a:pt x="10662992" y="610900"/>
                  <a:pt x="10694885" y="607919"/>
                  <a:pt x="10727271" y="607392"/>
                </a:cubicBezTo>
                <a:close/>
                <a:moveTo>
                  <a:pt x="9074958" y="605769"/>
                </a:moveTo>
                <a:lnTo>
                  <a:pt x="9092045" y="607392"/>
                </a:lnTo>
                <a:cubicBezTo>
                  <a:pt x="9124431" y="607919"/>
                  <a:pt x="9156324" y="610900"/>
                  <a:pt x="9187507" y="616457"/>
                </a:cubicBezTo>
                <a:cubicBezTo>
                  <a:pt x="9193083" y="616038"/>
                  <a:pt x="9198411" y="616986"/>
                  <a:pt x="9203720" y="617996"/>
                </a:cubicBezTo>
                <a:lnTo>
                  <a:pt x="9203837" y="619144"/>
                </a:lnTo>
                <a:cubicBezTo>
                  <a:pt x="9562687" y="678542"/>
                  <a:pt x="9843726" y="959319"/>
                  <a:pt x="9894002" y="1312185"/>
                </a:cubicBezTo>
                <a:cubicBezTo>
                  <a:pt x="9894170" y="1312238"/>
                  <a:pt x="9894339" y="1312243"/>
                  <a:pt x="9894508" y="1312248"/>
                </a:cubicBezTo>
                <a:lnTo>
                  <a:pt x="9895048" y="1318938"/>
                </a:lnTo>
                <a:cubicBezTo>
                  <a:pt x="9900105" y="1349182"/>
                  <a:pt x="9902555" y="1380067"/>
                  <a:pt x="9902512" y="1411395"/>
                </a:cubicBezTo>
                <a:cubicBezTo>
                  <a:pt x="9903824" y="1417025"/>
                  <a:pt x="9903883" y="1422694"/>
                  <a:pt x="9903883" y="1428376"/>
                </a:cubicBezTo>
                <a:cubicBezTo>
                  <a:pt x="9903883" y="1432198"/>
                  <a:pt x="9903856" y="1436014"/>
                  <a:pt x="9903290" y="1439816"/>
                </a:cubicBezTo>
                <a:lnTo>
                  <a:pt x="9902791" y="1439783"/>
                </a:lnTo>
                <a:lnTo>
                  <a:pt x="9902765" y="1440278"/>
                </a:lnTo>
                <a:lnTo>
                  <a:pt x="9885647" y="1438652"/>
                </a:lnTo>
                <a:cubicBezTo>
                  <a:pt x="9853272" y="1438125"/>
                  <a:pt x="9821392" y="1435144"/>
                  <a:pt x="9790220" y="1429590"/>
                </a:cubicBezTo>
                <a:cubicBezTo>
                  <a:pt x="9784643" y="1430009"/>
                  <a:pt x="9779314" y="1429061"/>
                  <a:pt x="9774003" y="1428050"/>
                </a:cubicBezTo>
                <a:lnTo>
                  <a:pt x="9773887" y="1426902"/>
                </a:lnTo>
                <a:cubicBezTo>
                  <a:pt x="9415036" y="1367503"/>
                  <a:pt x="9133997" y="1086726"/>
                  <a:pt x="9083722" y="733861"/>
                </a:cubicBezTo>
                <a:cubicBezTo>
                  <a:pt x="9083554" y="733808"/>
                  <a:pt x="9083386" y="733803"/>
                  <a:pt x="9083216" y="733798"/>
                </a:cubicBezTo>
                <a:lnTo>
                  <a:pt x="9082678" y="727122"/>
                </a:lnTo>
                <a:cubicBezTo>
                  <a:pt x="9077619" y="696872"/>
                  <a:pt x="9075168" y="665981"/>
                  <a:pt x="9075211" y="634646"/>
                </a:cubicBezTo>
                <a:cubicBezTo>
                  <a:pt x="9073899" y="629018"/>
                  <a:pt x="9073840" y="623351"/>
                  <a:pt x="9073840" y="617670"/>
                </a:cubicBezTo>
                <a:lnTo>
                  <a:pt x="9074434" y="606230"/>
                </a:lnTo>
                <a:lnTo>
                  <a:pt x="9074932" y="606263"/>
                </a:lnTo>
                <a:close/>
                <a:moveTo>
                  <a:pt x="9052207" y="605769"/>
                </a:moveTo>
                <a:lnTo>
                  <a:pt x="9052233" y="606263"/>
                </a:lnTo>
                <a:lnTo>
                  <a:pt x="9052731" y="606230"/>
                </a:lnTo>
                <a:lnTo>
                  <a:pt x="9053325" y="617670"/>
                </a:lnTo>
                <a:cubicBezTo>
                  <a:pt x="9053325" y="623351"/>
                  <a:pt x="9053266" y="629018"/>
                  <a:pt x="9051954" y="634646"/>
                </a:cubicBezTo>
                <a:cubicBezTo>
                  <a:pt x="9051997" y="665981"/>
                  <a:pt x="9049546" y="696872"/>
                  <a:pt x="9044487" y="727122"/>
                </a:cubicBezTo>
                <a:lnTo>
                  <a:pt x="9043949" y="733798"/>
                </a:lnTo>
                <a:cubicBezTo>
                  <a:pt x="9043779" y="733803"/>
                  <a:pt x="9043611" y="733808"/>
                  <a:pt x="9043443" y="733861"/>
                </a:cubicBezTo>
                <a:cubicBezTo>
                  <a:pt x="8993168" y="1086726"/>
                  <a:pt x="8712129" y="1367503"/>
                  <a:pt x="8353278" y="1426902"/>
                </a:cubicBezTo>
                <a:lnTo>
                  <a:pt x="8353162" y="1428050"/>
                </a:lnTo>
                <a:cubicBezTo>
                  <a:pt x="8347851" y="1429061"/>
                  <a:pt x="8342522" y="1430009"/>
                  <a:pt x="8336945" y="1429590"/>
                </a:cubicBezTo>
                <a:cubicBezTo>
                  <a:pt x="8305773" y="1435144"/>
                  <a:pt x="8273893" y="1438125"/>
                  <a:pt x="8241519" y="1438652"/>
                </a:cubicBezTo>
                <a:lnTo>
                  <a:pt x="8224400" y="1440278"/>
                </a:lnTo>
                <a:lnTo>
                  <a:pt x="8224374" y="1439783"/>
                </a:lnTo>
                <a:lnTo>
                  <a:pt x="8223875" y="1439816"/>
                </a:lnTo>
                <a:cubicBezTo>
                  <a:pt x="8223309" y="1436014"/>
                  <a:pt x="8223282" y="1432198"/>
                  <a:pt x="8223282" y="1428376"/>
                </a:cubicBezTo>
                <a:cubicBezTo>
                  <a:pt x="8223282" y="1422694"/>
                  <a:pt x="8223341" y="1417025"/>
                  <a:pt x="8224653" y="1411395"/>
                </a:cubicBezTo>
                <a:cubicBezTo>
                  <a:pt x="8224611" y="1380067"/>
                  <a:pt x="8227060" y="1349182"/>
                  <a:pt x="8232117" y="1318938"/>
                </a:cubicBezTo>
                <a:lnTo>
                  <a:pt x="8232657" y="1312248"/>
                </a:lnTo>
                <a:cubicBezTo>
                  <a:pt x="8232826" y="1312243"/>
                  <a:pt x="8232995" y="1312238"/>
                  <a:pt x="8233163" y="1312185"/>
                </a:cubicBezTo>
                <a:cubicBezTo>
                  <a:pt x="8283439" y="959319"/>
                  <a:pt x="8564478" y="678542"/>
                  <a:pt x="8923328" y="619144"/>
                </a:cubicBezTo>
                <a:lnTo>
                  <a:pt x="8923445" y="617996"/>
                </a:lnTo>
                <a:cubicBezTo>
                  <a:pt x="8928754" y="616986"/>
                  <a:pt x="8934082" y="616038"/>
                  <a:pt x="8939658" y="616457"/>
                </a:cubicBezTo>
                <a:cubicBezTo>
                  <a:pt x="8970841" y="610900"/>
                  <a:pt x="9002734" y="607919"/>
                  <a:pt x="9035120" y="607392"/>
                </a:cubicBezTo>
                <a:close/>
                <a:moveTo>
                  <a:pt x="7382807" y="605769"/>
                </a:moveTo>
                <a:lnTo>
                  <a:pt x="7399895" y="607392"/>
                </a:lnTo>
                <a:cubicBezTo>
                  <a:pt x="7432280" y="607919"/>
                  <a:pt x="7464173" y="610900"/>
                  <a:pt x="7495356" y="616457"/>
                </a:cubicBezTo>
                <a:cubicBezTo>
                  <a:pt x="7500932" y="616038"/>
                  <a:pt x="7506260" y="616986"/>
                  <a:pt x="7511569" y="617996"/>
                </a:cubicBezTo>
                <a:lnTo>
                  <a:pt x="7511686" y="619144"/>
                </a:lnTo>
                <a:cubicBezTo>
                  <a:pt x="7870536" y="678542"/>
                  <a:pt x="8151575" y="959319"/>
                  <a:pt x="8201852" y="1312185"/>
                </a:cubicBezTo>
                <a:cubicBezTo>
                  <a:pt x="8202019" y="1312238"/>
                  <a:pt x="8202189" y="1312243"/>
                  <a:pt x="8202357" y="1312248"/>
                </a:cubicBezTo>
                <a:lnTo>
                  <a:pt x="8202898" y="1318938"/>
                </a:lnTo>
                <a:cubicBezTo>
                  <a:pt x="8207954" y="1349182"/>
                  <a:pt x="8210404" y="1380067"/>
                  <a:pt x="8210362" y="1411395"/>
                </a:cubicBezTo>
                <a:cubicBezTo>
                  <a:pt x="8211674" y="1417025"/>
                  <a:pt x="8211732" y="1422694"/>
                  <a:pt x="8211732" y="1428376"/>
                </a:cubicBezTo>
                <a:cubicBezTo>
                  <a:pt x="8211732" y="1432198"/>
                  <a:pt x="8211705" y="1436014"/>
                  <a:pt x="8211139" y="1439816"/>
                </a:cubicBezTo>
                <a:lnTo>
                  <a:pt x="8210640" y="1439783"/>
                </a:lnTo>
                <a:lnTo>
                  <a:pt x="8210614" y="1440278"/>
                </a:lnTo>
                <a:lnTo>
                  <a:pt x="8193496" y="1438652"/>
                </a:lnTo>
                <a:cubicBezTo>
                  <a:pt x="8161122" y="1438125"/>
                  <a:pt x="8129241" y="1435144"/>
                  <a:pt x="8098069" y="1429590"/>
                </a:cubicBezTo>
                <a:cubicBezTo>
                  <a:pt x="8092492" y="1430009"/>
                  <a:pt x="8087163" y="1429061"/>
                  <a:pt x="8081853" y="1428050"/>
                </a:cubicBezTo>
                <a:lnTo>
                  <a:pt x="8081737" y="1426902"/>
                </a:lnTo>
                <a:cubicBezTo>
                  <a:pt x="7722885" y="1367503"/>
                  <a:pt x="7441846" y="1086726"/>
                  <a:pt x="7391571" y="733861"/>
                </a:cubicBezTo>
                <a:cubicBezTo>
                  <a:pt x="7391403" y="733808"/>
                  <a:pt x="7391235" y="733803"/>
                  <a:pt x="7391065" y="733798"/>
                </a:cubicBezTo>
                <a:lnTo>
                  <a:pt x="7390527" y="727122"/>
                </a:lnTo>
                <a:cubicBezTo>
                  <a:pt x="7385468" y="696872"/>
                  <a:pt x="7383018" y="665981"/>
                  <a:pt x="7383060" y="634646"/>
                </a:cubicBezTo>
                <a:cubicBezTo>
                  <a:pt x="7381748" y="629018"/>
                  <a:pt x="7381689" y="623351"/>
                  <a:pt x="7381689" y="617670"/>
                </a:cubicBezTo>
                <a:lnTo>
                  <a:pt x="7382283" y="606230"/>
                </a:lnTo>
                <a:lnTo>
                  <a:pt x="7382781" y="606263"/>
                </a:lnTo>
                <a:close/>
                <a:moveTo>
                  <a:pt x="5690656" y="605769"/>
                </a:moveTo>
                <a:lnTo>
                  <a:pt x="5707743" y="607392"/>
                </a:lnTo>
                <a:cubicBezTo>
                  <a:pt x="5740129" y="607919"/>
                  <a:pt x="5772021" y="610900"/>
                  <a:pt x="5803205" y="616457"/>
                </a:cubicBezTo>
                <a:cubicBezTo>
                  <a:pt x="5808781" y="616038"/>
                  <a:pt x="5814109" y="616986"/>
                  <a:pt x="5819417" y="617996"/>
                </a:cubicBezTo>
                <a:lnTo>
                  <a:pt x="5819534" y="619144"/>
                </a:lnTo>
                <a:cubicBezTo>
                  <a:pt x="6178385" y="678542"/>
                  <a:pt x="6459424" y="959319"/>
                  <a:pt x="6509700" y="1312185"/>
                </a:cubicBezTo>
                <a:cubicBezTo>
                  <a:pt x="6509868" y="1312238"/>
                  <a:pt x="6510037" y="1312243"/>
                  <a:pt x="6510206" y="1312248"/>
                </a:cubicBezTo>
                <a:lnTo>
                  <a:pt x="6510746" y="1318938"/>
                </a:lnTo>
                <a:cubicBezTo>
                  <a:pt x="6515803" y="1349182"/>
                  <a:pt x="6518252" y="1380067"/>
                  <a:pt x="6518210" y="1411395"/>
                </a:cubicBezTo>
                <a:cubicBezTo>
                  <a:pt x="6519522" y="1417025"/>
                  <a:pt x="6519581" y="1422694"/>
                  <a:pt x="6519581" y="1428376"/>
                </a:cubicBezTo>
                <a:cubicBezTo>
                  <a:pt x="6519581" y="1432198"/>
                  <a:pt x="6519554" y="1436014"/>
                  <a:pt x="6518988" y="1439816"/>
                </a:cubicBezTo>
                <a:lnTo>
                  <a:pt x="6518489" y="1439783"/>
                </a:lnTo>
                <a:lnTo>
                  <a:pt x="6518463" y="1440278"/>
                </a:lnTo>
                <a:lnTo>
                  <a:pt x="6501344" y="1438652"/>
                </a:lnTo>
                <a:cubicBezTo>
                  <a:pt x="6468970" y="1438125"/>
                  <a:pt x="6437090" y="1435144"/>
                  <a:pt x="6405918" y="1429590"/>
                </a:cubicBezTo>
                <a:cubicBezTo>
                  <a:pt x="6400341" y="1430009"/>
                  <a:pt x="6395012" y="1429061"/>
                  <a:pt x="6389701" y="1428050"/>
                </a:cubicBezTo>
                <a:lnTo>
                  <a:pt x="6389585" y="1426902"/>
                </a:lnTo>
                <a:cubicBezTo>
                  <a:pt x="6030734" y="1367503"/>
                  <a:pt x="5749695" y="1086726"/>
                  <a:pt x="5699419" y="733861"/>
                </a:cubicBezTo>
                <a:cubicBezTo>
                  <a:pt x="5699252" y="733808"/>
                  <a:pt x="5699083" y="733803"/>
                  <a:pt x="5698914" y="733798"/>
                </a:cubicBezTo>
                <a:lnTo>
                  <a:pt x="5698375" y="727122"/>
                </a:lnTo>
                <a:cubicBezTo>
                  <a:pt x="5693317" y="696872"/>
                  <a:pt x="5690866" y="665981"/>
                  <a:pt x="5690908" y="634646"/>
                </a:cubicBezTo>
                <a:cubicBezTo>
                  <a:pt x="5689596" y="629018"/>
                  <a:pt x="5689538" y="623351"/>
                  <a:pt x="5689538" y="617670"/>
                </a:cubicBezTo>
                <a:lnTo>
                  <a:pt x="5690132" y="606230"/>
                </a:lnTo>
                <a:lnTo>
                  <a:pt x="5690630" y="606263"/>
                </a:lnTo>
                <a:close/>
                <a:moveTo>
                  <a:pt x="5667905" y="605769"/>
                </a:moveTo>
                <a:lnTo>
                  <a:pt x="5667931" y="606263"/>
                </a:lnTo>
                <a:lnTo>
                  <a:pt x="5668429" y="606230"/>
                </a:lnTo>
                <a:lnTo>
                  <a:pt x="5669023" y="617670"/>
                </a:lnTo>
                <a:cubicBezTo>
                  <a:pt x="5669023" y="623351"/>
                  <a:pt x="5668964" y="629018"/>
                  <a:pt x="5667652" y="634646"/>
                </a:cubicBezTo>
                <a:cubicBezTo>
                  <a:pt x="5667694" y="665981"/>
                  <a:pt x="5665244" y="696872"/>
                  <a:pt x="5660185" y="727122"/>
                </a:cubicBezTo>
                <a:lnTo>
                  <a:pt x="5659647" y="733798"/>
                </a:lnTo>
                <a:cubicBezTo>
                  <a:pt x="5659477" y="733803"/>
                  <a:pt x="5659309" y="733808"/>
                  <a:pt x="5659141" y="733861"/>
                </a:cubicBezTo>
                <a:cubicBezTo>
                  <a:pt x="5608866" y="1086726"/>
                  <a:pt x="5327827" y="1367503"/>
                  <a:pt x="4968975" y="1426902"/>
                </a:cubicBezTo>
                <a:lnTo>
                  <a:pt x="4968859" y="1428050"/>
                </a:lnTo>
                <a:cubicBezTo>
                  <a:pt x="4963549" y="1429061"/>
                  <a:pt x="4958220" y="1430009"/>
                  <a:pt x="4952643" y="1429590"/>
                </a:cubicBezTo>
                <a:cubicBezTo>
                  <a:pt x="4921471" y="1435144"/>
                  <a:pt x="4889590" y="1438125"/>
                  <a:pt x="4857216" y="1438652"/>
                </a:cubicBezTo>
                <a:lnTo>
                  <a:pt x="4840098" y="1440278"/>
                </a:lnTo>
                <a:lnTo>
                  <a:pt x="4840072" y="1439783"/>
                </a:lnTo>
                <a:lnTo>
                  <a:pt x="4839573" y="1439816"/>
                </a:lnTo>
                <a:cubicBezTo>
                  <a:pt x="4839007" y="1436014"/>
                  <a:pt x="4838980" y="1432198"/>
                  <a:pt x="4838980" y="1428376"/>
                </a:cubicBezTo>
                <a:cubicBezTo>
                  <a:pt x="4838980" y="1422694"/>
                  <a:pt x="4839038" y="1417025"/>
                  <a:pt x="4840350" y="1411395"/>
                </a:cubicBezTo>
                <a:cubicBezTo>
                  <a:pt x="4840308" y="1380067"/>
                  <a:pt x="4842758" y="1349182"/>
                  <a:pt x="4847814" y="1318938"/>
                </a:cubicBezTo>
                <a:lnTo>
                  <a:pt x="4848355" y="1312248"/>
                </a:lnTo>
                <a:cubicBezTo>
                  <a:pt x="4848523" y="1312243"/>
                  <a:pt x="4848693" y="1312238"/>
                  <a:pt x="4848860" y="1312185"/>
                </a:cubicBezTo>
                <a:cubicBezTo>
                  <a:pt x="4899137" y="959319"/>
                  <a:pt x="5180176" y="678542"/>
                  <a:pt x="5539026" y="619144"/>
                </a:cubicBezTo>
                <a:lnTo>
                  <a:pt x="5539143" y="617996"/>
                </a:lnTo>
                <a:cubicBezTo>
                  <a:pt x="5544452" y="616986"/>
                  <a:pt x="5549780" y="616038"/>
                  <a:pt x="5555356" y="616457"/>
                </a:cubicBezTo>
                <a:cubicBezTo>
                  <a:pt x="5586539" y="610900"/>
                  <a:pt x="5618432" y="607919"/>
                  <a:pt x="5650817" y="607392"/>
                </a:cubicBezTo>
                <a:close/>
                <a:moveTo>
                  <a:pt x="3998505" y="605769"/>
                </a:moveTo>
                <a:lnTo>
                  <a:pt x="4015592" y="607392"/>
                </a:lnTo>
                <a:cubicBezTo>
                  <a:pt x="4047978" y="607919"/>
                  <a:pt x="4079870" y="610900"/>
                  <a:pt x="4111054" y="616457"/>
                </a:cubicBezTo>
                <a:cubicBezTo>
                  <a:pt x="4116630" y="616038"/>
                  <a:pt x="4121958" y="616986"/>
                  <a:pt x="4127266" y="617996"/>
                </a:cubicBezTo>
                <a:lnTo>
                  <a:pt x="4127384" y="619144"/>
                </a:lnTo>
                <a:cubicBezTo>
                  <a:pt x="4486234" y="678542"/>
                  <a:pt x="4767273" y="959319"/>
                  <a:pt x="4817549" y="1312185"/>
                </a:cubicBezTo>
                <a:cubicBezTo>
                  <a:pt x="4817717" y="1312238"/>
                  <a:pt x="4817886" y="1312243"/>
                  <a:pt x="4818055" y="1312248"/>
                </a:cubicBezTo>
                <a:lnTo>
                  <a:pt x="4818595" y="1318938"/>
                </a:lnTo>
                <a:cubicBezTo>
                  <a:pt x="4823652" y="1349182"/>
                  <a:pt x="4826101" y="1380067"/>
                  <a:pt x="4826059" y="1411395"/>
                </a:cubicBezTo>
                <a:cubicBezTo>
                  <a:pt x="4827371" y="1417025"/>
                  <a:pt x="4827430" y="1422694"/>
                  <a:pt x="4827430" y="1428376"/>
                </a:cubicBezTo>
                <a:cubicBezTo>
                  <a:pt x="4827430" y="1432198"/>
                  <a:pt x="4827403" y="1436014"/>
                  <a:pt x="4826837" y="1439816"/>
                </a:cubicBezTo>
                <a:lnTo>
                  <a:pt x="4826338" y="1439783"/>
                </a:lnTo>
                <a:lnTo>
                  <a:pt x="4826312" y="1440278"/>
                </a:lnTo>
                <a:lnTo>
                  <a:pt x="4809193" y="1438652"/>
                </a:lnTo>
                <a:cubicBezTo>
                  <a:pt x="4776819" y="1438125"/>
                  <a:pt x="4744939" y="1435144"/>
                  <a:pt x="4713767" y="1429590"/>
                </a:cubicBezTo>
                <a:cubicBezTo>
                  <a:pt x="4708190" y="1430009"/>
                  <a:pt x="4702861" y="1429061"/>
                  <a:pt x="4697550" y="1428050"/>
                </a:cubicBezTo>
                <a:lnTo>
                  <a:pt x="4697434" y="1426902"/>
                </a:lnTo>
                <a:cubicBezTo>
                  <a:pt x="4338583" y="1367503"/>
                  <a:pt x="4057544" y="1086726"/>
                  <a:pt x="4007268" y="733861"/>
                </a:cubicBezTo>
                <a:cubicBezTo>
                  <a:pt x="4007101" y="733808"/>
                  <a:pt x="4006932" y="733803"/>
                  <a:pt x="4006763" y="733798"/>
                </a:cubicBezTo>
                <a:lnTo>
                  <a:pt x="4006225" y="727122"/>
                </a:lnTo>
                <a:cubicBezTo>
                  <a:pt x="4001166" y="696872"/>
                  <a:pt x="3998715" y="665981"/>
                  <a:pt x="3998757" y="634646"/>
                </a:cubicBezTo>
                <a:cubicBezTo>
                  <a:pt x="3997445" y="629018"/>
                  <a:pt x="3997387" y="623351"/>
                  <a:pt x="3997387" y="617670"/>
                </a:cubicBezTo>
                <a:lnTo>
                  <a:pt x="3997981" y="606230"/>
                </a:lnTo>
                <a:lnTo>
                  <a:pt x="3998479" y="606263"/>
                </a:lnTo>
                <a:close/>
                <a:moveTo>
                  <a:pt x="3975754" y="605769"/>
                </a:moveTo>
                <a:lnTo>
                  <a:pt x="3975780" y="606263"/>
                </a:lnTo>
                <a:lnTo>
                  <a:pt x="3976278" y="606230"/>
                </a:lnTo>
                <a:lnTo>
                  <a:pt x="3976872" y="617670"/>
                </a:lnTo>
                <a:cubicBezTo>
                  <a:pt x="3976872" y="623351"/>
                  <a:pt x="3976813" y="629018"/>
                  <a:pt x="3975501" y="634646"/>
                </a:cubicBezTo>
                <a:cubicBezTo>
                  <a:pt x="3975543" y="665981"/>
                  <a:pt x="3973093" y="696872"/>
                  <a:pt x="3968034" y="727122"/>
                </a:cubicBezTo>
                <a:lnTo>
                  <a:pt x="3967496" y="733798"/>
                </a:lnTo>
                <a:cubicBezTo>
                  <a:pt x="3967326" y="733803"/>
                  <a:pt x="3967158" y="733808"/>
                  <a:pt x="3966990" y="733861"/>
                </a:cubicBezTo>
                <a:cubicBezTo>
                  <a:pt x="3916715" y="1086726"/>
                  <a:pt x="3635676" y="1367503"/>
                  <a:pt x="3276825" y="1426902"/>
                </a:cubicBezTo>
                <a:lnTo>
                  <a:pt x="3276708" y="1428050"/>
                </a:lnTo>
                <a:cubicBezTo>
                  <a:pt x="3271398" y="1429061"/>
                  <a:pt x="3266069" y="1430009"/>
                  <a:pt x="3260492" y="1429590"/>
                </a:cubicBezTo>
                <a:cubicBezTo>
                  <a:pt x="3229320" y="1435144"/>
                  <a:pt x="3197440" y="1438125"/>
                  <a:pt x="3165065" y="1438652"/>
                </a:cubicBezTo>
                <a:lnTo>
                  <a:pt x="3147947" y="1440278"/>
                </a:lnTo>
                <a:lnTo>
                  <a:pt x="3147921" y="1439783"/>
                </a:lnTo>
                <a:lnTo>
                  <a:pt x="3147422" y="1439816"/>
                </a:lnTo>
                <a:cubicBezTo>
                  <a:pt x="3146856" y="1436014"/>
                  <a:pt x="3146829" y="1432198"/>
                  <a:pt x="3146829" y="1428376"/>
                </a:cubicBezTo>
                <a:cubicBezTo>
                  <a:pt x="3146829" y="1422694"/>
                  <a:pt x="3146887" y="1417025"/>
                  <a:pt x="3148199" y="1411395"/>
                </a:cubicBezTo>
                <a:cubicBezTo>
                  <a:pt x="3148157" y="1380067"/>
                  <a:pt x="3150607" y="1349182"/>
                  <a:pt x="3155663" y="1318938"/>
                </a:cubicBezTo>
                <a:lnTo>
                  <a:pt x="3156204" y="1312248"/>
                </a:lnTo>
                <a:cubicBezTo>
                  <a:pt x="3156372" y="1312243"/>
                  <a:pt x="3156542" y="1312238"/>
                  <a:pt x="3156709" y="1312185"/>
                </a:cubicBezTo>
                <a:cubicBezTo>
                  <a:pt x="3206986" y="959319"/>
                  <a:pt x="3488025" y="678542"/>
                  <a:pt x="3846875" y="619144"/>
                </a:cubicBezTo>
                <a:lnTo>
                  <a:pt x="3846992" y="617996"/>
                </a:lnTo>
                <a:cubicBezTo>
                  <a:pt x="3852301" y="616986"/>
                  <a:pt x="3857629" y="616038"/>
                  <a:pt x="3863205" y="616457"/>
                </a:cubicBezTo>
                <a:cubicBezTo>
                  <a:pt x="3894388" y="610900"/>
                  <a:pt x="3926281" y="607919"/>
                  <a:pt x="3958666" y="607392"/>
                </a:cubicBezTo>
                <a:close/>
                <a:moveTo>
                  <a:pt x="2306354" y="605769"/>
                </a:moveTo>
                <a:lnTo>
                  <a:pt x="2323441" y="607392"/>
                </a:lnTo>
                <a:cubicBezTo>
                  <a:pt x="2355827" y="607919"/>
                  <a:pt x="2387719" y="610900"/>
                  <a:pt x="2418903" y="616457"/>
                </a:cubicBezTo>
                <a:cubicBezTo>
                  <a:pt x="2424479" y="616038"/>
                  <a:pt x="2429807" y="616986"/>
                  <a:pt x="2435115" y="617996"/>
                </a:cubicBezTo>
                <a:lnTo>
                  <a:pt x="2435233" y="619144"/>
                </a:lnTo>
                <a:cubicBezTo>
                  <a:pt x="2794083" y="678542"/>
                  <a:pt x="3075122" y="959319"/>
                  <a:pt x="3125398" y="1312185"/>
                </a:cubicBezTo>
                <a:cubicBezTo>
                  <a:pt x="3125566" y="1312238"/>
                  <a:pt x="3125735" y="1312243"/>
                  <a:pt x="3125904" y="1312248"/>
                </a:cubicBezTo>
                <a:lnTo>
                  <a:pt x="3126444" y="1318938"/>
                </a:lnTo>
                <a:cubicBezTo>
                  <a:pt x="3131501" y="1349182"/>
                  <a:pt x="3133950" y="1380067"/>
                  <a:pt x="3133908" y="1411395"/>
                </a:cubicBezTo>
                <a:cubicBezTo>
                  <a:pt x="3135220" y="1417025"/>
                  <a:pt x="3135279" y="1422694"/>
                  <a:pt x="3135279" y="1428376"/>
                </a:cubicBezTo>
                <a:cubicBezTo>
                  <a:pt x="3135279" y="1432198"/>
                  <a:pt x="3135252" y="1436014"/>
                  <a:pt x="3134686" y="1439816"/>
                </a:cubicBezTo>
                <a:lnTo>
                  <a:pt x="3134187" y="1439783"/>
                </a:lnTo>
                <a:lnTo>
                  <a:pt x="3134161" y="1440278"/>
                </a:lnTo>
                <a:lnTo>
                  <a:pt x="3117042" y="1438652"/>
                </a:lnTo>
                <a:cubicBezTo>
                  <a:pt x="3084668" y="1438125"/>
                  <a:pt x="3052788" y="1435144"/>
                  <a:pt x="3021616" y="1429590"/>
                </a:cubicBezTo>
                <a:cubicBezTo>
                  <a:pt x="3016039" y="1430009"/>
                  <a:pt x="3010710" y="1429061"/>
                  <a:pt x="3005399" y="1428050"/>
                </a:cubicBezTo>
                <a:lnTo>
                  <a:pt x="3005283" y="1426902"/>
                </a:lnTo>
                <a:cubicBezTo>
                  <a:pt x="2646432" y="1367503"/>
                  <a:pt x="2365393" y="1086726"/>
                  <a:pt x="2315117" y="733861"/>
                </a:cubicBezTo>
                <a:cubicBezTo>
                  <a:pt x="2314950" y="733808"/>
                  <a:pt x="2314781" y="733803"/>
                  <a:pt x="2314612" y="733798"/>
                </a:cubicBezTo>
                <a:lnTo>
                  <a:pt x="2314074" y="727122"/>
                </a:lnTo>
                <a:cubicBezTo>
                  <a:pt x="2309015" y="696872"/>
                  <a:pt x="2306564" y="665981"/>
                  <a:pt x="2306606" y="634646"/>
                </a:cubicBezTo>
                <a:cubicBezTo>
                  <a:pt x="2305294" y="629018"/>
                  <a:pt x="2305236" y="623351"/>
                  <a:pt x="2305236" y="617670"/>
                </a:cubicBezTo>
                <a:lnTo>
                  <a:pt x="2305830" y="606230"/>
                </a:lnTo>
                <a:lnTo>
                  <a:pt x="2306328" y="606263"/>
                </a:lnTo>
                <a:close/>
                <a:moveTo>
                  <a:pt x="2283603" y="605769"/>
                </a:moveTo>
                <a:lnTo>
                  <a:pt x="2283629" y="606263"/>
                </a:lnTo>
                <a:lnTo>
                  <a:pt x="2284127" y="606230"/>
                </a:lnTo>
                <a:lnTo>
                  <a:pt x="2284721" y="617670"/>
                </a:lnTo>
                <a:cubicBezTo>
                  <a:pt x="2284721" y="623351"/>
                  <a:pt x="2284662" y="629018"/>
                  <a:pt x="2283350" y="634646"/>
                </a:cubicBezTo>
                <a:cubicBezTo>
                  <a:pt x="2283392" y="665981"/>
                  <a:pt x="2280942" y="696872"/>
                  <a:pt x="2275883" y="727122"/>
                </a:cubicBezTo>
                <a:lnTo>
                  <a:pt x="2275345" y="733798"/>
                </a:lnTo>
                <a:cubicBezTo>
                  <a:pt x="2275175" y="733803"/>
                  <a:pt x="2275007" y="733808"/>
                  <a:pt x="2274839" y="733861"/>
                </a:cubicBezTo>
                <a:cubicBezTo>
                  <a:pt x="2224564" y="1086726"/>
                  <a:pt x="1943525" y="1367503"/>
                  <a:pt x="1584673" y="1426902"/>
                </a:cubicBezTo>
                <a:lnTo>
                  <a:pt x="1584557" y="1428050"/>
                </a:lnTo>
                <a:cubicBezTo>
                  <a:pt x="1579247" y="1429061"/>
                  <a:pt x="1573918" y="1430009"/>
                  <a:pt x="1568341" y="1429590"/>
                </a:cubicBezTo>
                <a:cubicBezTo>
                  <a:pt x="1537169" y="1435144"/>
                  <a:pt x="1505289" y="1438125"/>
                  <a:pt x="1472914" y="1438652"/>
                </a:cubicBezTo>
                <a:lnTo>
                  <a:pt x="1455796" y="1440278"/>
                </a:lnTo>
                <a:lnTo>
                  <a:pt x="1455770" y="1439783"/>
                </a:lnTo>
                <a:lnTo>
                  <a:pt x="1455271" y="1439816"/>
                </a:lnTo>
                <a:cubicBezTo>
                  <a:pt x="1454705" y="1436014"/>
                  <a:pt x="1454678" y="1432198"/>
                  <a:pt x="1454678" y="1428376"/>
                </a:cubicBezTo>
                <a:cubicBezTo>
                  <a:pt x="1454678" y="1422694"/>
                  <a:pt x="1454736" y="1417025"/>
                  <a:pt x="1456048" y="1411395"/>
                </a:cubicBezTo>
                <a:cubicBezTo>
                  <a:pt x="1456006" y="1380067"/>
                  <a:pt x="1458456" y="1349182"/>
                  <a:pt x="1463513" y="1318938"/>
                </a:cubicBezTo>
                <a:lnTo>
                  <a:pt x="1464053" y="1312248"/>
                </a:lnTo>
                <a:cubicBezTo>
                  <a:pt x="1464221" y="1312243"/>
                  <a:pt x="1464391" y="1312238"/>
                  <a:pt x="1464558" y="1312185"/>
                </a:cubicBezTo>
                <a:cubicBezTo>
                  <a:pt x="1514835" y="959319"/>
                  <a:pt x="1795874" y="678542"/>
                  <a:pt x="2154724" y="619144"/>
                </a:cubicBezTo>
                <a:lnTo>
                  <a:pt x="2154841" y="617996"/>
                </a:lnTo>
                <a:cubicBezTo>
                  <a:pt x="2160150" y="616986"/>
                  <a:pt x="2165478" y="616038"/>
                  <a:pt x="2171054" y="616457"/>
                </a:cubicBezTo>
                <a:cubicBezTo>
                  <a:pt x="2202237" y="610900"/>
                  <a:pt x="2234130" y="607919"/>
                  <a:pt x="2266515" y="607392"/>
                </a:cubicBezTo>
                <a:close/>
                <a:moveTo>
                  <a:pt x="614203" y="605769"/>
                </a:moveTo>
                <a:lnTo>
                  <a:pt x="631290" y="607392"/>
                </a:lnTo>
                <a:cubicBezTo>
                  <a:pt x="663676" y="607919"/>
                  <a:pt x="695568" y="610900"/>
                  <a:pt x="726752" y="616457"/>
                </a:cubicBezTo>
                <a:cubicBezTo>
                  <a:pt x="732328" y="616038"/>
                  <a:pt x="737656" y="616986"/>
                  <a:pt x="742964" y="617996"/>
                </a:cubicBezTo>
                <a:lnTo>
                  <a:pt x="743081" y="619144"/>
                </a:lnTo>
                <a:cubicBezTo>
                  <a:pt x="1101932" y="678542"/>
                  <a:pt x="1382971" y="959319"/>
                  <a:pt x="1433247" y="1312185"/>
                </a:cubicBezTo>
                <a:cubicBezTo>
                  <a:pt x="1433415" y="1312238"/>
                  <a:pt x="1433584" y="1312243"/>
                  <a:pt x="1433753" y="1312248"/>
                </a:cubicBezTo>
                <a:lnTo>
                  <a:pt x="1434293" y="1318938"/>
                </a:lnTo>
                <a:cubicBezTo>
                  <a:pt x="1439350" y="1349182"/>
                  <a:pt x="1441799" y="1380067"/>
                  <a:pt x="1441757" y="1411395"/>
                </a:cubicBezTo>
                <a:cubicBezTo>
                  <a:pt x="1443069" y="1417025"/>
                  <a:pt x="1443128" y="1422694"/>
                  <a:pt x="1443128" y="1428376"/>
                </a:cubicBezTo>
                <a:cubicBezTo>
                  <a:pt x="1443128" y="1432198"/>
                  <a:pt x="1443101" y="1436014"/>
                  <a:pt x="1442535" y="1439816"/>
                </a:cubicBezTo>
                <a:lnTo>
                  <a:pt x="1442036" y="1439783"/>
                </a:lnTo>
                <a:lnTo>
                  <a:pt x="1442010" y="1440278"/>
                </a:lnTo>
                <a:lnTo>
                  <a:pt x="1424891" y="1438652"/>
                </a:lnTo>
                <a:cubicBezTo>
                  <a:pt x="1392517" y="1438125"/>
                  <a:pt x="1360637" y="1435144"/>
                  <a:pt x="1329465" y="1429590"/>
                </a:cubicBezTo>
                <a:cubicBezTo>
                  <a:pt x="1323888" y="1430009"/>
                  <a:pt x="1318559" y="1429061"/>
                  <a:pt x="1313248" y="1428050"/>
                </a:cubicBezTo>
                <a:lnTo>
                  <a:pt x="1313132" y="1426902"/>
                </a:lnTo>
                <a:cubicBezTo>
                  <a:pt x="954281" y="1367503"/>
                  <a:pt x="673242" y="1086726"/>
                  <a:pt x="622966" y="733861"/>
                </a:cubicBezTo>
                <a:cubicBezTo>
                  <a:pt x="622799" y="733808"/>
                  <a:pt x="622630" y="733803"/>
                  <a:pt x="622461" y="733798"/>
                </a:cubicBezTo>
                <a:lnTo>
                  <a:pt x="621923" y="727122"/>
                </a:lnTo>
                <a:cubicBezTo>
                  <a:pt x="616864" y="696872"/>
                  <a:pt x="614413" y="665981"/>
                  <a:pt x="614455" y="634646"/>
                </a:cubicBezTo>
                <a:cubicBezTo>
                  <a:pt x="613143" y="629018"/>
                  <a:pt x="613085" y="623351"/>
                  <a:pt x="613085" y="617670"/>
                </a:cubicBezTo>
                <a:lnTo>
                  <a:pt x="613679" y="606230"/>
                </a:lnTo>
                <a:lnTo>
                  <a:pt x="614177" y="606263"/>
                </a:lnTo>
                <a:close/>
                <a:moveTo>
                  <a:pt x="7360056" y="605769"/>
                </a:moveTo>
                <a:lnTo>
                  <a:pt x="7360082" y="606263"/>
                </a:lnTo>
                <a:lnTo>
                  <a:pt x="7360580" y="606230"/>
                </a:lnTo>
                <a:lnTo>
                  <a:pt x="7361174" y="617670"/>
                </a:lnTo>
                <a:cubicBezTo>
                  <a:pt x="7361174" y="623351"/>
                  <a:pt x="7361116" y="629018"/>
                  <a:pt x="7359804" y="634646"/>
                </a:cubicBezTo>
                <a:cubicBezTo>
                  <a:pt x="7359846" y="665981"/>
                  <a:pt x="7357395" y="696872"/>
                  <a:pt x="7352337" y="727122"/>
                </a:cubicBezTo>
                <a:lnTo>
                  <a:pt x="7351798" y="733798"/>
                </a:lnTo>
                <a:cubicBezTo>
                  <a:pt x="7351629" y="733803"/>
                  <a:pt x="7351460" y="733808"/>
                  <a:pt x="7351293" y="733861"/>
                </a:cubicBezTo>
                <a:cubicBezTo>
                  <a:pt x="7301017" y="1086726"/>
                  <a:pt x="7019978" y="1367503"/>
                  <a:pt x="6661127" y="1426902"/>
                </a:cubicBezTo>
                <a:lnTo>
                  <a:pt x="6661011" y="1428050"/>
                </a:lnTo>
                <a:cubicBezTo>
                  <a:pt x="6655700" y="1429061"/>
                  <a:pt x="6650371" y="1430009"/>
                  <a:pt x="6644794" y="1429590"/>
                </a:cubicBezTo>
                <a:cubicBezTo>
                  <a:pt x="6613622" y="1435144"/>
                  <a:pt x="6581742" y="1438125"/>
                  <a:pt x="6549368" y="1438652"/>
                </a:cubicBezTo>
                <a:lnTo>
                  <a:pt x="6532249" y="1440278"/>
                </a:lnTo>
                <a:lnTo>
                  <a:pt x="6532223" y="1439783"/>
                </a:lnTo>
                <a:lnTo>
                  <a:pt x="6531724" y="1439816"/>
                </a:lnTo>
                <a:cubicBezTo>
                  <a:pt x="6531158" y="1436014"/>
                  <a:pt x="6531131" y="1432198"/>
                  <a:pt x="6531131" y="1428376"/>
                </a:cubicBezTo>
                <a:cubicBezTo>
                  <a:pt x="6531131" y="1422694"/>
                  <a:pt x="6531190" y="1417025"/>
                  <a:pt x="6532502" y="1411395"/>
                </a:cubicBezTo>
                <a:cubicBezTo>
                  <a:pt x="6532460" y="1380067"/>
                  <a:pt x="6534909" y="1349182"/>
                  <a:pt x="6539966" y="1318938"/>
                </a:cubicBezTo>
                <a:lnTo>
                  <a:pt x="6540506" y="1312248"/>
                </a:lnTo>
                <a:cubicBezTo>
                  <a:pt x="6540675" y="1312243"/>
                  <a:pt x="6540844" y="1312238"/>
                  <a:pt x="6541012" y="1312185"/>
                </a:cubicBezTo>
                <a:cubicBezTo>
                  <a:pt x="6591288" y="959319"/>
                  <a:pt x="6872327" y="678542"/>
                  <a:pt x="7231178" y="619144"/>
                </a:cubicBezTo>
                <a:lnTo>
                  <a:pt x="7231295" y="617996"/>
                </a:lnTo>
                <a:cubicBezTo>
                  <a:pt x="7236603" y="616986"/>
                  <a:pt x="7241931" y="616038"/>
                  <a:pt x="7247507" y="616457"/>
                </a:cubicBezTo>
                <a:cubicBezTo>
                  <a:pt x="7278691" y="610900"/>
                  <a:pt x="7310583" y="607919"/>
                  <a:pt x="7342969" y="607392"/>
                </a:cubicBezTo>
                <a:close/>
                <a:moveTo>
                  <a:pt x="591452" y="605769"/>
                </a:moveTo>
                <a:lnTo>
                  <a:pt x="591478" y="606263"/>
                </a:lnTo>
                <a:lnTo>
                  <a:pt x="591976" y="606230"/>
                </a:lnTo>
                <a:lnTo>
                  <a:pt x="592570" y="617670"/>
                </a:lnTo>
                <a:cubicBezTo>
                  <a:pt x="592570" y="623351"/>
                  <a:pt x="592511" y="629018"/>
                  <a:pt x="591199" y="634646"/>
                </a:cubicBezTo>
                <a:cubicBezTo>
                  <a:pt x="591242" y="665981"/>
                  <a:pt x="588791" y="696872"/>
                  <a:pt x="583732" y="727122"/>
                </a:cubicBezTo>
                <a:lnTo>
                  <a:pt x="583194" y="733798"/>
                </a:lnTo>
                <a:cubicBezTo>
                  <a:pt x="583024" y="733803"/>
                  <a:pt x="582856" y="733808"/>
                  <a:pt x="582689" y="733861"/>
                </a:cubicBezTo>
                <a:cubicBezTo>
                  <a:pt x="537576" y="1050490"/>
                  <a:pt x="306662" y="1309076"/>
                  <a:pt x="0" y="1400276"/>
                </a:cubicBezTo>
                <a:lnTo>
                  <a:pt x="0" y="1267938"/>
                </a:lnTo>
                <a:cubicBezTo>
                  <a:pt x="229298" y="1185101"/>
                  <a:pt x="402181" y="989705"/>
                  <a:pt x="449203" y="750600"/>
                </a:cubicBezTo>
                <a:cubicBezTo>
                  <a:pt x="258971" y="791484"/>
                  <a:pt x="97576" y="906749"/>
                  <a:pt x="0" y="1064489"/>
                </a:cubicBezTo>
                <a:lnTo>
                  <a:pt x="0" y="857695"/>
                </a:lnTo>
                <a:cubicBezTo>
                  <a:pt x="121484" y="734788"/>
                  <a:pt x="282199" y="649000"/>
                  <a:pt x="462573" y="619144"/>
                </a:cubicBezTo>
                <a:lnTo>
                  <a:pt x="462690" y="617996"/>
                </a:lnTo>
                <a:cubicBezTo>
                  <a:pt x="467999" y="616986"/>
                  <a:pt x="473327" y="616038"/>
                  <a:pt x="478903" y="616457"/>
                </a:cubicBezTo>
                <a:cubicBezTo>
                  <a:pt x="510086" y="610900"/>
                  <a:pt x="541979" y="607919"/>
                  <a:pt x="574365" y="607392"/>
                </a:cubicBezTo>
                <a:close/>
                <a:moveTo>
                  <a:pt x="11969013" y="0"/>
                </a:moveTo>
                <a:lnTo>
                  <a:pt x="12180097" y="0"/>
                </a:lnTo>
                <a:cubicBezTo>
                  <a:pt x="12184579" y="2797"/>
                  <a:pt x="12188307" y="6390"/>
                  <a:pt x="12192000" y="10016"/>
                </a:cubicBezTo>
                <a:lnTo>
                  <a:pt x="12192000" y="210008"/>
                </a:lnTo>
                <a:cubicBezTo>
                  <a:pt x="12135666" y="124006"/>
                  <a:pt x="12059786" y="51396"/>
                  <a:pt x="11969013" y="0"/>
                </a:cubicBezTo>
                <a:close/>
                <a:moveTo>
                  <a:pt x="11640695" y="0"/>
                </a:moveTo>
                <a:lnTo>
                  <a:pt x="11775234" y="0"/>
                </a:lnTo>
                <a:cubicBezTo>
                  <a:pt x="11842228" y="193636"/>
                  <a:pt x="11995970" y="348667"/>
                  <a:pt x="12192000" y="421829"/>
                </a:cubicBezTo>
                <a:lnTo>
                  <a:pt x="12192000" y="553832"/>
                </a:lnTo>
                <a:cubicBezTo>
                  <a:pt x="11924422" y="471599"/>
                  <a:pt x="11715712" y="262771"/>
                  <a:pt x="11640695" y="0"/>
                </a:cubicBezTo>
                <a:close/>
                <a:moveTo>
                  <a:pt x="11023379" y="0"/>
                </a:moveTo>
                <a:lnTo>
                  <a:pt x="11232088" y="0"/>
                </a:lnTo>
                <a:cubicBezTo>
                  <a:pt x="11066618" y="98005"/>
                  <a:pt x="10947209" y="260867"/>
                  <a:pt x="10909358" y="451830"/>
                </a:cubicBezTo>
                <a:cubicBezTo>
                  <a:pt x="11153410" y="399791"/>
                  <a:pt x="11350000" y="226290"/>
                  <a:pt x="11427896" y="0"/>
                </a:cubicBezTo>
                <a:lnTo>
                  <a:pt x="11561912" y="0"/>
                </a:lnTo>
                <a:cubicBezTo>
                  <a:pt x="11477134" y="299826"/>
                  <a:pt x="11217862" y="529393"/>
                  <a:pt x="10895987" y="582253"/>
                </a:cubicBezTo>
                <a:lnTo>
                  <a:pt x="10895871" y="583392"/>
                </a:lnTo>
                <a:cubicBezTo>
                  <a:pt x="10890560" y="584395"/>
                  <a:pt x="10885231" y="585336"/>
                  <a:pt x="10879654" y="584920"/>
                </a:cubicBezTo>
                <a:cubicBezTo>
                  <a:pt x="10848482" y="590430"/>
                  <a:pt x="10816602" y="593388"/>
                  <a:pt x="10784227" y="593911"/>
                </a:cubicBezTo>
                <a:lnTo>
                  <a:pt x="10767109" y="595524"/>
                </a:lnTo>
                <a:lnTo>
                  <a:pt x="10767083" y="595033"/>
                </a:lnTo>
                <a:lnTo>
                  <a:pt x="10766584" y="595066"/>
                </a:lnTo>
                <a:cubicBezTo>
                  <a:pt x="10766018" y="591293"/>
                  <a:pt x="10765991" y="587507"/>
                  <a:pt x="10765991" y="583715"/>
                </a:cubicBezTo>
                <a:cubicBezTo>
                  <a:pt x="10765991" y="578078"/>
                  <a:pt x="10766050" y="572454"/>
                  <a:pt x="10767362" y="566868"/>
                </a:cubicBezTo>
                <a:cubicBezTo>
                  <a:pt x="10767319" y="535786"/>
                  <a:pt x="10769769" y="505143"/>
                  <a:pt x="10774826" y="475137"/>
                </a:cubicBezTo>
                <a:lnTo>
                  <a:pt x="10775366" y="468500"/>
                </a:lnTo>
                <a:cubicBezTo>
                  <a:pt x="10775535" y="468495"/>
                  <a:pt x="10775704" y="468490"/>
                  <a:pt x="10775872" y="468437"/>
                </a:cubicBezTo>
                <a:cubicBezTo>
                  <a:pt x="10802174" y="285283"/>
                  <a:pt x="10891635" y="121704"/>
                  <a:pt x="11023379" y="0"/>
                </a:cubicBezTo>
                <a:close/>
                <a:moveTo>
                  <a:pt x="9949555" y="0"/>
                </a:moveTo>
                <a:lnTo>
                  <a:pt x="10083571" y="0"/>
                </a:lnTo>
                <a:cubicBezTo>
                  <a:pt x="10161467" y="226290"/>
                  <a:pt x="10358057" y="399791"/>
                  <a:pt x="10602109" y="451830"/>
                </a:cubicBezTo>
                <a:cubicBezTo>
                  <a:pt x="10564258" y="260867"/>
                  <a:pt x="10444849" y="98005"/>
                  <a:pt x="10279379" y="0"/>
                </a:cubicBezTo>
                <a:lnTo>
                  <a:pt x="10488089" y="0"/>
                </a:lnTo>
                <a:cubicBezTo>
                  <a:pt x="10619833" y="121704"/>
                  <a:pt x="10709293" y="285283"/>
                  <a:pt x="10735596" y="468437"/>
                </a:cubicBezTo>
                <a:cubicBezTo>
                  <a:pt x="10735763" y="468490"/>
                  <a:pt x="10735932" y="468495"/>
                  <a:pt x="10736101" y="468500"/>
                </a:cubicBezTo>
                <a:lnTo>
                  <a:pt x="10736641" y="475137"/>
                </a:lnTo>
                <a:cubicBezTo>
                  <a:pt x="10741698" y="505143"/>
                  <a:pt x="10744148" y="535786"/>
                  <a:pt x="10744105" y="566868"/>
                </a:cubicBezTo>
                <a:cubicBezTo>
                  <a:pt x="10745417" y="572454"/>
                  <a:pt x="10745476" y="578078"/>
                  <a:pt x="10745476" y="583715"/>
                </a:cubicBezTo>
                <a:cubicBezTo>
                  <a:pt x="10745476" y="587507"/>
                  <a:pt x="10745449" y="591293"/>
                  <a:pt x="10744883" y="595066"/>
                </a:cubicBezTo>
                <a:lnTo>
                  <a:pt x="10744384" y="595033"/>
                </a:lnTo>
                <a:lnTo>
                  <a:pt x="10744358" y="595524"/>
                </a:lnTo>
                <a:lnTo>
                  <a:pt x="10727240" y="593911"/>
                </a:lnTo>
                <a:cubicBezTo>
                  <a:pt x="10694865" y="593388"/>
                  <a:pt x="10662985" y="590430"/>
                  <a:pt x="10631813" y="584920"/>
                </a:cubicBezTo>
                <a:cubicBezTo>
                  <a:pt x="10626236" y="585336"/>
                  <a:pt x="10620907" y="584395"/>
                  <a:pt x="10615596" y="583392"/>
                </a:cubicBezTo>
                <a:lnTo>
                  <a:pt x="10615480" y="582253"/>
                </a:lnTo>
                <a:cubicBezTo>
                  <a:pt x="10293605" y="529393"/>
                  <a:pt x="10034333" y="299826"/>
                  <a:pt x="9949555" y="0"/>
                </a:cubicBezTo>
                <a:close/>
                <a:moveTo>
                  <a:pt x="9331225" y="0"/>
                </a:moveTo>
                <a:lnTo>
                  <a:pt x="9539935" y="0"/>
                </a:lnTo>
                <a:cubicBezTo>
                  <a:pt x="9374465" y="98005"/>
                  <a:pt x="9255056" y="260867"/>
                  <a:pt x="9217205" y="451830"/>
                </a:cubicBezTo>
                <a:cubicBezTo>
                  <a:pt x="9461257" y="399791"/>
                  <a:pt x="9657847" y="226290"/>
                  <a:pt x="9735743" y="0"/>
                </a:cubicBezTo>
                <a:lnTo>
                  <a:pt x="9869759" y="0"/>
                </a:lnTo>
                <a:cubicBezTo>
                  <a:pt x="9784981" y="299826"/>
                  <a:pt x="9525709" y="529393"/>
                  <a:pt x="9203834" y="582253"/>
                </a:cubicBezTo>
                <a:lnTo>
                  <a:pt x="9203718" y="583392"/>
                </a:lnTo>
                <a:cubicBezTo>
                  <a:pt x="9198407" y="584395"/>
                  <a:pt x="9193078" y="585336"/>
                  <a:pt x="9187501" y="584920"/>
                </a:cubicBezTo>
                <a:cubicBezTo>
                  <a:pt x="9156329" y="590430"/>
                  <a:pt x="9124449" y="593388"/>
                  <a:pt x="9092074" y="593911"/>
                </a:cubicBezTo>
                <a:lnTo>
                  <a:pt x="9074956" y="595524"/>
                </a:lnTo>
                <a:lnTo>
                  <a:pt x="9074930" y="595033"/>
                </a:lnTo>
                <a:lnTo>
                  <a:pt x="9074431" y="595066"/>
                </a:lnTo>
                <a:cubicBezTo>
                  <a:pt x="9073865" y="591293"/>
                  <a:pt x="9073838" y="587507"/>
                  <a:pt x="9073838" y="583715"/>
                </a:cubicBezTo>
                <a:cubicBezTo>
                  <a:pt x="9073838" y="578078"/>
                  <a:pt x="9073897" y="572454"/>
                  <a:pt x="9075209" y="566868"/>
                </a:cubicBezTo>
                <a:cubicBezTo>
                  <a:pt x="9075166" y="535786"/>
                  <a:pt x="9077616" y="505143"/>
                  <a:pt x="9082673" y="475137"/>
                </a:cubicBezTo>
                <a:lnTo>
                  <a:pt x="9083213" y="468500"/>
                </a:lnTo>
                <a:cubicBezTo>
                  <a:pt x="9083382" y="468495"/>
                  <a:pt x="9083551" y="468490"/>
                  <a:pt x="9083718" y="468437"/>
                </a:cubicBezTo>
                <a:cubicBezTo>
                  <a:pt x="9110021" y="285283"/>
                  <a:pt x="9199481" y="121704"/>
                  <a:pt x="9331225" y="0"/>
                </a:cubicBezTo>
                <a:close/>
                <a:moveTo>
                  <a:pt x="8257405" y="0"/>
                </a:moveTo>
                <a:lnTo>
                  <a:pt x="8391420" y="0"/>
                </a:lnTo>
                <a:cubicBezTo>
                  <a:pt x="8469316" y="226290"/>
                  <a:pt x="8665906" y="399791"/>
                  <a:pt x="8909958" y="451830"/>
                </a:cubicBezTo>
                <a:cubicBezTo>
                  <a:pt x="8872107" y="260867"/>
                  <a:pt x="8752698" y="98005"/>
                  <a:pt x="8587228" y="0"/>
                </a:cubicBezTo>
                <a:lnTo>
                  <a:pt x="8795937" y="0"/>
                </a:lnTo>
                <a:cubicBezTo>
                  <a:pt x="8927681" y="121704"/>
                  <a:pt x="9017142" y="285283"/>
                  <a:pt x="9043444" y="468437"/>
                </a:cubicBezTo>
                <a:cubicBezTo>
                  <a:pt x="9043612" y="468490"/>
                  <a:pt x="9043781" y="468495"/>
                  <a:pt x="9043950" y="468500"/>
                </a:cubicBezTo>
                <a:lnTo>
                  <a:pt x="9044490" y="475137"/>
                </a:lnTo>
                <a:cubicBezTo>
                  <a:pt x="9049547" y="505143"/>
                  <a:pt x="9051997" y="535786"/>
                  <a:pt x="9051954" y="566868"/>
                </a:cubicBezTo>
                <a:cubicBezTo>
                  <a:pt x="9053266" y="572454"/>
                  <a:pt x="9053325" y="578078"/>
                  <a:pt x="9053325" y="583715"/>
                </a:cubicBezTo>
                <a:cubicBezTo>
                  <a:pt x="9053325" y="587507"/>
                  <a:pt x="9053298" y="591293"/>
                  <a:pt x="9052732" y="595066"/>
                </a:cubicBezTo>
                <a:lnTo>
                  <a:pt x="9052233" y="595033"/>
                </a:lnTo>
                <a:lnTo>
                  <a:pt x="9052207" y="595524"/>
                </a:lnTo>
                <a:lnTo>
                  <a:pt x="9035089" y="593911"/>
                </a:lnTo>
                <a:cubicBezTo>
                  <a:pt x="9002714" y="593388"/>
                  <a:pt x="8970834" y="590430"/>
                  <a:pt x="8939662" y="584920"/>
                </a:cubicBezTo>
                <a:cubicBezTo>
                  <a:pt x="8934085" y="585336"/>
                  <a:pt x="8928756" y="584395"/>
                  <a:pt x="8923445" y="583392"/>
                </a:cubicBezTo>
                <a:lnTo>
                  <a:pt x="8923329" y="582253"/>
                </a:lnTo>
                <a:cubicBezTo>
                  <a:pt x="8601454" y="529393"/>
                  <a:pt x="8342182" y="299826"/>
                  <a:pt x="8257405" y="0"/>
                </a:cubicBezTo>
                <a:close/>
                <a:moveTo>
                  <a:pt x="7639075" y="0"/>
                </a:moveTo>
                <a:lnTo>
                  <a:pt x="7847784" y="0"/>
                </a:lnTo>
                <a:cubicBezTo>
                  <a:pt x="7682314" y="98005"/>
                  <a:pt x="7562905" y="260867"/>
                  <a:pt x="7525054" y="451830"/>
                </a:cubicBezTo>
                <a:cubicBezTo>
                  <a:pt x="7769107" y="399791"/>
                  <a:pt x="7965696" y="226290"/>
                  <a:pt x="8043592" y="0"/>
                </a:cubicBezTo>
                <a:lnTo>
                  <a:pt x="8177609" y="0"/>
                </a:lnTo>
                <a:cubicBezTo>
                  <a:pt x="8092830" y="299826"/>
                  <a:pt x="7833558" y="529393"/>
                  <a:pt x="7511683" y="582253"/>
                </a:cubicBezTo>
                <a:lnTo>
                  <a:pt x="7511567" y="583392"/>
                </a:lnTo>
                <a:cubicBezTo>
                  <a:pt x="7506256" y="584395"/>
                  <a:pt x="7500927" y="585336"/>
                  <a:pt x="7495350" y="584920"/>
                </a:cubicBezTo>
                <a:cubicBezTo>
                  <a:pt x="7464178" y="590430"/>
                  <a:pt x="7432298" y="593388"/>
                  <a:pt x="7399924" y="593911"/>
                </a:cubicBezTo>
                <a:lnTo>
                  <a:pt x="7382805" y="595524"/>
                </a:lnTo>
                <a:lnTo>
                  <a:pt x="7382779" y="595033"/>
                </a:lnTo>
                <a:lnTo>
                  <a:pt x="7382280" y="595066"/>
                </a:lnTo>
                <a:cubicBezTo>
                  <a:pt x="7381714" y="591293"/>
                  <a:pt x="7381687" y="587507"/>
                  <a:pt x="7381687" y="583715"/>
                </a:cubicBezTo>
                <a:cubicBezTo>
                  <a:pt x="7381687" y="578078"/>
                  <a:pt x="7381746" y="572454"/>
                  <a:pt x="7383058" y="566868"/>
                </a:cubicBezTo>
                <a:cubicBezTo>
                  <a:pt x="7383016" y="535786"/>
                  <a:pt x="7385465" y="505143"/>
                  <a:pt x="7390522" y="475137"/>
                </a:cubicBezTo>
                <a:lnTo>
                  <a:pt x="7391062" y="468500"/>
                </a:lnTo>
                <a:cubicBezTo>
                  <a:pt x="7391231" y="468495"/>
                  <a:pt x="7391400" y="468490"/>
                  <a:pt x="7391568" y="468437"/>
                </a:cubicBezTo>
                <a:cubicBezTo>
                  <a:pt x="7417870" y="285283"/>
                  <a:pt x="7507331" y="121703"/>
                  <a:pt x="7639075" y="0"/>
                </a:cubicBezTo>
                <a:close/>
                <a:moveTo>
                  <a:pt x="6565254" y="0"/>
                </a:moveTo>
                <a:lnTo>
                  <a:pt x="6699270" y="0"/>
                </a:lnTo>
                <a:cubicBezTo>
                  <a:pt x="6777166" y="226290"/>
                  <a:pt x="6973755" y="399791"/>
                  <a:pt x="7217807" y="451830"/>
                </a:cubicBezTo>
                <a:cubicBezTo>
                  <a:pt x="7179956" y="260867"/>
                  <a:pt x="7060547" y="98005"/>
                  <a:pt x="6895077" y="0"/>
                </a:cubicBezTo>
                <a:lnTo>
                  <a:pt x="7103787" y="0"/>
                </a:lnTo>
                <a:cubicBezTo>
                  <a:pt x="7235531" y="121704"/>
                  <a:pt x="7324992" y="285283"/>
                  <a:pt x="7351294" y="468437"/>
                </a:cubicBezTo>
                <a:cubicBezTo>
                  <a:pt x="7351461" y="468490"/>
                  <a:pt x="7351631" y="468495"/>
                  <a:pt x="7351799" y="468500"/>
                </a:cubicBezTo>
                <a:lnTo>
                  <a:pt x="7352340" y="475137"/>
                </a:lnTo>
                <a:cubicBezTo>
                  <a:pt x="7357396" y="505143"/>
                  <a:pt x="7359846" y="535786"/>
                  <a:pt x="7359804" y="566868"/>
                </a:cubicBezTo>
                <a:cubicBezTo>
                  <a:pt x="7361116" y="572454"/>
                  <a:pt x="7361174" y="578078"/>
                  <a:pt x="7361174" y="583715"/>
                </a:cubicBezTo>
                <a:cubicBezTo>
                  <a:pt x="7361174" y="587507"/>
                  <a:pt x="7361147" y="591293"/>
                  <a:pt x="7360581" y="595066"/>
                </a:cubicBezTo>
                <a:lnTo>
                  <a:pt x="7360082" y="595033"/>
                </a:lnTo>
                <a:lnTo>
                  <a:pt x="7360056" y="595524"/>
                </a:lnTo>
                <a:lnTo>
                  <a:pt x="7342938" y="593911"/>
                </a:lnTo>
                <a:cubicBezTo>
                  <a:pt x="7310564" y="593388"/>
                  <a:pt x="7278683" y="590430"/>
                  <a:pt x="7247511" y="584920"/>
                </a:cubicBezTo>
                <a:cubicBezTo>
                  <a:pt x="7241934" y="585336"/>
                  <a:pt x="7236605" y="584395"/>
                  <a:pt x="7231295" y="583392"/>
                </a:cubicBezTo>
                <a:lnTo>
                  <a:pt x="7231179" y="582253"/>
                </a:lnTo>
                <a:cubicBezTo>
                  <a:pt x="6909304" y="529393"/>
                  <a:pt x="6650032" y="299826"/>
                  <a:pt x="6565254" y="0"/>
                </a:cubicBezTo>
                <a:close/>
                <a:moveTo>
                  <a:pt x="5946924" y="0"/>
                </a:moveTo>
                <a:lnTo>
                  <a:pt x="6155633" y="0"/>
                </a:lnTo>
                <a:cubicBezTo>
                  <a:pt x="5990163" y="98005"/>
                  <a:pt x="5870754" y="260867"/>
                  <a:pt x="5832903" y="451830"/>
                </a:cubicBezTo>
                <a:cubicBezTo>
                  <a:pt x="6076956" y="399791"/>
                  <a:pt x="6273545" y="226290"/>
                  <a:pt x="6351441" y="0"/>
                </a:cubicBezTo>
                <a:lnTo>
                  <a:pt x="6485457" y="0"/>
                </a:lnTo>
                <a:cubicBezTo>
                  <a:pt x="6400679" y="299826"/>
                  <a:pt x="6141407" y="529393"/>
                  <a:pt x="5819531" y="582253"/>
                </a:cubicBezTo>
                <a:lnTo>
                  <a:pt x="5819415" y="583392"/>
                </a:lnTo>
                <a:cubicBezTo>
                  <a:pt x="5814105" y="584395"/>
                  <a:pt x="5808776" y="585336"/>
                  <a:pt x="5803199" y="584920"/>
                </a:cubicBezTo>
                <a:cubicBezTo>
                  <a:pt x="5772027" y="590430"/>
                  <a:pt x="5740146" y="593388"/>
                  <a:pt x="5707772" y="593911"/>
                </a:cubicBezTo>
                <a:lnTo>
                  <a:pt x="5690654" y="595524"/>
                </a:lnTo>
                <a:lnTo>
                  <a:pt x="5690628" y="595033"/>
                </a:lnTo>
                <a:lnTo>
                  <a:pt x="5690129" y="595066"/>
                </a:lnTo>
                <a:cubicBezTo>
                  <a:pt x="5689563" y="591293"/>
                  <a:pt x="5689536" y="587507"/>
                  <a:pt x="5689536" y="583715"/>
                </a:cubicBezTo>
                <a:cubicBezTo>
                  <a:pt x="5689536" y="578078"/>
                  <a:pt x="5689594" y="572454"/>
                  <a:pt x="5690906" y="566868"/>
                </a:cubicBezTo>
                <a:cubicBezTo>
                  <a:pt x="5690864" y="535786"/>
                  <a:pt x="5693314" y="505143"/>
                  <a:pt x="5698370" y="475137"/>
                </a:cubicBezTo>
                <a:lnTo>
                  <a:pt x="5698911" y="468500"/>
                </a:lnTo>
                <a:cubicBezTo>
                  <a:pt x="5699079" y="468495"/>
                  <a:pt x="5699249" y="468490"/>
                  <a:pt x="5699416" y="468437"/>
                </a:cubicBezTo>
                <a:cubicBezTo>
                  <a:pt x="5725719" y="285283"/>
                  <a:pt x="5815180" y="121704"/>
                  <a:pt x="5946924" y="0"/>
                </a:cubicBezTo>
                <a:close/>
                <a:moveTo>
                  <a:pt x="4873102" y="0"/>
                </a:moveTo>
                <a:lnTo>
                  <a:pt x="5007119" y="0"/>
                </a:lnTo>
                <a:cubicBezTo>
                  <a:pt x="5085015" y="226291"/>
                  <a:pt x="5281604" y="399791"/>
                  <a:pt x="5525656" y="451830"/>
                </a:cubicBezTo>
                <a:cubicBezTo>
                  <a:pt x="5487805" y="260867"/>
                  <a:pt x="5368397" y="98005"/>
                  <a:pt x="5202927" y="0"/>
                </a:cubicBezTo>
                <a:lnTo>
                  <a:pt x="5411635" y="0"/>
                </a:lnTo>
                <a:cubicBezTo>
                  <a:pt x="5543380" y="121703"/>
                  <a:pt x="5632840" y="285283"/>
                  <a:pt x="5659142" y="468437"/>
                </a:cubicBezTo>
                <a:cubicBezTo>
                  <a:pt x="5659310" y="468490"/>
                  <a:pt x="5659479" y="468495"/>
                  <a:pt x="5659648" y="468499"/>
                </a:cubicBezTo>
                <a:lnTo>
                  <a:pt x="5660188" y="475137"/>
                </a:lnTo>
                <a:cubicBezTo>
                  <a:pt x="5665245" y="505143"/>
                  <a:pt x="5667694" y="535786"/>
                  <a:pt x="5667652" y="566868"/>
                </a:cubicBezTo>
                <a:cubicBezTo>
                  <a:pt x="5668964" y="572454"/>
                  <a:pt x="5669023" y="578078"/>
                  <a:pt x="5669023" y="583715"/>
                </a:cubicBezTo>
                <a:cubicBezTo>
                  <a:pt x="5669023" y="587508"/>
                  <a:pt x="5668996" y="591293"/>
                  <a:pt x="5668430" y="595066"/>
                </a:cubicBezTo>
                <a:lnTo>
                  <a:pt x="5667931" y="595033"/>
                </a:lnTo>
                <a:lnTo>
                  <a:pt x="5667905" y="595524"/>
                </a:lnTo>
                <a:lnTo>
                  <a:pt x="5650786" y="593911"/>
                </a:lnTo>
                <a:cubicBezTo>
                  <a:pt x="5618412" y="593388"/>
                  <a:pt x="5586532" y="590430"/>
                  <a:pt x="5555360" y="584920"/>
                </a:cubicBezTo>
                <a:cubicBezTo>
                  <a:pt x="5549783" y="585336"/>
                  <a:pt x="5544454" y="584395"/>
                  <a:pt x="5539143" y="583392"/>
                </a:cubicBezTo>
                <a:lnTo>
                  <a:pt x="5539027" y="582253"/>
                </a:lnTo>
                <a:cubicBezTo>
                  <a:pt x="5217153" y="529393"/>
                  <a:pt x="4957881" y="299826"/>
                  <a:pt x="4873102" y="0"/>
                </a:cubicBezTo>
                <a:close/>
                <a:moveTo>
                  <a:pt x="4254773" y="0"/>
                </a:moveTo>
                <a:lnTo>
                  <a:pt x="4463482" y="0"/>
                </a:lnTo>
                <a:cubicBezTo>
                  <a:pt x="4298012" y="98005"/>
                  <a:pt x="4178603" y="260867"/>
                  <a:pt x="4140752" y="451830"/>
                </a:cubicBezTo>
                <a:cubicBezTo>
                  <a:pt x="4384804" y="399791"/>
                  <a:pt x="4581394" y="226291"/>
                  <a:pt x="4659290" y="0"/>
                </a:cubicBezTo>
                <a:lnTo>
                  <a:pt x="4793306" y="0"/>
                </a:lnTo>
                <a:cubicBezTo>
                  <a:pt x="4708528" y="299826"/>
                  <a:pt x="4449256" y="529393"/>
                  <a:pt x="4127381" y="582253"/>
                </a:cubicBezTo>
                <a:lnTo>
                  <a:pt x="4127264" y="583392"/>
                </a:lnTo>
                <a:cubicBezTo>
                  <a:pt x="4121954" y="584395"/>
                  <a:pt x="4116625" y="585336"/>
                  <a:pt x="4111048" y="584920"/>
                </a:cubicBezTo>
                <a:cubicBezTo>
                  <a:pt x="4079876" y="590430"/>
                  <a:pt x="4047996" y="593388"/>
                  <a:pt x="4015621" y="593911"/>
                </a:cubicBezTo>
                <a:lnTo>
                  <a:pt x="3998503" y="595524"/>
                </a:lnTo>
                <a:lnTo>
                  <a:pt x="3998477" y="595033"/>
                </a:lnTo>
                <a:lnTo>
                  <a:pt x="3997978" y="595066"/>
                </a:lnTo>
                <a:cubicBezTo>
                  <a:pt x="3997412" y="591293"/>
                  <a:pt x="3997385" y="587507"/>
                  <a:pt x="3997385" y="583715"/>
                </a:cubicBezTo>
                <a:cubicBezTo>
                  <a:pt x="3997385" y="578078"/>
                  <a:pt x="3997443" y="572454"/>
                  <a:pt x="3998755" y="566868"/>
                </a:cubicBezTo>
                <a:cubicBezTo>
                  <a:pt x="3998713" y="535786"/>
                  <a:pt x="4001163" y="505143"/>
                  <a:pt x="4006219" y="475137"/>
                </a:cubicBezTo>
                <a:lnTo>
                  <a:pt x="4006760" y="468499"/>
                </a:lnTo>
                <a:cubicBezTo>
                  <a:pt x="4006928" y="468495"/>
                  <a:pt x="4007098" y="468490"/>
                  <a:pt x="4007265" y="468437"/>
                </a:cubicBezTo>
                <a:cubicBezTo>
                  <a:pt x="4033568" y="285283"/>
                  <a:pt x="4123028" y="121703"/>
                  <a:pt x="4254773" y="0"/>
                </a:cubicBezTo>
                <a:close/>
                <a:moveTo>
                  <a:pt x="3180951" y="0"/>
                </a:moveTo>
                <a:lnTo>
                  <a:pt x="3314968" y="0"/>
                </a:lnTo>
                <a:cubicBezTo>
                  <a:pt x="3392864" y="226291"/>
                  <a:pt x="3589453" y="399791"/>
                  <a:pt x="3833505" y="451830"/>
                </a:cubicBezTo>
                <a:cubicBezTo>
                  <a:pt x="3795654" y="260867"/>
                  <a:pt x="3676245" y="98005"/>
                  <a:pt x="3510776" y="0"/>
                </a:cubicBezTo>
                <a:lnTo>
                  <a:pt x="3719484" y="0"/>
                </a:lnTo>
                <a:cubicBezTo>
                  <a:pt x="3851229" y="121703"/>
                  <a:pt x="3940689" y="285283"/>
                  <a:pt x="3966991" y="468437"/>
                </a:cubicBezTo>
                <a:cubicBezTo>
                  <a:pt x="3967159" y="468490"/>
                  <a:pt x="3967328" y="468495"/>
                  <a:pt x="3967497" y="468499"/>
                </a:cubicBezTo>
                <a:lnTo>
                  <a:pt x="3968037" y="475137"/>
                </a:lnTo>
                <a:cubicBezTo>
                  <a:pt x="3973094" y="505143"/>
                  <a:pt x="3975543" y="535786"/>
                  <a:pt x="3975501" y="566868"/>
                </a:cubicBezTo>
                <a:cubicBezTo>
                  <a:pt x="3976813" y="572454"/>
                  <a:pt x="3976872" y="578078"/>
                  <a:pt x="3976872" y="583715"/>
                </a:cubicBezTo>
                <a:cubicBezTo>
                  <a:pt x="3976872" y="587508"/>
                  <a:pt x="3976845" y="591293"/>
                  <a:pt x="3976279" y="595066"/>
                </a:cubicBezTo>
                <a:lnTo>
                  <a:pt x="3975780" y="595033"/>
                </a:lnTo>
                <a:lnTo>
                  <a:pt x="3975754" y="595524"/>
                </a:lnTo>
                <a:lnTo>
                  <a:pt x="3958635" y="593911"/>
                </a:lnTo>
                <a:cubicBezTo>
                  <a:pt x="3926261" y="593388"/>
                  <a:pt x="3894381" y="590430"/>
                  <a:pt x="3863209" y="584920"/>
                </a:cubicBezTo>
                <a:cubicBezTo>
                  <a:pt x="3857632" y="585336"/>
                  <a:pt x="3852303" y="584395"/>
                  <a:pt x="3846992" y="583392"/>
                </a:cubicBezTo>
                <a:lnTo>
                  <a:pt x="3846876" y="582253"/>
                </a:lnTo>
                <a:cubicBezTo>
                  <a:pt x="3525002" y="529393"/>
                  <a:pt x="3265729" y="299826"/>
                  <a:pt x="3180951" y="0"/>
                </a:cubicBezTo>
                <a:close/>
                <a:moveTo>
                  <a:pt x="2562622" y="0"/>
                </a:moveTo>
                <a:lnTo>
                  <a:pt x="2771330" y="0"/>
                </a:lnTo>
                <a:cubicBezTo>
                  <a:pt x="2605861" y="98005"/>
                  <a:pt x="2486452" y="260867"/>
                  <a:pt x="2448601" y="451830"/>
                </a:cubicBezTo>
                <a:cubicBezTo>
                  <a:pt x="2692653" y="399791"/>
                  <a:pt x="2889242" y="226291"/>
                  <a:pt x="2967139" y="0"/>
                </a:cubicBezTo>
                <a:lnTo>
                  <a:pt x="3101155" y="0"/>
                </a:lnTo>
                <a:cubicBezTo>
                  <a:pt x="3016377" y="299826"/>
                  <a:pt x="2757105" y="529393"/>
                  <a:pt x="2435230" y="582253"/>
                </a:cubicBezTo>
                <a:lnTo>
                  <a:pt x="2435113" y="583392"/>
                </a:lnTo>
                <a:cubicBezTo>
                  <a:pt x="2429803" y="584395"/>
                  <a:pt x="2424474" y="585336"/>
                  <a:pt x="2418897" y="584920"/>
                </a:cubicBezTo>
                <a:cubicBezTo>
                  <a:pt x="2387725" y="590430"/>
                  <a:pt x="2355845" y="593388"/>
                  <a:pt x="2323470" y="593911"/>
                </a:cubicBezTo>
                <a:lnTo>
                  <a:pt x="2306352" y="595524"/>
                </a:lnTo>
                <a:lnTo>
                  <a:pt x="2306326" y="595033"/>
                </a:lnTo>
                <a:lnTo>
                  <a:pt x="2305827" y="595066"/>
                </a:lnTo>
                <a:cubicBezTo>
                  <a:pt x="2305261" y="591293"/>
                  <a:pt x="2305234" y="587507"/>
                  <a:pt x="2305234" y="583715"/>
                </a:cubicBezTo>
                <a:cubicBezTo>
                  <a:pt x="2305234" y="578078"/>
                  <a:pt x="2305292" y="572454"/>
                  <a:pt x="2306604" y="566868"/>
                </a:cubicBezTo>
                <a:cubicBezTo>
                  <a:pt x="2306562" y="535786"/>
                  <a:pt x="2309012" y="505143"/>
                  <a:pt x="2314068" y="475137"/>
                </a:cubicBezTo>
                <a:lnTo>
                  <a:pt x="2314609" y="468499"/>
                </a:lnTo>
                <a:cubicBezTo>
                  <a:pt x="2314777" y="468495"/>
                  <a:pt x="2314947" y="468490"/>
                  <a:pt x="2315114" y="468437"/>
                </a:cubicBezTo>
                <a:cubicBezTo>
                  <a:pt x="2341417" y="285283"/>
                  <a:pt x="2430877" y="121704"/>
                  <a:pt x="2562622" y="0"/>
                </a:cubicBezTo>
                <a:close/>
                <a:moveTo>
                  <a:pt x="1488800" y="0"/>
                </a:moveTo>
                <a:lnTo>
                  <a:pt x="1622816" y="0"/>
                </a:lnTo>
                <a:cubicBezTo>
                  <a:pt x="1700712" y="226290"/>
                  <a:pt x="1897302" y="399791"/>
                  <a:pt x="2141354" y="451830"/>
                </a:cubicBezTo>
                <a:cubicBezTo>
                  <a:pt x="2103503" y="260867"/>
                  <a:pt x="1984094" y="98005"/>
                  <a:pt x="1818624" y="0"/>
                </a:cubicBezTo>
                <a:lnTo>
                  <a:pt x="2027333" y="0"/>
                </a:lnTo>
                <a:cubicBezTo>
                  <a:pt x="2159078" y="121703"/>
                  <a:pt x="2248538" y="285283"/>
                  <a:pt x="2274840" y="468437"/>
                </a:cubicBezTo>
                <a:cubicBezTo>
                  <a:pt x="2275008" y="468490"/>
                  <a:pt x="2275177" y="468495"/>
                  <a:pt x="2275346" y="468500"/>
                </a:cubicBezTo>
                <a:lnTo>
                  <a:pt x="2275886" y="475137"/>
                </a:lnTo>
                <a:cubicBezTo>
                  <a:pt x="2280943" y="505143"/>
                  <a:pt x="2283392" y="535786"/>
                  <a:pt x="2283350" y="566868"/>
                </a:cubicBezTo>
                <a:cubicBezTo>
                  <a:pt x="2284662" y="572454"/>
                  <a:pt x="2284721" y="578078"/>
                  <a:pt x="2284721" y="583715"/>
                </a:cubicBezTo>
                <a:cubicBezTo>
                  <a:pt x="2284721" y="587508"/>
                  <a:pt x="2284694" y="591293"/>
                  <a:pt x="2284128" y="595066"/>
                </a:cubicBezTo>
                <a:lnTo>
                  <a:pt x="2283629" y="595033"/>
                </a:lnTo>
                <a:lnTo>
                  <a:pt x="2283603" y="595524"/>
                </a:lnTo>
                <a:lnTo>
                  <a:pt x="2266484" y="593911"/>
                </a:lnTo>
                <a:cubicBezTo>
                  <a:pt x="2234110" y="593388"/>
                  <a:pt x="2202230" y="590430"/>
                  <a:pt x="2171058" y="584920"/>
                </a:cubicBezTo>
                <a:cubicBezTo>
                  <a:pt x="2165481" y="585336"/>
                  <a:pt x="2160152" y="584395"/>
                  <a:pt x="2154841" y="583392"/>
                </a:cubicBezTo>
                <a:lnTo>
                  <a:pt x="2154725" y="582253"/>
                </a:lnTo>
                <a:cubicBezTo>
                  <a:pt x="1832850" y="529393"/>
                  <a:pt x="1573578" y="299826"/>
                  <a:pt x="1488800" y="0"/>
                </a:cubicBezTo>
                <a:close/>
                <a:moveTo>
                  <a:pt x="870471" y="0"/>
                </a:moveTo>
                <a:lnTo>
                  <a:pt x="1079179" y="0"/>
                </a:lnTo>
                <a:cubicBezTo>
                  <a:pt x="913710" y="98005"/>
                  <a:pt x="794301" y="260867"/>
                  <a:pt x="756450" y="451830"/>
                </a:cubicBezTo>
                <a:cubicBezTo>
                  <a:pt x="1000502" y="399791"/>
                  <a:pt x="1197091" y="226291"/>
                  <a:pt x="1274988" y="0"/>
                </a:cubicBezTo>
                <a:lnTo>
                  <a:pt x="1409004" y="0"/>
                </a:lnTo>
                <a:cubicBezTo>
                  <a:pt x="1324226" y="299826"/>
                  <a:pt x="1064954" y="529393"/>
                  <a:pt x="743078" y="582253"/>
                </a:cubicBezTo>
                <a:lnTo>
                  <a:pt x="742962" y="583392"/>
                </a:lnTo>
                <a:cubicBezTo>
                  <a:pt x="737652" y="584395"/>
                  <a:pt x="732323" y="585336"/>
                  <a:pt x="726746" y="584920"/>
                </a:cubicBezTo>
                <a:cubicBezTo>
                  <a:pt x="695574" y="590430"/>
                  <a:pt x="663693" y="593388"/>
                  <a:pt x="631319" y="593911"/>
                </a:cubicBezTo>
                <a:lnTo>
                  <a:pt x="614201" y="595524"/>
                </a:lnTo>
                <a:lnTo>
                  <a:pt x="614175" y="595033"/>
                </a:lnTo>
                <a:lnTo>
                  <a:pt x="613676" y="595066"/>
                </a:lnTo>
                <a:cubicBezTo>
                  <a:pt x="613110" y="591293"/>
                  <a:pt x="613083" y="587507"/>
                  <a:pt x="613083" y="583715"/>
                </a:cubicBezTo>
                <a:cubicBezTo>
                  <a:pt x="613083" y="578078"/>
                  <a:pt x="613141" y="572454"/>
                  <a:pt x="614453" y="566868"/>
                </a:cubicBezTo>
                <a:cubicBezTo>
                  <a:pt x="614411" y="535786"/>
                  <a:pt x="616861" y="505143"/>
                  <a:pt x="621918" y="475137"/>
                </a:cubicBezTo>
                <a:lnTo>
                  <a:pt x="622458" y="468499"/>
                </a:lnTo>
                <a:cubicBezTo>
                  <a:pt x="622626" y="468495"/>
                  <a:pt x="622796" y="468490"/>
                  <a:pt x="622963" y="468437"/>
                </a:cubicBezTo>
                <a:cubicBezTo>
                  <a:pt x="649266" y="285283"/>
                  <a:pt x="738726" y="121703"/>
                  <a:pt x="870471" y="0"/>
                </a:cubicBezTo>
                <a:close/>
                <a:moveTo>
                  <a:pt x="126374" y="0"/>
                </a:moveTo>
                <a:lnTo>
                  <a:pt x="334376" y="0"/>
                </a:lnTo>
                <a:cubicBezTo>
                  <a:pt x="466684" y="121261"/>
                  <a:pt x="556352" y="285035"/>
                  <a:pt x="582690" y="468437"/>
                </a:cubicBezTo>
                <a:cubicBezTo>
                  <a:pt x="582857" y="468490"/>
                  <a:pt x="583026" y="468495"/>
                  <a:pt x="583195" y="468499"/>
                </a:cubicBezTo>
                <a:lnTo>
                  <a:pt x="583735" y="475137"/>
                </a:lnTo>
                <a:cubicBezTo>
                  <a:pt x="588792" y="505143"/>
                  <a:pt x="591242" y="535786"/>
                  <a:pt x="591199" y="566868"/>
                </a:cubicBezTo>
                <a:cubicBezTo>
                  <a:pt x="592511" y="572454"/>
                  <a:pt x="592570" y="578078"/>
                  <a:pt x="592570" y="583715"/>
                </a:cubicBezTo>
                <a:cubicBezTo>
                  <a:pt x="592570" y="587507"/>
                  <a:pt x="592543" y="591293"/>
                  <a:pt x="591977" y="595066"/>
                </a:cubicBezTo>
                <a:lnTo>
                  <a:pt x="591478" y="595033"/>
                </a:lnTo>
                <a:lnTo>
                  <a:pt x="591452" y="595524"/>
                </a:lnTo>
                <a:lnTo>
                  <a:pt x="574334" y="593911"/>
                </a:lnTo>
                <a:cubicBezTo>
                  <a:pt x="541959" y="593388"/>
                  <a:pt x="510079" y="590430"/>
                  <a:pt x="478907" y="584920"/>
                </a:cubicBezTo>
                <a:cubicBezTo>
                  <a:pt x="473330" y="585336"/>
                  <a:pt x="468001" y="584395"/>
                  <a:pt x="462690" y="583392"/>
                </a:cubicBezTo>
                <a:lnTo>
                  <a:pt x="462574" y="582253"/>
                </a:lnTo>
                <a:cubicBezTo>
                  <a:pt x="282200" y="552631"/>
                  <a:pt x="121485" y="467518"/>
                  <a:pt x="0" y="345575"/>
                </a:cubicBezTo>
                <a:lnTo>
                  <a:pt x="0" y="140406"/>
                </a:lnTo>
                <a:cubicBezTo>
                  <a:pt x="97584" y="296912"/>
                  <a:pt x="258975" y="411268"/>
                  <a:pt x="449203" y="451830"/>
                </a:cubicBezTo>
                <a:cubicBezTo>
                  <a:pt x="411344" y="260824"/>
                  <a:pt x="291889" y="97931"/>
                  <a:pt x="126374" y="0"/>
                </a:cubicBezTo>
                <a:close/>
              </a:path>
            </a:pathLst>
          </a:cu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4960137"/>
            <a:ext cx="7772400" cy="1463040"/>
          </a:xfrm>
        </p:spPr>
        <p:txBody>
          <a:bodyPr anchor="ctr">
            <a:normAutofit/>
          </a:bodyPr>
          <a:lstStyle>
            <a:lvl1pPr algn="r">
              <a:defRPr sz="5000" b="0" spc="200" baseline="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610600" y="4960137"/>
            <a:ext cx="3200400" cy="1463040"/>
          </a:xfrm>
        </p:spPr>
        <p:txBody>
          <a:bodyPr lIns="91440" rIns="91440" anchor="ctr">
            <a:normAutofit/>
          </a:bodyPr>
          <a:lstStyle>
            <a:lvl1pPr marL="0" indent="0">
              <a:lnSpc>
                <a:spcPct val="100000"/>
              </a:lnSpc>
              <a:spcBef>
                <a:spcPts val="0"/>
              </a:spcBef>
              <a:buNone/>
              <a:defRPr sz="1800">
                <a:solidFill>
                  <a:schemeClr val="tx1">
                    <a:lumMod val="95000"/>
                    <a:lumOff val="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EA00750-6365-6844-B64F-725A8DE5076B}" type="datetime1">
              <a:rPr lang="en-US" smtClean="0"/>
              <a:t>10/2/25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852B8ED-7F2B-5448-BD79-1530102DF259}" type="slidenum">
              <a:rPr lang="en-US" smtClean="0"/>
              <a:t>‹#›</a:t>
            </a:fld>
            <a:endParaRPr lang="en-US"/>
          </a:p>
        </p:txBody>
      </p:sp>
      <p:cxnSp>
        <p:nvCxnSpPr>
          <p:cNvPr id="8" name="Straight Connector 7"/>
          <p:cNvCxnSpPr/>
          <p:nvPr/>
        </p:nvCxnSpPr>
        <p:spPr>
          <a:xfrm flipV="1">
            <a:off x="8386843" y="5264106"/>
            <a:ext cx="0" cy="914400"/>
          </a:xfrm>
          <a:prstGeom prst="line">
            <a:avLst/>
          </a:prstGeom>
          <a:ln w="19050">
            <a:solidFill>
              <a:schemeClr val="accent1">
                <a:lumMod val="7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548197460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024128" y="585216"/>
            <a:ext cx="9720072" cy="1499616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1024127" y="2286000"/>
            <a:ext cx="4754880" cy="4023360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5989320" y="2286000"/>
            <a:ext cx="4754880" cy="4023360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3494754-273E-E948-9018-5261C08CB644}" type="datetime1">
              <a:rPr lang="en-US" smtClean="0"/>
              <a:t>10/2/25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852B8ED-7F2B-5448-BD79-1530102DF25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62789855"/>
      </p:ext>
    </p:extLst>
  </p:cSld>
  <p:clrMapOvr>
    <a:masterClrMapping/>
  </p:clrMapOvr>
  <p:hf hdr="0" ftr="0" dt="0"/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Title 9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024128" y="2179636"/>
            <a:ext cx="4754880" cy="822960"/>
          </a:xfrm>
        </p:spPr>
        <p:txBody>
          <a:bodyPr lIns="137160" rIns="137160" anchor="ctr">
            <a:normAutofit/>
          </a:bodyPr>
          <a:lstStyle>
            <a:lvl1pPr marL="0" indent="0">
              <a:spcBef>
                <a:spcPts val="0"/>
              </a:spcBef>
              <a:spcAft>
                <a:spcPts val="0"/>
              </a:spcAft>
              <a:buNone/>
              <a:defRPr sz="2300" b="0" cap="none" baseline="0">
                <a:solidFill>
                  <a:schemeClr val="accent1"/>
                </a:solidFill>
                <a:latin typeface="+mn-lt"/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1024128" y="2967788"/>
            <a:ext cx="4754880" cy="3341572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5990888" y="2179636"/>
            <a:ext cx="4754880" cy="822960"/>
          </a:xfrm>
        </p:spPr>
        <p:txBody>
          <a:bodyPr lIns="137160" rIns="137160" anchor="ctr">
            <a:normAutofit/>
          </a:bodyPr>
          <a:lstStyle>
            <a:lvl1pPr marL="0" indent="0">
              <a:spcBef>
                <a:spcPts val="0"/>
              </a:spcBef>
              <a:spcAft>
                <a:spcPts val="0"/>
              </a:spcAft>
              <a:buNone/>
              <a:defRPr lang="en-US" sz="2300" b="0" kern="1200" cap="none" baseline="0" dirty="0">
                <a:solidFill>
                  <a:schemeClr val="accent1"/>
                </a:solidFill>
                <a:latin typeface="+mn-lt"/>
                <a:ea typeface="+mn-ea"/>
                <a:cs typeface="+mn-cs"/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marL="0" lvl="0" indent="0" algn="l" defTabSz="914400" rtl="0" eaLnBrk="1" latinLnBrk="0" hangingPunct="1">
              <a:lnSpc>
                <a:spcPct val="90000"/>
              </a:lnSpc>
              <a:spcBef>
                <a:spcPts val="1800"/>
              </a:spcBef>
              <a:buNone/>
            </a:pPr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5990888" y="2967788"/>
            <a:ext cx="4754880" cy="3341572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3494754-273E-E948-9018-5261C08CB644}" type="datetime1">
              <a:rPr lang="en-US" smtClean="0"/>
              <a:t>10/2/25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852B8ED-7F2B-5448-BD79-1530102DF25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84743318"/>
      </p:ext>
    </p:extLst>
  </p:cSld>
  <p:clrMapOvr>
    <a:masterClrMapping/>
  </p:clrMapOvr>
  <p:hf hdr="0" ftr="0" dt="0"/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EAFDFD9-5746-EC4F-8324-5E150B006DF7}" type="datetime1">
              <a:rPr lang="en-US" smtClean="0"/>
              <a:t>10/2/25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852B8ED-7F2B-5448-BD79-1530102DF25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278628894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4ACB042-4BAF-7645-AA0A-214365AE87EA}" type="datetime1">
              <a:rPr lang="en-US" smtClean="0"/>
              <a:t>10/2/25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852B8ED-7F2B-5448-BD79-1530102DF25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718728282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Title 7"/>
          <p:cNvSpPr>
            <a:spLocks noGrp="1"/>
          </p:cNvSpPr>
          <p:nvPr>
            <p:ph type="title"/>
          </p:nvPr>
        </p:nvSpPr>
        <p:spPr>
          <a:xfrm>
            <a:off x="1024128" y="471509"/>
            <a:ext cx="4389120" cy="1737360"/>
          </a:xfrm>
        </p:spPr>
        <p:txBody>
          <a:bodyPr>
            <a:noAutofit/>
          </a:bodyPr>
          <a:lstStyle>
            <a:lvl1pPr>
              <a:lnSpc>
                <a:spcPct val="80000"/>
              </a:lnSpc>
              <a:defRPr sz="40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715000" y="822960"/>
            <a:ext cx="5678424" cy="518464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6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024128" y="2257506"/>
            <a:ext cx="4389120" cy="3762294"/>
          </a:xfrm>
        </p:spPr>
        <p:txBody>
          <a:bodyPr lIns="91440" rIns="91440">
            <a:normAutofit/>
          </a:bodyPr>
          <a:lstStyle>
            <a:lvl1pPr marL="0" indent="0">
              <a:lnSpc>
                <a:spcPct val="108000"/>
              </a:lnSpc>
              <a:spcBef>
                <a:spcPts val="600"/>
              </a:spcBef>
              <a:buNone/>
              <a:defRPr sz="16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3494754-273E-E948-9018-5261C08CB644}" type="datetime1">
              <a:rPr lang="en-US" smtClean="0"/>
              <a:t>10/2/25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852B8ED-7F2B-5448-BD79-1530102DF25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178131802"/>
      </p:ext>
    </p:extLst>
  </p:cSld>
  <p:clrMapOvr>
    <a:masterClrMapping/>
  </p:clrMapOvr>
  <p:hf hdr="0" ftr="0" dt="0"/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4960138"/>
            <a:ext cx="7772400" cy="1463040"/>
          </a:xfrm>
        </p:spPr>
        <p:txBody>
          <a:bodyPr anchor="ctr">
            <a:normAutofit/>
          </a:bodyPr>
          <a:lstStyle>
            <a:lvl1pPr algn="r">
              <a:defRPr sz="5000" spc="200" baseline="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0" y="-1"/>
            <a:ext cx="12188952" cy="4572000"/>
          </a:xfrm>
          <a:solidFill>
            <a:schemeClr val="accent1">
              <a:lumMod val="60000"/>
              <a:lumOff val="40000"/>
            </a:schemeClr>
          </a:solidFill>
        </p:spPr>
        <p:txBody>
          <a:bodyPr lIns="457200" tIns="365760" rIns="45720" bIns="45720" anchor="t"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610600" y="4960138"/>
            <a:ext cx="3200400" cy="1463040"/>
          </a:xfrm>
        </p:spPr>
        <p:txBody>
          <a:bodyPr lIns="91440" rIns="91440" anchor="ctr">
            <a:normAutofit/>
          </a:bodyPr>
          <a:lstStyle>
            <a:lvl1pPr marL="0" indent="0">
              <a:lnSpc>
                <a:spcPct val="100000"/>
              </a:lnSpc>
              <a:spcBef>
                <a:spcPts val="0"/>
              </a:spcBef>
              <a:buNone/>
              <a:defRPr sz="1800">
                <a:solidFill>
                  <a:schemeClr val="tx1">
                    <a:lumMod val="95000"/>
                    <a:lumOff val="5000"/>
                  </a:schemeClr>
                </a:solidFill>
              </a:defRPr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5994A59-4970-9A4C-A186-FD370BB8CDB6}" type="datetime1">
              <a:rPr lang="en-US" smtClean="0"/>
              <a:t>10/2/25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852B8ED-7F2B-5448-BD79-1530102DF259}" type="slidenum">
              <a:rPr lang="en-US" smtClean="0"/>
              <a:t>‹#›</a:t>
            </a:fld>
            <a:endParaRPr lang="en-US"/>
          </a:p>
        </p:txBody>
      </p:sp>
      <p:cxnSp>
        <p:nvCxnSpPr>
          <p:cNvPr id="8" name="Straight Connector 7"/>
          <p:cNvCxnSpPr/>
          <p:nvPr/>
        </p:nvCxnSpPr>
        <p:spPr>
          <a:xfrm flipV="1">
            <a:off x="8386843" y="5264106"/>
            <a:ext cx="0" cy="914400"/>
          </a:xfrm>
          <a:prstGeom prst="line">
            <a:avLst/>
          </a:prstGeom>
          <a:ln w="19050">
            <a:solidFill>
              <a:schemeClr val="accent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68578431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3494754-273E-E948-9018-5261C08CB644}" type="datetime1">
              <a:rPr lang="en-US" smtClean="0"/>
              <a:t>10/2/25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852B8ED-7F2B-5448-BD79-1530102DF25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935413418"/>
      </p:ext>
    </p:extLst>
  </p:cSld>
  <p:clrMapOvr>
    <a:masterClrMapping/>
  </p:clrMapOvr>
  <p:hf hdr="0" ftr="0" dt="0"/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724901" y="762000"/>
            <a:ext cx="2628900" cy="5410200"/>
          </a:xfrm>
        </p:spPr>
        <p:txBody>
          <a:bodyPr vert="eaVert" lIns="45720" tIns="91440" rIns="45720" bIns="91440"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990601" y="762000"/>
            <a:ext cx="7581900" cy="5410200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3494754-273E-E948-9018-5261C08CB644}" type="datetime1">
              <a:rPr lang="en-US" smtClean="0"/>
              <a:t>10/2/25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852B8ED-7F2B-5448-BD79-1530102DF259}" type="slidenum">
              <a:rPr lang="en-US" smtClean="0"/>
              <a:t>‹#›</a:t>
            </a:fld>
            <a:endParaRPr lang="en-US"/>
          </a:p>
        </p:txBody>
      </p:sp>
      <p:cxnSp>
        <p:nvCxnSpPr>
          <p:cNvPr id="7" name="Straight Connector 6"/>
          <p:cNvCxnSpPr/>
          <p:nvPr/>
        </p:nvCxnSpPr>
        <p:spPr>
          <a:xfrm rot="5400000" flipV="1">
            <a:off x="10058400" y="59263"/>
            <a:ext cx="0" cy="914400"/>
          </a:xfrm>
          <a:prstGeom prst="line">
            <a:avLst/>
          </a:prstGeom>
          <a:ln w="19050">
            <a:solidFill>
              <a:schemeClr val="accent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4187277771"/>
      </p:ext>
    </p:extLst>
  </p:cSld>
  <p:clrMapOvr>
    <a:masterClrMapping/>
  </p:clrMapOvr>
  <p:hf hdr="0" ftr="0" dt="0"/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/>
          <p:cNvSpPr/>
          <p:nvPr/>
        </p:nvSpPr>
        <p:spPr>
          <a:xfrm>
            <a:off x="0" y="-1"/>
            <a:ext cx="12192000" cy="4572001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457200" y="4960137"/>
            <a:ext cx="7772400" cy="1463040"/>
          </a:xfrm>
        </p:spPr>
        <p:txBody>
          <a:bodyPr anchor="ctr">
            <a:normAutofit/>
          </a:bodyPr>
          <a:lstStyle>
            <a:lvl1pPr algn="r">
              <a:defRPr sz="5000" spc="200" baseline="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8610600" y="4960137"/>
            <a:ext cx="3200400" cy="1463040"/>
          </a:xfrm>
        </p:spPr>
        <p:txBody>
          <a:bodyPr lIns="91440" rIns="91440" anchor="ctr">
            <a:normAutofit/>
          </a:bodyPr>
          <a:lstStyle>
            <a:lvl1pPr marL="0" indent="0" algn="l">
              <a:lnSpc>
                <a:spcPct val="100000"/>
              </a:lnSpc>
              <a:spcBef>
                <a:spcPts val="0"/>
              </a:spcBef>
              <a:buNone/>
              <a:defRPr sz="1800">
                <a:solidFill>
                  <a:schemeClr val="tx1">
                    <a:lumMod val="90000"/>
                    <a:lumOff val="10000"/>
                  </a:schemeClr>
                </a:solidFill>
              </a:defRPr>
            </a:lvl1pPr>
            <a:lvl2pPr marL="457200" indent="0" algn="ctr">
              <a:buNone/>
              <a:defRPr sz="18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800"/>
            </a:lvl4pPr>
            <a:lvl5pPr marL="1828800" indent="0" algn="ctr">
              <a:buNone/>
              <a:defRPr sz="1800"/>
            </a:lvl5pPr>
            <a:lvl6pPr marL="2286000" indent="0" algn="ctr">
              <a:buNone/>
              <a:defRPr sz="1800"/>
            </a:lvl6pPr>
            <a:lvl7pPr marL="2743200" indent="0" algn="ctr">
              <a:buNone/>
              <a:defRPr sz="1800"/>
            </a:lvl7pPr>
            <a:lvl8pPr marL="3200400" indent="0" algn="ctr">
              <a:buNone/>
              <a:defRPr sz="1800"/>
            </a:lvl8pPr>
            <a:lvl9pPr marL="3657600" indent="0" algn="ctr">
              <a:buNone/>
              <a:defRPr sz="1800"/>
            </a:lvl9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 algn="l">
              <a:defRPr/>
            </a:lvl1pPr>
          </a:lstStyle>
          <a:p>
            <a:fld id="{ECF0DD94-3770-4A43-9B22-80284D031154}" type="datetime1">
              <a:rPr lang="en-US" smtClean="0"/>
              <a:t>10/2/25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852B8ED-7F2B-5448-BD79-1530102DF259}" type="slidenum">
              <a:rPr lang="en-US" smtClean="0"/>
              <a:t>‹#›</a:t>
            </a:fld>
            <a:endParaRPr lang="en-US"/>
          </a:p>
        </p:txBody>
      </p:sp>
      <p:cxnSp>
        <p:nvCxnSpPr>
          <p:cNvPr id="8" name="Straight Connector 7"/>
          <p:cNvCxnSpPr/>
          <p:nvPr/>
        </p:nvCxnSpPr>
        <p:spPr>
          <a:xfrm flipV="1">
            <a:off x="8386842" y="5264106"/>
            <a:ext cx="0" cy="914400"/>
          </a:xfrm>
          <a:prstGeom prst="line">
            <a:avLst/>
          </a:prstGeom>
          <a:ln w="19050">
            <a:solidFill>
              <a:schemeClr val="accent2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60112239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3494754-273E-E948-9018-5261C08CB644}" type="datetime1">
              <a:rPr lang="en-US" smtClean="0"/>
              <a:t>10/2/25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852B8ED-7F2B-5448-BD79-1530102DF25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96820517"/>
      </p:ext>
    </p:extLst>
  </p:cSld>
  <p:clrMapOvr>
    <a:masterClrMapping/>
  </p:clrMapOvr>
  <p:hf hdr="0" ftr="0" dt="0"/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/>
          <p:cNvSpPr/>
          <p:nvPr/>
        </p:nvSpPr>
        <p:spPr>
          <a:xfrm>
            <a:off x="0" y="-1"/>
            <a:ext cx="12192000" cy="4572000"/>
          </a:xfrm>
          <a:prstGeom prst="rect">
            <a:avLst/>
          </a:prstGeom>
          <a:solidFill>
            <a:schemeClr val="accent3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4960137"/>
            <a:ext cx="7772400" cy="1463040"/>
          </a:xfrm>
        </p:spPr>
        <p:txBody>
          <a:bodyPr anchor="ctr">
            <a:normAutofit/>
          </a:bodyPr>
          <a:lstStyle>
            <a:lvl1pPr algn="r">
              <a:defRPr sz="5000" b="0" spc="200" baseline="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610600" y="4960137"/>
            <a:ext cx="3200400" cy="1463040"/>
          </a:xfrm>
        </p:spPr>
        <p:txBody>
          <a:bodyPr lIns="91440" rIns="91440" anchor="ctr">
            <a:normAutofit/>
          </a:bodyPr>
          <a:lstStyle>
            <a:lvl1pPr marL="0" indent="0">
              <a:lnSpc>
                <a:spcPct val="100000"/>
              </a:lnSpc>
              <a:spcBef>
                <a:spcPts val="0"/>
              </a:spcBef>
              <a:buNone/>
              <a:defRPr sz="1800">
                <a:solidFill>
                  <a:schemeClr val="tx1">
                    <a:lumMod val="90000"/>
                    <a:lumOff val="10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EA00750-6365-6844-B64F-725A8DE5076B}" type="datetime1">
              <a:rPr lang="en-US" smtClean="0"/>
              <a:t>10/2/25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852B8ED-7F2B-5448-BD79-1530102DF259}" type="slidenum">
              <a:rPr lang="en-US" smtClean="0"/>
              <a:t>‹#›</a:t>
            </a:fld>
            <a:endParaRPr lang="en-US"/>
          </a:p>
        </p:txBody>
      </p:sp>
      <p:cxnSp>
        <p:nvCxnSpPr>
          <p:cNvPr id="8" name="Straight Connector 7"/>
          <p:cNvCxnSpPr/>
          <p:nvPr/>
        </p:nvCxnSpPr>
        <p:spPr>
          <a:xfrm flipV="1">
            <a:off x="8386842" y="5264106"/>
            <a:ext cx="0" cy="914400"/>
          </a:xfrm>
          <a:prstGeom prst="line">
            <a:avLst/>
          </a:prstGeom>
          <a:ln w="19050">
            <a:solidFill>
              <a:schemeClr val="accent3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917209905"/>
      </p:ext>
    </p:extLst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024128" y="585216"/>
            <a:ext cx="9720072" cy="1499616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1024128" y="2286000"/>
            <a:ext cx="4754880" cy="4023360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5989320" y="2286000"/>
            <a:ext cx="4754880" cy="4023360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3494754-273E-E948-9018-5261C08CB644}" type="datetime1">
              <a:rPr lang="en-US" smtClean="0"/>
              <a:t>10/2/25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852B8ED-7F2B-5448-BD79-1530102DF25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194801442"/>
      </p:ext>
    </p:extLst>
  </p:cSld>
  <p:clrMapOvr>
    <a:masterClrMapping/>
  </p:clrMapOvr>
  <p:hf hdr="0" ftr="0" dt="0"/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Title 9"/>
          <p:cNvSpPr>
            <a:spLocks noGrp="1"/>
          </p:cNvSpPr>
          <p:nvPr>
            <p:ph type="title"/>
          </p:nvPr>
        </p:nvSpPr>
        <p:spPr>
          <a:xfrm>
            <a:off x="1024128" y="585216"/>
            <a:ext cx="9720072" cy="1499616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024128" y="2179636"/>
            <a:ext cx="4754880" cy="822960"/>
          </a:xfrm>
        </p:spPr>
        <p:txBody>
          <a:bodyPr lIns="137160" rIns="137160" anchor="ctr">
            <a:normAutofit/>
          </a:bodyPr>
          <a:lstStyle>
            <a:lvl1pPr marL="0" indent="0">
              <a:spcBef>
                <a:spcPts val="0"/>
              </a:spcBef>
              <a:spcAft>
                <a:spcPts val="0"/>
              </a:spcAft>
              <a:buNone/>
              <a:defRPr sz="2300" b="0" cap="none" baseline="0">
                <a:solidFill>
                  <a:schemeClr val="accent2">
                    <a:lumMod val="75000"/>
                  </a:schemeClr>
                </a:solidFill>
                <a:latin typeface="+mn-lt"/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1024128" y="2967788"/>
            <a:ext cx="4754880" cy="3341572"/>
          </a:xfrm>
        </p:spPr>
        <p:txBody>
          <a:bodyPr lIns="45720" rIns="4572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5989320" y="2179636"/>
            <a:ext cx="4754880" cy="822960"/>
          </a:xfrm>
        </p:spPr>
        <p:txBody>
          <a:bodyPr lIns="137160" rIns="137160" anchor="ctr">
            <a:normAutofit/>
          </a:bodyPr>
          <a:lstStyle>
            <a:lvl1pPr marL="0" indent="0">
              <a:spcBef>
                <a:spcPts val="0"/>
              </a:spcBef>
              <a:spcAft>
                <a:spcPts val="0"/>
              </a:spcAft>
              <a:buNone/>
              <a:defRPr lang="en-US" sz="2300" b="0" kern="1200" cap="none" baseline="0" dirty="0">
                <a:solidFill>
                  <a:schemeClr val="accent2">
                    <a:lumMod val="7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marL="0" lvl="0" indent="0" algn="l" defTabSz="914400" rtl="0" eaLnBrk="1" latinLnBrk="0" hangingPunct="1">
              <a:lnSpc>
                <a:spcPct val="90000"/>
              </a:lnSpc>
              <a:spcBef>
                <a:spcPts val="1800"/>
              </a:spcBef>
              <a:buNone/>
            </a:pPr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5989320" y="2967788"/>
            <a:ext cx="4754880" cy="3341572"/>
          </a:xfrm>
        </p:spPr>
        <p:txBody>
          <a:bodyPr lIns="45720" rIns="4572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3494754-273E-E948-9018-5261C08CB644}" type="datetime1">
              <a:rPr lang="en-US" smtClean="0"/>
              <a:t>10/2/25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852B8ED-7F2B-5448-BD79-1530102DF25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270424678"/>
      </p:ext>
    </p:extLst>
  </p:cSld>
  <p:clrMapOvr>
    <a:masterClrMapping/>
  </p:clrMapOvr>
  <p:hf hdr="0" ftr="0" dt="0"/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EAFDFD9-5746-EC4F-8324-5E150B006DF7}" type="datetime1">
              <a:rPr lang="en-US" smtClean="0"/>
              <a:t>10/2/25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852B8ED-7F2B-5448-BD79-1530102DF25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68261356"/>
      </p:ext>
    </p:extLst>
  </p:cSld>
  <p:clrMapOvr>
    <a:masterClrMapping/>
  </p:clrMapOvr>
</p:sldLayout>
</file>

<file path=ppt/slideLayouts/slideLayout18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4ACB042-4BAF-7645-AA0A-214365AE87EA}" type="datetime1">
              <a:rPr lang="en-US" smtClean="0"/>
              <a:t>10/2/25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852B8ED-7F2B-5448-BD79-1530102DF25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722939839"/>
      </p:ext>
    </p:extLst>
  </p:cSld>
  <p:clrMapOvr>
    <a:masterClrMapping/>
  </p:clrMapOvr>
</p:sldLayout>
</file>

<file path=ppt/slideLayouts/slideLayout19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Title 7"/>
          <p:cNvSpPr>
            <a:spLocks noGrp="1"/>
          </p:cNvSpPr>
          <p:nvPr>
            <p:ph type="title"/>
          </p:nvPr>
        </p:nvSpPr>
        <p:spPr>
          <a:xfrm>
            <a:off x="1024128" y="471509"/>
            <a:ext cx="4389120" cy="1737360"/>
          </a:xfrm>
        </p:spPr>
        <p:txBody>
          <a:bodyPr>
            <a:noAutofit/>
          </a:bodyPr>
          <a:lstStyle>
            <a:lvl1pPr>
              <a:lnSpc>
                <a:spcPct val="80000"/>
              </a:lnSpc>
              <a:defRPr sz="40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715000" y="822960"/>
            <a:ext cx="5678424" cy="518464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6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024128" y="2257506"/>
            <a:ext cx="4389120" cy="3762294"/>
          </a:xfrm>
        </p:spPr>
        <p:txBody>
          <a:bodyPr lIns="91440" rIns="91440">
            <a:normAutofit/>
          </a:bodyPr>
          <a:lstStyle>
            <a:lvl1pPr marL="0" indent="0">
              <a:lnSpc>
                <a:spcPct val="108000"/>
              </a:lnSpc>
              <a:spcBef>
                <a:spcPts val="600"/>
              </a:spcBef>
              <a:buNone/>
              <a:defRPr sz="16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3494754-273E-E948-9018-5261C08CB644}" type="datetime1">
              <a:rPr lang="en-US" smtClean="0"/>
              <a:t>10/2/25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852B8ED-7F2B-5448-BD79-1530102DF25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486774247"/>
      </p:ext>
    </p:extLst>
  </p:cSld>
  <p:clrMapOvr>
    <a:masterClrMapping/>
  </p:clrMapOvr>
  <p:hf hdr="0" ftr="0" dt="0"/>
</p:sldLayout>
</file>

<file path=ppt/slideLayouts/slideLayout20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4960138"/>
            <a:ext cx="7772400" cy="1463040"/>
          </a:xfrm>
        </p:spPr>
        <p:txBody>
          <a:bodyPr anchor="ctr">
            <a:normAutofit/>
          </a:bodyPr>
          <a:lstStyle>
            <a:lvl1pPr algn="r">
              <a:defRPr sz="5000" spc="200" baseline="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0" y="-1"/>
            <a:ext cx="12188952" cy="4572000"/>
          </a:xfrm>
          <a:solidFill>
            <a:schemeClr val="accent2">
              <a:lumMod val="60000"/>
              <a:lumOff val="40000"/>
            </a:schemeClr>
          </a:solidFill>
        </p:spPr>
        <p:txBody>
          <a:bodyPr lIns="457200" tIns="365760" rIns="45720" bIns="45720" anchor="t"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610600" y="4960138"/>
            <a:ext cx="3200400" cy="1463040"/>
          </a:xfrm>
        </p:spPr>
        <p:txBody>
          <a:bodyPr lIns="91440" rIns="91440" anchor="ctr">
            <a:normAutofit/>
          </a:bodyPr>
          <a:lstStyle>
            <a:lvl1pPr marL="0" indent="0">
              <a:lnSpc>
                <a:spcPct val="100000"/>
              </a:lnSpc>
              <a:spcBef>
                <a:spcPts val="0"/>
              </a:spcBef>
              <a:buNone/>
              <a:defRPr sz="1800">
                <a:solidFill>
                  <a:schemeClr val="tx1">
                    <a:lumMod val="90000"/>
                    <a:lumOff val="10000"/>
                  </a:schemeClr>
                </a:solidFill>
              </a:defRPr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5994A59-4970-9A4C-A186-FD370BB8CDB6}" type="datetime1">
              <a:rPr lang="en-US" smtClean="0"/>
              <a:t>10/2/25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852B8ED-7F2B-5448-BD79-1530102DF259}" type="slidenum">
              <a:rPr lang="en-US" smtClean="0"/>
              <a:t>‹#›</a:t>
            </a:fld>
            <a:endParaRPr lang="en-US"/>
          </a:p>
        </p:txBody>
      </p:sp>
      <p:cxnSp>
        <p:nvCxnSpPr>
          <p:cNvPr id="9" name="Straight Connector 8"/>
          <p:cNvCxnSpPr/>
          <p:nvPr/>
        </p:nvCxnSpPr>
        <p:spPr>
          <a:xfrm flipV="1">
            <a:off x="8386842" y="5264106"/>
            <a:ext cx="0" cy="914400"/>
          </a:xfrm>
          <a:prstGeom prst="line">
            <a:avLst/>
          </a:prstGeom>
          <a:ln w="19050">
            <a:solidFill>
              <a:schemeClr val="accent2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061486456"/>
      </p:ext>
    </p:extLst>
  </p:cSld>
  <p:clrMapOvr>
    <a:masterClrMapping/>
  </p:clrMapOvr>
</p:sldLayout>
</file>

<file path=ppt/slideLayouts/slideLayout2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3494754-273E-E948-9018-5261C08CB644}" type="datetime1">
              <a:rPr lang="en-US" smtClean="0"/>
              <a:t>10/2/25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852B8ED-7F2B-5448-BD79-1530102DF25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966237208"/>
      </p:ext>
    </p:extLst>
  </p:cSld>
  <p:clrMapOvr>
    <a:masterClrMapping/>
  </p:clrMapOvr>
  <p:hf hdr="0" ftr="0" dt="0"/>
</p:sldLayout>
</file>

<file path=ppt/slideLayouts/slideLayout22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724900" y="762000"/>
            <a:ext cx="2628900" cy="5410200"/>
          </a:xfrm>
        </p:spPr>
        <p:txBody>
          <a:bodyPr vert="eaVert" lIns="45720" tIns="91440" rIns="45720" bIns="91440"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990600" y="762000"/>
            <a:ext cx="7581900" cy="5410200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3494754-273E-E948-9018-5261C08CB644}" type="datetime1">
              <a:rPr lang="en-US" smtClean="0"/>
              <a:t>10/2/25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852B8ED-7F2B-5448-BD79-1530102DF259}" type="slidenum">
              <a:rPr lang="en-US" smtClean="0"/>
              <a:t>‹#›</a:t>
            </a:fld>
            <a:endParaRPr lang="en-US"/>
          </a:p>
        </p:txBody>
      </p:sp>
      <p:cxnSp>
        <p:nvCxnSpPr>
          <p:cNvPr id="7" name="Straight Connector 6"/>
          <p:cNvCxnSpPr/>
          <p:nvPr/>
        </p:nvCxnSpPr>
        <p:spPr>
          <a:xfrm rot="5400000" flipV="1">
            <a:off x="10058400" y="59263"/>
            <a:ext cx="0" cy="914400"/>
          </a:xfrm>
          <a:prstGeom prst="line">
            <a:avLst/>
          </a:prstGeom>
          <a:ln w="19050">
            <a:solidFill>
              <a:schemeClr val="accent2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825005455"/>
      </p:ext>
    </p:extLst>
  </p:cSld>
  <p:clrMapOvr>
    <a:masterClrMapping/>
  </p:clrMapOvr>
  <p:hf hdr="0" ftr="0" dt="0"/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_rels/slideMaster2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19.xml"/><Relationship Id="rId3" Type="http://schemas.openxmlformats.org/officeDocument/2006/relationships/slideLayout" Target="../slideLayouts/slideLayout14.xml"/><Relationship Id="rId7" Type="http://schemas.openxmlformats.org/officeDocument/2006/relationships/slideLayout" Target="../slideLayouts/slideLayout18.xml"/><Relationship Id="rId12" Type="http://schemas.openxmlformats.org/officeDocument/2006/relationships/theme" Target="../theme/theme2.xml"/><Relationship Id="rId2" Type="http://schemas.openxmlformats.org/officeDocument/2006/relationships/slideLayout" Target="../slideLayouts/slideLayout13.xml"/><Relationship Id="rId1" Type="http://schemas.openxmlformats.org/officeDocument/2006/relationships/slideLayout" Target="../slideLayouts/slideLayout12.xml"/><Relationship Id="rId6" Type="http://schemas.openxmlformats.org/officeDocument/2006/relationships/slideLayout" Target="../slideLayouts/slideLayout17.xml"/><Relationship Id="rId11" Type="http://schemas.openxmlformats.org/officeDocument/2006/relationships/slideLayout" Target="../slideLayouts/slideLayout22.xml"/><Relationship Id="rId5" Type="http://schemas.openxmlformats.org/officeDocument/2006/relationships/slideLayout" Target="../slideLayouts/slideLayout16.xml"/><Relationship Id="rId10" Type="http://schemas.openxmlformats.org/officeDocument/2006/relationships/slideLayout" Target="../slideLayouts/slideLayout21.xml"/><Relationship Id="rId4" Type="http://schemas.openxmlformats.org/officeDocument/2006/relationships/slideLayout" Target="../slideLayouts/slideLayout15.xml"/><Relationship Id="rId9" Type="http://schemas.openxmlformats.org/officeDocument/2006/relationships/slideLayout" Target="../slideLayouts/slideLayout20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1024128" y="585216"/>
            <a:ext cx="9720072" cy="1499616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024128" y="2286000"/>
            <a:ext cx="9720073" cy="4023360"/>
          </a:xfrm>
          <a:prstGeom prst="rect">
            <a:avLst/>
          </a:prstGeom>
        </p:spPr>
        <p:txBody>
          <a:bodyPr vert="horz" lIns="45720" tIns="45720" rIns="4572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1024129" y="6470704"/>
            <a:ext cx="2154143" cy="274320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000">
                <a:solidFill>
                  <a:schemeClr val="tx1">
                    <a:lumMod val="95000"/>
                    <a:lumOff val="5000"/>
                  </a:schemeClr>
                </a:solidFill>
                <a:latin typeface="+mj-lt"/>
              </a:defRPr>
            </a:lvl1pPr>
          </a:lstStyle>
          <a:p>
            <a:fld id="{D3494754-273E-E948-9018-5261C08CB644}" type="datetime1">
              <a:rPr lang="en-US" smtClean="0"/>
              <a:t>10/2/25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4842932" y="6470704"/>
            <a:ext cx="5901459" cy="274320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000" cap="all" baseline="0">
                <a:solidFill>
                  <a:schemeClr val="tx1">
                    <a:lumMod val="95000"/>
                    <a:lumOff val="5000"/>
                  </a:schemeClr>
                </a:solidFill>
                <a:latin typeface="+mj-lt"/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10837333" y="6470704"/>
            <a:ext cx="973667" cy="274320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000">
                <a:solidFill>
                  <a:schemeClr val="tx1">
                    <a:lumMod val="95000"/>
                    <a:lumOff val="5000"/>
                  </a:schemeClr>
                </a:solidFill>
                <a:latin typeface="+mj-lt"/>
              </a:defRPr>
            </a:lvl1pPr>
          </a:lstStyle>
          <a:p>
            <a:fld id="{D852B8ED-7F2B-5448-BD79-1530102DF259}" type="slidenum">
              <a:rPr lang="en-US" smtClean="0"/>
              <a:t>‹#›</a:t>
            </a:fld>
            <a:endParaRPr lang="en-US"/>
          </a:p>
        </p:txBody>
      </p:sp>
      <p:cxnSp>
        <p:nvCxnSpPr>
          <p:cNvPr id="7" name="Straight Connector 6"/>
          <p:cNvCxnSpPr/>
          <p:nvPr/>
        </p:nvCxnSpPr>
        <p:spPr>
          <a:xfrm flipV="1">
            <a:off x="762000" y="826324"/>
            <a:ext cx="0" cy="914400"/>
          </a:xfrm>
          <a:prstGeom prst="line">
            <a:avLst/>
          </a:prstGeom>
          <a:ln w="19050">
            <a:solidFill>
              <a:schemeClr val="accent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624630145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896" r:id="rId1"/>
    <p:sldLayoutId id="2147483897" r:id="rId2"/>
    <p:sldLayoutId id="2147483898" r:id="rId3"/>
    <p:sldLayoutId id="2147483899" r:id="rId4"/>
    <p:sldLayoutId id="2147483900" r:id="rId5"/>
    <p:sldLayoutId id="2147483901" r:id="rId6"/>
    <p:sldLayoutId id="2147483902" r:id="rId7"/>
    <p:sldLayoutId id="2147483903" r:id="rId8"/>
    <p:sldLayoutId id="2147483904" r:id="rId9"/>
    <p:sldLayoutId id="2147483905" r:id="rId10"/>
    <p:sldLayoutId id="2147483906" r:id="rId11"/>
  </p:sldLayoutIdLst>
  <p:hf hdr="0" ftr="0" dt="0"/>
  <p:txStyles>
    <p:titleStyle>
      <a:lvl1pPr algn="l" defTabSz="914400" rtl="0" eaLnBrk="1" latinLnBrk="0" hangingPunct="1">
        <a:lnSpc>
          <a:spcPct val="80000"/>
        </a:lnSpc>
        <a:spcBef>
          <a:spcPct val="0"/>
        </a:spcBef>
        <a:buNone/>
        <a:defRPr sz="5000" kern="1200" cap="all" spc="100" baseline="0">
          <a:solidFill>
            <a:schemeClr val="tx1">
              <a:lumMod val="95000"/>
              <a:lumOff val="5000"/>
            </a:schemeClr>
          </a:solidFill>
          <a:latin typeface="+mj-lt"/>
          <a:ea typeface="+mj-ea"/>
          <a:cs typeface="+mj-cs"/>
        </a:defRPr>
      </a:lvl1pPr>
    </p:titleStyle>
    <p:bodyStyle>
      <a:lvl1pPr marL="91440" indent="-91440" algn="l" defTabSz="914400" rtl="0" eaLnBrk="1" latinLnBrk="0" hangingPunct="1">
        <a:lnSpc>
          <a:spcPct val="90000"/>
        </a:lnSpc>
        <a:spcBef>
          <a:spcPts val="1200"/>
        </a:spcBef>
        <a:spcAft>
          <a:spcPts val="200"/>
        </a:spcAft>
        <a:buClr>
          <a:schemeClr val="accent1"/>
        </a:buClr>
        <a:buSzPct val="100000"/>
        <a:buFont typeface="Tw Cen MT" panose="020B0602020104020603" pitchFamily="34" charset="0"/>
        <a:buChar char=" "/>
        <a:defRPr sz="2200" kern="1200">
          <a:solidFill>
            <a:schemeClr val="tx1"/>
          </a:solidFill>
          <a:latin typeface="+mn-lt"/>
          <a:ea typeface="+mn-ea"/>
          <a:cs typeface="+mn-cs"/>
        </a:defRPr>
      </a:lvl1pPr>
      <a:lvl2pPr marL="265176" indent="-137160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1"/>
        </a:buClr>
        <a:buFont typeface="Wingdings 3" pitchFamily="18" charset="2"/>
        <a:buChar char=""/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448056" indent="-137160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1"/>
        </a:buClr>
        <a:buFont typeface="Wingdings 3" pitchFamily="18" charset="2"/>
        <a:buChar char=""/>
        <a:defRPr sz="1400" kern="1200">
          <a:solidFill>
            <a:schemeClr val="tx1"/>
          </a:solidFill>
          <a:latin typeface="+mn-lt"/>
          <a:ea typeface="+mn-ea"/>
          <a:cs typeface="+mn-cs"/>
        </a:defRPr>
      </a:lvl3pPr>
      <a:lvl4pPr marL="594360" indent="-137160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1"/>
        </a:buClr>
        <a:buFont typeface="Wingdings 3" pitchFamily="18" charset="2"/>
        <a:buChar char=""/>
        <a:defRPr sz="1400" kern="1200">
          <a:solidFill>
            <a:schemeClr val="tx1"/>
          </a:solidFill>
          <a:latin typeface="+mn-lt"/>
          <a:ea typeface="+mn-ea"/>
          <a:cs typeface="+mn-cs"/>
        </a:defRPr>
      </a:lvl4pPr>
      <a:lvl5pPr marL="777240" indent="-137160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1"/>
        </a:buClr>
        <a:buFont typeface="Wingdings 3" pitchFamily="18" charset="2"/>
        <a:buChar char=""/>
        <a:defRPr sz="1400" kern="1200">
          <a:solidFill>
            <a:schemeClr val="tx1"/>
          </a:solidFill>
          <a:latin typeface="+mn-lt"/>
          <a:ea typeface="+mn-ea"/>
          <a:cs typeface="+mn-cs"/>
        </a:defRPr>
      </a:lvl5pPr>
      <a:lvl6pPr marL="914400" indent="-137160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1"/>
        </a:buClr>
        <a:buFont typeface="Wingdings 3" pitchFamily="18" charset="2"/>
        <a:buChar char=""/>
        <a:defRPr sz="1400" kern="1200">
          <a:solidFill>
            <a:schemeClr val="tx1"/>
          </a:solidFill>
          <a:latin typeface="+mn-lt"/>
          <a:ea typeface="+mn-ea"/>
          <a:cs typeface="+mn-cs"/>
        </a:defRPr>
      </a:lvl6pPr>
      <a:lvl7pPr marL="1060704" indent="-137160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1"/>
        </a:buClr>
        <a:buFont typeface="Wingdings 3" pitchFamily="18" charset="2"/>
        <a:buChar char=""/>
        <a:defRPr sz="1400" kern="1200">
          <a:solidFill>
            <a:schemeClr val="tx1"/>
          </a:solidFill>
          <a:latin typeface="+mn-lt"/>
          <a:ea typeface="+mn-ea"/>
          <a:cs typeface="+mn-cs"/>
        </a:defRPr>
      </a:lvl7pPr>
      <a:lvl8pPr marL="1216152" indent="-137160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1"/>
        </a:buClr>
        <a:buFont typeface="Wingdings 3" pitchFamily="18" charset="2"/>
        <a:buChar char=""/>
        <a:defRPr sz="1400" kern="1200">
          <a:solidFill>
            <a:schemeClr val="tx1"/>
          </a:solidFill>
          <a:latin typeface="+mn-lt"/>
          <a:ea typeface="+mn-ea"/>
          <a:cs typeface="+mn-cs"/>
        </a:defRPr>
      </a:lvl8pPr>
      <a:lvl9pPr marL="1362456" indent="-137160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1"/>
        </a:buClr>
        <a:buFont typeface="Wingdings 3" pitchFamily="18" charset="2"/>
        <a:buChar char=""/>
        <a:defRPr sz="14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2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1024128" y="585216"/>
            <a:ext cx="9720072" cy="1499616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024128" y="2286000"/>
            <a:ext cx="9720071" cy="4023360"/>
          </a:xfrm>
          <a:prstGeom prst="rect">
            <a:avLst/>
          </a:prstGeom>
        </p:spPr>
        <p:txBody>
          <a:bodyPr vert="horz" lIns="45720" tIns="45720" rIns="4572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1024128" y="6470704"/>
            <a:ext cx="2154142" cy="274320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000">
                <a:solidFill>
                  <a:schemeClr val="tx1">
                    <a:lumMod val="90000"/>
                    <a:lumOff val="10000"/>
                  </a:schemeClr>
                </a:solidFill>
                <a:latin typeface="+mj-lt"/>
              </a:defRPr>
            </a:lvl1pPr>
          </a:lstStyle>
          <a:p>
            <a:fld id="{D3494754-273E-E948-9018-5261C08CB644}" type="datetime1">
              <a:rPr lang="en-US" smtClean="0"/>
              <a:t>10/2/25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4842932" y="6470704"/>
            <a:ext cx="5901458" cy="274320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000" cap="all" baseline="0">
                <a:solidFill>
                  <a:schemeClr val="tx1">
                    <a:lumMod val="90000"/>
                    <a:lumOff val="10000"/>
                  </a:schemeClr>
                </a:solidFill>
                <a:latin typeface="+mj-lt"/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10837334" y="6470704"/>
            <a:ext cx="973666" cy="274320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000">
                <a:solidFill>
                  <a:schemeClr val="tx1">
                    <a:lumMod val="90000"/>
                    <a:lumOff val="10000"/>
                  </a:schemeClr>
                </a:solidFill>
                <a:latin typeface="+mj-lt"/>
              </a:defRPr>
            </a:lvl1pPr>
          </a:lstStyle>
          <a:p>
            <a:fld id="{D852B8ED-7F2B-5448-BD79-1530102DF259}" type="slidenum">
              <a:rPr lang="en-US" smtClean="0"/>
              <a:t>‹#›</a:t>
            </a:fld>
            <a:endParaRPr lang="en-US"/>
          </a:p>
        </p:txBody>
      </p:sp>
      <p:cxnSp>
        <p:nvCxnSpPr>
          <p:cNvPr id="7" name="Straight Connector 6"/>
          <p:cNvCxnSpPr/>
          <p:nvPr/>
        </p:nvCxnSpPr>
        <p:spPr>
          <a:xfrm flipV="1">
            <a:off x="762000" y="826324"/>
            <a:ext cx="0" cy="914400"/>
          </a:xfrm>
          <a:prstGeom prst="line">
            <a:avLst/>
          </a:prstGeom>
          <a:ln w="19050">
            <a:solidFill>
              <a:schemeClr val="accent2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735330692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908" r:id="rId1"/>
    <p:sldLayoutId id="2147483909" r:id="rId2"/>
    <p:sldLayoutId id="2147483910" r:id="rId3"/>
    <p:sldLayoutId id="2147483911" r:id="rId4"/>
    <p:sldLayoutId id="2147483912" r:id="rId5"/>
    <p:sldLayoutId id="2147483913" r:id="rId6"/>
    <p:sldLayoutId id="2147483914" r:id="rId7"/>
    <p:sldLayoutId id="2147483915" r:id="rId8"/>
    <p:sldLayoutId id="2147483916" r:id="rId9"/>
    <p:sldLayoutId id="2147483917" r:id="rId10"/>
    <p:sldLayoutId id="2147483918" r:id="rId11"/>
  </p:sldLayoutIdLst>
  <p:hf hdr="0" ftr="0" dt="0"/>
  <p:txStyles>
    <p:titleStyle>
      <a:lvl1pPr algn="l" defTabSz="914400" rtl="0" eaLnBrk="1" latinLnBrk="0" hangingPunct="1">
        <a:lnSpc>
          <a:spcPct val="80000"/>
        </a:lnSpc>
        <a:spcBef>
          <a:spcPct val="0"/>
        </a:spcBef>
        <a:buNone/>
        <a:defRPr sz="5000" kern="1200" cap="all" spc="100" baseline="0">
          <a:solidFill>
            <a:schemeClr val="tx1">
              <a:lumMod val="90000"/>
              <a:lumOff val="10000"/>
            </a:schemeClr>
          </a:solidFill>
          <a:latin typeface="+mj-lt"/>
          <a:ea typeface="+mj-ea"/>
          <a:cs typeface="+mj-cs"/>
        </a:defRPr>
      </a:lvl1pPr>
    </p:titleStyle>
    <p:bodyStyle>
      <a:lvl1pPr marL="91440" indent="-91440" algn="l" defTabSz="914400" rtl="0" eaLnBrk="1" latinLnBrk="0" hangingPunct="1">
        <a:lnSpc>
          <a:spcPct val="90000"/>
        </a:lnSpc>
        <a:spcBef>
          <a:spcPts val="1200"/>
        </a:spcBef>
        <a:spcAft>
          <a:spcPts val="200"/>
        </a:spcAft>
        <a:buClr>
          <a:schemeClr val="accent2"/>
        </a:buClr>
        <a:buSzPct val="100000"/>
        <a:buFont typeface="Tw Cen MT" panose="020B0602020104020603" pitchFamily="34" charset="0"/>
        <a:buChar char=" "/>
        <a:defRPr sz="2200" kern="1200">
          <a:solidFill>
            <a:schemeClr val="tx1"/>
          </a:solidFill>
          <a:latin typeface="+mn-lt"/>
          <a:ea typeface="+mn-ea"/>
          <a:cs typeface="+mn-cs"/>
        </a:defRPr>
      </a:lvl1pPr>
      <a:lvl2pPr marL="265176" indent="-137160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2"/>
        </a:buClr>
        <a:buFont typeface="Wingdings 3" pitchFamily="18" charset="2"/>
        <a:buChar char=""/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448056" indent="-137160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2"/>
        </a:buClr>
        <a:buFont typeface="Wingdings 3" pitchFamily="18" charset="2"/>
        <a:buChar char=""/>
        <a:defRPr sz="1400" kern="1200">
          <a:solidFill>
            <a:schemeClr val="tx1"/>
          </a:solidFill>
          <a:latin typeface="+mn-lt"/>
          <a:ea typeface="+mn-ea"/>
          <a:cs typeface="+mn-cs"/>
        </a:defRPr>
      </a:lvl3pPr>
      <a:lvl4pPr marL="594360" indent="-137160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2"/>
        </a:buClr>
        <a:buFont typeface="Wingdings 3" pitchFamily="18" charset="2"/>
        <a:buChar char=""/>
        <a:defRPr sz="1400" kern="1200">
          <a:solidFill>
            <a:schemeClr val="tx1"/>
          </a:solidFill>
          <a:latin typeface="+mn-lt"/>
          <a:ea typeface="+mn-ea"/>
          <a:cs typeface="+mn-cs"/>
        </a:defRPr>
      </a:lvl4pPr>
      <a:lvl5pPr marL="777240" indent="-137160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2"/>
        </a:buClr>
        <a:buFont typeface="Wingdings 3" pitchFamily="18" charset="2"/>
        <a:buChar char=""/>
        <a:defRPr sz="1400" kern="1200">
          <a:solidFill>
            <a:schemeClr val="tx1"/>
          </a:solidFill>
          <a:latin typeface="+mn-lt"/>
          <a:ea typeface="+mn-ea"/>
          <a:cs typeface="+mn-cs"/>
        </a:defRPr>
      </a:lvl5pPr>
      <a:lvl6pPr marL="914400" indent="-137160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2"/>
        </a:buClr>
        <a:buFont typeface="Wingdings 3" pitchFamily="18" charset="2"/>
        <a:buChar char=""/>
        <a:defRPr sz="1400" kern="1200">
          <a:solidFill>
            <a:schemeClr val="tx1"/>
          </a:solidFill>
          <a:latin typeface="+mn-lt"/>
          <a:ea typeface="+mn-ea"/>
          <a:cs typeface="+mn-cs"/>
        </a:defRPr>
      </a:lvl6pPr>
      <a:lvl7pPr marL="1060704" indent="-137160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2"/>
        </a:buClr>
        <a:buFont typeface="Wingdings 3" pitchFamily="18" charset="2"/>
        <a:buChar char=""/>
        <a:defRPr sz="1400" kern="1200">
          <a:solidFill>
            <a:schemeClr val="tx1"/>
          </a:solidFill>
          <a:latin typeface="+mn-lt"/>
          <a:ea typeface="+mn-ea"/>
          <a:cs typeface="+mn-cs"/>
        </a:defRPr>
      </a:lvl7pPr>
      <a:lvl8pPr marL="1216152" indent="-137160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2"/>
        </a:buClr>
        <a:buFont typeface="Wingdings 3" pitchFamily="18" charset="2"/>
        <a:buChar char=""/>
        <a:defRPr sz="1400" kern="1200">
          <a:solidFill>
            <a:schemeClr val="tx1"/>
          </a:solidFill>
          <a:latin typeface="+mn-lt"/>
          <a:ea typeface="+mn-ea"/>
          <a:cs typeface="+mn-cs"/>
        </a:defRPr>
      </a:lvl8pPr>
      <a:lvl9pPr marL="1362456" indent="-137160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2"/>
        </a:buClr>
        <a:buFont typeface="Wingdings 3" pitchFamily="18" charset="2"/>
        <a:buChar char=""/>
        <a:defRPr sz="14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jpe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2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4.png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9.png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11.png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13.png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14.png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15.png"/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7.png"/><Relationship Id="rId2" Type="http://schemas.openxmlformats.org/officeDocument/2006/relationships/image" Target="../media/image16.png"/><Relationship Id="rId1" Type="http://schemas.openxmlformats.org/officeDocument/2006/relationships/slideLayout" Target="../slideLayouts/slideLayout5.xml"/><Relationship Id="rId5" Type="http://schemas.openxmlformats.org/officeDocument/2006/relationships/image" Target="../media/image19.png"/><Relationship Id="rId4" Type="http://schemas.openxmlformats.org/officeDocument/2006/relationships/image" Target="../media/image18.png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1.png"/><Relationship Id="rId2" Type="http://schemas.openxmlformats.org/officeDocument/2006/relationships/image" Target="../media/image20.png"/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22.png"/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image" Target="../media/image23.png"/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image" Target="../media/image24.png"/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image" Target="../media/image25.png"/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8" Type="http://schemas.openxmlformats.org/officeDocument/2006/relationships/image" Target="../media/image29.png"/><Relationship Id="rId7" Type="http://schemas.openxmlformats.org/officeDocument/2006/relationships/image" Target="../media/image28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26.png"/><Relationship Id="rId5" Type="http://schemas.openxmlformats.org/officeDocument/2006/relationships/image" Target="../media/image21.png"/><Relationship Id="rId4" Type="http://schemas.openxmlformats.org/officeDocument/2006/relationships/image" Target="../media/image27.png"/><Relationship Id="rId9" Type="http://schemas.openxmlformats.org/officeDocument/2006/relationships/image" Target="../media/image30.png"/></Relationships>
</file>

<file path=ppt/slides/_rels/slide18.xml.rels><?xml version="1.0" encoding="UTF-8" standalone="yes"?>
<Relationships xmlns="http://schemas.openxmlformats.org/package/2006/relationships"><Relationship Id="rId8" Type="http://schemas.openxmlformats.org/officeDocument/2006/relationships/image" Target="../media/image300.png"/><Relationship Id="rId3" Type="http://schemas.openxmlformats.org/officeDocument/2006/relationships/image" Target="../media/image31.png"/><Relationship Id="rId7" Type="http://schemas.openxmlformats.org/officeDocument/2006/relationships/image" Target="../media/image240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290.png"/><Relationship Id="rId5" Type="http://schemas.openxmlformats.org/officeDocument/2006/relationships/image" Target="../media/image32.png"/><Relationship Id="rId4" Type="http://schemas.openxmlformats.org/officeDocument/2006/relationships/image" Target="../media/image270.png"/></Relationships>
</file>

<file path=ppt/slides/_rels/slide19.xml.rels><?xml version="1.0" encoding="UTF-8" standalone="yes"?>
<Relationships xmlns="http://schemas.openxmlformats.org/package/2006/relationships"><Relationship Id="rId2" Type="http://schemas.openxmlformats.org/officeDocument/2006/relationships/image" Target="../media/image310.png"/><Relationship Id="rId1" Type="http://schemas.openxmlformats.org/officeDocument/2006/relationships/slideLayout" Target="../slideLayouts/slideLayout2.xml"/></Relationships>
</file>

<file path=ppt/slides/_rels/slide20.xml.rels><?xml version="1.0" encoding="UTF-8" standalone="yes"?>
<Relationships xmlns="http://schemas.openxmlformats.org/package/2006/relationships"><Relationship Id="rId3" Type="http://schemas.openxmlformats.org/officeDocument/2006/relationships/image" Target="../media/image320.pn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34.png"/><Relationship Id="rId4" Type="http://schemas.openxmlformats.org/officeDocument/2006/relationships/image" Target="../media/image33.png"/></Relationships>
</file>

<file path=ppt/slides/_rels/slide21.xml.rels><?xml version="1.0" encoding="UTF-8" standalone="yes"?>
<Relationships xmlns="http://schemas.openxmlformats.org/package/2006/relationships"><Relationship Id="rId3" Type="http://schemas.openxmlformats.org/officeDocument/2006/relationships/image" Target="../media/image35.pn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2.xml"/></Relationships>
</file>

<file path=ppt/slides/_rels/slide2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2.xml"/></Relationships>
</file>

<file path=ppt/slides/_rels/slide23.xml.rels><?xml version="1.0" encoding="UTF-8" standalone="yes"?>
<Relationships xmlns="http://schemas.openxmlformats.org/package/2006/relationships"><Relationship Id="rId3" Type="http://schemas.openxmlformats.org/officeDocument/2006/relationships/image" Target="../media/image36.png"/><Relationship Id="rId2" Type="http://schemas.openxmlformats.org/officeDocument/2006/relationships/image" Target="../media/image35.jpeg"/><Relationship Id="rId1" Type="http://schemas.openxmlformats.org/officeDocument/2006/relationships/slideLayout" Target="../slideLayouts/slideLayout17.xml"/><Relationship Id="rId5" Type="http://schemas.openxmlformats.org/officeDocument/2006/relationships/image" Target="../media/image38.png"/><Relationship Id="rId4" Type="http://schemas.openxmlformats.org/officeDocument/2006/relationships/image" Target="../media/image37.jpeg"/></Relationships>
</file>

<file path=ppt/slides/_rels/slide24.xml.rels><?xml version="1.0" encoding="UTF-8" standalone="yes"?>
<Relationships xmlns="http://schemas.openxmlformats.org/package/2006/relationships"><Relationship Id="rId3" Type="http://schemas.openxmlformats.org/officeDocument/2006/relationships/image" Target="../media/image360.png"/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4" name="Picture 13" descr="A close-up of several chains&#10;&#10;AI-generated content may be incorrect.">
            <a:extLst>
              <a:ext uri="{FF2B5EF4-FFF2-40B4-BE49-F238E27FC236}">
                <a16:creationId xmlns:a16="http://schemas.microsoft.com/office/drawing/2014/main" id="{07A95EEF-BF06-FA23-3044-AA312981AE21}"/>
              </a:ext>
            </a:extLst>
          </p:cNvPr>
          <p:cNvPicPr>
            <a:picLocks noChangeAspect="1"/>
          </p:cNvPicPr>
          <p:nvPr/>
        </p:nvPicPr>
        <p:blipFill>
          <a:blip r:embed="rId3"/>
          <a:srcRect t="14416" b="1314"/>
          <a:stretch>
            <a:fillRect/>
          </a:stretch>
        </p:blipFill>
        <p:spPr>
          <a:xfrm>
            <a:off x="20" y="10"/>
            <a:ext cx="12191980" cy="6857990"/>
          </a:xfrm>
          <a:prstGeom prst="rect">
            <a:avLst/>
          </a:prstGeom>
        </p:spPr>
      </p:pic>
      <p:sp>
        <p:nvSpPr>
          <p:cNvPr id="15" name="Rectangle 14">
            <a:extLst>
              <a:ext uri="{FF2B5EF4-FFF2-40B4-BE49-F238E27FC236}">
                <a16:creationId xmlns:a16="http://schemas.microsoft.com/office/drawing/2014/main" id="{4A5BCE34-61A5-4D9E-BB0C-10B1138F2DB2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4559968"/>
            <a:ext cx="12192000" cy="2298032"/>
          </a:xfrm>
          <a:prstGeom prst="rect">
            <a:avLst/>
          </a:prstGeom>
          <a:solidFill>
            <a:schemeClr val="accent2">
              <a:alpha val="94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Tw Cen MT" panose="020B0602020104020603"/>
              <a:ea typeface="+mn-ea"/>
              <a:cs typeface="+mn-cs"/>
            </a:endParaRP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83412BD7-FD4D-4F50-4F0C-493C40AA280D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8610600" y="4960137"/>
            <a:ext cx="3200400" cy="1463040"/>
          </a:xfrm>
        </p:spPr>
        <p:txBody>
          <a:bodyPr>
            <a:normAutofit/>
          </a:bodyPr>
          <a:lstStyle/>
          <a:p>
            <a:r>
              <a:rPr lang="en-US" sz="2000" b="1" dirty="0">
                <a:solidFill>
                  <a:srgbClr val="FFFFFF"/>
                </a:solidFill>
              </a:rPr>
              <a:t>Kevin Wang</a:t>
            </a:r>
            <a:r>
              <a:rPr lang="en-US" sz="2000" dirty="0">
                <a:solidFill>
                  <a:srgbClr val="FFFFFF"/>
                </a:solidFill>
              </a:rPr>
              <a:t>, Joel Moore</a:t>
            </a:r>
          </a:p>
          <a:p>
            <a:r>
              <a:rPr lang="en-US" dirty="0">
                <a:solidFill>
                  <a:srgbClr val="FFFFFF"/>
                </a:solidFill>
              </a:rPr>
              <a:t>UC Berkeley</a:t>
            </a:r>
          </a:p>
          <a:p>
            <a:r>
              <a:rPr lang="en-US" dirty="0">
                <a:solidFill>
                  <a:srgbClr val="FFFFFF"/>
                </a:solidFill>
              </a:rPr>
              <a:t>Kavli ENSI Research Seminar</a:t>
            </a:r>
          </a:p>
        </p:txBody>
      </p:sp>
      <p:cxnSp>
        <p:nvCxnSpPr>
          <p:cNvPr id="16" name="Straight Connector 15">
            <a:extLst>
              <a:ext uri="{FF2B5EF4-FFF2-40B4-BE49-F238E27FC236}">
                <a16:creationId xmlns:a16="http://schemas.microsoft.com/office/drawing/2014/main" id="{79F1B0F4-BC5D-4BBC-BFC1-4AECA3537A9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 noGrp="1" noRot="1" noChangeAspect="1" noMove="1" noResize="1" noEditPoints="1" noAdjustHandles="1" noChangeArrowheads="1" noChangeShapeType="1"/>
          </p:cNvCxn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CxnSpPr>
        <p:spPr>
          <a:xfrm flipV="1">
            <a:off x="8386843" y="5264106"/>
            <a:ext cx="0" cy="914400"/>
          </a:xfrm>
          <a:prstGeom prst="line">
            <a:avLst/>
          </a:prstGeom>
          <a:ln w="19050">
            <a:solidFill>
              <a:srgbClr val="FFFFFF">
                <a:alpha val="80000"/>
              </a:srgb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05BDD966-0408-0CA1-4149-DF0215A3B3F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0837334" y="6470704"/>
            <a:ext cx="973666" cy="274320"/>
          </a:xfrm>
        </p:spPr>
        <p:txBody>
          <a:bodyPr>
            <a:normAutofit/>
          </a:bodyPr>
          <a:lstStyle/>
          <a:p>
            <a:pPr>
              <a:spcAft>
                <a:spcPts val="600"/>
              </a:spcAft>
            </a:pPr>
            <a:fld id="{D852B8ED-7F2B-5448-BD79-1530102DF259}" type="slidenum">
              <a:rPr lang="en-US">
                <a:solidFill>
                  <a:srgbClr val="FFFFFF">
                    <a:alpha val="80000"/>
                  </a:srgbClr>
                </a:solidFill>
              </a:rPr>
              <a:pPr>
                <a:spcAft>
                  <a:spcPts val="600"/>
                </a:spcAft>
              </a:pPr>
              <a:t>1</a:t>
            </a:fld>
            <a:endParaRPr lang="en-US">
              <a:solidFill>
                <a:srgbClr val="FFFFFF">
                  <a:alpha val="80000"/>
                </a:srgbClr>
              </a:solidFill>
            </a:endParaRPr>
          </a:p>
        </p:txBody>
      </p:sp>
      <p:sp>
        <p:nvSpPr>
          <p:cNvPr id="8" name="Title 1">
            <a:extLst>
              <a:ext uri="{FF2B5EF4-FFF2-40B4-BE49-F238E27FC236}">
                <a16:creationId xmlns:a16="http://schemas.microsoft.com/office/drawing/2014/main" id="{C17D00EF-8BEA-D560-EB0E-A25800553B6B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457200" y="4960137"/>
            <a:ext cx="7772400" cy="1463040"/>
          </a:xfrm>
        </p:spPr>
        <p:txBody>
          <a:bodyPr>
            <a:normAutofit/>
          </a:bodyPr>
          <a:lstStyle/>
          <a:p>
            <a:r>
              <a:rPr lang="en-US" sz="3500" dirty="0">
                <a:solidFill>
                  <a:srgbClr val="FFFFFF"/>
                </a:solidFill>
              </a:rPr>
              <a:t>Breakdown of Superdiffusion in Perturbed Quantum Integrable Spin</a:t>
            </a:r>
            <a:br>
              <a:rPr lang="en-US" sz="3500" dirty="0">
                <a:solidFill>
                  <a:srgbClr val="FFFFFF"/>
                </a:solidFill>
              </a:rPr>
            </a:br>
            <a:r>
              <a:rPr lang="en-US" sz="3500" dirty="0">
                <a:solidFill>
                  <a:srgbClr val="FFFFFF"/>
                </a:solidFill>
              </a:rPr>
              <a:t>Chains and Ladders</a:t>
            </a:r>
          </a:p>
        </p:txBody>
      </p:sp>
    </p:spTree>
    <p:extLst>
      <p:ext uri="{BB962C8B-B14F-4D97-AF65-F5344CB8AC3E}">
        <p14:creationId xmlns:p14="http://schemas.microsoft.com/office/powerpoint/2010/main" val="331438211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4EADFBC-62E0-2E02-7342-48DF1584A70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sz="3600" dirty="0"/>
              <a:t>Quantum Heisenberg Model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0C93D385-A6A9-2B01-E7FE-791BF52EF473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>
              <a:xfrm>
                <a:off x="1117260" y="2084832"/>
                <a:ext cx="9720073" cy="4023360"/>
              </a:xfrm>
            </p:spPr>
            <p:txBody>
              <a:bodyPr>
                <a:normAutofit/>
              </a:bodyPr>
              <a:lstStyle/>
              <a:p>
                <a:pPr marL="0" indent="0">
                  <a:buNone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sz="2400" b="0" i="1" smtClean="0">
                          <a:latin typeface="Cambria Math" panose="02040503050406030204" pitchFamily="18" charset="0"/>
                        </a:rPr>
                        <m:t>𝐻</m:t>
                      </m:r>
                      <m:r>
                        <a:rPr lang="en-US" sz="2400" b="0" i="1" smtClean="0">
                          <a:latin typeface="Cambria Math" panose="02040503050406030204" pitchFamily="18" charset="0"/>
                        </a:rPr>
                        <m:t>=</m:t>
                      </m:r>
                      <m:r>
                        <a:rPr lang="en-US" sz="2400" b="0" i="1" smtClean="0">
                          <a:latin typeface="Cambria Math" panose="02040503050406030204" pitchFamily="18" charset="0"/>
                        </a:rPr>
                        <m:t>𝐽</m:t>
                      </m:r>
                      <m:nary>
                        <m:naryPr>
                          <m:chr m:val="∑"/>
                          <m:supHide m:val="on"/>
                          <m:ctrlPr>
                            <a:rPr lang="en-US" sz="2400" b="0" i="1" smtClean="0">
                              <a:latin typeface="Cambria Math" panose="02040503050406030204" pitchFamily="18" charset="0"/>
                            </a:rPr>
                          </m:ctrlPr>
                        </m:naryPr>
                        <m:sub>
                          <m:r>
                            <m:rPr>
                              <m:brk m:alnAt="7"/>
                            </m:rPr>
                            <a:rPr lang="en-US" sz="2400" b="0" i="1" smtClean="0">
                              <a:latin typeface="Cambria Math" panose="02040503050406030204" pitchFamily="18" charset="0"/>
                            </a:rPr>
                            <m:t>&lt;</m:t>
                          </m:r>
                          <m:r>
                            <a:rPr lang="en-US" sz="2400" b="0" i="1" smtClean="0">
                              <a:latin typeface="Cambria Math" panose="02040503050406030204" pitchFamily="18" charset="0"/>
                            </a:rPr>
                            <m:t>𝑖</m:t>
                          </m:r>
                          <m:r>
                            <a:rPr lang="en-US" sz="2400" b="0" i="1" smtClean="0">
                              <a:latin typeface="Cambria Math" panose="02040503050406030204" pitchFamily="18" charset="0"/>
                            </a:rPr>
                            <m:t>,</m:t>
                          </m:r>
                          <m:r>
                            <a:rPr lang="en-US" sz="2400" b="0" i="1" smtClean="0">
                              <a:latin typeface="Cambria Math" panose="02040503050406030204" pitchFamily="18" charset="0"/>
                            </a:rPr>
                            <m:t>𝑗</m:t>
                          </m:r>
                          <m:r>
                            <a:rPr lang="en-US" sz="2400" b="0" i="1" smtClean="0">
                              <a:latin typeface="Cambria Math" panose="02040503050406030204" pitchFamily="18" charset="0"/>
                            </a:rPr>
                            <m:t>&gt;</m:t>
                          </m:r>
                        </m:sub>
                        <m:sup/>
                        <m:e>
                          <m:sSub>
                            <m:sSubPr>
                              <m:ctrlPr>
                                <a:rPr lang="en-US" sz="2400" b="0" i="1" dirty="0" smtClean="0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acc>
                                <m:accPr>
                                  <m:chr m:val="⃗"/>
                                  <m:ctrlPr>
                                    <a:rPr lang="en-US" sz="2400" b="0" i="1" dirty="0" smtClean="0">
                                      <a:latin typeface="Cambria Math" panose="02040503050406030204" pitchFamily="18" charset="0"/>
                                    </a:rPr>
                                  </m:ctrlPr>
                                </m:accPr>
                                <m:e>
                                  <m:r>
                                    <a:rPr lang="en-US" sz="2400" b="0" i="1" dirty="0" smtClean="0">
                                      <a:latin typeface="Cambria Math" panose="02040503050406030204" pitchFamily="18" charset="0"/>
                                    </a:rPr>
                                    <m:t>𝑆</m:t>
                                  </m:r>
                                </m:e>
                              </m:acc>
                            </m:e>
                            <m:sub>
                              <m:r>
                                <a:rPr lang="en-US" sz="2400" b="0" i="1" dirty="0" smtClean="0">
                                  <a:latin typeface="Cambria Math" panose="02040503050406030204" pitchFamily="18" charset="0"/>
                                </a:rPr>
                                <m:t>𝑖</m:t>
                              </m:r>
                            </m:sub>
                          </m:sSub>
                        </m:e>
                      </m:nary>
                      <m:r>
                        <a:rPr lang="en-US" sz="2400" b="0" i="1" smtClean="0">
                          <a:latin typeface="Cambria Math" panose="02040503050406030204" pitchFamily="18" charset="0"/>
                        </a:rPr>
                        <m:t>⋅</m:t>
                      </m:r>
                      <m:sSub>
                        <m:sSubPr>
                          <m:ctrlPr>
                            <a:rPr lang="en-US" sz="2400" b="0" i="1" dirty="0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acc>
                            <m:accPr>
                              <m:chr m:val="⃗"/>
                              <m:ctrlPr>
                                <a:rPr lang="en-US" sz="2400" b="0" i="1" dirty="0" smtClean="0">
                                  <a:latin typeface="Cambria Math" panose="02040503050406030204" pitchFamily="18" charset="0"/>
                                </a:rPr>
                              </m:ctrlPr>
                            </m:accPr>
                            <m:e>
                              <m:r>
                                <a:rPr lang="en-US" sz="2400" b="0" i="1" dirty="0" smtClean="0">
                                  <a:latin typeface="Cambria Math" panose="02040503050406030204" pitchFamily="18" charset="0"/>
                                </a:rPr>
                                <m:t>𝑆</m:t>
                              </m:r>
                            </m:e>
                          </m:acc>
                        </m:e>
                        <m:sub>
                          <m:r>
                            <a:rPr lang="en-US" sz="2400" b="0" i="1" dirty="0" smtClean="0">
                              <a:latin typeface="Cambria Math" panose="02040503050406030204" pitchFamily="18" charset="0"/>
                            </a:rPr>
                            <m:t>𝑗</m:t>
                          </m:r>
                        </m:sub>
                      </m:sSub>
                    </m:oMath>
                  </m:oMathPara>
                </a14:m>
                <a:endParaRPr lang="en-US" sz="2400" dirty="0"/>
              </a:p>
              <a:p>
                <a:r>
                  <a:rPr lang="en-US" sz="2400" dirty="0"/>
                  <a:t>Paradigmatic model of quantum magnetism, studied extensively since 1928</a:t>
                </a:r>
              </a:p>
              <a:p>
                <a:r>
                  <a:rPr lang="en-US" sz="2400" dirty="0"/>
                  <a:t>1D physics is extremely rich</a:t>
                </a:r>
              </a:p>
              <a:p>
                <a:pPr lvl="1"/>
                <a:r>
                  <a:rPr lang="en-US" sz="2000" dirty="0"/>
                  <a:t>Half-integer spin chains are gapless; low-temperature physics = Luttinger Liquid</a:t>
                </a:r>
              </a:p>
              <a:p>
                <a:pPr lvl="1"/>
                <a:r>
                  <a:rPr lang="en-US" sz="2000" dirty="0"/>
                  <a:t>Integer spin chains are gapped (S=1 Haldane chain is canonical example of symmetry protected topological phase)</a:t>
                </a:r>
              </a:p>
              <a:p>
                <a:r>
                  <a:rPr lang="en-US" sz="2400" dirty="0"/>
                  <a:t>S=1/2 chain is exactly solvable via the Bethe ansatz</a:t>
                </a:r>
              </a:p>
              <a:p>
                <a:pPr lvl="1"/>
                <a:r>
                  <a:rPr lang="en-US" sz="2000" dirty="0"/>
                  <a:t>Integrability </a:t>
                </a:r>
                <a14:m>
                  <m:oMath xmlns:m="http://schemas.openxmlformats.org/officeDocument/2006/math">
                    <m:r>
                      <a:rPr lang="en-US" sz="2000" i="1" dirty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⇒</m:t>
                    </m:r>
                  </m:oMath>
                </a14:m>
                <a:r>
                  <a:rPr lang="en-US" sz="2000" dirty="0"/>
                  <a:t> infinite number of local conserved charges</a:t>
                </a:r>
              </a:p>
            </p:txBody>
          </p:sp>
        </mc:Choice>
        <mc:Fallback xmlns="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0C93D385-A6A9-2B01-E7FE-791BF52EF473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xfrm>
                <a:off x="1117260" y="2084832"/>
                <a:ext cx="9720073" cy="4023360"/>
              </a:xfrm>
              <a:blipFill>
                <a:blip r:embed="rId2"/>
                <a:stretch>
                  <a:fillRect l="-391" t="-34069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2DE37BA0-EF27-0ECB-7E32-ADCEC22876C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852B8ED-7F2B-5448-BD79-1530102DF259}" type="slidenum">
              <a:rPr lang="en-US" smtClean="0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315459422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uiExpand="1" build="p"/>
    </p:bld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Title 1">
            <a:extLst>
              <a:ext uri="{FF2B5EF4-FFF2-40B4-BE49-F238E27FC236}">
                <a16:creationId xmlns:a16="http://schemas.microsoft.com/office/drawing/2014/main" id="{11C42A38-614F-CB83-1BE4-8B396C28EE5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sz="3600" dirty="0"/>
              <a:t>S=1/2 Heisenberg Chain: Anomalous Spin Transport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CF74DE38-EDE3-1DBC-0A5F-6ED7AB5DA9DD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>
              <a:xfrm>
                <a:off x="838200" y="1825625"/>
                <a:ext cx="6139375" cy="4351338"/>
              </a:xfrm>
            </p:spPr>
            <p:txBody>
              <a:bodyPr>
                <a:normAutofit/>
              </a:bodyPr>
              <a:lstStyle/>
              <a:p>
                <a:r>
                  <a:rPr lang="en-US" sz="2400" dirty="0"/>
                  <a:t>Despite nearly a century of study, new physics has emerged</a:t>
                </a:r>
              </a:p>
              <a:p>
                <a:r>
                  <a:rPr lang="en-US" sz="2400" dirty="0"/>
                  <a:t>Surprisingly, high-temperature spin transport discovered to be </a:t>
                </a:r>
                <a:r>
                  <a:rPr lang="en-US" sz="2400" i="1" dirty="0"/>
                  <a:t>anomalous</a:t>
                </a:r>
              </a:p>
              <a:p>
                <a:r>
                  <a:rPr lang="en-US" sz="2400" dirty="0"/>
                  <a:t>Dynamical critical exponent: </a:t>
                </a:r>
                <a14:m>
                  <m:oMath xmlns:m="http://schemas.openxmlformats.org/officeDocument/2006/math">
                    <m:r>
                      <a:rPr lang="en-US" sz="2400" i="1">
                        <a:latin typeface="Cambria Math" panose="02040503050406030204" pitchFamily="18" charset="0"/>
                      </a:rPr>
                      <m:t>𝑡</m:t>
                    </m:r>
                    <m:r>
                      <a:rPr lang="en-US" sz="2400" i="1">
                        <a:latin typeface="Cambria Math" panose="02040503050406030204" pitchFamily="18" charset="0"/>
                      </a:rPr>
                      <m:t>∼</m:t>
                    </m:r>
                    <m:sSup>
                      <m:sSupPr>
                        <m:ctrlPr>
                          <a:rPr lang="en-US" sz="2400" i="1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n-US" sz="2400" i="1"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  <m:sup>
                        <m:r>
                          <a:rPr lang="en-US" sz="2400" i="1">
                            <a:latin typeface="Cambria Math" panose="02040503050406030204" pitchFamily="18" charset="0"/>
                          </a:rPr>
                          <m:t>𝑧</m:t>
                        </m:r>
                      </m:sup>
                    </m:sSup>
                  </m:oMath>
                </a14:m>
                <a:endParaRPr lang="en-US" sz="2400" i="1" dirty="0">
                  <a:latin typeface="Cambria Math" panose="02040503050406030204" pitchFamily="18" charset="0"/>
                </a:endParaRPr>
              </a:p>
              <a:p>
                <a:pPr lvl="1"/>
                <a14:m>
                  <m:oMath xmlns:m="http://schemas.openxmlformats.org/officeDocument/2006/math">
                    <m:r>
                      <a:rPr lang="en-US" sz="2000" i="1" dirty="0">
                        <a:latin typeface="Cambria Math" panose="02040503050406030204" pitchFamily="18" charset="0"/>
                      </a:rPr>
                      <m:t>𝑧</m:t>
                    </m:r>
                    <m:r>
                      <a:rPr lang="en-US" sz="2000" i="1" dirty="0">
                        <a:latin typeface="Cambria Math" panose="02040503050406030204" pitchFamily="18" charset="0"/>
                      </a:rPr>
                      <m:t>=1</m:t>
                    </m:r>
                  </m:oMath>
                </a14:m>
                <a:r>
                  <a:rPr lang="en-US" sz="2000" dirty="0"/>
                  <a:t> (ballistic)</a:t>
                </a:r>
              </a:p>
              <a:p>
                <a:pPr lvl="1"/>
                <a14:m>
                  <m:oMath xmlns:m="http://schemas.openxmlformats.org/officeDocument/2006/math">
                    <m:r>
                      <a:rPr lang="en-US" sz="2000" i="1" dirty="0">
                        <a:latin typeface="Cambria Math" panose="02040503050406030204" pitchFamily="18" charset="0"/>
                      </a:rPr>
                      <m:t>𝑧</m:t>
                    </m:r>
                    <m:r>
                      <a:rPr lang="en-US" sz="2000" i="1" dirty="0">
                        <a:latin typeface="Cambria Math" panose="02040503050406030204" pitchFamily="18" charset="0"/>
                      </a:rPr>
                      <m:t>=2</m:t>
                    </m:r>
                  </m:oMath>
                </a14:m>
                <a:r>
                  <a:rPr lang="en-US" sz="2000" dirty="0"/>
                  <a:t> (diffusion)</a:t>
                </a:r>
                <a:endParaRPr lang="en-US" sz="2000" i="1" dirty="0">
                  <a:latin typeface="Cambria Math" panose="02040503050406030204" pitchFamily="18" charset="0"/>
                </a:endParaRPr>
              </a:p>
              <a:p>
                <a:pPr lvl="1"/>
                <a14:m>
                  <m:oMath xmlns:m="http://schemas.openxmlformats.org/officeDocument/2006/math">
                    <m:r>
                      <a:rPr lang="en-US" sz="2000" i="1" dirty="0" smtClean="0">
                        <a:solidFill>
                          <a:schemeClr val="accent1"/>
                        </a:solidFill>
                        <a:latin typeface="Cambria Math" panose="02040503050406030204" pitchFamily="18" charset="0"/>
                      </a:rPr>
                      <m:t>𝑧</m:t>
                    </m:r>
                    <m:r>
                      <a:rPr lang="en-US" sz="2000" i="1" dirty="0" smtClean="0">
                        <a:solidFill>
                          <a:schemeClr val="accent1"/>
                        </a:solidFill>
                        <a:latin typeface="Cambria Math" panose="02040503050406030204" pitchFamily="18" charset="0"/>
                      </a:rPr>
                      <m:t>=3/2</m:t>
                    </m:r>
                  </m:oMath>
                </a14:m>
                <a:r>
                  <a:rPr lang="en-US" sz="2000" dirty="0">
                    <a:solidFill>
                      <a:schemeClr val="accent1"/>
                    </a:solidFill>
                  </a:rPr>
                  <a:t> (superdiffusion)</a:t>
                </a:r>
              </a:p>
            </p:txBody>
          </p:sp>
        </mc:Choice>
        <mc:Fallback xmlns="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CF74DE38-EDE3-1DBC-0A5F-6ED7AB5DA9DD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xfrm>
                <a:off x="838200" y="1825625"/>
                <a:ext cx="6139375" cy="4351338"/>
              </a:xfrm>
              <a:blipFill>
                <a:blip r:embed="rId2"/>
                <a:stretch>
                  <a:fillRect l="-1033" t="-2035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C436CA70-DED4-B14F-B39C-4E7E4922249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852B8ED-7F2B-5448-BD79-1530102DF259}" type="slidenum">
              <a:rPr lang="en-US" smtClean="0"/>
              <a:t>3</a:t>
            </a:fld>
            <a:endParaRPr lang="en-US"/>
          </a:p>
        </p:txBody>
      </p:sp>
      <p:grpSp>
        <p:nvGrpSpPr>
          <p:cNvPr id="9" name="Group 8">
            <a:extLst>
              <a:ext uri="{FF2B5EF4-FFF2-40B4-BE49-F238E27FC236}">
                <a16:creationId xmlns:a16="http://schemas.microsoft.com/office/drawing/2014/main" id="{DE36BBCC-FB43-BD40-D59A-A734C4230EC7}"/>
              </a:ext>
            </a:extLst>
          </p:cNvPr>
          <p:cNvGrpSpPr/>
          <p:nvPr/>
        </p:nvGrpSpPr>
        <p:grpSpPr>
          <a:xfrm>
            <a:off x="7222603" y="1620456"/>
            <a:ext cx="4189430" cy="4326031"/>
            <a:chOff x="7222603" y="1620456"/>
            <a:chExt cx="4189430" cy="4326031"/>
          </a:xfrm>
        </p:grpSpPr>
        <p:grpSp>
          <p:nvGrpSpPr>
            <p:cNvPr id="7" name="Group 6">
              <a:extLst>
                <a:ext uri="{FF2B5EF4-FFF2-40B4-BE49-F238E27FC236}">
                  <a16:creationId xmlns:a16="http://schemas.microsoft.com/office/drawing/2014/main" id="{4CB686C5-138D-9DF5-23F0-08DE1DE10096}"/>
                </a:ext>
              </a:extLst>
            </p:cNvPr>
            <p:cNvGrpSpPr/>
            <p:nvPr/>
          </p:nvGrpSpPr>
          <p:grpSpPr>
            <a:xfrm>
              <a:off x="7222603" y="1620456"/>
              <a:ext cx="4131197" cy="3930549"/>
              <a:chOff x="7222603" y="1620456"/>
              <a:chExt cx="4131197" cy="3930549"/>
            </a:xfrm>
          </p:grpSpPr>
          <p:grpSp>
            <p:nvGrpSpPr>
              <p:cNvPr id="4" name="Group 3">
                <a:extLst>
                  <a:ext uri="{FF2B5EF4-FFF2-40B4-BE49-F238E27FC236}">
                    <a16:creationId xmlns:a16="http://schemas.microsoft.com/office/drawing/2014/main" id="{1B738DD6-6D0A-A9D8-5DB1-D02489CEC390}"/>
                  </a:ext>
                </a:extLst>
              </p:cNvPr>
              <p:cNvGrpSpPr/>
              <p:nvPr/>
            </p:nvGrpSpPr>
            <p:grpSpPr>
              <a:xfrm>
                <a:off x="7265475" y="1677384"/>
                <a:ext cx="4088325" cy="3873621"/>
                <a:chOff x="7265475" y="1492189"/>
                <a:chExt cx="4088325" cy="3873621"/>
              </a:xfrm>
            </p:grpSpPr>
            <p:pic>
              <p:nvPicPr>
                <p:cNvPr id="22" name="Picture 21">
                  <a:extLst>
                    <a:ext uri="{FF2B5EF4-FFF2-40B4-BE49-F238E27FC236}">
                      <a16:creationId xmlns:a16="http://schemas.microsoft.com/office/drawing/2014/main" id="{67C207BC-0287-2024-35F8-F3DA12818A12}"/>
                    </a:ext>
                  </a:extLst>
                </p:cNvPr>
                <p:cNvPicPr>
                  <a:picLocks noChangeAspect="1"/>
                </p:cNvPicPr>
                <p:nvPr/>
              </p:nvPicPr>
              <p:blipFill>
                <a:blip r:embed="rId3"/>
                <a:stretch>
                  <a:fillRect/>
                </a:stretch>
              </p:blipFill>
              <p:spPr>
                <a:xfrm>
                  <a:off x="7265475" y="1492189"/>
                  <a:ext cx="4088325" cy="3873621"/>
                </a:xfrm>
                <a:prstGeom prst="rect">
                  <a:avLst/>
                </a:prstGeom>
              </p:spPr>
            </p:pic>
            <mc:AlternateContent xmlns:mc="http://schemas.openxmlformats.org/markup-compatibility/2006" xmlns:a14="http://schemas.microsoft.com/office/drawing/2010/main">
              <mc:Choice Requires="a14">
                <p:sp>
                  <p:nvSpPr>
                    <p:cNvPr id="2" name="TextBox 1">
                      <a:extLst>
                        <a:ext uri="{FF2B5EF4-FFF2-40B4-BE49-F238E27FC236}">
                          <a16:creationId xmlns:a16="http://schemas.microsoft.com/office/drawing/2014/main" id="{4B44C303-E774-74E4-A117-2CDA569DB276}"/>
                        </a:ext>
                      </a:extLst>
                    </p:cNvPr>
                    <p:cNvSpPr txBox="1"/>
                    <p:nvPr/>
                  </p:nvSpPr>
                  <p:spPr>
                    <a:xfrm>
                      <a:off x="9821074" y="3049343"/>
                      <a:ext cx="900440" cy="379656"/>
                    </a:xfrm>
                    <a:prstGeom prst="rect">
                      <a:avLst/>
                    </a:prstGeom>
                    <a:noFill/>
                  </p:spPr>
                  <p:txBody>
                    <a:bodyPr wrap="square" rtlCol="0">
                      <a:spAutoFit/>
                    </a:bodyPr>
                    <a:lstStyle/>
                    <a:p>
                      <a:pPr/>
                      <a14:m>
                        <m:oMathPara xmlns:m="http://schemas.openxmlformats.org/officeDocument/2006/math">
                          <m:oMathParaPr>
                            <m:jc m:val="centerGroup"/>
                          </m:oMathParaPr>
                          <m:oMath xmlns:m="http://schemas.openxmlformats.org/officeDocument/2006/math">
                            <m:r>
                              <a:rPr lang="en-US" b="0" i="1" smtClean="0">
                                <a:solidFill>
                                  <a:schemeClr val="accent6">
                                    <a:lumMod val="75000"/>
                                  </a:schemeClr>
                                </a:solidFill>
                                <a:latin typeface="Cambria Math" panose="02040503050406030204" pitchFamily="18" charset="0"/>
                              </a:rPr>
                              <m:t>𝑥</m:t>
                            </m:r>
                            <m:r>
                              <a:rPr lang="en-US" b="0" i="1" smtClean="0">
                                <a:solidFill>
                                  <a:schemeClr val="accent6">
                                    <a:lumMod val="75000"/>
                                  </a:schemeClr>
                                </a:solidFill>
                                <a:latin typeface="Cambria Math" panose="02040503050406030204" pitchFamily="18" charset="0"/>
                              </a:rPr>
                              <m:t> ~ </m:t>
                            </m:r>
                            <m:sSup>
                              <m:sSupPr>
                                <m:ctrlPr>
                                  <a:rPr lang="en-US" b="0" i="1" smtClean="0">
                                    <a:solidFill>
                                      <a:schemeClr val="accent6">
                                        <a:lumMod val="75000"/>
                                      </a:schemeClr>
                                    </a:solidFill>
                                    <a:latin typeface="Cambria Math" panose="02040503050406030204" pitchFamily="18" charset="0"/>
                                  </a:rPr>
                                </m:ctrlPr>
                              </m:sSupPr>
                              <m:e>
                                <m:r>
                                  <a:rPr lang="en-US" b="0" i="1" smtClean="0">
                                    <a:solidFill>
                                      <a:schemeClr val="accent6">
                                        <a:lumMod val="75000"/>
                                      </a:schemeClr>
                                    </a:solidFill>
                                    <a:latin typeface="Cambria Math" panose="02040503050406030204" pitchFamily="18" charset="0"/>
                                  </a:rPr>
                                  <m:t>𝑡</m:t>
                                </m:r>
                              </m:e>
                              <m:sup>
                                <m:r>
                                  <a:rPr lang="en-US" b="0" i="1" smtClean="0">
                                    <a:solidFill>
                                      <a:schemeClr val="accent6">
                                        <a:lumMod val="75000"/>
                                      </a:schemeClr>
                                    </a:solidFill>
                                    <a:latin typeface="Cambria Math" panose="02040503050406030204" pitchFamily="18" charset="0"/>
                                  </a:rPr>
                                  <m:t>2/3</m:t>
                                </m:r>
                              </m:sup>
                            </m:sSup>
                          </m:oMath>
                        </m:oMathPara>
                      </a14:m>
                      <a:endParaRPr lang="en-US" dirty="0">
                        <a:solidFill>
                          <a:schemeClr val="accent6">
                            <a:lumMod val="75000"/>
                          </a:schemeClr>
                        </a:solidFill>
                      </a:endParaRPr>
                    </a:p>
                  </p:txBody>
                </p:sp>
              </mc:Choice>
              <mc:Fallback xmlns="">
                <p:sp>
                  <p:nvSpPr>
                    <p:cNvPr id="2" name="TextBox 1">
                      <a:extLst>
                        <a:ext uri="{FF2B5EF4-FFF2-40B4-BE49-F238E27FC236}">
                          <a16:creationId xmlns:a16="http://schemas.microsoft.com/office/drawing/2014/main" id="{4B44C303-E774-74E4-A117-2CDA569DB276}"/>
                        </a:ext>
                      </a:extLst>
                    </p:cNvPr>
                    <p:cNvSpPr txBox="1">
                      <a:spLocks noRot="1" noChangeAspect="1" noMove="1" noResize="1" noEditPoints="1" noAdjustHandles="1" noChangeArrowheads="1" noChangeShapeType="1" noTextEdit="1"/>
                    </p:cNvSpPr>
                    <p:nvPr/>
                  </p:nvSpPr>
                  <p:spPr>
                    <a:xfrm>
                      <a:off x="9821074" y="3049343"/>
                      <a:ext cx="900440" cy="379656"/>
                    </a:xfrm>
                    <a:prstGeom prst="rect">
                      <a:avLst/>
                    </a:prstGeom>
                    <a:blipFill>
                      <a:blip r:embed="rId4"/>
                      <a:stretch>
                        <a:fillRect r="-3378"/>
                      </a:stretch>
                    </a:blipFill>
                  </p:spPr>
                  <p:txBody>
                    <a:bodyPr/>
                    <a:lstStyle/>
                    <a:p>
                      <a:r>
                        <a:rPr lang="en-US">
                          <a:noFill/>
                        </a:rPr>
                        <a:t> </a:t>
                      </a:r>
                    </a:p>
                  </p:txBody>
                </p:sp>
              </mc:Fallback>
            </mc:AlternateContent>
          </p:grpSp>
          <p:sp>
            <p:nvSpPr>
              <p:cNvPr id="6" name="Rectangle 5">
                <a:extLst>
                  <a:ext uri="{FF2B5EF4-FFF2-40B4-BE49-F238E27FC236}">
                    <a16:creationId xmlns:a16="http://schemas.microsoft.com/office/drawing/2014/main" id="{0C3F84B4-3EC5-1632-CECD-FB6A1043E248}"/>
                  </a:ext>
                </a:extLst>
              </p:cNvPr>
              <p:cNvSpPr/>
              <p:nvPr/>
            </p:nvSpPr>
            <p:spPr>
              <a:xfrm>
                <a:off x="7222603" y="1620456"/>
                <a:ext cx="300941" cy="358815"/>
              </a:xfrm>
              <a:prstGeom prst="rect">
                <a:avLst/>
              </a:prstGeom>
              <a:ln>
                <a:solidFill>
                  <a:schemeClr val="bg1"/>
                </a:solidFill>
              </a:ln>
            </p:spPr>
            <p:style>
              <a:lnRef idx="2">
                <a:schemeClr val="accent6"/>
              </a:lnRef>
              <a:fillRef idx="1">
                <a:schemeClr val="lt1"/>
              </a:fillRef>
              <a:effectRef idx="0">
                <a:schemeClr val="accent6"/>
              </a:effectRef>
              <a:fontRef idx="minor">
                <a:schemeClr val="dk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</p:grpSp>
        <p:sp>
          <p:nvSpPr>
            <p:cNvPr id="8" name="TextBox 7">
              <a:extLst>
                <a:ext uri="{FF2B5EF4-FFF2-40B4-BE49-F238E27FC236}">
                  <a16:creationId xmlns:a16="http://schemas.microsoft.com/office/drawing/2014/main" id="{A9E0FB26-326B-8DE8-ED55-A71D64CDA13F}"/>
                </a:ext>
              </a:extLst>
            </p:cNvPr>
            <p:cNvSpPr txBox="1"/>
            <p:nvPr/>
          </p:nvSpPr>
          <p:spPr>
            <a:xfrm>
              <a:off x="8230115" y="5607933"/>
              <a:ext cx="3181918" cy="338554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sz="1600" dirty="0" err="1">
                  <a:solidFill>
                    <a:schemeClr val="tx1">
                      <a:lumMod val="65000"/>
                      <a:lumOff val="35000"/>
                    </a:schemeClr>
                  </a:solidFill>
                </a:rPr>
                <a:t>Ljubotina</a:t>
              </a:r>
              <a:r>
                <a:rPr lang="en-US" sz="1600" dirty="0">
                  <a:solidFill>
                    <a:schemeClr val="tx1">
                      <a:lumMod val="65000"/>
                      <a:lumOff val="35000"/>
                    </a:schemeClr>
                  </a:solidFill>
                </a:rPr>
                <a:t>, Žnidarič &amp; Prosen, ‘17</a:t>
              </a:r>
            </a:p>
          </p:txBody>
        </p:sp>
      </p:grpSp>
    </p:spTree>
    <p:extLst>
      <p:ext uri="{BB962C8B-B14F-4D97-AF65-F5344CB8AC3E}">
        <p14:creationId xmlns:p14="http://schemas.microsoft.com/office/powerpoint/2010/main" val="3266988865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3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5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0BA460F-39D8-9A37-4D7A-BC7139EEBF8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84CDE8C-E1FA-BDE8-C0C5-E6C8D196A47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sz="3600" dirty="0"/>
              <a:t>Generalized Hydrodynamics (GHD)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EFD0F712-28CC-2563-C475-FFDC6277271C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>
              <a:xfrm>
                <a:off x="838200" y="1825625"/>
                <a:ext cx="5898931" cy="4351338"/>
              </a:xfrm>
            </p:spPr>
            <p:txBody>
              <a:bodyPr>
                <a:normAutofit/>
              </a:bodyPr>
              <a:lstStyle/>
              <a:p>
                <a:pPr marL="0" indent="0">
                  <a:buNone/>
                </a:pPr>
                <a:r>
                  <a:rPr lang="en-US" sz="2400" b="1" dirty="0"/>
                  <a:t>How do we characterize non-equilibrium dynamics of integrable systems?</a:t>
                </a:r>
              </a:p>
              <a:p>
                <a:r>
                  <a:rPr lang="en-US" sz="2400" dirty="0"/>
                  <a:t>Integrability </a:t>
                </a:r>
                <a14:m>
                  <m:oMath xmlns:m="http://schemas.openxmlformats.org/officeDocument/2006/math">
                    <m:r>
                      <a:rPr lang="en-US" sz="2400" i="1" dirty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⇒</m:t>
                    </m:r>
                  </m:oMath>
                </a14:m>
                <a:r>
                  <a:rPr lang="en-US" sz="2400" dirty="0"/>
                  <a:t> infinite number of stable, ballistically propagating quasiparticles (e.g. Bethe strings)</a:t>
                </a:r>
              </a:p>
              <a:p>
                <a:r>
                  <a:rPr lang="en-US" sz="2400" dirty="0"/>
                  <a:t>GHD: </a:t>
                </a:r>
              </a:p>
              <a:p>
                <a:pPr lvl="1"/>
                <a:r>
                  <a:rPr lang="en-US" sz="2000" dirty="0"/>
                  <a:t>Local equilibration to generalized Gibbs ensemble (GGE)</a:t>
                </a:r>
              </a:p>
              <a:p>
                <a:pPr lvl="1"/>
                <a:r>
                  <a:rPr lang="en-US" sz="2000" dirty="0"/>
                  <a:t>Continuity equations for conserved charges</a:t>
                </a:r>
              </a:p>
              <a:p>
                <a:pPr lvl="1"/>
                <a:r>
                  <a:rPr lang="en-US" sz="2000" dirty="0"/>
                  <a:t>Convert to basis of quasiparticle densities</a:t>
                </a:r>
              </a:p>
            </p:txBody>
          </p:sp>
        </mc:Choice>
        <mc:Fallback xmlns="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EFD0F712-28CC-2563-C475-FFDC6277271C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xfrm>
                <a:off x="838200" y="1825625"/>
                <a:ext cx="5898931" cy="4351338"/>
              </a:xfrm>
              <a:blipFill>
                <a:blip r:embed="rId3"/>
                <a:stretch>
                  <a:fillRect l="-2581" t="-2035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1E45C89C-D9A8-B58A-0212-6C307EACD32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852B8ED-7F2B-5448-BD79-1530102DF259}" type="slidenum">
              <a:rPr lang="en-US" smtClean="0"/>
              <a:t>4</a:t>
            </a:fld>
            <a:endParaRPr lang="en-US"/>
          </a:p>
        </p:txBody>
      </p:sp>
      <p:grpSp>
        <p:nvGrpSpPr>
          <p:cNvPr id="7" name="Group 6">
            <a:extLst>
              <a:ext uri="{FF2B5EF4-FFF2-40B4-BE49-F238E27FC236}">
                <a16:creationId xmlns:a16="http://schemas.microsoft.com/office/drawing/2014/main" id="{50FD6718-5A10-DB3C-CCF9-56FF6D528AE8}"/>
              </a:ext>
            </a:extLst>
          </p:cNvPr>
          <p:cNvGrpSpPr/>
          <p:nvPr/>
        </p:nvGrpSpPr>
        <p:grpSpPr>
          <a:xfrm>
            <a:off x="6653048" y="2048423"/>
            <a:ext cx="5349725" cy="3714941"/>
            <a:chOff x="6653048" y="2048423"/>
            <a:chExt cx="5349725" cy="3714941"/>
          </a:xfrm>
        </p:grpSpPr>
        <p:pic>
          <p:nvPicPr>
            <p:cNvPr id="5" name="Picture 4">
              <a:extLst>
                <a:ext uri="{FF2B5EF4-FFF2-40B4-BE49-F238E27FC236}">
                  <a16:creationId xmlns:a16="http://schemas.microsoft.com/office/drawing/2014/main" id="{AD28233C-94EE-975B-D6BC-31EFA6E04078}"/>
                </a:ext>
              </a:extLst>
            </p:cNvPr>
            <p:cNvPicPr>
              <a:picLocks noChangeAspect="1"/>
            </p:cNvPicPr>
            <p:nvPr/>
          </p:nvPicPr>
          <p:blipFill>
            <a:blip r:embed="rId4"/>
            <a:stretch>
              <a:fillRect/>
            </a:stretch>
          </p:blipFill>
          <p:spPr>
            <a:xfrm>
              <a:off x="6653048" y="2048423"/>
              <a:ext cx="5349725" cy="3301343"/>
            </a:xfrm>
            <a:prstGeom prst="rect">
              <a:avLst/>
            </a:prstGeom>
          </p:spPr>
        </p:pic>
        <p:sp>
          <p:nvSpPr>
            <p:cNvPr id="6" name="TextBox 5">
              <a:extLst>
                <a:ext uri="{FF2B5EF4-FFF2-40B4-BE49-F238E27FC236}">
                  <a16:creationId xmlns:a16="http://schemas.microsoft.com/office/drawing/2014/main" id="{8843B29D-C26B-170A-0F9C-DFDB9A61D718}"/>
                </a:ext>
              </a:extLst>
            </p:cNvPr>
            <p:cNvSpPr txBox="1"/>
            <p:nvPr/>
          </p:nvSpPr>
          <p:spPr>
            <a:xfrm>
              <a:off x="8048530" y="5424810"/>
              <a:ext cx="3121039" cy="338554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sz="1600" dirty="0">
                  <a:solidFill>
                    <a:schemeClr val="tx1">
                      <a:lumMod val="65000"/>
                      <a:lumOff val="35000"/>
                    </a:schemeClr>
                  </a:solidFill>
                </a:rPr>
                <a:t>Doyon, </a:t>
              </a:r>
              <a:r>
                <a:rPr lang="en-US" sz="1600" i="1" dirty="0" err="1">
                  <a:solidFill>
                    <a:schemeClr val="tx1">
                      <a:lumMod val="65000"/>
                      <a:lumOff val="35000"/>
                    </a:schemeClr>
                  </a:solidFill>
                </a:rPr>
                <a:t>SciPost</a:t>
              </a:r>
              <a:r>
                <a:rPr lang="en-US" sz="1600" i="1" dirty="0">
                  <a:solidFill>
                    <a:schemeClr val="tx1">
                      <a:lumMod val="65000"/>
                      <a:lumOff val="35000"/>
                    </a:schemeClr>
                  </a:solidFill>
                </a:rPr>
                <a:t> Phys. Lect. Notes,</a:t>
              </a:r>
              <a:r>
                <a:rPr lang="en-US" sz="1600" dirty="0">
                  <a:solidFill>
                    <a:schemeClr val="tx1">
                      <a:lumMod val="65000"/>
                      <a:lumOff val="35000"/>
                    </a:schemeClr>
                  </a:solidFill>
                </a:rPr>
                <a:t> ‘20</a:t>
              </a:r>
            </a:p>
          </p:txBody>
        </p:sp>
      </p:grpSp>
    </p:spTree>
    <p:extLst>
      <p:ext uri="{BB962C8B-B14F-4D97-AF65-F5344CB8AC3E}">
        <p14:creationId xmlns:p14="http://schemas.microsoft.com/office/powerpoint/2010/main" val="1523950812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3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5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8444A00-B605-FE26-4F59-A6163DC25FA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3AF84A8-2F0E-5763-EA5F-556346964BC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sz="3600" dirty="0"/>
              <a:t>Generalized Hydrodynamics (GHD)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0B97FA0C-E35B-49D9-3696-818E722CDA56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024128" y="2084832"/>
            <a:ext cx="9720073" cy="4224528"/>
          </a:xfrm>
        </p:spPr>
        <p:txBody>
          <a:bodyPr/>
          <a:lstStyle/>
          <a:p>
            <a:pPr marL="0" indent="0">
              <a:buNone/>
            </a:pPr>
            <a:r>
              <a:rPr lang="en-US" dirty="0"/>
              <a:t>Intuitive picture: quasiparticles travel ballistically with effective velocity and charge </a:t>
            </a:r>
            <a:r>
              <a:rPr lang="en-US" i="1" dirty="0"/>
              <a:t>dressed (renormalized) </a:t>
            </a:r>
            <a:r>
              <a:rPr lang="en-US" dirty="0"/>
              <a:t>by elastic collisions with other quasiparticles</a:t>
            </a:r>
            <a:endParaRPr lang="en-US" i="1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CDADAA62-ED21-81DA-21EF-F533E79F56B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852B8ED-7F2B-5448-BD79-1530102DF259}" type="slidenum">
              <a:rPr lang="en-US" smtClean="0"/>
              <a:t>5</a:t>
            </a:fld>
            <a:endParaRPr lang="en-US"/>
          </a:p>
        </p:txBody>
      </p:sp>
      <p:grpSp>
        <p:nvGrpSpPr>
          <p:cNvPr id="7" name="Group 6">
            <a:extLst>
              <a:ext uri="{FF2B5EF4-FFF2-40B4-BE49-F238E27FC236}">
                <a16:creationId xmlns:a16="http://schemas.microsoft.com/office/drawing/2014/main" id="{16DE18E5-18BA-55E4-819E-B0E2DB75AF8B}"/>
              </a:ext>
            </a:extLst>
          </p:cNvPr>
          <p:cNvGrpSpPr/>
          <p:nvPr/>
        </p:nvGrpSpPr>
        <p:grpSpPr>
          <a:xfrm>
            <a:off x="3867490" y="3097891"/>
            <a:ext cx="4457020" cy="3162929"/>
            <a:chOff x="3867490" y="3097891"/>
            <a:chExt cx="4457020" cy="3162929"/>
          </a:xfrm>
        </p:grpSpPr>
        <p:pic>
          <p:nvPicPr>
            <p:cNvPr id="6" name="Picture 5">
              <a:extLst>
                <a:ext uri="{FF2B5EF4-FFF2-40B4-BE49-F238E27FC236}">
                  <a16:creationId xmlns:a16="http://schemas.microsoft.com/office/drawing/2014/main" id="{12418434-E62E-03FC-9169-06D3025CD772}"/>
                </a:ext>
              </a:extLst>
            </p:cNvPr>
            <p:cNvPicPr>
              <a:picLocks noChangeAspect="1"/>
            </p:cNvPicPr>
            <p:nvPr/>
          </p:nvPicPr>
          <p:blipFill>
            <a:blip r:embed="rId3"/>
            <a:stretch>
              <a:fillRect/>
            </a:stretch>
          </p:blipFill>
          <p:spPr>
            <a:xfrm>
              <a:off x="3867490" y="3097891"/>
              <a:ext cx="4457020" cy="2961761"/>
            </a:xfrm>
            <a:prstGeom prst="rect">
              <a:avLst/>
            </a:prstGeom>
          </p:spPr>
        </p:pic>
        <p:sp>
          <p:nvSpPr>
            <p:cNvPr id="5" name="TextBox 4">
              <a:extLst>
                <a:ext uri="{FF2B5EF4-FFF2-40B4-BE49-F238E27FC236}">
                  <a16:creationId xmlns:a16="http://schemas.microsoft.com/office/drawing/2014/main" id="{EEA432CC-BBC8-5841-432F-AE9B40499383}"/>
                </a:ext>
              </a:extLst>
            </p:cNvPr>
            <p:cNvSpPr txBox="1"/>
            <p:nvPr/>
          </p:nvSpPr>
          <p:spPr>
            <a:xfrm>
              <a:off x="4834360" y="5922266"/>
              <a:ext cx="3071150" cy="338554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sz="1600" dirty="0">
                  <a:solidFill>
                    <a:schemeClr val="tx1">
                      <a:lumMod val="65000"/>
                      <a:lumOff val="35000"/>
                    </a:schemeClr>
                  </a:solidFill>
                </a:rPr>
                <a:t>Doyon, </a:t>
              </a:r>
              <a:r>
                <a:rPr lang="en-US" sz="1600" i="1" dirty="0" err="1">
                  <a:solidFill>
                    <a:schemeClr val="tx1">
                      <a:lumMod val="65000"/>
                      <a:lumOff val="35000"/>
                    </a:schemeClr>
                  </a:solidFill>
                </a:rPr>
                <a:t>SciPost</a:t>
              </a:r>
              <a:r>
                <a:rPr lang="en-US" sz="1600" i="1" dirty="0">
                  <a:solidFill>
                    <a:schemeClr val="tx1">
                      <a:lumMod val="65000"/>
                      <a:lumOff val="35000"/>
                    </a:schemeClr>
                  </a:solidFill>
                </a:rPr>
                <a:t> Phys. Lect. Notes,</a:t>
              </a:r>
              <a:r>
                <a:rPr lang="en-US" sz="1600" dirty="0">
                  <a:solidFill>
                    <a:schemeClr val="tx1">
                      <a:lumMod val="65000"/>
                      <a:lumOff val="35000"/>
                    </a:schemeClr>
                  </a:solidFill>
                </a:rPr>
                <a:t> ‘20</a:t>
              </a:r>
            </a:p>
          </p:txBody>
        </p:sp>
      </p:grpSp>
    </p:spTree>
    <p:extLst>
      <p:ext uri="{BB962C8B-B14F-4D97-AF65-F5344CB8AC3E}">
        <p14:creationId xmlns:p14="http://schemas.microsoft.com/office/powerpoint/2010/main" val="1696777204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3C13A59-945D-537E-A93E-3B94AA774C3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778ED10-1643-C5F6-E968-0C62B09C4E0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sz="3600" dirty="0"/>
              <a:t>S=1/2 Heisenberg Chain: Anomalous Spin Transport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420F5043-2CBE-1D21-B3B3-51D93EFE7E7D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/>
            <p:txBody>
              <a:bodyPr/>
              <a:lstStyle/>
              <a:p>
                <a:r>
                  <a:rPr lang="en-US" sz="2400" dirty="0"/>
                  <a:t>Generically, GHD predicts </a:t>
                </a:r>
                <a:r>
                  <a:rPr lang="en-US" sz="2400" i="1" dirty="0"/>
                  <a:t>ballistic </a:t>
                </a:r>
                <a:r>
                  <a:rPr lang="en-US" sz="2400" dirty="0"/>
                  <a:t>(</a:t>
                </a:r>
                <a14:m>
                  <m:oMath xmlns:m="http://schemas.openxmlformats.org/officeDocument/2006/math">
                    <m:r>
                      <a:rPr lang="en-US" sz="2400" i="1" dirty="0" smtClean="0">
                        <a:latin typeface="Cambria Math" panose="02040503050406030204" pitchFamily="18" charset="0"/>
                      </a:rPr>
                      <m:t>𝑧</m:t>
                    </m:r>
                    <m:r>
                      <a:rPr lang="en-US" sz="2400" i="1" dirty="0" smtClean="0">
                        <a:latin typeface="Cambria Math" panose="02040503050406030204" pitchFamily="18" charset="0"/>
                      </a:rPr>
                      <m:t>=1</m:t>
                    </m:r>
                  </m:oMath>
                </a14:m>
                <a:r>
                  <a:rPr lang="en-US" sz="2400" dirty="0"/>
                  <a:t>) transport</a:t>
                </a:r>
              </a:p>
              <a:p>
                <a:r>
                  <a:rPr lang="en-US" sz="2400" dirty="0"/>
                  <a:t>But, dressed charge can become zero </a:t>
                </a:r>
                <a14:m>
                  <m:oMath xmlns:m="http://schemas.openxmlformats.org/officeDocument/2006/math">
                    <m:r>
                      <a:rPr lang="en-US" sz="2400" i="1" dirty="0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⇒</m:t>
                    </m:r>
                  </m:oMath>
                </a14:m>
                <a:r>
                  <a:rPr lang="en-US" sz="2400" dirty="0"/>
                  <a:t> sub-ballistic transport</a:t>
                </a:r>
              </a:p>
              <a:p>
                <a:r>
                  <a:rPr lang="en-US" sz="2400" dirty="0"/>
                  <a:t>Spin transport of XXZ Chain at half-filling </a:t>
                </a:r>
                <a14:m>
                  <m:oMath xmlns:m="http://schemas.openxmlformats.org/officeDocument/2006/math">
                    <m:r>
                      <a:rPr lang="en-US" sz="2000" b="0" i="0" smtClean="0">
                        <a:latin typeface="Cambria Math" panose="02040503050406030204" pitchFamily="18" charset="0"/>
                      </a:rPr>
                      <m:t>   </m:t>
                    </m:r>
                    <m:r>
                      <a:rPr lang="en-US" sz="2000" i="1">
                        <a:latin typeface="Cambria Math" panose="02040503050406030204" pitchFamily="18" charset="0"/>
                      </a:rPr>
                      <m:t>𝐻</m:t>
                    </m:r>
                    <m:r>
                      <a:rPr lang="en-US" sz="2000" i="1">
                        <a:latin typeface="Cambria Math" panose="02040503050406030204" pitchFamily="18" charset="0"/>
                      </a:rPr>
                      <m:t>=</m:t>
                    </m:r>
                    <m:r>
                      <a:rPr lang="en-US" sz="2000" i="1">
                        <a:latin typeface="Cambria Math" panose="02040503050406030204" pitchFamily="18" charset="0"/>
                      </a:rPr>
                      <m:t>𝐽</m:t>
                    </m:r>
                    <m:nary>
                      <m:naryPr>
                        <m:chr m:val="∑"/>
                        <m:supHide m:val="on"/>
                        <m:ctrlPr>
                          <a:rPr lang="en-US" sz="2000" i="1">
                            <a:latin typeface="Cambria Math" panose="02040503050406030204" pitchFamily="18" charset="0"/>
                          </a:rPr>
                        </m:ctrlPr>
                      </m:naryPr>
                      <m:sub>
                        <m:r>
                          <m:rPr>
                            <m:brk m:alnAt="7"/>
                          </m:rPr>
                          <a:rPr lang="en-US" sz="2000" i="1">
                            <a:latin typeface="Cambria Math" panose="02040503050406030204" pitchFamily="18" charset="0"/>
                          </a:rPr>
                          <m:t>&lt;</m:t>
                        </m:r>
                        <m:r>
                          <a:rPr lang="en-US" sz="2000" i="1">
                            <a:latin typeface="Cambria Math" panose="02040503050406030204" pitchFamily="18" charset="0"/>
                          </a:rPr>
                          <m:t>𝑖</m:t>
                        </m:r>
                        <m:r>
                          <a:rPr lang="en-US" sz="2000" i="1">
                            <a:latin typeface="Cambria Math" panose="02040503050406030204" pitchFamily="18" charset="0"/>
                          </a:rPr>
                          <m:t>,</m:t>
                        </m:r>
                        <m:r>
                          <a:rPr lang="en-US" sz="2000" i="1">
                            <a:latin typeface="Cambria Math" panose="02040503050406030204" pitchFamily="18" charset="0"/>
                          </a:rPr>
                          <m:t>𝑗</m:t>
                        </m:r>
                        <m:r>
                          <a:rPr lang="en-US" sz="2000" i="1">
                            <a:latin typeface="Cambria Math" panose="02040503050406030204" pitchFamily="18" charset="0"/>
                          </a:rPr>
                          <m:t>&gt;</m:t>
                        </m:r>
                      </m:sub>
                      <m:sup/>
                      <m:e>
                        <m:sSubSup>
                          <m:sSubSupPr>
                            <m:ctrlPr>
                              <a:rPr lang="en-US" sz="2000" b="0" i="1" smtClean="0">
                                <a:latin typeface="Cambria Math" panose="02040503050406030204" pitchFamily="18" charset="0"/>
                              </a:rPr>
                            </m:ctrlPr>
                          </m:sSubSupPr>
                          <m:e>
                            <m:r>
                              <a:rPr lang="en-US" sz="2000" b="0" i="1" smtClean="0">
                                <a:latin typeface="Cambria Math" panose="02040503050406030204" pitchFamily="18" charset="0"/>
                              </a:rPr>
                              <m:t>𝑆</m:t>
                            </m:r>
                          </m:e>
                          <m:sub>
                            <m:r>
                              <a:rPr lang="en-US" sz="2000" b="0" i="1" smtClean="0">
                                <a:latin typeface="Cambria Math" panose="02040503050406030204" pitchFamily="18" charset="0"/>
                              </a:rPr>
                              <m:t>𝑖</m:t>
                            </m:r>
                          </m:sub>
                          <m:sup>
                            <m:r>
                              <a:rPr lang="en-US" sz="2000" b="0" i="1" smtClean="0">
                                <a:latin typeface="Cambria Math" panose="02040503050406030204" pitchFamily="18" charset="0"/>
                              </a:rPr>
                              <m:t>𝑥</m:t>
                            </m:r>
                          </m:sup>
                        </m:sSubSup>
                        <m:sSubSup>
                          <m:sSubSupPr>
                            <m:ctrlPr>
                              <a:rPr lang="en-US" sz="2000" i="1">
                                <a:latin typeface="Cambria Math" panose="02040503050406030204" pitchFamily="18" charset="0"/>
                              </a:rPr>
                            </m:ctrlPr>
                          </m:sSubSupPr>
                          <m:e>
                            <m:r>
                              <a:rPr lang="en-US" sz="2000" i="1">
                                <a:latin typeface="Cambria Math" panose="02040503050406030204" pitchFamily="18" charset="0"/>
                              </a:rPr>
                              <m:t>𝑆</m:t>
                            </m:r>
                          </m:e>
                          <m:sub>
                            <m:r>
                              <a:rPr lang="en-US" sz="2000" i="1">
                                <a:latin typeface="Cambria Math" panose="02040503050406030204" pitchFamily="18" charset="0"/>
                              </a:rPr>
                              <m:t>𝑖</m:t>
                            </m:r>
                          </m:sub>
                          <m:sup>
                            <m:r>
                              <a:rPr lang="en-US" sz="2000" i="1">
                                <a:latin typeface="Cambria Math" panose="02040503050406030204" pitchFamily="18" charset="0"/>
                              </a:rPr>
                              <m:t>𝑥</m:t>
                            </m:r>
                          </m:sup>
                        </m:sSubSup>
                        <m:r>
                          <a:rPr lang="en-US" sz="2000" b="0" i="1" smtClean="0">
                            <a:latin typeface="Cambria Math" panose="02040503050406030204" pitchFamily="18" charset="0"/>
                          </a:rPr>
                          <m:t>+</m:t>
                        </m:r>
                        <m:sSubSup>
                          <m:sSubSupPr>
                            <m:ctrlPr>
                              <a:rPr lang="en-US" sz="2000" i="1">
                                <a:latin typeface="Cambria Math" panose="02040503050406030204" pitchFamily="18" charset="0"/>
                              </a:rPr>
                            </m:ctrlPr>
                          </m:sSubSupPr>
                          <m:e>
                            <m:r>
                              <a:rPr lang="en-US" sz="2000" i="1">
                                <a:latin typeface="Cambria Math" panose="02040503050406030204" pitchFamily="18" charset="0"/>
                              </a:rPr>
                              <m:t>𝑆</m:t>
                            </m:r>
                          </m:e>
                          <m:sub>
                            <m:r>
                              <a:rPr lang="en-US" sz="2000" i="1">
                                <a:latin typeface="Cambria Math" panose="02040503050406030204" pitchFamily="18" charset="0"/>
                              </a:rPr>
                              <m:t>𝑖</m:t>
                            </m:r>
                          </m:sub>
                          <m:sup>
                            <m:r>
                              <a:rPr lang="en-US" sz="2000" b="0" i="1" smtClean="0">
                                <a:latin typeface="Cambria Math" panose="02040503050406030204" pitchFamily="18" charset="0"/>
                              </a:rPr>
                              <m:t>𝑦</m:t>
                            </m:r>
                          </m:sup>
                        </m:sSubSup>
                        <m:sSubSup>
                          <m:sSubSupPr>
                            <m:ctrlPr>
                              <a:rPr lang="en-US" sz="2000" i="1">
                                <a:latin typeface="Cambria Math" panose="02040503050406030204" pitchFamily="18" charset="0"/>
                              </a:rPr>
                            </m:ctrlPr>
                          </m:sSubSupPr>
                          <m:e>
                            <m:r>
                              <a:rPr lang="en-US" sz="2000" i="1">
                                <a:latin typeface="Cambria Math" panose="02040503050406030204" pitchFamily="18" charset="0"/>
                              </a:rPr>
                              <m:t>𝑆</m:t>
                            </m:r>
                          </m:e>
                          <m:sub>
                            <m:r>
                              <a:rPr lang="en-US" sz="2000" b="0" i="1" smtClean="0">
                                <a:latin typeface="Cambria Math" panose="02040503050406030204" pitchFamily="18" charset="0"/>
                              </a:rPr>
                              <m:t>𝑗</m:t>
                            </m:r>
                          </m:sub>
                          <m:sup>
                            <m:r>
                              <a:rPr lang="en-US" sz="2000" b="0" i="1" smtClean="0">
                                <a:latin typeface="Cambria Math" panose="02040503050406030204" pitchFamily="18" charset="0"/>
                              </a:rPr>
                              <m:t>𝑦</m:t>
                            </m:r>
                          </m:sup>
                        </m:sSubSup>
                        <m:r>
                          <a:rPr lang="en-US" sz="2000" b="0" i="1" smtClean="0">
                            <a:latin typeface="Cambria Math" panose="02040503050406030204" pitchFamily="18" charset="0"/>
                          </a:rPr>
                          <m:t>+</m:t>
                        </m:r>
                        <m:r>
                          <m:rPr>
                            <m:sty m:val="p"/>
                          </m:rPr>
                          <a:rPr lang="en-US" sz="2000" b="0" i="0" smtClean="0">
                            <a:latin typeface="Cambria Math" panose="02040503050406030204" pitchFamily="18" charset="0"/>
                          </a:rPr>
                          <m:t>Δ</m:t>
                        </m:r>
                        <m:sSubSup>
                          <m:sSubSupPr>
                            <m:ctrlPr>
                              <a:rPr lang="en-US" sz="2000" i="1">
                                <a:latin typeface="Cambria Math" panose="02040503050406030204" pitchFamily="18" charset="0"/>
                              </a:rPr>
                            </m:ctrlPr>
                          </m:sSubSupPr>
                          <m:e>
                            <m:r>
                              <a:rPr lang="en-US" sz="2000" i="1">
                                <a:latin typeface="Cambria Math" panose="02040503050406030204" pitchFamily="18" charset="0"/>
                              </a:rPr>
                              <m:t>𝑆</m:t>
                            </m:r>
                          </m:e>
                          <m:sub>
                            <m:r>
                              <a:rPr lang="en-US" sz="2000" i="1">
                                <a:latin typeface="Cambria Math" panose="02040503050406030204" pitchFamily="18" charset="0"/>
                              </a:rPr>
                              <m:t>𝑖</m:t>
                            </m:r>
                          </m:sub>
                          <m:sup>
                            <m:r>
                              <a:rPr lang="en-US" sz="2000" b="0" i="1" smtClean="0">
                                <a:latin typeface="Cambria Math" panose="02040503050406030204" pitchFamily="18" charset="0"/>
                              </a:rPr>
                              <m:t>𝑧</m:t>
                            </m:r>
                          </m:sup>
                        </m:sSubSup>
                        <m:sSubSup>
                          <m:sSubSupPr>
                            <m:ctrlPr>
                              <a:rPr lang="en-US" sz="2000" i="1">
                                <a:latin typeface="Cambria Math" panose="02040503050406030204" pitchFamily="18" charset="0"/>
                              </a:rPr>
                            </m:ctrlPr>
                          </m:sSubSupPr>
                          <m:e>
                            <m:r>
                              <a:rPr lang="en-US" sz="2000" i="1">
                                <a:latin typeface="Cambria Math" panose="02040503050406030204" pitchFamily="18" charset="0"/>
                              </a:rPr>
                              <m:t>𝑆</m:t>
                            </m:r>
                          </m:e>
                          <m:sub>
                            <m:r>
                              <a:rPr lang="en-US" sz="2000" b="0" i="1" smtClean="0">
                                <a:latin typeface="Cambria Math" panose="02040503050406030204" pitchFamily="18" charset="0"/>
                              </a:rPr>
                              <m:t>𝑗</m:t>
                            </m:r>
                          </m:sub>
                          <m:sup>
                            <m:r>
                              <a:rPr lang="en-US" sz="2000" b="0" i="1" smtClean="0">
                                <a:latin typeface="Cambria Math" panose="02040503050406030204" pitchFamily="18" charset="0"/>
                              </a:rPr>
                              <m:t>𝑧</m:t>
                            </m:r>
                          </m:sup>
                        </m:sSubSup>
                      </m:e>
                    </m:nary>
                  </m:oMath>
                </a14:m>
                <a:endParaRPr lang="en-US" sz="2400" dirty="0"/>
              </a:p>
              <a:p>
                <a:pPr lvl="1"/>
                <a:r>
                  <a:rPr lang="en-US" sz="2000" dirty="0"/>
                  <a:t>Easy-plane (</a:t>
                </a:r>
                <a14:m>
                  <m:oMath xmlns:m="http://schemas.openxmlformats.org/officeDocument/2006/math">
                    <m:r>
                      <a:rPr lang="en-US" sz="200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∆</m:t>
                    </m:r>
                    <m:r>
                      <a:rPr lang="en-US" sz="2000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 </m:t>
                    </m:r>
                    <m:r>
                      <a:rPr lang="en-US" sz="2000" i="1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&lt;</m:t>
                    </m:r>
                    <m:r>
                      <a:rPr lang="en-US" sz="2000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1</m:t>
                    </m:r>
                  </m:oMath>
                </a14:m>
                <a:r>
                  <a:rPr lang="en-US" sz="2000" dirty="0"/>
                  <a:t>): ballistic</a:t>
                </a:r>
              </a:p>
              <a:p>
                <a:pPr lvl="1"/>
                <a:r>
                  <a:rPr lang="en-US" sz="2000" dirty="0"/>
                  <a:t>Easy-axis (</a:t>
                </a:r>
                <a14:m>
                  <m:oMath xmlns:m="http://schemas.openxmlformats.org/officeDocument/2006/math">
                    <m:r>
                      <a:rPr lang="en-US" sz="2000" i="1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∆ </m:t>
                    </m:r>
                    <m:r>
                      <a:rPr lang="en-US" sz="2000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&gt;</m:t>
                    </m:r>
                    <m:r>
                      <a:rPr lang="en-US" sz="2000" i="1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1</m:t>
                    </m:r>
                  </m:oMath>
                </a14:m>
                <a:r>
                  <a:rPr lang="en-US" sz="2000" dirty="0"/>
                  <a:t>): diffusive</a:t>
                </a:r>
              </a:p>
              <a:p>
                <a:pPr lvl="1"/>
                <a:r>
                  <a:rPr lang="en-US" sz="2000" dirty="0">
                    <a:solidFill>
                      <a:schemeClr val="accent1"/>
                    </a:solidFill>
                  </a:rPr>
                  <a:t>Isotropic (</a:t>
                </a:r>
                <a14:m>
                  <m:oMath xmlns:m="http://schemas.openxmlformats.org/officeDocument/2006/math">
                    <m:r>
                      <a:rPr lang="en-US" sz="2000" i="1">
                        <a:solidFill>
                          <a:schemeClr val="accent1"/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∆ </m:t>
                    </m:r>
                    <m:r>
                      <a:rPr lang="en-US" sz="2000" b="0" i="1" smtClean="0">
                        <a:solidFill>
                          <a:schemeClr val="accent1"/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=</m:t>
                    </m:r>
                    <m:r>
                      <a:rPr lang="en-US" sz="2000" i="1">
                        <a:solidFill>
                          <a:schemeClr val="accent1"/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1</m:t>
                    </m:r>
                  </m:oMath>
                </a14:m>
                <a:r>
                  <a:rPr lang="en-US" sz="2000" dirty="0">
                    <a:solidFill>
                      <a:schemeClr val="accent1"/>
                    </a:solidFill>
                  </a:rPr>
                  <a:t>): superdiffusive</a:t>
                </a:r>
              </a:p>
              <a:p>
                <a:endParaRPr lang="en-US" dirty="0">
                  <a:solidFill>
                    <a:schemeClr val="accent1"/>
                  </a:solidFill>
                </a:endParaRPr>
              </a:p>
            </p:txBody>
          </p:sp>
        </mc:Choice>
        <mc:Fallback xmlns="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420F5043-2CBE-1D21-B3B3-51D93EFE7E7D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blipFill>
                <a:blip r:embed="rId2"/>
                <a:stretch>
                  <a:fillRect l="-522" t="-2208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D95FCFC6-A3DE-3359-BBF9-415776299C7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852B8ED-7F2B-5448-BD79-1530102DF259}" type="slidenum">
              <a:rPr lang="en-US" smtClean="0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576391884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uiExpand="1" build="p"/>
    </p:bld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BDAC3E4-6A88-B39D-2EF3-DED7AEA5469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sz="3600" dirty="0"/>
              <a:t>Why superdiffusion?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92AFACA8-C9BC-E4ED-9FC4-2087F423608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852B8ED-7F2B-5448-BD79-1530102DF259}" type="slidenum">
              <a:rPr lang="en-US" smtClean="0"/>
              <a:t>7</a:t>
            </a:fld>
            <a:endParaRPr lang="en-US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5" name="Content Placeholder 2">
                <a:extLst>
                  <a:ext uri="{FF2B5EF4-FFF2-40B4-BE49-F238E27FC236}">
                    <a16:creationId xmlns:a16="http://schemas.microsoft.com/office/drawing/2014/main" id="{244B33CB-9117-267B-19A7-DAD3C7C475DC}"/>
                  </a:ext>
                </a:extLst>
              </p:cNvPr>
              <p:cNvSpPr txBox="1">
                <a:spLocks/>
              </p:cNvSpPr>
              <p:nvPr/>
            </p:nvSpPr>
            <p:spPr>
              <a:xfrm>
                <a:off x="838200" y="1825624"/>
                <a:ext cx="10515600" cy="4770619"/>
              </a:xfrm>
              <a:prstGeom prst="rect">
                <a:avLst/>
              </a:prstGeom>
            </p:spPr>
            <p:txBody>
              <a:bodyPr vert="horz" lIns="45720" tIns="45720" rIns="45720" bIns="45720" rtlCol="0">
                <a:normAutofit/>
              </a:bodyPr>
              <a:lstStyle>
                <a:lvl1pPr marL="91440" indent="-91440" algn="l" defTabSz="914400" rtl="0" eaLnBrk="1" latinLnBrk="0" hangingPunct="1">
                  <a:lnSpc>
                    <a:spcPct val="90000"/>
                  </a:lnSpc>
                  <a:spcBef>
                    <a:spcPts val="1200"/>
                  </a:spcBef>
                  <a:spcAft>
                    <a:spcPts val="200"/>
                  </a:spcAft>
                  <a:buClr>
                    <a:schemeClr val="accent1"/>
                  </a:buClr>
                  <a:buSzPct val="100000"/>
                  <a:buFont typeface="Tw Cen MT" panose="020B0602020104020603" pitchFamily="34" charset="0"/>
                  <a:buChar char=" "/>
                  <a:defRPr sz="22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1pPr>
                <a:lvl2pPr marL="265176" indent="-137160" algn="l" defTabSz="914400" rtl="0" eaLnBrk="1" latinLnBrk="0" hangingPunct="1">
                  <a:lnSpc>
                    <a:spcPct val="90000"/>
                  </a:lnSpc>
                  <a:spcBef>
                    <a:spcPts val="200"/>
                  </a:spcBef>
                  <a:spcAft>
                    <a:spcPts val="400"/>
                  </a:spcAft>
                  <a:buClr>
                    <a:schemeClr val="accent1"/>
                  </a:buClr>
                  <a:buFont typeface="Wingdings 3" pitchFamily="18" charset="2"/>
                  <a:buChar char=""/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2pPr>
                <a:lvl3pPr marL="448056" indent="-137160" algn="l" defTabSz="914400" rtl="0" eaLnBrk="1" latinLnBrk="0" hangingPunct="1">
                  <a:lnSpc>
                    <a:spcPct val="90000"/>
                  </a:lnSpc>
                  <a:spcBef>
                    <a:spcPts val="200"/>
                  </a:spcBef>
                  <a:spcAft>
                    <a:spcPts val="400"/>
                  </a:spcAft>
                  <a:buClr>
                    <a:schemeClr val="accent1"/>
                  </a:buClr>
                  <a:buFont typeface="Wingdings 3" pitchFamily="18" charset="2"/>
                  <a:buChar char=""/>
                  <a:defRPr sz="14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3pPr>
                <a:lvl4pPr marL="594360" indent="-137160" algn="l" defTabSz="914400" rtl="0" eaLnBrk="1" latinLnBrk="0" hangingPunct="1">
                  <a:lnSpc>
                    <a:spcPct val="90000"/>
                  </a:lnSpc>
                  <a:spcBef>
                    <a:spcPts val="200"/>
                  </a:spcBef>
                  <a:spcAft>
                    <a:spcPts val="400"/>
                  </a:spcAft>
                  <a:buClr>
                    <a:schemeClr val="accent1"/>
                  </a:buClr>
                  <a:buFont typeface="Wingdings 3" pitchFamily="18" charset="2"/>
                  <a:buChar char=""/>
                  <a:defRPr sz="14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4pPr>
                <a:lvl5pPr marL="777240" indent="-137160" algn="l" defTabSz="914400" rtl="0" eaLnBrk="1" latinLnBrk="0" hangingPunct="1">
                  <a:lnSpc>
                    <a:spcPct val="90000"/>
                  </a:lnSpc>
                  <a:spcBef>
                    <a:spcPts val="200"/>
                  </a:spcBef>
                  <a:spcAft>
                    <a:spcPts val="400"/>
                  </a:spcAft>
                  <a:buClr>
                    <a:schemeClr val="accent1"/>
                  </a:buClr>
                  <a:buFont typeface="Wingdings 3" pitchFamily="18" charset="2"/>
                  <a:buChar char=""/>
                  <a:defRPr sz="14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5pPr>
                <a:lvl6pPr marL="914400" indent="-137160" algn="l" defTabSz="914400" rtl="0" eaLnBrk="1" latinLnBrk="0" hangingPunct="1">
                  <a:lnSpc>
                    <a:spcPct val="90000"/>
                  </a:lnSpc>
                  <a:spcBef>
                    <a:spcPts val="200"/>
                  </a:spcBef>
                  <a:spcAft>
                    <a:spcPts val="400"/>
                  </a:spcAft>
                  <a:buClr>
                    <a:schemeClr val="accent1"/>
                  </a:buClr>
                  <a:buFont typeface="Wingdings 3" pitchFamily="18" charset="2"/>
                  <a:buChar char=""/>
                  <a:defRPr sz="14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6pPr>
                <a:lvl7pPr marL="1060704" indent="-137160" algn="l" defTabSz="914400" rtl="0" eaLnBrk="1" latinLnBrk="0" hangingPunct="1">
                  <a:lnSpc>
                    <a:spcPct val="90000"/>
                  </a:lnSpc>
                  <a:spcBef>
                    <a:spcPts val="200"/>
                  </a:spcBef>
                  <a:spcAft>
                    <a:spcPts val="400"/>
                  </a:spcAft>
                  <a:buClr>
                    <a:schemeClr val="accent1"/>
                  </a:buClr>
                  <a:buFont typeface="Wingdings 3" pitchFamily="18" charset="2"/>
                  <a:buChar char=""/>
                  <a:defRPr sz="14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7pPr>
                <a:lvl8pPr marL="1216152" indent="-137160" algn="l" defTabSz="914400" rtl="0" eaLnBrk="1" latinLnBrk="0" hangingPunct="1">
                  <a:lnSpc>
                    <a:spcPct val="90000"/>
                  </a:lnSpc>
                  <a:spcBef>
                    <a:spcPts val="200"/>
                  </a:spcBef>
                  <a:spcAft>
                    <a:spcPts val="400"/>
                  </a:spcAft>
                  <a:buClr>
                    <a:schemeClr val="accent1"/>
                  </a:buClr>
                  <a:buFont typeface="Wingdings 3" pitchFamily="18" charset="2"/>
                  <a:buChar char=""/>
                  <a:defRPr sz="14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8pPr>
                <a:lvl9pPr marL="1362456" indent="-137160" algn="l" defTabSz="914400" rtl="0" eaLnBrk="1" latinLnBrk="0" hangingPunct="1">
                  <a:lnSpc>
                    <a:spcPct val="90000"/>
                  </a:lnSpc>
                  <a:spcBef>
                    <a:spcPts val="200"/>
                  </a:spcBef>
                  <a:spcAft>
                    <a:spcPts val="400"/>
                  </a:spcAft>
                  <a:buClr>
                    <a:schemeClr val="accent1"/>
                  </a:buClr>
                  <a:buFont typeface="Wingdings 3" pitchFamily="18" charset="2"/>
                  <a:buChar char=""/>
                  <a:defRPr sz="14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9pPr>
              </a:lstStyle>
              <a:p>
                <a:pPr marL="0" indent="0" algn="ctr">
                  <a:buNone/>
                </a:pPr>
                <a:r>
                  <a:rPr lang="en-US" b="1" dirty="0"/>
                  <a:t>Heuristic argument</a:t>
                </a:r>
              </a:p>
              <a:p>
                <a:pPr marL="0" indent="0">
                  <a:buNone/>
                </a:pPr>
                <a:r>
                  <a:rPr lang="en-US" sz="2400" dirty="0"/>
                  <a:t>Thermodynamic Bethe Ansatz (TBA): quasiparticles = Bethe strings</a:t>
                </a:r>
              </a:p>
              <a:p>
                <a:pPr lvl="1"/>
                <a:r>
                  <a:rPr lang="en-US" sz="2000" dirty="0"/>
                  <a:t>Length: </a:t>
                </a:r>
                <a14:m>
                  <m:oMath xmlns:m="http://schemas.openxmlformats.org/officeDocument/2006/math">
                    <m:r>
                      <a:rPr lang="en-US" sz="2000" i="1" dirty="0">
                        <a:latin typeface="Cambria Math" panose="02040503050406030204" pitchFamily="18" charset="0"/>
                      </a:rPr>
                      <m:t>𝑠</m:t>
                    </m:r>
                  </m:oMath>
                </a14:m>
                <a:endParaRPr lang="en-US" sz="2000" i="1" dirty="0"/>
              </a:p>
              <a:p>
                <a:pPr lvl="1"/>
                <a:r>
                  <a:rPr lang="en-US" sz="2000" dirty="0"/>
                  <a:t>Magnetization: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sz="2000" i="1" dirty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sz="2000" i="1" dirty="0">
                            <a:latin typeface="Cambria Math" panose="02040503050406030204" pitchFamily="18" charset="0"/>
                          </a:rPr>
                          <m:t>𝑚</m:t>
                        </m:r>
                      </m:e>
                      <m:sub>
                        <m:r>
                          <a:rPr lang="en-US" sz="2000" i="1" dirty="0">
                            <a:latin typeface="Cambria Math" panose="02040503050406030204" pitchFamily="18" charset="0"/>
                          </a:rPr>
                          <m:t>𝑠</m:t>
                        </m:r>
                        <m:r>
                          <a:rPr lang="en-US" sz="2000" i="1" dirty="0">
                            <a:latin typeface="Cambria Math" panose="02040503050406030204" pitchFamily="18" charset="0"/>
                          </a:rPr>
                          <m:t> </m:t>
                        </m:r>
                      </m:sub>
                    </m:sSub>
                    <m:r>
                      <a:rPr lang="en-US" sz="2000" i="1" dirty="0">
                        <a:latin typeface="Cambria Math" panose="02040503050406030204" pitchFamily="18" charset="0"/>
                      </a:rPr>
                      <m:t>~ </m:t>
                    </m:r>
                    <m:r>
                      <a:rPr lang="en-US" sz="2000" i="1" dirty="0">
                        <a:latin typeface="Cambria Math" panose="02040503050406030204" pitchFamily="18" charset="0"/>
                      </a:rPr>
                      <m:t>𝑠</m:t>
                    </m:r>
                  </m:oMath>
                </a14:m>
                <a:endParaRPr lang="en-US" sz="2000" i="1" dirty="0"/>
              </a:p>
              <a:p>
                <a:pPr lvl="1"/>
                <a:r>
                  <a:rPr lang="en-US" sz="2000" dirty="0"/>
                  <a:t>Velocity: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sz="2000" i="1" dirty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sz="2000" i="1" dirty="0">
                            <a:latin typeface="Cambria Math" panose="02040503050406030204" pitchFamily="18" charset="0"/>
                          </a:rPr>
                          <m:t>𝑣</m:t>
                        </m:r>
                      </m:e>
                      <m:sub>
                        <m:r>
                          <a:rPr lang="en-US" sz="2000" i="1" dirty="0">
                            <a:latin typeface="Cambria Math" panose="02040503050406030204" pitchFamily="18" charset="0"/>
                          </a:rPr>
                          <m:t>𝑠</m:t>
                        </m:r>
                      </m:sub>
                    </m:sSub>
                    <m:r>
                      <a:rPr lang="en-US" sz="2000" i="1" dirty="0">
                        <a:latin typeface="Cambria Math" panose="02040503050406030204" pitchFamily="18" charset="0"/>
                      </a:rPr>
                      <m:t> ~ 1/</m:t>
                    </m:r>
                    <m:r>
                      <a:rPr lang="en-US" sz="2000" i="1" dirty="0">
                        <a:latin typeface="Cambria Math" panose="02040503050406030204" pitchFamily="18" charset="0"/>
                      </a:rPr>
                      <m:t>𝑠</m:t>
                    </m:r>
                  </m:oMath>
                </a14:m>
                <a:endParaRPr lang="en-US" sz="2000" i="1" dirty="0"/>
              </a:p>
              <a:p>
                <a:pPr lvl="1"/>
                <a:r>
                  <a:rPr lang="en-US" sz="2000" dirty="0"/>
                  <a:t>Density: 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sz="2000" i="1" dirty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sz="2000" i="1" dirty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𝜌</m:t>
                        </m:r>
                      </m:e>
                      <m:sub>
                        <m:r>
                          <a:rPr lang="en-US" sz="2000" i="1" dirty="0">
                            <a:latin typeface="Cambria Math" panose="02040503050406030204" pitchFamily="18" charset="0"/>
                          </a:rPr>
                          <m:t>𝑠</m:t>
                        </m:r>
                      </m:sub>
                    </m:sSub>
                    <m:r>
                      <a:rPr lang="en-US" sz="2000" i="1" dirty="0">
                        <a:latin typeface="Cambria Math" panose="02040503050406030204" pitchFamily="18" charset="0"/>
                      </a:rPr>
                      <m:t> ~ 1/</m:t>
                    </m:r>
                    <m:sSup>
                      <m:sSupPr>
                        <m:ctrlPr>
                          <a:rPr lang="en-US" sz="2000" i="1" dirty="0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n-US" sz="2000" i="1" dirty="0">
                            <a:latin typeface="Cambria Math" panose="02040503050406030204" pitchFamily="18" charset="0"/>
                          </a:rPr>
                          <m:t>𝑠</m:t>
                        </m:r>
                      </m:e>
                      <m:sup>
                        <m:r>
                          <a:rPr lang="en-US" sz="2000" i="1" dirty="0">
                            <a:latin typeface="Cambria Math" panose="02040503050406030204" pitchFamily="18" charset="0"/>
                          </a:rPr>
                          <m:t>3</m:t>
                        </m:r>
                      </m:sup>
                    </m:sSup>
                  </m:oMath>
                </a14:m>
                <a:endParaRPr lang="en-US" sz="2000" i="1" dirty="0"/>
              </a:p>
              <a:p>
                <a:pPr marL="0" indent="0">
                  <a:buNone/>
                </a:pPr>
                <a:endParaRPr lang="en-US" sz="2400" dirty="0"/>
              </a:p>
              <a:p>
                <a:pPr marL="0" indent="0">
                  <a:buNone/>
                </a:pPr>
                <a:r>
                  <a:rPr lang="en-US" sz="2400" dirty="0"/>
                  <a:t>Quasiparticles carry current until encountering larger string </a:t>
                </a:r>
                <a14:m>
                  <m:oMath xmlns:m="http://schemas.openxmlformats.org/officeDocument/2006/math">
                    <m:sSup>
                      <m:sSupPr>
                        <m:ctrlPr>
                          <a:rPr lang="en-US" sz="2000" i="1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m:rPr>
                            <m:sty m:val="p"/>
                          </m:rPr>
                          <a:rPr lang="en-US" sz="2000">
                            <a:latin typeface="Cambria Math" panose="02040503050406030204" pitchFamily="18" charset="0"/>
                          </a:rPr>
                          <m:t>s</m:t>
                        </m:r>
                      </m:e>
                      <m:sup>
                        <m:r>
                          <a:rPr lang="en-US" sz="2000">
                            <a:latin typeface="Cambria Math" panose="02040503050406030204" pitchFamily="18" charset="0"/>
                          </a:rPr>
                          <m:t>′</m:t>
                        </m:r>
                      </m:sup>
                    </m:sSup>
                    <m:r>
                      <a:rPr lang="en-US" sz="200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&gt;</m:t>
                    </m:r>
                    <m:r>
                      <m:rPr>
                        <m:sty m:val="p"/>
                      </m:rPr>
                      <a:rPr lang="en-US" sz="2000">
                        <a:latin typeface="Cambria Math" panose="02040503050406030204" pitchFamily="18" charset="0"/>
                      </a:rPr>
                      <m:t>s</m:t>
                    </m:r>
                  </m:oMath>
                </a14:m>
                <a:endParaRPr lang="en-US" sz="2000" dirty="0"/>
              </a:p>
              <a:p>
                <a:pPr marL="0" indent="0" algn="ctr">
                  <a:buNone/>
                </a:pPr>
                <a14:m>
                  <m:oMath xmlns:m="http://schemas.openxmlformats.org/officeDocument/2006/math">
                    <m:sSub>
                      <m:sSubPr>
                        <m:ctrlPr>
                          <a:rPr lang="en-US" sz="2000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sz="2000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𝜏</m:t>
                        </m:r>
                      </m:e>
                      <m:sub>
                        <m:r>
                          <a:rPr lang="en-US" sz="2000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𝑠</m:t>
                        </m:r>
                      </m:sub>
                    </m:sSub>
                    <m:r>
                      <a:rPr lang="en-US" sz="2000" i="1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 ~ </m:t>
                    </m:r>
                    <m:sSup>
                      <m:sSupPr>
                        <m:ctrlPr>
                          <a:rPr lang="en-US" sz="2000" i="1" dirty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</m:ctrlPr>
                      </m:sSupPr>
                      <m:e>
                        <m:d>
                          <m:dPr>
                            <m:ctrlPr>
                              <a:rPr lang="en-US" sz="2000" i="1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</m:ctrlPr>
                          </m:dPr>
                          <m:e>
                            <m:sSub>
                              <m:sSubPr>
                                <m:ctrlPr>
                                  <a:rPr lang="en-US" sz="2000" i="1" dirty="0">
                                    <a:latin typeface="Cambria Math" panose="02040503050406030204" pitchFamily="18" charset="0"/>
                                  </a:rPr>
                                </m:ctrlPr>
                              </m:sSubPr>
                              <m:e>
                                <m:r>
                                  <a:rPr lang="en-US" sz="2000" i="1" dirty="0">
                                    <a:latin typeface="Cambria Math" panose="02040503050406030204" pitchFamily="18" charset="0"/>
                                  </a:rPr>
                                  <m:t> </m:t>
                                </m:r>
                                <m:r>
                                  <a:rPr lang="en-US" sz="2000" i="1" dirty="0">
                                    <a:latin typeface="Cambria Math" panose="02040503050406030204" pitchFamily="18" charset="0"/>
                                  </a:rPr>
                                  <m:t>𝑣</m:t>
                                </m:r>
                              </m:e>
                              <m:sub>
                                <m:r>
                                  <a:rPr lang="en-US" sz="2000" i="1" dirty="0">
                                    <a:latin typeface="Cambria Math" panose="02040503050406030204" pitchFamily="18" charset="0"/>
                                  </a:rPr>
                                  <m:t>𝑠</m:t>
                                </m:r>
                              </m:sub>
                            </m:sSub>
                            <m:sSub>
                              <m:sSubPr>
                                <m:ctrlPr>
                                  <a:rPr lang="en-US" sz="2000" i="1" dirty="0">
                                    <a:latin typeface="Cambria Math" panose="02040503050406030204" pitchFamily="18" charset="0"/>
                                  </a:rPr>
                                </m:ctrlPr>
                              </m:sSubPr>
                              <m:e>
                                <m:r>
                                  <a:rPr lang="en-US" sz="2000" i="1" dirty="0"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  <m:t>𝜌</m:t>
                                </m:r>
                              </m:e>
                              <m:sub>
                                <m:sSup>
                                  <m:sSupPr>
                                    <m:ctrlPr>
                                      <a:rPr lang="en-US" sz="2000" i="1" dirty="0">
                                        <a:latin typeface="Cambria Math" panose="02040503050406030204" pitchFamily="18" charset="0"/>
                                      </a:rPr>
                                    </m:ctrlPr>
                                  </m:sSupPr>
                                  <m:e>
                                    <m:r>
                                      <a:rPr lang="en-US" sz="2000" i="1" dirty="0">
                                        <a:latin typeface="Cambria Math" panose="02040503050406030204" pitchFamily="18" charset="0"/>
                                      </a:rPr>
                                      <m:t>𝑠</m:t>
                                    </m:r>
                                  </m:e>
                                  <m:sup>
                                    <m:r>
                                      <a:rPr lang="en-US" sz="2000" i="1" dirty="0">
                                        <a:latin typeface="Cambria Math" panose="02040503050406030204" pitchFamily="18" charset="0"/>
                                      </a:rPr>
                                      <m:t>′</m:t>
                                    </m:r>
                                  </m:sup>
                                </m:sSup>
                                <m:r>
                                  <a:rPr lang="en-US" sz="2000" i="1" dirty="0">
                                    <a:latin typeface="Cambria Math" panose="02040503050406030204" pitchFamily="18" charset="0"/>
                                  </a:rPr>
                                  <m:t>&gt;</m:t>
                                </m:r>
                                <m:r>
                                  <a:rPr lang="en-US" sz="2000" i="1" dirty="0">
                                    <a:latin typeface="Cambria Math" panose="02040503050406030204" pitchFamily="18" charset="0"/>
                                  </a:rPr>
                                  <m:t>𝑠</m:t>
                                </m:r>
                              </m:sub>
                            </m:sSub>
                          </m:e>
                        </m:d>
                      </m:e>
                      <m:sup>
                        <m:r>
                          <a:rPr lang="en-US" sz="2000" i="1" dirty="0">
                            <a:latin typeface="Cambria Math" panose="02040503050406030204" pitchFamily="18" charset="0"/>
                          </a:rPr>
                          <m:t>−1</m:t>
                        </m:r>
                      </m:sup>
                    </m:sSup>
                  </m:oMath>
                </a14:m>
                <a:r>
                  <a:rPr lang="en-US" sz="2000" dirty="0"/>
                  <a:t> </a:t>
                </a:r>
                <a:r>
                  <a:rPr lang="en-US" sz="2000" dirty="0">
                    <a:solidFill>
                      <a:schemeClr val="accent1"/>
                    </a:solidFill>
                  </a:rPr>
                  <a:t>where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sz="2000" i="1" dirty="0">
                            <a:solidFill>
                              <a:schemeClr val="accent1"/>
                            </a:solidFill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sz="2000" i="1" dirty="0">
                            <a:solidFill>
                              <a:schemeClr val="accent1"/>
                            </a:solidFill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𝜌</m:t>
                        </m:r>
                      </m:e>
                      <m:sub>
                        <m:sSup>
                          <m:sSupPr>
                            <m:ctrlPr>
                              <a:rPr lang="en-US" sz="2000" i="1" dirty="0">
                                <a:solidFill>
                                  <a:schemeClr val="accent1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sSupPr>
                          <m:e>
                            <m:r>
                              <a:rPr lang="en-US" sz="2000" i="1" dirty="0">
                                <a:solidFill>
                                  <a:schemeClr val="accent1"/>
                                </a:solidFill>
                                <a:latin typeface="Cambria Math" panose="02040503050406030204" pitchFamily="18" charset="0"/>
                              </a:rPr>
                              <m:t>𝑠</m:t>
                            </m:r>
                          </m:e>
                          <m:sup>
                            <m:r>
                              <a:rPr lang="en-US" sz="2000" i="1" dirty="0">
                                <a:solidFill>
                                  <a:schemeClr val="accent1"/>
                                </a:solidFill>
                                <a:latin typeface="Cambria Math" panose="02040503050406030204" pitchFamily="18" charset="0"/>
                              </a:rPr>
                              <m:t>′</m:t>
                            </m:r>
                          </m:sup>
                        </m:sSup>
                        <m:r>
                          <a:rPr lang="en-US" sz="2000" i="1" dirty="0">
                            <a:solidFill>
                              <a:schemeClr val="accent1"/>
                            </a:solidFill>
                            <a:latin typeface="Cambria Math" panose="02040503050406030204" pitchFamily="18" charset="0"/>
                          </a:rPr>
                          <m:t>&gt;</m:t>
                        </m:r>
                        <m:r>
                          <a:rPr lang="en-US" sz="2000" i="1" dirty="0">
                            <a:solidFill>
                              <a:schemeClr val="accent1"/>
                            </a:solidFill>
                            <a:latin typeface="Cambria Math" panose="02040503050406030204" pitchFamily="18" charset="0"/>
                          </a:rPr>
                          <m:t>𝑠</m:t>
                        </m:r>
                      </m:sub>
                    </m:sSub>
                    <m:r>
                      <a:rPr lang="en-US" sz="2000" i="1" dirty="0">
                        <a:solidFill>
                          <a:schemeClr val="accent1"/>
                        </a:solidFill>
                        <a:latin typeface="Cambria Math" panose="02040503050406030204" pitchFamily="18" charset="0"/>
                      </a:rPr>
                      <m:t>=</m:t>
                    </m:r>
                    <m:nary>
                      <m:naryPr>
                        <m:chr m:val="∑"/>
                        <m:supHide m:val="on"/>
                        <m:ctrlPr>
                          <a:rPr lang="en-US" sz="2000" i="1" dirty="0">
                            <a:solidFill>
                              <a:schemeClr val="accent1"/>
                            </a:solidFill>
                            <a:latin typeface="Cambria Math" panose="02040503050406030204" pitchFamily="18" charset="0"/>
                          </a:rPr>
                        </m:ctrlPr>
                      </m:naryPr>
                      <m:sub>
                        <m:sSup>
                          <m:sSupPr>
                            <m:ctrlPr>
                              <a:rPr lang="en-US" sz="2000" i="1" dirty="0">
                                <a:solidFill>
                                  <a:schemeClr val="accent1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sSupPr>
                          <m:e>
                            <m:r>
                              <m:rPr>
                                <m:brk m:alnAt="7"/>
                              </m:rPr>
                              <a:rPr lang="en-US" sz="2000" i="1" dirty="0">
                                <a:solidFill>
                                  <a:schemeClr val="accent1"/>
                                </a:solidFill>
                                <a:latin typeface="Cambria Math" panose="02040503050406030204" pitchFamily="18" charset="0"/>
                              </a:rPr>
                              <m:t>𝑠</m:t>
                            </m:r>
                          </m:e>
                          <m:sup>
                            <m:r>
                              <a:rPr lang="en-US" sz="2000" i="1" dirty="0">
                                <a:solidFill>
                                  <a:schemeClr val="accent1"/>
                                </a:solidFill>
                                <a:latin typeface="Cambria Math" panose="02040503050406030204" pitchFamily="18" charset="0"/>
                              </a:rPr>
                              <m:t>′</m:t>
                            </m:r>
                          </m:sup>
                        </m:sSup>
                        <m:r>
                          <m:rPr>
                            <m:brk m:alnAt="7"/>
                          </m:rPr>
                          <a:rPr lang="en-US" sz="2000" i="1" dirty="0">
                            <a:solidFill>
                              <a:schemeClr val="accent1"/>
                            </a:solidFill>
                            <a:latin typeface="Cambria Math" panose="02040503050406030204" pitchFamily="18" charset="0"/>
                          </a:rPr>
                          <m:t>&gt;</m:t>
                        </m:r>
                        <m:r>
                          <a:rPr lang="en-US" sz="2000" i="1" dirty="0">
                            <a:solidFill>
                              <a:schemeClr val="accent1"/>
                            </a:solidFill>
                            <a:latin typeface="Cambria Math" panose="02040503050406030204" pitchFamily="18" charset="0"/>
                          </a:rPr>
                          <m:t>𝑠</m:t>
                        </m:r>
                      </m:sub>
                      <m:sup/>
                      <m:e>
                        <m:sSub>
                          <m:sSubPr>
                            <m:ctrlPr>
                              <a:rPr lang="en-US" sz="2000" i="1" dirty="0">
                                <a:solidFill>
                                  <a:schemeClr val="accent1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sz="2000" i="1" dirty="0">
                                <a:solidFill>
                                  <a:schemeClr val="accent1"/>
                                </a:solidFill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𝜌</m:t>
                            </m:r>
                          </m:e>
                          <m:sub>
                            <m:r>
                              <a:rPr lang="en-US" sz="2000" i="1" dirty="0">
                                <a:solidFill>
                                  <a:schemeClr val="accent1"/>
                                </a:solidFill>
                                <a:latin typeface="Cambria Math" panose="02040503050406030204" pitchFamily="18" charset="0"/>
                              </a:rPr>
                              <m:t>𝑠</m:t>
                            </m:r>
                          </m:sub>
                        </m:sSub>
                      </m:e>
                    </m:nary>
                    <m:r>
                      <a:rPr lang="en-US" sz="2000" i="1" dirty="0">
                        <a:solidFill>
                          <a:schemeClr val="accent1"/>
                        </a:solidFill>
                        <a:latin typeface="Cambria Math" panose="02040503050406030204" pitchFamily="18" charset="0"/>
                      </a:rPr>
                      <m:t>~</m:t>
                    </m:r>
                    <m:f>
                      <m:fPr>
                        <m:ctrlPr>
                          <a:rPr lang="en-US" sz="2000" i="1" dirty="0">
                            <a:solidFill>
                              <a:schemeClr val="accent1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US" sz="2000" i="1" dirty="0">
                            <a:solidFill>
                              <a:schemeClr val="accent1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num>
                      <m:den>
                        <m:sSup>
                          <m:sSupPr>
                            <m:ctrlPr>
                              <a:rPr lang="en-US" sz="2000" i="1" dirty="0">
                                <a:solidFill>
                                  <a:schemeClr val="accent1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sSupPr>
                          <m:e>
                            <m:r>
                              <a:rPr lang="en-US" sz="2000" i="1" dirty="0">
                                <a:solidFill>
                                  <a:schemeClr val="accent1"/>
                                </a:solidFill>
                                <a:latin typeface="Cambria Math" panose="02040503050406030204" pitchFamily="18" charset="0"/>
                              </a:rPr>
                              <m:t>𝑠</m:t>
                            </m:r>
                          </m:e>
                          <m:sup>
                            <m:r>
                              <a:rPr lang="en-US" sz="2000" i="1" dirty="0">
                                <a:solidFill>
                                  <a:schemeClr val="accent1"/>
                                </a:solidFill>
                                <a:latin typeface="Cambria Math" panose="02040503050406030204" pitchFamily="18" charset="0"/>
                              </a:rPr>
                              <m:t>2</m:t>
                            </m:r>
                          </m:sup>
                        </m:sSup>
                      </m:den>
                    </m:f>
                  </m:oMath>
                </a14:m>
                <a:endParaRPr lang="en-US" sz="2000" i="1" dirty="0">
                  <a:solidFill>
                    <a:schemeClr val="accent1"/>
                  </a:solidFill>
                </a:endParaRPr>
              </a:p>
              <a:p>
                <a:pPr marL="0" indent="0">
                  <a:buNone/>
                </a:pPr>
                <a:r>
                  <a:rPr lang="en-US" sz="2000" dirty="0">
                    <a:ea typeface="Cambria Math" panose="02040503050406030204" pitchFamily="18" charset="0"/>
                  </a:rPr>
                  <a:t>                                            </a:t>
                </a:r>
                <a14:m>
                  <m:oMath xmlns:m="http://schemas.openxmlformats.org/officeDocument/2006/math">
                    <m:r>
                      <a:rPr lang="en-US" sz="2000" i="1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~ </m:t>
                    </m:r>
                    <m:sSup>
                      <m:sSupPr>
                        <m:ctrlPr>
                          <a:rPr lang="en-US" sz="2000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n-US" sz="2000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𝑠</m:t>
                        </m:r>
                      </m:e>
                      <m:sup>
                        <m:r>
                          <a:rPr lang="en-US" sz="2000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3</m:t>
                        </m:r>
                      </m:sup>
                    </m:sSup>
                  </m:oMath>
                </a14:m>
                <a:endParaRPr lang="en-US" sz="2000" dirty="0"/>
              </a:p>
            </p:txBody>
          </p:sp>
        </mc:Choice>
        <mc:Fallback xmlns="">
          <p:sp>
            <p:nvSpPr>
              <p:cNvPr id="5" name="Content Placeholder 2">
                <a:extLst>
                  <a:ext uri="{FF2B5EF4-FFF2-40B4-BE49-F238E27FC236}">
                    <a16:creationId xmlns:a16="http://schemas.microsoft.com/office/drawing/2014/main" id="{244B33CB-9117-267B-19A7-DAD3C7C475DC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838200" y="1825624"/>
                <a:ext cx="10515600" cy="4770619"/>
              </a:xfrm>
              <a:prstGeom prst="rect">
                <a:avLst/>
              </a:prstGeom>
              <a:blipFill>
                <a:blip r:embed="rId3"/>
                <a:stretch>
                  <a:fillRect l="-1448" t="-1592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227641535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FB73C49-3816-82F7-A817-600E2C24F35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E00C849-D04A-EE7F-00AB-AE658D18513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sz="3600" dirty="0"/>
              <a:t>Why superdiffusion?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2062E142-2D1E-1299-0268-BD3331095947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>
              <a:xfrm>
                <a:off x="838200" y="1825624"/>
                <a:ext cx="10515600" cy="4770619"/>
              </a:xfrm>
            </p:spPr>
            <p:txBody>
              <a:bodyPr>
                <a:normAutofit lnSpcReduction="10000"/>
              </a:bodyPr>
              <a:lstStyle/>
              <a:p>
                <a:pPr marL="0" indent="0" algn="ctr">
                  <a:buNone/>
                </a:pPr>
                <a:r>
                  <a:rPr lang="en-US" b="1" dirty="0"/>
                  <a:t>Heuristic argument</a:t>
                </a:r>
              </a:p>
              <a:p>
                <a:pPr marL="0" indent="0">
                  <a:buNone/>
                </a:pPr>
                <a:r>
                  <a:rPr lang="en-US" sz="2400" dirty="0"/>
                  <a:t>Thermodynamic Bethe Ansatz (TBA): quasiparticles = Bethe strings</a:t>
                </a:r>
              </a:p>
              <a:p>
                <a:pPr lvl="1"/>
                <a:r>
                  <a:rPr lang="en-US" sz="2000" dirty="0"/>
                  <a:t>Length: </a:t>
                </a:r>
                <a14:m>
                  <m:oMath xmlns:m="http://schemas.openxmlformats.org/officeDocument/2006/math">
                    <m:r>
                      <a:rPr lang="en-US" sz="2000" i="1" dirty="0" smtClean="0">
                        <a:latin typeface="Cambria Math" panose="02040503050406030204" pitchFamily="18" charset="0"/>
                      </a:rPr>
                      <m:t>𝑠</m:t>
                    </m:r>
                  </m:oMath>
                </a14:m>
                <a:endParaRPr lang="en-US" sz="2000" i="1" dirty="0"/>
              </a:p>
              <a:p>
                <a:pPr lvl="1"/>
                <a:r>
                  <a:rPr lang="en-US" sz="2000" dirty="0"/>
                  <a:t>Magnetization: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sz="2000" b="0" i="1" dirty="0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sz="2000" b="0" i="1" dirty="0" smtClean="0">
                            <a:latin typeface="Cambria Math" panose="02040503050406030204" pitchFamily="18" charset="0"/>
                          </a:rPr>
                          <m:t>𝑚</m:t>
                        </m:r>
                      </m:e>
                      <m:sub>
                        <m:r>
                          <a:rPr lang="en-US" sz="2000" b="0" i="1" dirty="0" smtClean="0">
                            <a:latin typeface="Cambria Math" panose="02040503050406030204" pitchFamily="18" charset="0"/>
                          </a:rPr>
                          <m:t>𝑠</m:t>
                        </m:r>
                        <m:r>
                          <a:rPr lang="en-US" sz="2000" b="0" i="1" dirty="0" smtClean="0">
                            <a:latin typeface="Cambria Math" panose="02040503050406030204" pitchFamily="18" charset="0"/>
                          </a:rPr>
                          <m:t> </m:t>
                        </m:r>
                      </m:sub>
                    </m:sSub>
                    <m:r>
                      <a:rPr lang="en-US" sz="2000" b="0" i="1" dirty="0" smtClean="0">
                        <a:latin typeface="Cambria Math" panose="02040503050406030204" pitchFamily="18" charset="0"/>
                      </a:rPr>
                      <m:t>~ </m:t>
                    </m:r>
                    <m:r>
                      <a:rPr lang="en-US" sz="2000" i="1" dirty="0" smtClean="0">
                        <a:latin typeface="Cambria Math" panose="02040503050406030204" pitchFamily="18" charset="0"/>
                      </a:rPr>
                      <m:t>𝑠</m:t>
                    </m:r>
                  </m:oMath>
                </a14:m>
                <a:endParaRPr lang="en-US" sz="2000" i="1" dirty="0"/>
              </a:p>
              <a:p>
                <a:pPr lvl="1"/>
                <a:r>
                  <a:rPr lang="en-US" sz="2000" dirty="0"/>
                  <a:t>Velocity: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sz="2000" b="0" i="1" dirty="0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sz="2000" b="0" i="1" dirty="0" smtClean="0">
                            <a:latin typeface="Cambria Math" panose="02040503050406030204" pitchFamily="18" charset="0"/>
                          </a:rPr>
                          <m:t>𝑣</m:t>
                        </m:r>
                      </m:e>
                      <m:sub>
                        <m:r>
                          <a:rPr lang="en-US" sz="2000" b="0" i="1" dirty="0" smtClean="0">
                            <a:latin typeface="Cambria Math" panose="02040503050406030204" pitchFamily="18" charset="0"/>
                          </a:rPr>
                          <m:t>𝑠</m:t>
                        </m:r>
                      </m:sub>
                    </m:sSub>
                    <m:r>
                      <a:rPr lang="en-US" sz="2000" b="0" i="1" dirty="0" smtClean="0">
                        <a:latin typeface="Cambria Math" panose="02040503050406030204" pitchFamily="18" charset="0"/>
                      </a:rPr>
                      <m:t> ~ 1/</m:t>
                    </m:r>
                    <m:r>
                      <a:rPr lang="en-US" sz="2000" i="1" dirty="0" smtClean="0">
                        <a:latin typeface="Cambria Math" panose="02040503050406030204" pitchFamily="18" charset="0"/>
                      </a:rPr>
                      <m:t>𝑠</m:t>
                    </m:r>
                  </m:oMath>
                </a14:m>
                <a:endParaRPr lang="en-US" sz="2000" i="1" dirty="0"/>
              </a:p>
              <a:p>
                <a:pPr lvl="1"/>
                <a:r>
                  <a:rPr lang="en-US" sz="2000" dirty="0"/>
                  <a:t>Density: 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sz="2000" b="0" i="1" dirty="0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sz="2000" i="1" dirty="0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𝜌</m:t>
                        </m:r>
                      </m:e>
                      <m:sub>
                        <m:r>
                          <a:rPr lang="en-US" sz="2000" b="0" i="1" dirty="0" smtClean="0">
                            <a:latin typeface="Cambria Math" panose="02040503050406030204" pitchFamily="18" charset="0"/>
                          </a:rPr>
                          <m:t>𝑠</m:t>
                        </m:r>
                      </m:sub>
                    </m:sSub>
                    <m:r>
                      <a:rPr lang="en-US" sz="2000" b="0" i="1" dirty="0" smtClean="0">
                        <a:latin typeface="Cambria Math" panose="02040503050406030204" pitchFamily="18" charset="0"/>
                      </a:rPr>
                      <m:t> ~ 1/</m:t>
                    </m:r>
                    <m:sSup>
                      <m:sSupPr>
                        <m:ctrlPr>
                          <a:rPr lang="en-US" sz="2000" b="0" i="1" dirty="0" smtClean="0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n-US" sz="2000" i="1" dirty="0" smtClean="0">
                            <a:latin typeface="Cambria Math" panose="02040503050406030204" pitchFamily="18" charset="0"/>
                          </a:rPr>
                          <m:t>𝑠</m:t>
                        </m:r>
                      </m:e>
                      <m:sup>
                        <m:r>
                          <a:rPr lang="en-US" sz="2000" b="0" i="1" dirty="0" smtClean="0">
                            <a:latin typeface="Cambria Math" panose="02040503050406030204" pitchFamily="18" charset="0"/>
                          </a:rPr>
                          <m:t>3</m:t>
                        </m:r>
                      </m:sup>
                    </m:sSup>
                  </m:oMath>
                </a14:m>
                <a:endParaRPr lang="en-US" sz="2000" i="1" dirty="0"/>
              </a:p>
              <a:p>
                <a:pPr lvl="1"/>
                <a:r>
                  <a:rPr lang="en-US" sz="2000" dirty="0"/>
                  <a:t>Screening time: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sz="2000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sz="200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𝜏</m:t>
                        </m:r>
                      </m:e>
                      <m:sub>
                        <m:r>
                          <a:rPr lang="en-US" sz="2000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𝑠</m:t>
                        </m:r>
                      </m:sub>
                    </m:sSub>
                    <m:r>
                      <a:rPr lang="en-US" sz="2000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 ~ </m:t>
                    </m:r>
                    <m:sSup>
                      <m:sSupPr>
                        <m:ctrlPr>
                          <a:rPr lang="en-US" sz="2000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n-US" sz="2000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𝑠</m:t>
                        </m:r>
                      </m:e>
                      <m:sup>
                        <m:r>
                          <a:rPr lang="en-US" sz="2000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3</m:t>
                        </m:r>
                      </m:sup>
                    </m:sSup>
                  </m:oMath>
                </a14:m>
                <a:endParaRPr lang="en-US" sz="2000" b="0" i="1" dirty="0">
                  <a:ea typeface="Cambria Math" panose="02040503050406030204" pitchFamily="18" charset="0"/>
                </a:endParaRPr>
              </a:p>
              <a:p>
                <a:pPr marL="0" indent="0" algn="ctr">
                  <a:buNone/>
                </a:pPr>
                <a:endParaRPr lang="en-US" sz="2400" dirty="0"/>
              </a:p>
              <a:p>
                <a:pPr marL="0" indent="0">
                  <a:buNone/>
                </a:pPr>
                <a:r>
                  <a:rPr lang="en-US" sz="2400" dirty="0"/>
                  <a:t>Kubo formula for AC conductivity</a:t>
                </a:r>
              </a:p>
              <a:p>
                <a:pPr marL="0" indent="0">
                  <a:buNone/>
                </a:pPr>
                <a:endParaRPr lang="en-US" sz="2400" dirty="0"/>
              </a:p>
              <a:p>
                <a:pPr marL="0" indent="0">
                  <a:buNone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p>
                        <m:sSupPr>
                          <m:ctrlPr>
                            <a:rPr lang="en-US" sz="2000" b="0" i="1" smtClean="0"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d>
                            <m:dPr>
                              <m:begChr m:val="⟨"/>
                              <m:endChr m:val="⟩"/>
                              <m:ctrlPr>
                                <a:rPr lang="en-US" sz="2000" b="0" i="1" smtClean="0"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r>
                                <a:rPr lang="en-US" sz="2000" b="0" i="1" smtClean="0">
                                  <a:latin typeface="Cambria Math" panose="02040503050406030204" pitchFamily="18" charset="0"/>
                                </a:rPr>
                                <m:t> </m:t>
                              </m:r>
                              <m:r>
                                <a:rPr lang="en-US" sz="2000" b="0" i="1" smtClean="0">
                                  <a:latin typeface="Cambria Math" panose="02040503050406030204" pitchFamily="18" charset="0"/>
                                </a:rPr>
                                <m:t>𝐽</m:t>
                              </m:r>
                              <m:d>
                                <m:dPr>
                                  <m:ctrlPr>
                                    <a:rPr lang="en-US" sz="2000" b="0" i="1" smtClean="0">
                                      <a:latin typeface="Cambria Math" panose="02040503050406030204" pitchFamily="18" charset="0"/>
                                    </a:rPr>
                                  </m:ctrlPr>
                                </m:dPr>
                                <m:e>
                                  <m:r>
                                    <a:rPr lang="en-US" sz="2000" b="0" i="1" smtClean="0">
                                      <a:latin typeface="Cambria Math" panose="02040503050406030204" pitchFamily="18" charset="0"/>
                                    </a:rPr>
                                    <m:t>𝑡</m:t>
                                  </m:r>
                                </m:e>
                              </m:d>
                              <m:r>
                                <a:rPr lang="en-US" sz="2000" b="0" i="1" smtClean="0">
                                  <a:latin typeface="Cambria Math" panose="02040503050406030204" pitchFamily="18" charset="0"/>
                                </a:rPr>
                                <m:t>𝐽</m:t>
                              </m:r>
                              <m:d>
                                <m:dPr>
                                  <m:ctrlPr>
                                    <a:rPr lang="en-US" sz="2000" b="0" i="1" smtClean="0">
                                      <a:latin typeface="Cambria Math" panose="02040503050406030204" pitchFamily="18" charset="0"/>
                                    </a:rPr>
                                  </m:ctrlPr>
                                </m:dPr>
                                <m:e>
                                  <m:r>
                                    <a:rPr lang="en-US" sz="2000" b="0" i="1" smtClean="0">
                                      <a:latin typeface="Cambria Math" panose="02040503050406030204" pitchFamily="18" charset="0"/>
                                    </a:rPr>
                                    <m:t>0</m:t>
                                  </m:r>
                                </m:e>
                              </m:d>
                            </m:e>
                          </m:d>
                        </m:e>
                        <m:sup>
                          <m:r>
                            <a:rPr lang="en-US" sz="2000" b="0" i="1" smtClean="0">
                              <a:latin typeface="Cambria Math" panose="02040503050406030204" pitchFamily="18" charset="0"/>
                            </a:rPr>
                            <m:t>𝑐</m:t>
                          </m:r>
                        </m:sup>
                      </m:sSup>
                      <m:r>
                        <a:rPr lang="en-US" sz="2000" b="0" i="1" smtClean="0">
                          <a:latin typeface="Cambria Math" panose="02040503050406030204" pitchFamily="18" charset="0"/>
                        </a:rPr>
                        <m:t> ~</m:t>
                      </m:r>
                      <m:nary>
                        <m:naryPr>
                          <m:chr m:val="∑"/>
                          <m:supHide m:val="on"/>
                          <m:ctrlPr>
                            <a:rPr lang="en-US" sz="2000" b="0" i="1" smtClean="0">
                              <a:latin typeface="Cambria Math" panose="02040503050406030204" pitchFamily="18" charset="0"/>
                            </a:rPr>
                          </m:ctrlPr>
                        </m:naryPr>
                        <m:sub>
                          <m:r>
                            <a:rPr lang="en-US" sz="2000" b="0" i="1" smtClean="0">
                              <a:latin typeface="Cambria Math" panose="02040503050406030204" pitchFamily="18" charset="0"/>
                            </a:rPr>
                            <m:t>𝑠</m:t>
                          </m:r>
                        </m:sub>
                        <m:sup/>
                        <m:e>
                          <m:sSub>
                            <m:sSubPr>
                              <m:ctrlPr>
                                <a:rPr lang="en-US" sz="2000" b="0" i="1" smtClean="0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sz="2000" b="0" i="1" smtClean="0">
                                  <a:latin typeface="Cambria Math" panose="02040503050406030204" pitchFamily="18" charset="0"/>
                                </a:rPr>
                                <m:t>𝜌</m:t>
                              </m:r>
                            </m:e>
                            <m:sub>
                              <m:r>
                                <a:rPr lang="en-US" sz="2000" b="0" i="1" smtClean="0">
                                  <a:latin typeface="Cambria Math" panose="02040503050406030204" pitchFamily="18" charset="0"/>
                                </a:rPr>
                                <m:t>𝑠</m:t>
                              </m:r>
                            </m:sub>
                          </m:sSub>
                          <m:sSup>
                            <m:sSupPr>
                              <m:ctrlPr>
                                <a:rPr lang="en-US" sz="2000" b="0" i="1" smtClean="0">
                                  <a:latin typeface="Cambria Math" panose="02040503050406030204" pitchFamily="18" charset="0"/>
                                </a:rPr>
                              </m:ctrlPr>
                            </m:sSupPr>
                            <m:e>
                              <m:d>
                                <m:dPr>
                                  <m:ctrlPr>
                                    <a:rPr lang="en-US" sz="2000" b="0" i="1" smtClean="0">
                                      <a:latin typeface="Cambria Math" panose="02040503050406030204" pitchFamily="18" charset="0"/>
                                    </a:rPr>
                                  </m:ctrlPr>
                                </m:dPr>
                                <m:e>
                                  <m:sSub>
                                    <m:sSubPr>
                                      <m:ctrlPr>
                                        <a:rPr lang="en-US" sz="2000" b="0" i="1" smtClean="0">
                                          <a:latin typeface="Cambria Math" panose="02040503050406030204" pitchFamily="18" charset="0"/>
                                        </a:rPr>
                                      </m:ctrlPr>
                                    </m:sSubPr>
                                    <m:e>
                                      <m:r>
                                        <a:rPr lang="en-US" sz="2000" b="0" i="1" smtClean="0">
                                          <a:latin typeface="Cambria Math" panose="02040503050406030204" pitchFamily="18" charset="0"/>
                                        </a:rPr>
                                        <m:t>𝑚</m:t>
                                      </m:r>
                                    </m:e>
                                    <m:sub>
                                      <m:r>
                                        <a:rPr lang="en-US" sz="2000" b="0" i="1" smtClean="0">
                                          <a:latin typeface="Cambria Math" panose="02040503050406030204" pitchFamily="18" charset="0"/>
                                        </a:rPr>
                                        <m:t>𝑠</m:t>
                                      </m:r>
                                    </m:sub>
                                  </m:sSub>
                                  <m:sSub>
                                    <m:sSubPr>
                                      <m:ctrlPr>
                                        <a:rPr lang="en-US" sz="2000" b="0" i="1" smtClean="0">
                                          <a:latin typeface="Cambria Math" panose="02040503050406030204" pitchFamily="18" charset="0"/>
                                        </a:rPr>
                                      </m:ctrlPr>
                                    </m:sSubPr>
                                    <m:e>
                                      <m:r>
                                        <a:rPr lang="en-US" sz="2000" b="0" i="1" smtClean="0">
                                          <a:latin typeface="Cambria Math" panose="02040503050406030204" pitchFamily="18" charset="0"/>
                                        </a:rPr>
                                        <m:t>𝑣</m:t>
                                      </m:r>
                                    </m:e>
                                    <m:sub>
                                      <m:r>
                                        <a:rPr lang="en-US" sz="2000" b="0" i="1" smtClean="0">
                                          <a:latin typeface="Cambria Math" panose="02040503050406030204" pitchFamily="18" charset="0"/>
                                        </a:rPr>
                                        <m:t>𝑠</m:t>
                                      </m:r>
                                    </m:sub>
                                  </m:sSub>
                                </m:e>
                              </m:d>
                            </m:e>
                            <m:sup>
                              <m:r>
                                <a:rPr lang="en-US" sz="2000" b="0" i="1" smtClean="0">
                                  <a:latin typeface="Cambria Math" panose="02040503050406030204" pitchFamily="18" charset="0"/>
                                </a:rPr>
                                <m:t>2</m:t>
                              </m:r>
                            </m:sup>
                          </m:sSup>
                          <m:sSup>
                            <m:sSupPr>
                              <m:ctrlPr>
                                <a:rPr lang="en-US" sz="2000" b="0" i="1" smtClean="0">
                                  <a:latin typeface="Cambria Math" panose="02040503050406030204" pitchFamily="18" charset="0"/>
                                </a:rPr>
                              </m:ctrlPr>
                            </m:sSupPr>
                            <m:e>
                              <m:r>
                                <a:rPr lang="en-US" sz="2000" b="0" i="1" smtClean="0">
                                  <a:latin typeface="Cambria Math" panose="02040503050406030204" pitchFamily="18" charset="0"/>
                                </a:rPr>
                                <m:t>𝑒</m:t>
                              </m:r>
                            </m:e>
                            <m:sup>
                              <m:r>
                                <a:rPr lang="en-US" sz="2000" b="0" i="1" smtClean="0">
                                  <a:latin typeface="Cambria Math" panose="02040503050406030204" pitchFamily="18" charset="0"/>
                                </a:rPr>
                                <m:t>−</m:t>
                              </m:r>
                              <m:r>
                                <a:rPr lang="en-US" sz="2000" b="0" i="1" smtClean="0">
                                  <a:latin typeface="Cambria Math" panose="02040503050406030204" pitchFamily="18" charset="0"/>
                                </a:rPr>
                                <m:t>𝑡</m:t>
                              </m:r>
                              <m:r>
                                <a:rPr lang="en-US" sz="2000" b="0" i="1" smtClean="0">
                                  <a:latin typeface="Cambria Math" panose="02040503050406030204" pitchFamily="18" charset="0"/>
                                </a:rPr>
                                <m:t>/</m:t>
                              </m:r>
                              <m:sSub>
                                <m:sSubPr>
                                  <m:ctrlPr>
                                    <a:rPr lang="en-US" sz="2000" b="0" i="1" smtClean="0"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en-US" sz="2000" b="0" i="1" smtClean="0">
                                      <a:latin typeface="Cambria Math" panose="02040503050406030204" pitchFamily="18" charset="0"/>
                                    </a:rPr>
                                    <m:t>𝜏</m:t>
                                  </m:r>
                                </m:e>
                                <m:sub>
                                  <m:r>
                                    <a:rPr lang="en-US" sz="2000" b="0" i="1" smtClean="0">
                                      <a:latin typeface="Cambria Math" panose="02040503050406030204" pitchFamily="18" charset="0"/>
                                    </a:rPr>
                                    <m:t>𝑠</m:t>
                                  </m:r>
                                </m:sub>
                              </m:sSub>
                            </m:sup>
                          </m:sSup>
                          <m:r>
                            <a:rPr lang="en-US" sz="2000" b="0" i="1" smtClean="0">
                              <a:latin typeface="Cambria Math" panose="02040503050406030204" pitchFamily="18" charset="0"/>
                            </a:rPr>
                            <m:t> </m:t>
                          </m:r>
                          <m:r>
                            <a:rPr lang="en-US" sz="2000" i="1">
                              <a:latin typeface="Cambria Math" panose="02040503050406030204" pitchFamily="18" charset="0"/>
                            </a:rPr>
                            <m:t>~</m:t>
                          </m:r>
                          <m:nary>
                            <m:naryPr>
                              <m:chr m:val="∑"/>
                              <m:supHide m:val="on"/>
                              <m:ctrlPr>
                                <a:rPr lang="en-US" sz="2000" i="1">
                                  <a:latin typeface="Cambria Math" panose="02040503050406030204" pitchFamily="18" charset="0"/>
                                </a:rPr>
                              </m:ctrlPr>
                            </m:naryPr>
                            <m:sub>
                              <m:r>
                                <a:rPr lang="en-US" sz="2000" i="1">
                                  <a:latin typeface="Cambria Math" panose="02040503050406030204" pitchFamily="18" charset="0"/>
                                </a:rPr>
                                <m:t>𝑠</m:t>
                              </m:r>
                            </m:sub>
                            <m:sup/>
                            <m:e>
                              <m:f>
                                <m:fPr>
                                  <m:ctrlPr>
                                    <a:rPr lang="en-US" sz="2000" b="0" i="1" smtClean="0">
                                      <a:latin typeface="Cambria Math" panose="02040503050406030204" pitchFamily="18" charset="0"/>
                                    </a:rPr>
                                  </m:ctrlPr>
                                </m:fPr>
                                <m:num>
                                  <m:r>
                                    <a:rPr lang="en-US" sz="2000" b="0" i="1" smtClean="0">
                                      <a:latin typeface="Cambria Math" panose="02040503050406030204" pitchFamily="18" charset="0"/>
                                    </a:rPr>
                                    <m:t>1</m:t>
                                  </m:r>
                                </m:num>
                                <m:den>
                                  <m:sSup>
                                    <m:sSupPr>
                                      <m:ctrlPr>
                                        <a:rPr lang="en-US" sz="2000" b="0" i="1" smtClean="0">
                                          <a:latin typeface="Cambria Math" panose="02040503050406030204" pitchFamily="18" charset="0"/>
                                        </a:rPr>
                                      </m:ctrlPr>
                                    </m:sSupPr>
                                    <m:e>
                                      <m:r>
                                        <a:rPr lang="en-US" sz="2000" b="0" i="1" smtClean="0">
                                          <a:latin typeface="Cambria Math" panose="02040503050406030204" pitchFamily="18" charset="0"/>
                                        </a:rPr>
                                        <m:t>𝑠</m:t>
                                      </m:r>
                                    </m:e>
                                    <m:sup>
                                      <m:r>
                                        <a:rPr lang="en-US" sz="2000" b="0" i="1" smtClean="0">
                                          <a:latin typeface="Cambria Math" panose="02040503050406030204" pitchFamily="18" charset="0"/>
                                        </a:rPr>
                                        <m:t>3</m:t>
                                      </m:r>
                                    </m:sup>
                                  </m:sSup>
                                </m:den>
                              </m:f>
                              <m:sSup>
                                <m:sSupPr>
                                  <m:ctrlPr>
                                    <a:rPr lang="en-US" sz="2000" i="1">
                                      <a:latin typeface="Cambria Math" panose="02040503050406030204" pitchFamily="18" charset="0"/>
                                    </a:rPr>
                                  </m:ctrlPr>
                                </m:sSupPr>
                                <m:e>
                                  <m:r>
                                    <a:rPr lang="en-US" sz="2000" i="1">
                                      <a:latin typeface="Cambria Math" panose="02040503050406030204" pitchFamily="18" charset="0"/>
                                    </a:rPr>
                                    <m:t>𝑒</m:t>
                                  </m:r>
                                </m:e>
                                <m:sup>
                                  <m:r>
                                    <a:rPr lang="en-US" sz="2000" i="1">
                                      <a:latin typeface="Cambria Math" panose="02040503050406030204" pitchFamily="18" charset="0"/>
                                    </a:rPr>
                                    <m:t>−</m:t>
                                  </m:r>
                                  <m:r>
                                    <a:rPr lang="en-US" sz="2000" i="1">
                                      <a:latin typeface="Cambria Math" panose="02040503050406030204" pitchFamily="18" charset="0"/>
                                    </a:rPr>
                                    <m:t>𝑡</m:t>
                                  </m:r>
                                  <m:r>
                                    <a:rPr lang="en-US" sz="2000" i="1">
                                      <a:latin typeface="Cambria Math" panose="02040503050406030204" pitchFamily="18" charset="0"/>
                                    </a:rPr>
                                    <m:t>/</m:t>
                                  </m:r>
                                  <m:sSup>
                                    <m:sSupPr>
                                      <m:ctrlPr>
                                        <a:rPr lang="en-US" sz="2000" b="0" i="1" smtClean="0">
                                          <a:latin typeface="Cambria Math" panose="02040503050406030204" pitchFamily="18" charset="0"/>
                                        </a:rPr>
                                      </m:ctrlPr>
                                    </m:sSupPr>
                                    <m:e>
                                      <m:r>
                                        <a:rPr lang="en-US" sz="2000" b="0" i="1" smtClean="0">
                                          <a:latin typeface="Cambria Math" panose="02040503050406030204" pitchFamily="18" charset="0"/>
                                        </a:rPr>
                                        <m:t>𝑠</m:t>
                                      </m:r>
                                    </m:e>
                                    <m:sup>
                                      <m:r>
                                        <a:rPr lang="en-US" sz="2000" b="0" i="1" smtClean="0">
                                          <a:latin typeface="Cambria Math" panose="02040503050406030204" pitchFamily="18" charset="0"/>
                                        </a:rPr>
                                        <m:t>3</m:t>
                                      </m:r>
                                    </m:sup>
                                  </m:sSup>
                                </m:sup>
                              </m:sSup>
                            </m:e>
                          </m:nary>
                          <m:r>
                            <a:rPr lang="en-US" sz="2000" b="0" i="1" smtClean="0">
                              <a:latin typeface="Cambria Math" panose="02040503050406030204" pitchFamily="18" charset="0"/>
                            </a:rPr>
                            <m:t>~</m:t>
                          </m:r>
                          <m:sSup>
                            <m:sSupPr>
                              <m:ctrlPr>
                                <a:rPr lang="en-US" sz="2000" b="0" i="1" smtClean="0">
                                  <a:latin typeface="Cambria Math" panose="02040503050406030204" pitchFamily="18" charset="0"/>
                                </a:rPr>
                              </m:ctrlPr>
                            </m:sSupPr>
                            <m:e>
                              <m:r>
                                <a:rPr lang="en-US" sz="2000" b="0" i="1" smtClean="0">
                                  <a:latin typeface="Cambria Math" panose="02040503050406030204" pitchFamily="18" charset="0"/>
                                </a:rPr>
                                <m:t> </m:t>
                              </m:r>
                              <m:r>
                                <a:rPr lang="en-US" sz="2000" b="0" i="1" smtClean="0">
                                  <a:latin typeface="Cambria Math" panose="02040503050406030204" pitchFamily="18" charset="0"/>
                                </a:rPr>
                                <m:t>𝑡</m:t>
                              </m:r>
                            </m:e>
                            <m:sup>
                              <m:r>
                                <a:rPr lang="en-US" sz="2000" b="0" i="1" smtClean="0">
                                  <a:latin typeface="Cambria Math" panose="02040503050406030204" pitchFamily="18" charset="0"/>
                                </a:rPr>
                                <m:t>−2/3</m:t>
                              </m:r>
                            </m:sup>
                          </m:sSup>
                        </m:e>
                      </m:nary>
                    </m:oMath>
                  </m:oMathPara>
                </a14:m>
                <a:endParaRPr lang="en-US" sz="2400" dirty="0"/>
              </a:p>
            </p:txBody>
          </p:sp>
        </mc:Choice>
        <mc:Fallback xmlns="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2062E142-2D1E-1299-0268-BD3331095947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xfrm>
                <a:off x="838200" y="1825624"/>
                <a:ext cx="10515600" cy="4770619"/>
              </a:xfrm>
              <a:blipFill>
                <a:blip r:embed="rId2"/>
                <a:stretch>
                  <a:fillRect l="-1448" t="-2122" b="-26525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E3A9A1F8-96F5-969D-D5FC-262039D3AEC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852B8ED-7F2B-5448-BD79-1530102DF259}" type="slidenum">
              <a:rPr lang="en-US" smtClean="0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478823045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0" end="1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597AEEF-51AC-40AC-6DF8-84A05C2C999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3255026-F95B-EE83-2691-1D5394B45C5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sz="3600" dirty="0"/>
              <a:t>“Superuniversality” of superdiffusion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EDC782CD-BCC4-FAB3-09C7-D224A9975448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>
              <a:xfrm>
                <a:off x="838200" y="1825624"/>
                <a:ext cx="10515600" cy="4770619"/>
              </a:xfrm>
            </p:spPr>
            <p:txBody>
              <a:bodyPr>
                <a:normAutofit/>
              </a:bodyPr>
              <a:lstStyle/>
              <a:p>
                <a:pPr marL="0" indent="0">
                  <a:buNone/>
                </a:pPr>
                <a:r>
                  <a:rPr lang="en-US" sz="2400" dirty="0"/>
                  <a:t> It has since been discovered that:</a:t>
                </a:r>
              </a:p>
              <a:p>
                <a:pPr marL="0" indent="0">
                  <a:buNone/>
                </a:pPr>
                <a:endParaRPr lang="en-US" sz="2400" b="1" dirty="0"/>
              </a:p>
              <a:p>
                <a:pPr marL="0" indent="0">
                  <a:buNone/>
                </a:pPr>
                <a:r>
                  <a:rPr lang="en-US" sz="2400" b="1" dirty="0"/>
                  <a:t>For any local quantum integrable model with global symmetry given by a      non-abelian simple Lie group </a:t>
                </a:r>
                <a14:m>
                  <m:oMath xmlns:m="http://schemas.openxmlformats.org/officeDocument/2006/math">
                    <m:r>
                      <a:rPr lang="en-US" sz="2400" b="1" i="1" dirty="0" smtClean="0">
                        <a:latin typeface="Cambria Math" panose="02040503050406030204" pitchFamily="18" charset="0"/>
                      </a:rPr>
                      <m:t>𝑮</m:t>
                    </m:r>
                  </m:oMath>
                </a14:m>
                <a:r>
                  <a:rPr lang="en-US" sz="2400" b="1" dirty="0"/>
                  <a:t>, the finite-temperature transport of associated Noether charges in a symmetric thermal state is </a:t>
                </a:r>
                <a:r>
                  <a:rPr lang="en-US" sz="2400" b="1" i="1" dirty="0" err="1"/>
                  <a:t>superdiffusive</a:t>
                </a:r>
                <a:r>
                  <a:rPr lang="en-US" sz="2400" b="1" i="1" dirty="0"/>
                  <a:t> </a:t>
                </a:r>
                <a:r>
                  <a:rPr lang="en-US" sz="2400" b="1" dirty="0"/>
                  <a:t>(</a:t>
                </a:r>
                <a14:m>
                  <m:oMath xmlns:m="http://schemas.openxmlformats.org/officeDocument/2006/math">
                    <m:r>
                      <a:rPr lang="en-US" sz="2400" b="1" i="1" dirty="0" smtClean="0">
                        <a:latin typeface="Cambria Math" panose="02040503050406030204" pitchFamily="18" charset="0"/>
                      </a:rPr>
                      <m:t>𝒛</m:t>
                    </m:r>
                    <m:r>
                      <a:rPr lang="en-US" sz="2400" b="1" i="1" dirty="0" smtClean="0">
                        <a:latin typeface="Cambria Math" panose="02040503050406030204" pitchFamily="18" charset="0"/>
                      </a:rPr>
                      <m:t>=</m:t>
                    </m:r>
                    <m:r>
                      <a:rPr lang="en-US" sz="2400" b="1" i="1" dirty="0" smtClean="0">
                        <a:latin typeface="Cambria Math" panose="02040503050406030204" pitchFamily="18" charset="0"/>
                      </a:rPr>
                      <m:t>𝟑</m:t>
                    </m:r>
                    <m:r>
                      <a:rPr lang="en-US" sz="2400" b="1" i="1" dirty="0" smtClean="0">
                        <a:latin typeface="Cambria Math" panose="02040503050406030204" pitchFamily="18" charset="0"/>
                      </a:rPr>
                      <m:t>/</m:t>
                    </m:r>
                    <m:r>
                      <a:rPr lang="en-US" sz="2400" b="1" i="1" dirty="0" smtClean="0">
                        <a:latin typeface="Cambria Math" panose="02040503050406030204" pitchFamily="18" charset="0"/>
                      </a:rPr>
                      <m:t>𝟐</m:t>
                    </m:r>
                  </m:oMath>
                </a14:m>
                <a:r>
                  <a:rPr lang="en-US" sz="2400" b="1" dirty="0"/>
                  <a:t>).</a:t>
                </a:r>
              </a:p>
              <a:p>
                <a:pPr marL="0" indent="0">
                  <a:buNone/>
                </a:pPr>
                <a:r>
                  <a:rPr lang="en-US" sz="1800" dirty="0">
                    <a:solidFill>
                      <a:schemeClr val="tx1">
                        <a:lumMod val="50000"/>
                        <a:lumOff val="50000"/>
                      </a:schemeClr>
                    </a:solidFill>
                  </a:rPr>
                  <a:t>Ilievski et al. </a:t>
                </a:r>
                <a:r>
                  <a:rPr lang="en-US" sz="1800" i="1" dirty="0">
                    <a:solidFill>
                      <a:schemeClr val="tx1">
                        <a:lumMod val="50000"/>
                        <a:lumOff val="50000"/>
                      </a:schemeClr>
                    </a:solidFill>
                  </a:rPr>
                  <a:t>PRX </a:t>
                </a:r>
                <a:r>
                  <a:rPr lang="en-US" sz="1800" dirty="0">
                    <a:solidFill>
                      <a:schemeClr val="tx1">
                        <a:lumMod val="50000"/>
                        <a:lumOff val="50000"/>
                      </a:schemeClr>
                    </a:solidFill>
                  </a:rPr>
                  <a:t>‘21</a:t>
                </a:r>
              </a:p>
              <a:p>
                <a:pPr marL="0" indent="0">
                  <a:buNone/>
                </a:pPr>
                <a:endParaRPr lang="en-US" sz="2400" b="1" i="1" dirty="0"/>
              </a:p>
            </p:txBody>
          </p:sp>
        </mc:Choice>
        <mc:Fallback xmlns="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EDC782CD-BCC4-FAB3-09C7-D224A9975448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xfrm>
                <a:off x="838200" y="1825624"/>
                <a:ext cx="10515600" cy="4770619"/>
              </a:xfrm>
              <a:blipFill>
                <a:blip r:embed="rId2"/>
                <a:stretch>
                  <a:fillRect l="-1448" t="-1857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7C7F7C58-0E67-E559-9761-E4B5785187F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852B8ED-7F2B-5448-BD79-1530102DF259}" type="slidenum">
              <a:rPr lang="en-US" smtClean="0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897844344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DD4BDE5-33DE-684C-9E1C-19F5C2A3CD0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sz="3600" dirty="0"/>
              <a:t>Breaking integrability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442794E6-2C64-4A60-29EE-766705E7A799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/>
            <p:txBody>
              <a:bodyPr>
                <a:normAutofit fontScale="92500" lnSpcReduction="20000"/>
              </a:bodyPr>
              <a:lstStyle/>
              <a:p>
                <a:pPr marL="0" indent="0">
                  <a:buNone/>
                </a:pPr>
                <a:r>
                  <a:rPr lang="en-US" sz="2400" dirty="0"/>
                  <a:t>Introduce an integrability-breaking perturbation</a:t>
                </a:r>
              </a:p>
              <a:p>
                <a:pPr marL="0" indent="0">
                  <a:buNone/>
                </a:pPr>
                <a:endParaRPr lang="en-US" sz="2400" b="0" i="1" dirty="0">
                  <a:latin typeface="Cambria Math" panose="02040503050406030204" pitchFamily="18" charset="0"/>
                </a:endParaRPr>
              </a:p>
              <a:p>
                <a:pPr marL="0" indent="0">
                  <a:buNone/>
                </a:pPr>
                <a14:m>
                  <m:oMathPara xmlns:m="http://schemas.openxmlformats.org/officeDocument/2006/math">
                    <m:oMathParaPr>
                      <m:jc m:val="center"/>
                    </m:oMathParaPr>
                    <m:oMath xmlns:m="http://schemas.openxmlformats.org/officeDocument/2006/math">
                      <m:r>
                        <a:rPr lang="en-US" sz="2400" b="0" i="1" smtClean="0">
                          <a:latin typeface="Cambria Math" panose="02040503050406030204" pitchFamily="18" charset="0"/>
                        </a:rPr>
                        <m:t>𝐻</m:t>
                      </m:r>
                      <m:r>
                        <a:rPr lang="en-US" sz="2400" b="0" i="1" smtClean="0">
                          <a:latin typeface="Cambria Math" panose="02040503050406030204" pitchFamily="18" charset="0"/>
                        </a:rPr>
                        <m:t>=</m:t>
                      </m:r>
                      <m:sSub>
                        <m:sSubPr>
                          <m:ctrlPr>
                            <a:rPr lang="en-US" sz="2400" b="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sz="2400" b="0" i="1" smtClean="0">
                              <a:latin typeface="Cambria Math" panose="02040503050406030204" pitchFamily="18" charset="0"/>
                            </a:rPr>
                            <m:t>𝐻</m:t>
                          </m:r>
                        </m:e>
                        <m:sub>
                          <m:r>
                            <a:rPr lang="en-US" sz="2400" b="0" i="1" smtClean="0">
                              <a:latin typeface="Cambria Math" panose="02040503050406030204" pitchFamily="18" charset="0"/>
                            </a:rPr>
                            <m:t>0</m:t>
                          </m:r>
                        </m:sub>
                      </m:sSub>
                      <m:r>
                        <a:rPr lang="en-US" sz="2400" b="0" i="1" smtClean="0">
                          <a:latin typeface="Cambria Math" panose="02040503050406030204" pitchFamily="18" charset="0"/>
                        </a:rPr>
                        <m:t>+</m:t>
                      </m:r>
                      <m:r>
                        <a:rPr lang="en-US" sz="2400" b="0" i="1" smtClean="0">
                          <a:latin typeface="Cambria Math" panose="02040503050406030204" pitchFamily="18" charset="0"/>
                        </a:rPr>
                        <m:t>𝜆</m:t>
                      </m:r>
                      <m:r>
                        <a:rPr lang="en-US" sz="2400" b="0" i="1" smtClean="0">
                          <a:latin typeface="Cambria Math" panose="02040503050406030204" pitchFamily="18" charset="0"/>
                        </a:rPr>
                        <m:t>𝐻</m:t>
                      </m:r>
                      <m:r>
                        <a:rPr lang="en-US" sz="2400" b="0" i="1" smtClean="0">
                          <a:latin typeface="Cambria Math" panose="02040503050406030204" pitchFamily="18" charset="0"/>
                        </a:rPr>
                        <m:t>′</m:t>
                      </m:r>
                    </m:oMath>
                  </m:oMathPara>
                </a14:m>
                <a:endParaRPr lang="en-US" sz="2400" dirty="0"/>
              </a:p>
              <a:p>
                <a:endParaRPr lang="en-US" sz="2400" dirty="0"/>
              </a:p>
              <a:p>
                <a:pPr marL="0" indent="0">
                  <a:buNone/>
                </a:pPr>
                <a:r>
                  <a:rPr lang="en-US" sz="2400" dirty="0"/>
                  <a:t>Non-integrable models are generically diffusive</a:t>
                </a:r>
              </a:p>
              <a:p>
                <a:endParaRPr lang="en-US" sz="2400" dirty="0"/>
              </a:p>
              <a:p>
                <a:pPr marL="0" indent="0">
                  <a:buNone/>
                </a:pPr>
                <a:r>
                  <a:rPr lang="en-US" sz="2400" b="1" dirty="0">
                    <a:solidFill>
                      <a:schemeClr val="accent1"/>
                    </a:solidFill>
                  </a:rPr>
                  <a:t>Question: </a:t>
                </a:r>
                <a:r>
                  <a:rPr lang="en-US" sz="2400" dirty="0">
                    <a:solidFill>
                      <a:schemeClr val="accent1"/>
                    </a:solidFill>
                  </a:rPr>
                  <a:t>How does the timescale of the onset of diffusion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sz="2400" b="0" i="1" smtClean="0">
                            <a:solidFill>
                              <a:schemeClr val="accent1"/>
                            </a:solidFill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sz="2400" b="0" i="1" smtClean="0">
                            <a:solidFill>
                              <a:schemeClr val="accent1"/>
                            </a:solidFill>
                            <a:latin typeface="Cambria Math" panose="02040503050406030204" pitchFamily="18" charset="0"/>
                          </a:rPr>
                          <m:t>𝑡</m:t>
                        </m:r>
                      </m:e>
                      <m:sub>
                        <m:r>
                          <a:rPr lang="en-US" sz="2400" b="0" i="1" smtClean="0">
                            <a:solidFill>
                              <a:schemeClr val="accent1"/>
                            </a:solidFill>
                            <a:latin typeface="Cambria Math" panose="02040503050406030204" pitchFamily="18" charset="0"/>
                          </a:rPr>
                          <m:t>∗</m:t>
                        </m:r>
                      </m:sub>
                    </m:sSub>
                  </m:oMath>
                </a14:m>
                <a:r>
                  <a:rPr lang="en-US" sz="2400" dirty="0">
                    <a:solidFill>
                      <a:schemeClr val="accent1"/>
                    </a:solidFill>
                  </a:rPr>
                  <a:t> scale with the integrability breaking strength</a:t>
                </a:r>
                <a14:m>
                  <m:oMath xmlns:m="http://schemas.openxmlformats.org/officeDocument/2006/math">
                    <m:r>
                      <a:rPr lang="en-US" sz="2400" b="0" i="0" smtClean="0">
                        <a:solidFill>
                          <a:schemeClr val="accent1"/>
                        </a:solidFill>
                        <a:latin typeface="Cambria Math" panose="02040503050406030204" pitchFamily="18" charset="0"/>
                      </a:rPr>
                      <m:t> </m:t>
                    </m:r>
                    <m:r>
                      <a:rPr lang="en-US" sz="2400" b="0" i="1" smtClean="0">
                        <a:solidFill>
                          <a:schemeClr val="accent1"/>
                        </a:solidFill>
                        <a:latin typeface="Cambria Math" panose="02040503050406030204" pitchFamily="18" charset="0"/>
                      </a:rPr>
                      <m:t>𝜆</m:t>
                    </m:r>
                  </m:oMath>
                </a14:m>
                <a:r>
                  <a:rPr lang="en-US" sz="2400" dirty="0">
                    <a:solidFill>
                      <a:schemeClr val="accent1"/>
                    </a:solidFill>
                  </a:rPr>
                  <a:t>?</a:t>
                </a:r>
              </a:p>
              <a:p>
                <a:pPr marL="0" indent="0">
                  <a:buNone/>
                </a:pPr>
                <a:endParaRPr lang="en-US" sz="2400" dirty="0">
                  <a:solidFill>
                    <a:schemeClr val="accent1"/>
                  </a:solidFill>
                </a:endParaRPr>
              </a:p>
              <a:p>
                <a:pPr marL="0" indent="0" algn="ctr">
                  <a:buNone/>
                </a:pPr>
                <a:r>
                  <a:rPr lang="en-US" sz="2400" dirty="0">
                    <a:solidFill>
                      <a:srgbClr val="FF0000"/>
                    </a:solidFill>
                  </a:rPr>
                  <a:t>Depends on if</a:t>
                </a:r>
                <a14:m>
                  <m:oMath xmlns:m="http://schemas.openxmlformats.org/officeDocument/2006/math">
                    <m:r>
                      <a:rPr lang="en-US" sz="2400" b="0" i="0" dirty="0" smtClean="0">
                        <a:solidFill>
                          <a:srgbClr val="FF0000"/>
                        </a:solidFill>
                        <a:latin typeface="Cambria Math" panose="02040503050406030204" pitchFamily="18" charset="0"/>
                      </a:rPr>
                      <m:t> </m:t>
                    </m:r>
                    <m:r>
                      <a:rPr lang="en-US" sz="2400" i="1" dirty="0" smtClean="0">
                        <a:solidFill>
                          <a:srgbClr val="FF0000"/>
                        </a:solidFill>
                        <a:latin typeface="Cambria Math" panose="02040503050406030204" pitchFamily="18" charset="0"/>
                      </a:rPr>
                      <m:t>𝐻</m:t>
                    </m:r>
                    <m:r>
                      <a:rPr lang="en-US" sz="2400" b="0" i="1" dirty="0" smtClean="0">
                        <a:solidFill>
                          <a:srgbClr val="FF0000"/>
                        </a:solidFill>
                        <a:latin typeface="Cambria Math" panose="02040503050406030204" pitchFamily="18" charset="0"/>
                      </a:rPr>
                      <m:t>′</m:t>
                    </m:r>
                  </m:oMath>
                </a14:m>
                <a:r>
                  <a:rPr lang="en-US" sz="2400" dirty="0">
                    <a:solidFill>
                      <a:srgbClr val="FF0000"/>
                    </a:solidFill>
                  </a:rPr>
                  <a:t> preserves the global symmetry </a:t>
                </a:r>
                <a14:m>
                  <m:oMath xmlns:m="http://schemas.openxmlformats.org/officeDocument/2006/math">
                    <m:r>
                      <a:rPr lang="en-US" sz="2400" i="1" dirty="0" smtClean="0">
                        <a:solidFill>
                          <a:srgbClr val="FF0000"/>
                        </a:solidFill>
                        <a:latin typeface="Cambria Math" panose="02040503050406030204" pitchFamily="18" charset="0"/>
                      </a:rPr>
                      <m:t>𝐺</m:t>
                    </m:r>
                  </m:oMath>
                </a14:m>
                <a:endParaRPr lang="en-US" sz="2400" dirty="0">
                  <a:solidFill>
                    <a:srgbClr val="FF0000"/>
                  </a:solidFill>
                </a:endParaRPr>
              </a:p>
            </p:txBody>
          </p:sp>
        </mc:Choice>
        <mc:Fallback xmlns="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442794E6-2C64-4A60-29EE-766705E7A799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blipFill>
                <a:blip r:embed="rId2"/>
                <a:stretch>
                  <a:fillRect l="-1173" t="-3470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366125C8-DC5B-7846-B2DF-506F16B205F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852B8ED-7F2B-5448-BD79-1530102DF259}" type="slidenum">
              <a:rPr lang="en-US" smtClean="0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598623828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270B1C3-C8AA-0A07-9C28-0D3BA290FC4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6AF1E6A-1816-895F-48DE-3D0D07A70F9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sz="3600" dirty="0"/>
              <a:t>Breaking integrability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4" name="Text Placeholder 3">
                <a:extLst>
                  <a:ext uri="{FF2B5EF4-FFF2-40B4-BE49-F238E27FC236}">
                    <a16:creationId xmlns:a16="http://schemas.microsoft.com/office/drawing/2014/main" id="{D31D8B86-C2B5-E512-1EF8-7B7EACBF154B}"/>
                  </a:ext>
                </a:extLst>
              </p:cNvPr>
              <p:cNvSpPr>
                <a:spLocks noGrp="1"/>
              </p:cNvSpPr>
              <p:nvPr>
                <p:ph type="body" idx="1"/>
              </p:nvPr>
            </p:nvSpPr>
            <p:spPr>
              <a:xfrm>
                <a:off x="839788" y="1924233"/>
                <a:ext cx="5157787" cy="454764"/>
              </a:xfrm>
            </p:spPr>
            <p:style>
              <a:lnRef idx="2">
                <a:schemeClr val="dk1"/>
              </a:lnRef>
              <a:fillRef idx="1">
                <a:schemeClr val="lt1"/>
              </a:fillRef>
              <a:effectRef idx="0">
                <a:schemeClr val="dk1"/>
              </a:effectRef>
              <a:fontRef idx="minor">
                <a:schemeClr val="dk1"/>
              </a:fontRef>
            </p:style>
            <p:txBody>
              <a:bodyPr>
                <a:normAutofit/>
              </a:bodyPr>
              <a:lstStyle/>
              <a:p>
                <a:pPr algn="ctr"/>
                <a14:m>
                  <m:oMath xmlns:m="http://schemas.openxmlformats.org/officeDocument/2006/math">
                    <m:r>
                      <a:rPr lang="en-US" b="0" i="1" dirty="0" smtClean="0">
                        <a:solidFill>
                          <a:schemeClr val="tx1"/>
                        </a:solidFill>
                        <a:latin typeface="Cambria Math" panose="02040503050406030204" pitchFamily="18" charset="0"/>
                      </a:rPr>
                      <m:t>𝐻</m:t>
                    </m:r>
                    <m:r>
                      <a:rPr lang="en-US" b="0" i="1" dirty="0" smtClean="0">
                        <a:solidFill>
                          <a:schemeClr val="tx1"/>
                        </a:solidFill>
                        <a:latin typeface="Cambria Math" panose="02040503050406030204" pitchFamily="18" charset="0"/>
                      </a:rPr>
                      <m:t>′</m:t>
                    </m:r>
                  </m:oMath>
                </a14:m>
                <a:r>
                  <a:rPr lang="en-US" b="0" dirty="0">
                    <a:solidFill>
                      <a:schemeClr val="tx1"/>
                    </a:solidFill>
                  </a:rPr>
                  <a:t> breaks </a:t>
                </a:r>
                <a14:m>
                  <m:oMath xmlns:m="http://schemas.openxmlformats.org/officeDocument/2006/math">
                    <m:r>
                      <a:rPr lang="en-US" b="0" i="1" dirty="0" smtClean="0">
                        <a:solidFill>
                          <a:schemeClr val="tx1"/>
                        </a:solidFill>
                        <a:latin typeface="Cambria Math" panose="02040503050406030204" pitchFamily="18" charset="0"/>
                      </a:rPr>
                      <m:t>𝐺</m:t>
                    </m:r>
                  </m:oMath>
                </a14:m>
                <a:endParaRPr lang="en-US" b="0" dirty="0">
                  <a:solidFill>
                    <a:schemeClr val="tx1"/>
                  </a:solidFill>
                </a:endParaRPr>
              </a:p>
            </p:txBody>
          </p:sp>
        </mc:Choice>
        <mc:Fallback xmlns="">
          <p:sp>
            <p:nvSpPr>
              <p:cNvPr id="4" name="Text Placeholder 3">
                <a:extLst>
                  <a:ext uri="{FF2B5EF4-FFF2-40B4-BE49-F238E27FC236}">
                    <a16:creationId xmlns:a16="http://schemas.microsoft.com/office/drawing/2014/main" id="{D31D8B86-C2B5-E512-1EF8-7B7EACBF154B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type="body" idx="1"/>
              </p:nvPr>
            </p:nvSpPr>
            <p:spPr>
              <a:xfrm>
                <a:off x="839788" y="1924233"/>
                <a:ext cx="5157787" cy="454764"/>
              </a:xfrm>
              <a:blipFill>
                <a:blip r:embed="rId2"/>
                <a:stretch>
                  <a:fillRect t="-13158" b="-21053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7C8B1351-C7E3-425E-E320-C8275C9C3159}"/>
                  </a:ext>
                </a:extLst>
              </p:cNvPr>
              <p:cNvSpPr>
                <a:spLocks noGrp="1"/>
              </p:cNvSpPr>
              <p:nvPr>
                <p:ph sz="half" idx="2"/>
              </p:nvPr>
            </p:nvSpPr>
            <p:spPr>
              <a:xfrm>
                <a:off x="839788" y="2476719"/>
                <a:ext cx="5157787" cy="3956014"/>
              </a:xfrm>
            </p:spPr>
            <p:style>
              <a:lnRef idx="2">
                <a:schemeClr val="dk1"/>
              </a:lnRef>
              <a:fillRef idx="1">
                <a:schemeClr val="lt1"/>
              </a:fillRef>
              <a:effectRef idx="0">
                <a:schemeClr val="dk1"/>
              </a:effectRef>
              <a:fontRef idx="minor">
                <a:schemeClr val="dk1"/>
              </a:fontRef>
            </p:style>
            <p:txBody>
              <a:bodyPr>
                <a:normAutofit/>
              </a:bodyPr>
              <a:lstStyle/>
              <a:p>
                <a:pPr marL="0" indent="0">
                  <a:lnSpc>
                    <a:spcPct val="100000"/>
                  </a:lnSpc>
                  <a:buNone/>
                </a:pPr>
                <a:r>
                  <a:rPr lang="en-US" sz="2400" dirty="0"/>
                  <a:t>Fermi’s golden rule:</a:t>
                </a:r>
              </a:p>
              <a:p>
                <a:pPr marL="0" indent="0">
                  <a:lnSpc>
                    <a:spcPct val="100000"/>
                  </a:lnSpc>
                  <a:buNone/>
                </a:pPr>
                <a:endParaRPr lang="en-US" sz="2400" b="0" i="0" dirty="0">
                  <a:latin typeface="Cambria Math" panose="02040503050406030204" pitchFamily="18" charset="0"/>
                </a:endParaRPr>
              </a:p>
              <a:p>
                <a:pPr marL="0" indent="0">
                  <a:lnSpc>
                    <a:spcPct val="100000"/>
                  </a:lnSpc>
                  <a:buNone/>
                </a:pPr>
                <a:endParaRPr lang="en-US" sz="2400" dirty="0">
                  <a:latin typeface="Cambria Math" panose="02040503050406030204" pitchFamily="18" charset="0"/>
                </a:endParaRPr>
              </a:p>
              <a:p>
                <a:pPr marL="0" indent="0">
                  <a:lnSpc>
                    <a:spcPct val="100000"/>
                  </a:lnSpc>
                  <a:buNone/>
                </a:pPr>
                <a14:m>
                  <m:oMathPara xmlns:m="http://schemas.openxmlformats.org/officeDocument/2006/math">
                    <m:oMathParaPr>
                      <m:jc m:val="center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sz="2400" b="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m:rPr>
                              <m:sty m:val="p"/>
                            </m:rPr>
                            <a:rPr lang="en-US" sz="2400" b="0" i="0" smtClean="0">
                              <a:latin typeface="Cambria Math" panose="02040503050406030204" pitchFamily="18" charset="0"/>
                            </a:rPr>
                            <m:t>Γ</m:t>
                          </m:r>
                        </m:e>
                        <m:sub>
                          <m:r>
                            <m:rPr>
                              <m:sty m:val="p"/>
                            </m:rPr>
                            <a:rPr lang="en-US" sz="2400" b="0" i="0" smtClean="0">
                              <a:latin typeface="Cambria Math" panose="02040503050406030204" pitchFamily="18" charset="0"/>
                            </a:rPr>
                            <m:t>s</m:t>
                          </m:r>
                        </m:sub>
                      </m:sSub>
                      <m:r>
                        <a:rPr lang="en-US" sz="2400" b="0" i="1" smtClean="0">
                          <a:latin typeface="Cambria Math" panose="02040503050406030204" pitchFamily="18" charset="0"/>
                        </a:rPr>
                        <m:t> ~ </m:t>
                      </m:r>
                      <m:sSup>
                        <m:sSupPr>
                          <m:ctrlPr>
                            <a:rPr lang="en-US" sz="2400" b="0" i="1" smtClean="0"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a:rPr lang="en-US" sz="2400" b="0" i="1" smtClean="0">
                              <a:latin typeface="Cambria Math" panose="02040503050406030204" pitchFamily="18" charset="0"/>
                            </a:rPr>
                            <m:t>𝜆</m:t>
                          </m:r>
                        </m:e>
                        <m:sup>
                          <m:r>
                            <a:rPr lang="en-US" sz="2400" b="0" i="1" smtClean="0">
                              <a:latin typeface="Cambria Math" panose="02040503050406030204" pitchFamily="18" charset="0"/>
                            </a:rPr>
                            <m:t>2</m:t>
                          </m:r>
                        </m:sup>
                      </m:sSup>
                      <m:r>
                        <a:rPr lang="en-US" sz="240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⇒</m:t>
                      </m:r>
                      <m:sSub>
                        <m:sSubPr>
                          <m:ctrlPr>
                            <a:rPr lang="en-US" sz="2400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sz="2400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𝑡</m:t>
                          </m:r>
                        </m:e>
                        <m:sub>
                          <m:r>
                            <a:rPr lang="en-US" sz="2400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∗</m:t>
                          </m:r>
                        </m:sub>
                      </m:sSub>
                      <m:r>
                        <a:rPr lang="en-US" sz="2400" b="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 ~ </m:t>
                      </m:r>
                      <m:sSup>
                        <m:sSupPr>
                          <m:ctrlPr>
                            <a:rPr lang="en-US" sz="2400" b="0" i="1" smtClean="0">
                              <a:solidFill>
                                <a:srgbClr val="0070C0"/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a:rPr lang="en-US" sz="2400" b="0" i="1" smtClean="0">
                              <a:solidFill>
                                <a:srgbClr val="0070C0"/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𝜆</m:t>
                          </m:r>
                        </m:e>
                        <m:sup>
                          <m:r>
                            <a:rPr lang="en-US" sz="2400" b="0" i="1" smtClean="0">
                              <a:solidFill>
                                <a:srgbClr val="0070C0"/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−2</m:t>
                          </m:r>
                        </m:sup>
                      </m:sSup>
                    </m:oMath>
                  </m:oMathPara>
                </a14:m>
                <a:endParaRPr lang="en-US" sz="2400" dirty="0"/>
              </a:p>
            </p:txBody>
          </p:sp>
        </mc:Choice>
        <mc:Fallback xmlns="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7C8B1351-C7E3-425E-E320-C8275C9C3159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sz="half" idx="2"/>
              </p:nvPr>
            </p:nvSpPr>
            <p:spPr>
              <a:xfrm>
                <a:off x="839788" y="2476719"/>
                <a:ext cx="5157787" cy="3956014"/>
              </a:xfrm>
              <a:blipFill>
                <a:blip r:embed="rId3"/>
                <a:stretch>
                  <a:fillRect l="-2445" t="-955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5" name="Text Placeholder 4">
                <a:extLst>
                  <a:ext uri="{FF2B5EF4-FFF2-40B4-BE49-F238E27FC236}">
                    <a16:creationId xmlns:a16="http://schemas.microsoft.com/office/drawing/2014/main" id="{8DFB9CDB-CE8B-6975-6657-1C7A93847EC5}"/>
                  </a:ext>
                </a:extLst>
              </p:cNvPr>
              <p:cNvSpPr>
                <a:spLocks noGrp="1"/>
              </p:cNvSpPr>
              <p:nvPr>
                <p:ph type="body" sz="quarter" idx="3"/>
              </p:nvPr>
            </p:nvSpPr>
            <p:spPr>
              <a:xfrm>
                <a:off x="6172200" y="1924233"/>
                <a:ext cx="5183188" cy="454764"/>
              </a:xfrm>
            </p:spPr>
            <p:style>
              <a:lnRef idx="2">
                <a:schemeClr val="dk1"/>
              </a:lnRef>
              <a:fillRef idx="1">
                <a:schemeClr val="lt1"/>
              </a:fillRef>
              <a:effectRef idx="0">
                <a:schemeClr val="dk1"/>
              </a:effectRef>
              <a:fontRef idx="minor">
                <a:schemeClr val="dk1"/>
              </a:fontRef>
            </p:style>
            <p:txBody>
              <a:bodyPr>
                <a:normAutofit/>
              </a:bodyPr>
              <a:lstStyle/>
              <a:p>
                <a:pPr algn="ctr"/>
                <a14:m>
                  <m:oMath xmlns:m="http://schemas.openxmlformats.org/officeDocument/2006/math">
                    <m:r>
                      <a:rPr lang="en-US" b="0" i="1" dirty="0" smtClean="0">
                        <a:solidFill>
                          <a:schemeClr val="tx1"/>
                        </a:solidFill>
                        <a:latin typeface="Cambria Math" panose="02040503050406030204" pitchFamily="18" charset="0"/>
                      </a:rPr>
                      <m:t>𝐻</m:t>
                    </m:r>
                    <m:r>
                      <a:rPr lang="en-US" b="0" i="1" dirty="0" smtClean="0">
                        <a:solidFill>
                          <a:schemeClr val="tx1"/>
                        </a:solidFill>
                        <a:latin typeface="Cambria Math" panose="02040503050406030204" pitchFamily="18" charset="0"/>
                      </a:rPr>
                      <m:t>′</m:t>
                    </m:r>
                  </m:oMath>
                </a14:m>
                <a:r>
                  <a:rPr lang="en-US" b="0" dirty="0">
                    <a:solidFill>
                      <a:schemeClr val="tx1"/>
                    </a:solidFill>
                  </a:rPr>
                  <a:t> preserves </a:t>
                </a:r>
                <a14:m>
                  <m:oMath xmlns:m="http://schemas.openxmlformats.org/officeDocument/2006/math">
                    <m:r>
                      <a:rPr lang="en-US" b="0" i="1" dirty="0" smtClean="0">
                        <a:solidFill>
                          <a:schemeClr val="tx1"/>
                        </a:solidFill>
                        <a:latin typeface="Cambria Math" panose="02040503050406030204" pitchFamily="18" charset="0"/>
                      </a:rPr>
                      <m:t>𝐺</m:t>
                    </m:r>
                  </m:oMath>
                </a14:m>
                <a:endParaRPr lang="en-US" b="0" dirty="0">
                  <a:solidFill>
                    <a:schemeClr val="tx1"/>
                  </a:solidFill>
                </a:endParaRPr>
              </a:p>
            </p:txBody>
          </p:sp>
        </mc:Choice>
        <mc:Fallback xmlns="">
          <p:sp>
            <p:nvSpPr>
              <p:cNvPr id="5" name="Text Placeholder 4">
                <a:extLst>
                  <a:ext uri="{FF2B5EF4-FFF2-40B4-BE49-F238E27FC236}">
                    <a16:creationId xmlns:a16="http://schemas.microsoft.com/office/drawing/2014/main" id="{8DFB9CDB-CE8B-6975-6657-1C7A93847EC5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type="body" sz="quarter" idx="3"/>
              </p:nvPr>
            </p:nvSpPr>
            <p:spPr>
              <a:xfrm>
                <a:off x="6172200" y="1924233"/>
                <a:ext cx="5183188" cy="454764"/>
              </a:xfrm>
              <a:blipFill>
                <a:blip r:embed="rId4"/>
                <a:stretch>
                  <a:fillRect t="-13158" b="-21053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6" name="Content Placeholder 5">
                <a:extLst>
                  <a:ext uri="{FF2B5EF4-FFF2-40B4-BE49-F238E27FC236}">
                    <a16:creationId xmlns:a16="http://schemas.microsoft.com/office/drawing/2014/main" id="{05BFB88A-DCCD-C86B-E152-0FF0509CD5B4}"/>
                  </a:ext>
                </a:extLst>
              </p:cNvPr>
              <p:cNvSpPr>
                <a:spLocks noGrp="1"/>
              </p:cNvSpPr>
              <p:nvPr>
                <p:ph sz="quarter" idx="4"/>
              </p:nvPr>
            </p:nvSpPr>
            <p:spPr>
              <a:xfrm>
                <a:off x="6172200" y="2476719"/>
                <a:ext cx="5183188" cy="3956014"/>
              </a:xfrm>
            </p:spPr>
            <p:style>
              <a:lnRef idx="2">
                <a:schemeClr val="dk1"/>
              </a:lnRef>
              <a:fillRef idx="1">
                <a:schemeClr val="lt1"/>
              </a:fillRef>
              <a:effectRef idx="0">
                <a:schemeClr val="dk1"/>
              </a:effectRef>
              <a:fontRef idx="minor">
                <a:schemeClr val="dk1"/>
              </a:fontRef>
            </p:style>
            <p:txBody>
              <a:bodyPr>
                <a:normAutofit/>
              </a:bodyPr>
              <a:lstStyle/>
              <a:p>
                <a:pPr marL="0" indent="0">
                  <a:buNone/>
                </a:pPr>
                <a:r>
                  <a:rPr lang="en-US" sz="2400" dirty="0"/>
                  <a:t>Selection rules limit possible scattering</a:t>
                </a:r>
              </a:p>
              <a:p>
                <a:pPr marL="0" indent="0">
                  <a:buNone/>
                </a:pPr>
                <a14:m>
                  <m:oMath xmlns:m="http://schemas.openxmlformats.org/officeDocument/2006/math">
                    <m:r>
                      <a:rPr lang="en-US" sz="200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⇒</m:t>
                    </m:r>
                  </m:oMath>
                </a14:m>
                <a:r>
                  <a:rPr lang="en-US" sz="2000" dirty="0"/>
                  <a:t> matrix elements of </a:t>
                </a:r>
                <a14:m>
                  <m:oMath xmlns:m="http://schemas.openxmlformats.org/officeDocument/2006/math">
                    <m:r>
                      <a:rPr lang="en-US" sz="2000" i="1" dirty="0">
                        <a:solidFill>
                          <a:schemeClr val="tx1"/>
                        </a:solidFill>
                        <a:latin typeface="Cambria Math" panose="02040503050406030204" pitchFamily="18" charset="0"/>
                      </a:rPr>
                      <m:t>𝐻</m:t>
                    </m:r>
                    <m:r>
                      <a:rPr lang="en-US" sz="2000" i="1" dirty="0">
                        <a:solidFill>
                          <a:schemeClr val="tx1"/>
                        </a:solidFill>
                        <a:latin typeface="Cambria Math" panose="02040503050406030204" pitchFamily="18" charset="0"/>
                      </a:rPr>
                      <m:t>′</m:t>
                    </m:r>
                  </m:oMath>
                </a14:m>
                <a:r>
                  <a:rPr lang="en-US" sz="2000" dirty="0">
                    <a:solidFill>
                      <a:schemeClr val="tx1"/>
                    </a:solidFill>
                  </a:rPr>
                  <a:t> scale as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sz="2000" b="0" i="1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sz="2000" b="0" i="1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  <m:t>𝜀</m:t>
                        </m:r>
                      </m:e>
                      <m:sub>
                        <m:r>
                          <a:rPr lang="en-US" sz="2000" b="0" i="1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  <m:t>𝑠</m:t>
                        </m:r>
                      </m:sub>
                    </m:sSub>
                    <m:r>
                      <a:rPr lang="en-US" sz="2000" b="0" i="1" smtClean="0">
                        <a:solidFill>
                          <a:schemeClr val="tx1"/>
                        </a:solidFill>
                        <a:latin typeface="Cambria Math" panose="02040503050406030204" pitchFamily="18" charset="0"/>
                      </a:rPr>
                      <m:t> ~</m:t>
                    </m:r>
                    <m:f>
                      <m:fPr>
                        <m:ctrlPr>
                          <a:rPr lang="en-US" sz="2000" b="0" i="1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US" sz="2000" b="0" i="1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num>
                      <m:den>
                        <m:r>
                          <a:rPr lang="en-US" sz="2000" b="0" i="1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  <m:t>𝑠</m:t>
                        </m:r>
                      </m:den>
                    </m:f>
                  </m:oMath>
                </a14:m>
                <a:endParaRPr lang="en-US" sz="2000" b="0" i="1" dirty="0">
                  <a:solidFill>
                    <a:schemeClr val="tx1"/>
                  </a:solidFill>
                  <a:latin typeface="Cambria Math" panose="02040503050406030204" pitchFamily="18" charset="0"/>
                </a:endParaRPr>
              </a:p>
              <a:p>
                <a:pPr marL="0" indent="0">
                  <a:buNone/>
                </a:pPr>
                <a14:m>
                  <m:oMath xmlns:m="http://schemas.openxmlformats.org/officeDocument/2006/math">
                    <m:r>
                      <a:rPr lang="en-US" sz="200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⇒</m:t>
                    </m:r>
                  </m:oMath>
                </a14:m>
                <a:r>
                  <a:rPr lang="en-US" sz="2000" dirty="0"/>
                  <a:t>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sz="2000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m:rPr>
                            <m:sty m:val="p"/>
                          </m:rPr>
                          <a:rPr lang="en-US" sz="2000">
                            <a:latin typeface="Cambria Math" panose="02040503050406030204" pitchFamily="18" charset="0"/>
                          </a:rPr>
                          <m:t>Γ</m:t>
                        </m:r>
                      </m:e>
                      <m:sub>
                        <m:r>
                          <m:rPr>
                            <m:sty m:val="p"/>
                          </m:rPr>
                          <a:rPr lang="en-US" sz="2000">
                            <a:latin typeface="Cambria Math" panose="02040503050406030204" pitchFamily="18" charset="0"/>
                          </a:rPr>
                          <m:t>s</m:t>
                        </m:r>
                      </m:sub>
                    </m:sSub>
                    <m:r>
                      <a:rPr lang="en-US" sz="2000" i="1">
                        <a:latin typeface="Cambria Math" panose="02040503050406030204" pitchFamily="18" charset="0"/>
                      </a:rPr>
                      <m:t> ~ </m:t>
                    </m:r>
                    <m:sSup>
                      <m:sSupPr>
                        <m:ctrlPr>
                          <a:rPr lang="en-US" sz="2000" i="1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n-US" sz="2000" i="1">
                            <a:latin typeface="Cambria Math" panose="02040503050406030204" pitchFamily="18" charset="0"/>
                          </a:rPr>
                          <m:t>𝜆</m:t>
                        </m:r>
                      </m:e>
                      <m:sup>
                        <m:r>
                          <a:rPr lang="en-US" sz="2000" i="1"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  <m:r>
                      <a:rPr lang="en-US" sz="2000" b="0" i="1" smtClean="0">
                        <a:latin typeface="Cambria Math" panose="02040503050406030204" pitchFamily="18" charset="0"/>
                      </a:rPr>
                      <m:t>/</m:t>
                    </m:r>
                    <m:sSup>
                      <m:sSupPr>
                        <m:ctrlPr>
                          <a:rPr lang="en-US" sz="2000" b="0" i="1" smtClean="0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n-US" sz="2000" b="0" i="1" smtClean="0">
                            <a:latin typeface="Cambria Math" panose="02040503050406030204" pitchFamily="18" charset="0"/>
                          </a:rPr>
                          <m:t>𝑠</m:t>
                        </m:r>
                      </m:e>
                      <m:sup>
                        <m:r>
                          <a:rPr lang="en-US" sz="2000" b="0" i="1" smtClean="0"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</m:oMath>
                </a14:m>
                <a:endParaRPr lang="en-US" sz="2000" dirty="0"/>
              </a:p>
              <a:p>
                <a:pPr marL="0" indent="0">
                  <a:buNone/>
                </a:pPr>
                <a14:m>
                  <m:oMath xmlns:m="http://schemas.openxmlformats.org/officeDocument/2006/math">
                    <m:r>
                      <a:rPr lang="en-US" sz="200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⇒</m:t>
                    </m:r>
                  </m:oMath>
                </a14:m>
                <a:r>
                  <a:rPr lang="en-US" sz="2000" dirty="0"/>
                  <a:t> decay rate beats intrinsic screening when</a:t>
                </a:r>
              </a:p>
              <a:p>
                <a:pPr marL="0" indent="0">
                  <a:buNone/>
                </a:pPr>
                <a:endParaRPr lang="en-US" sz="1050" i="1" dirty="0">
                  <a:latin typeface="Cambria Math" panose="02040503050406030204" pitchFamily="18" charset="0"/>
                </a:endParaRPr>
              </a:p>
              <a:p>
                <a:pPr marL="0" indent="0">
                  <a:buNone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f>
                        <m:fPr>
                          <m:ctrlPr>
                            <a:rPr lang="en-US" sz="2000" b="0" i="1" smtClean="0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sSup>
                            <m:sSupPr>
                              <m:ctrlPr>
                                <a:rPr lang="en-US" sz="2000" i="1">
                                  <a:latin typeface="Cambria Math" panose="02040503050406030204" pitchFamily="18" charset="0"/>
                                </a:rPr>
                              </m:ctrlPr>
                            </m:sSupPr>
                            <m:e>
                              <m:r>
                                <a:rPr lang="en-US" sz="2000" i="1">
                                  <a:latin typeface="Cambria Math" panose="02040503050406030204" pitchFamily="18" charset="0"/>
                                </a:rPr>
                                <m:t>𝜆</m:t>
                              </m:r>
                            </m:e>
                            <m:sup>
                              <m:r>
                                <a:rPr lang="en-US" sz="2000" i="1">
                                  <a:latin typeface="Cambria Math" panose="02040503050406030204" pitchFamily="18" charset="0"/>
                                </a:rPr>
                                <m:t>2</m:t>
                              </m:r>
                            </m:sup>
                          </m:sSup>
                        </m:num>
                        <m:den>
                          <m:sSup>
                            <m:sSupPr>
                              <m:ctrlPr>
                                <a:rPr lang="en-US" sz="2000" b="0" i="1" smtClean="0">
                                  <a:latin typeface="Cambria Math" panose="02040503050406030204" pitchFamily="18" charset="0"/>
                                </a:rPr>
                              </m:ctrlPr>
                            </m:sSupPr>
                            <m:e>
                              <m:r>
                                <a:rPr lang="en-US" sz="2000" b="0" i="1" smtClean="0">
                                  <a:latin typeface="Cambria Math" panose="02040503050406030204" pitchFamily="18" charset="0"/>
                                </a:rPr>
                                <m:t>𝑠</m:t>
                              </m:r>
                            </m:e>
                            <m:sup>
                              <m:r>
                                <a:rPr lang="en-US" sz="2000" b="0" i="1" smtClean="0">
                                  <a:latin typeface="Cambria Math" panose="02040503050406030204" pitchFamily="18" charset="0"/>
                                </a:rPr>
                                <m:t>2</m:t>
                              </m:r>
                            </m:sup>
                          </m:sSup>
                        </m:den>
                      </m:f>
                      <m:r>
                        <a:rPr lang="en-US" sz="2000" b="0" i="1" smtClean="0">
                          <a:latin typeface="Cambria Math" panose="02040503050406030204" pitchFamily="18" charset="0"/>
                        </a:rPr>
                        <m:t>~</m:t>
                      </m:r>
                      <m:f>
                        <m:fPr>
                          <m:ctrlPr>
                            <a:rPr lang="en-US" sz="2000" b="0" i="1" smtClean="0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en-US" sz="2000" b="0" i="1" smtClean="0">
                              <a:latin typeface="Cambria Math" panose="02040503050406030204" pitchFamily="18" charset="0"/>
                            </a:rPr>
                            <m:t>1</m:t>
                          </m:r>
                        </m:num>
                        <m:den>
                          <m:sSub>
                            <m:sSubPr>
                              <m:ctrlPr>
                                <a:rPr lang="en-US" sz="2000" b="0" i="1" smtClean="0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sz="2000" b="0" i="1" smtClean="0">
                                  <a:latin typeface="Cambria Math" panose="02040503050406030204" pitchFamily="18" charset="0"/>
                                </a:rPr>
                                <m:t>𝜏</m:t>
                              </m:r>
                            </m:e>
                            <m:sub>
                              <m:r>
                                <a:rPr lang="en-US" sz="2000" b="0" i="1" smtClean="0">
                                  <a:latin typeface="Cambria Math" panose="02040503050406030204" pitchFamily="18" charset="0"/>
                                </a:rPr>
                                <m:t>𝑠</m:t>
                              </m:r>
                            </m:sub>
                          </m:sSub>
                        </m:den>
                      </m:f>
                      <m:r>
                        <a:rPr lang="en-US" sz="2000" b="0" i="1" smtClean="0">
                          <a:latin typeface="Cambria Math" panose="02040503050406030204" pitchFamily="18" charset="0"/>
                        </a:rPr>
                        <m:t>~</m:t>
                      </m:r>
                      <m:f>
                        <m:fPr>
                          <m:ctrlPr>
                            <a:rPr lang="en-US" sz="2000" i="1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en-US" sz="2000" i="1">
                              <a:latin typeface="Cambria Math" panose="02040503050406030204" pitchFamily="18" charset="0"/>
                            </a:rPr>
                            <m:t>1</m:t>
                          </m:r>
                        </m:num>
                        <m:den>
                          <m:sSup>
                            <m:sSupPr>
                              <m:ctrlPr>
                                <a:rPr lang="en-US" sz="2000" b="0" i="1" smtClean="0">
                                  <a:latin typeface="Cambria Math" panose="02040503050406030204" pitchFamily="18" charset="0"/>
                                </a:rPr>
                              </m:ctrlPr>
                            </m:sSupPr>
                            <m:e>
                              <m:r>
                                <a:rPr lang="en-US" sz="2000" b="0" i="1" smtClean="0">
                                  <a:latin typeface="Cambria Math" panose="02040503050406030204" pitchFamily="18" charset="0"/>
                                </a:rPr>
                                <m:t>𝑠</m:t>
                              </m:r>
                            </m:e>
                            <m:sup>
                              <m:r>
                                <a:rPr lang="en-US" sz="2000" b="0" i="1" smtClean="0">
                                  <a:latin typeface="Cambria Math" panose="02040503050406030204" pitchFamily="18" charset="0"/>
                                </a:rPr>
                                <m:t>3</m:t>
                              </m:r>
                            </m:sup>
                          </m:sSup>
                        </m:den>
                      </m:f>
                    </m:oMath>
                  </m:oMathPara>
                </a14:m>
                <a:endParaRPr lang="en-US" sz="2000" dirty="0"/>
              </a:p>
              <a:p>
                <a:pPr marL="0" indent="0">
                  <a:buNone/>
                </a:pPr>
                <a14:m>
                  <m:oMath xmlns:m="http://schemas.openxmlformats.org/officeDocument/2006/math">
                    <m:r>
                      <a:rPr lang="en-US" sz="200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⇒</m:t>
                    </m:r>
                  </m:oMath>
                </a14:m>
                <a:r>
                  <a:rPr lang="en-US" sz="2000" dirty="0"/>
                  <a:t> </a:t>
                </a:r>
                <a14:m>
                  <m:oMath xmlns:m="http://schemas.openxmlformats.org/officeDocument/2006/math">
                    <m:r>
                      <a:rPr lang="en-US" sz="2000" i="1" smtClean="0">
                        <a:latin typeface="Cambria Math" panose="02040503050406030204" pitchFamily="18" charset="0"/>
                      </a:rPr>
                      <m:t>𝑠</m:t>
                    </m:r>
                    <m:r>
                      <a:rPr lang="en-US" sz="2000" b="0" i="1" smtClean="0">
                        <a:latin typeface="Cambria Math" panose="02040503050406030204" pitchFamily="18" charset="0"/>
                      </a:rPr>
                      <m:t> ~ </m:t>
                    </m:r>
                    <m:sSup>
                      <m:sSupPr>
                        <m:ctrlPr>
                          <a:rPr lang="en-US" sz="2000" b="0" i="1" smtClean="0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n-US" sz="2000" b="0" i="1" smtClean="0">
                            <a:latin typeface="Cambria Math" panose="02040503050406030204" pitchFamily="18" charset="0"/>
                          </a:rPr>
                          <m:t>𝜆</m:t>
                        </m:r>
                      </m:e>
                      <m:sup>
                        <m:r>
                          <a:rPr lang="en-US" sz="2000" b="0" i="1" smtClean="0">
                            <a:latin typeface="Cambria Math" panose="02040503050406030204" pitchFamily="18" charset="0"/>
                          </a:rPr>
                          <m:t>−2</m:t>
                        </m:r>
                      </m:sup>
                    </m:sSup>
                  </m:oMath>
                </a14:m>
                <a:endParaRPr lang="en-US" sz="2000" dirty="0"/>
              </a:p>
              <a:p>
                <a:pPr marL="0" indent="0">
                  <a:buNone/>
                </a:pPr>
                <a14:m>
                  <m:oMath xmlns:m="http://schemas.openxmlformats.org/officeDocument/2006/math">
                    <m:r>
                      <a:rPr lang="en-US" sz="200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⇒</m:t>
                    </m:r>
                  </m:oMath>
                </a14:m>
                <a:r>
                  <a:rPr lang="en-US" sz="2000" dirty="0"/>
                  <a:t>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sz="2000" b="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sz="2000" b="0" i="1" smtClean="0">
                            <a:latin typeface="Cambria Math" panose="02040503050406030204" pitchFamily="18" charset="0"/>
                          </a:rPr>
                          <m:t>𝑡</m:t>
                        </m:r>
                      </m:e>
                      <m:sub>
                        <m:r>
                          <a:rPr lang="en-US" sz="2000" b="0" i="1" smtClean="0">
                            <a:latin typeface="Cambria Math" panose="02040503050406030204" pitchFamily="18" charset="0"/>
                          </a:rPr>
                          <m:t>∗</m:t>
                        </m:r>
                      </m:sub>
                    </m:sSub>
                    <m:r>
                      <a:rPr lang="en-US" sz="2000" b="0" i="1" smtClean="0">
                        <a:latin typeface="Cambria Math" panose="02040503050406030204" pitchFamily="18" charset="0"/>
                      </a:rPr>
                      <m:t> ~ </m:t>
                    </m:r>
                    <m:sSub>
                      <m:sSubPr>
                        <m:ctrlPr>
                          <a:rPr lang="en-US" sz="2000" b="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sz="2000" b="0" i="1" smtClean="0">
                            <a:latin typeface="Cambria Math" panose="02040503050406030204" pitchFamily="18" charset="0"/>
                          </a:rPr>
                          <m:t>𝜏</m:t>
                        </m:r>
                      </m:e>
                      <m:sub>
                        <m:r>
                          <a:rPr lang="en-US" sz="2000" b="0" i="1" smtClean="0">
                            <a:latin typeface="Cambria Math" panose="02040503050406030204" pitchFamily="18" charset="0"/>
                          </a:rPr>
                          <m:t>𝑠</m:t>
                        </m:r>
                      </m:sub>
                    </m:sSub>
                    <m:r>
                      <a:rPr lang="en-US" sz="2000" b="0" i="1" smtClean="0">
                        <a:latin typeface="Cambria Math" panose="02040503050406030204" pitchFamily="18" charset="0"/>
                      </a:rPr>
                      <m:t> ~ </m:t>
                    </m:r>
                    <m:sSup>
                      <m:sSupPr>
                        <m:ctrlPr>
                          <a:rPr lang="en-US" sz="2000" b="0" i="1" smtClean="0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n-US" sz="2000" b="0" i="1" smtClean="0">
                            <a:latin typeface="Cambria Math" panose="02040503050406030204" pitchFamily="18" charset="0"/>
                          </a:rPr>
                          <m:t>𝑠</m:t>
                        </m:r>
                      </m:e>
                      <m:sup>
                        <m:r>
                          <a:rPr lang="en-US" sz="2000" b="0" i="1" smtClean="0">
                            <a:latin typeface="Cambria Math" panose="02040503050406030204" pitchFamily="18" charset="0"/>
                          </a:rPr>
                          <m:t>3</m:t>
                        </m:r>
                      </m:sup>
                    </m:sSup>
                    <m:r>
                      <a:rPr lang="en-US" sz="2000" b="0" i="1" smtClean="0">
                        <a:latin typeface="Cambria Math" panose="02040503050406030204" pitchFamily="18" charset="0"/>
                      </a:rPr>
                      <m:t> ~ </m:t>
                    </m:r>
                    <m:sSup>
                      <m:sSupPr>
                        <m:ctrlPr>
                          <a:rPr lang="en-US" sz="2000" b="0" i="1" smtClean="0">
                            <a:solidFill>
                              <a:srgbClr val="0070C0"/>
                            </a:solidFill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n-US" sz="2000" b="0" i="1" smtClean="0">
                            <a:solidFill>
                              <a:srgbClr val="0070C0"/>
                            </a:solidFill>
                            <a:latin typeface="Cambria Math" panose="02040503050406030204" pitchFamily="18" charset="0"/>
                          </a:rPr>
                          <m:t>𝜆</m:t>
                        </m:r>
                      </m:e>
                      <m:sup>
                        <m:r>
                          <a:rPr lang="en-US" sz="2000" b="0" i="1" smtClean="0">
                            <a:solidFill>
                              <a:srgbClr val="0070C0"/>
                            </a:solidFill>
                            <a:latin typeface="Cambria Math" panose="02040503050406030204" pitchFamily="18" charset="0"/>
                          </a:rPr>
                          <m:t>−6</m:t>
                        </m:r>
                      </m:sup>
                    </m:sSup>
                  </m:oMath>
                </a14:m>
                <a:endParaRPr lang="en-US" sz="2000" dirty="0"/>
              </a:p>
            </p:txBody>
          </p:sp>
        </mc:Choice>
        <mc:Fallback xmlns="">
          <p:sp>
            <p:nvSpPr>
              <p:cNvPr id="6" name="Content Placeholder 5">
                <a:extLst>
                  <a:ext uri="{FF2B5EF4-FFF2-40B4-BE49-F238E27FC236}">
                    <a16:creationId xmlns:a16="http://schemas.microsoft.com/office/drawing/2014/main" id="{05BFB88A-DCCD-C86B-E152-0FF0509CD5B4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sz="quarter" idx="4"/>
              </p:nvPr>
            </p:nvSpPr>
            <p:spPr>
              <a:xfrm>
                <a:off x="6172200" y="2476719"/>
                <a:ext cx="5183188" cy="3956014"/>
              </a:xfrm>
              <a:blipFill>
                <a:blip r:embed="rId5"/>
                <a:stretch>
                  <a:fillRect l="-2676" t="-1911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9FF1C9CC-68D3-9910-CF4C-FC17A7C2E66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852B8ED-7F2B-5448-BD79-1530102DF259}" type="slidenum">
              <a:rPr lang="en-US" smtClean="0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83108443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1" fill="hold">
                      <p:stCondLst>
                        <p:cond delay="indefinite"/>
                      </p:stCondLst>
                      <p:childTnLst>
                        <p:par>
                          <p:cTn id="32" fill="hold">
                            <p:stCondLst>
                              <p:cond delay="0"/>
                            </p:stCondLst>
                            <p:childTnLst>
                              <p:par>
                                <p:cTn id="3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5" fill="hold">
                      <p:stCondLst>
                        <p:cond delay="indefinite"/>
                      </p:stCondLst>
                      <p:childTnLst>
                        <p:par>
                          <p:cTn id="36" fill="hold">
                            <p:stCondLst>
                              <p:cond delay="0"/>
                            </p:stCondLst>
                            <p:childTnLst>
                              <p:par>
                                <p:cTn id="3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uiExpand="1" build="p"/>
      <p:bldP spid="6" grpId="0" uiExpand="1" build="p"/>
    </p:bldLst>
  </p:timing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E8524F9-779D-994A-0AB0-040EA59FE1F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sz="3600" dirty="0"/>
              <a:t>Heisenberg ladder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04A861E5-A7C8-B1AD-AE63-B8B20D2B6949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>
              <a:xfrm>
                <a:off x="838200" y="3544746"/>
                <a:ext cx="10515600" cy="2747963"/>
              </a:xfrm>
            </p:spPr>
            <p:txBody>
              <a:bodyPr>
                <a:normAutofit/>
              </a:bodyPr>
              <a:lstStyle/>
              <a:p>
                <a:pPr marL="0" indent="0">
                  <a:buNone/>
                </a:pPr>
                <a:r>
                  <a:rPr lang="en-US" sz="2400" dirty="0"/>
                  <a:t>Introduce several types of integrability-breaking perturbations</a:t>
                </a:r>
              </a:p>
              <a:p>
                <a:pPr marL="0" indent="0">
                  <a:buNone/>
                </a:pPr>
                <a:endParaRPr lang="en-US" sz="2400" b="0" i="1" dirty="0"/>
              </a:p>
              <a:p>
                <a:pPr marL="0" indent="0">
                  <a:buNone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sz="2400" b="0" i="1" smtClean="0">
                          <a:latin typeface="Cambria Math" panose="02040503050406030204" pitchFamily="18" charset="0"/>
                        </a:rPr>
                        <m:t>𝐻</m:t>
                      </m:r>
                      <m:r>
                        <a:rPr lang="en-US" sz="2400" b="0" i="1" smtClean="0">
                          <a:latin typeface="Cambria Math" panose="02040503050406030204" pitchFamily="18" charset="0"/>
                        </a:rPr>
                        <m:t>=</m:t>
                      </m:r>
                      <m:r>
                        <a:rPr lang="en-US" sz="2400" b="0" i="1" smtClean="0">
                          <a:latin typeface="Cambria Math" panose="02040503050406030204" pitchFamily="18" charset="0"/>
                        </a:rPr>
                        <m:t>𝐽</m:t>
                      </m:r>
                      <m:nary>
                        <m:naryPr>
                          <m:chr m:val="∑"/>
                          <m:supHide m:val="on"/>
                          <m:ctrlPr>
                            <a:rPr lang="en-US" sz="2400" b="0" i="1" smtClean="0">
                              <a:latin typeface="Cambria Math" panose="02040503050406030204" pitchFamily="18" charset="0"/>
                            </a:rPr>
                          </m:ctrlPr>
                        </m:naryPr>
                        <m:sub>
                          <m:r>
                            <m:rPr>
                              <m:brk m:alnAt="7"/>
                            </m:rPr>
                            <a:rPr lang="en-US" sz="2400" b="0" i="1" smtClean="0">
                              <a:latin typeface="Cambria Math" panose="02040503050406030204" pitchFamily="18" charset="0"/>
                            </a:rPr>
                            <m:t>&lt;</m:t>
                          </m:r>
                          <m:r>
                            <a:rPr lang="en-US" sz="2400" b="0" i="1" smtClean="0">
                              <a:latin typeface="Cambria Math" panose="02040503050406030204" pitchFamily="18" charset="0"/>
                            </a:rPr>
                            <m:t>𝑖</m:t>
                          </m:r>
                          <m:r>
                            <a:rPr lang="en-US" sz="2400" b="0" i="1" smtClean="0">
                              <a:latin typeface="Cambria Math" panose="02040503050406030204" pitchFamily="18" charset="0"/>
                            </a:rPr>
                            <m:t>,</m:t>
                          </m:r>
                          <m:r>
                            <a:rPr lang="en-US" sz="2400" b="0" i="1" smtClean="0">
                              <a:latin typeface="Cambria Math" panose="02040503050406030204" pitchFamily="18" charset="0"/>
                            </a:rPr>
                            <m:t>𝑗</m:t>
                          </m:r>
                          <m:r>
                            <a:rPr lang="en-US" sz="2400" b="0" i="1" smtClean="0">
                              <a:latin typeface="Cambria Math" panose="02040503050406030204" pitchFamily="18" charset="0"/>
                            </a:rPr>
                            <m:t>&gt;</m:t>
                          </m:r>
                        </m:sub>
                        <m:sup/>
                        <m:e>
                          <m:r>
                            <a:rPr lang="en-US" sz="2400" b="0" i="1" smtClean="0">
                              <a:latin typeface="Cambria Math" panose="02040503050406030204" pitchFamily="18" charset="0"/>
                            </a:rPr>
                            <m:t>(</m:t>
                          </m:r>
                          <m:sSubSup>
                            <m:sSubSupPr>
                              <m:ctrlPr>
                                <a:rPr lang="en-US" sz="2400" i="1" dirty="0">
                                  <a:latin typeface="Cambria Math" panose="02040503050406030204" pitchFamily="18" charset="0"/>
                                </a:rPr>
                              </m:ctrlPr>
                            </m:sSubSupPr>
                            <m:e>
                              <m:acc>
                                <m:accPr>
                                  <m:chr m:val="⃗"/>
                                  <m:ctrlPr>
                                    <a:rPr lang="en-US" sz="2400" i="1" dirty="0">
                                      <a:latin typeface="Cambria Math" panose="02040503050406030204" pitchFamily="18" charset="0"/>
                                    </a:rPr>
                                  </m:ctrlPr>
                                </m:accPr>
                                <m:e>
                                  <m:r>
                                    <a:rPr lang="en-US" sz="2400" i="1" dirty="0">
                                      <a:latin typeface="Cambria Math" panose="02040503050406030204" pitchFamily="18" charset="0"/>
                                    </a:rPr>
                                    <m:t>𝑆</m:t>
                                  </m:r>
                                </m:e>
                              </m:acc>
                            </m:e>
                            <m:sub>
                              <m:r>
                                <a:rPr lang="en-US" sz="2400" i="1" dirty="0">
                                  <a:latin typeface="Cambria Math" panose="02040503050406030204" pitchFamily="18" charset="0"/>
                                </a:rPr>
                                <m:t>𝑖</m:t>
                              </m:r>
                            </m:sub>
                            <m:sup>
                              <m:r>
                                <a:rPr lang="en-US" sz="2400" i="1" dirty="0">
                                  <a:latin typeface="Cambria Math" panose="02040503050406030204" pitchFamily="18" charset="0"/>
                                </a:rPr>
                                <m:t>(1)</m:t>
                              </m:r>
                            </m:sup>
                          </m:sSubSup>
                        </m:e>
                      </m:nary>
                      <m:r>
                        <a:rPr lang="en-US" sz="2400" b="0" i="1" dirty="0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∙</m:t>
                      </m:r>
                      <m:sSubSup>
                        <m:sSubSupPr>
                          <m:ctrlPr>
                            <a:rPr lang="en-US" sz="2400" i="1" dirty="0">
                              <a:latin typeface="Cambria Math" panose="02040503050406030204" pitchFamily="18" charset="0"/>
                            </a:rPr>
                          </m:ctrlPr>
                        </m:sSubSupPr>
                        <m:e>
                          <m:acc>
                            <m:accPr>
                              <m:chr m:val="⃗"/>
                              <m:ctrlPr>
                                <a:rPr lang="en-US" sz="2400" i="1" dirty="0">
                                  <a:latin typeface="Cambria Math" panose="02040503050406030204" pitchFamily="18" charset="0"/>
                                </a:rPr>
                              </m:ctrlPr>
                            </m:accPr>
                            <m:e>
                              <m:r>
                                <a:rPr lang="en-US" sz="2400" i="1" dirty="0">
                                  <a:latin typeface="Cambria Math" panose="02040503050406030204" pitchFamily="18" charset="0"/>
                                </a:rPr>
                                <m:t>𝑆</m:t>
                              </m:r>
                            </m:e>
                          </m:acc>
                        </m:e>
                        <m:sub>
                          <m:r>
                            <a:rPr lang="en-US" sz="2400" b="0" i="1" dirty="0" smtClean="0">
                              <a:latin typeface="Cambria Math" panose="02040503050406030204" pitchFamily="18" charset="0"/>
                            </a:rPr>
                            <m:t>𝑗</m:t>
                          </m:r>
                        </m:sub>
                        <m:sup>
                          <m:d>
                            <m:dPr>
                              <m:ctrlPr>
                                <a:rPr lang="en-US" sz="2400" i="1" dirty="0"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r>
                                <a:rPr lang="en-US" sz="2400" i="1" dirty="0">
                                  <a:latin typeface="Cambria Math" panose="02040503050406030204" pitchFamily="18" charset="0"/>
                                </a:rPr>
                                <m:t>1</m:t>
                              </m:r>
                            </m:e>
                          </m:d>
                        </m:sup>
                      </m:sSubSup>
                      <m:r>
                        <a:rPr lang="en-US" sz="2400" b="0" i="1" dirty="0" smtClean="0">
                          <a:latin typeface="Cambria Math" panose="02040503050406030204" pitchFamily="18" charset="0"/>
                        </a:rPr>
                        <m:t>+</m:t>
                      </m:r>
                      <m:sSubSup>
                        <m:sSubSupPr>
                          <m:ctrlPr>
                            <a:rPr lang="en-US" sz="2400" i="1" dirty="0">
                              <a:latin typeface="Cambria Math" panose="02040503050406030204" pitchFamily="18" charset="0"/>
                            </a:rPr>
                          </m:ctrlPr>
                        </m:sSubSupPr>
                        <m:e>
                          <m:acc>
                            <m:accPr>
                              <m:chr m:val="⃗"/>
                              <m:ctrlPr>
                                <a:rPr lang="en-US" sz="2400" i="1" dirty="0">
                                  <a:latin typeface="Cambria Math" panose="02040503050406030204" pitchFamily="18" charset="0"/>
                                </a:rPr>
                              </m:ctrlPr>
                            </m:accPr>
                            <m:e>
                              <m:r>
                                <a:rPr lang="en-US" sz="2400" i="1" dirty="0">
                                  <a:latin typeface="Cambria Math" panose="02040503050406030204" pitchFamily="18" charset="0"/>
                                </a:rPr>
                                <m:t>𝑆</m:t>
                              </m:r>
                            </m:e>
                          </m:acc>
                        </m:e>
                        <m:sub>
                          <m:r>
                            <a:rPr lang="en-US" sz="2400" i="1" dirty="0">
                              <a:latin typeface="Cambria Math" panose="02040503050406030204" pitchFamily="18" charset="0"/>
                            </a:rPr>
                            <m:t>𝑖</m:t>
                          </m:r>
                        </m:sub>
                        <m:sup>
                          <m:d>
                            <m:dPr>
                              <m:ctrlPr>
                                <a:rPr lang="en-US" sz="2400" b="0" i="1" dirty="0"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r>
                                <a:rPr lang="en-US" sz="2400" b="0" i="1" dirty="0" smtClean="0">
                                  <a:latin typeface="Cambria Math" panose="02040503050406030204" pitchFamily="18" charset="0"/>
                                </a:rPr>
                                <m:t>2</m:t>
                              </m:r>
                            </m:e>
                          </m:d>
                        </m:sup>
                      </m:sSubSup>
                      <m:r>
                        <a:rPr lang="en-US" sz="2400" b="0" i="1" smtClean="0">
                          <a:latin typeface="Cambria Math" panose="02040503050406030204" pitchFamily="18" charset="0"/>
                        </a:rPr>
                        <m:t>⋅</m:t>
                      </m:r>
                      <m:sSubSup>
                        <m:sSubSupPr>
                          <m:ctrlPr>
                            <a:rPr lang="en-US" sz="2400" i="1" dirty="0">
                              <a:latin typeface="Cambria Math" panose="02040503050406030204" pitchFamily="18" charset="0"/>
                            </a:rPr>
                          </m:ctrlPr>
                        </m:sSubSupPr>
                        <m:e>
                          <m:acc>
                            <m:accPr>
                              <m:chr m:val="⃗"/>
                              <m:ctrlPr>
                                <a:rPr lang="en-US" sz="2400" i="1" dirty="0">
                                  <a:latin typeface="Cambria Math" panose="02040503050406030204" pitchFamily="18" charset="0"/>
                                </a:rPr>
                              </m:ctrlPr>
                            </m:accPr>
                            <m:e>
                              <m:r>
                                <a:rPr lang="en-US" sz="2400" i="1" dirty="0">
                                  <a:latin typeface="Cambria Math" panose="02040503050406030204" pitchFamily="18" charset="0"/>
                                </a:rPr>
                                <m:t>𝑆</m:t>
                              </m:r>
                            </m:e>
                          </m:acc>
                        </m:e>
                        <m:sub>
                          <m:r>
                            <a:rPr lang="en-US" sz="2400" b="0" i="1" dirty="0" smtClean="0">
                              <a:latin typeface="Cambria Math" panose="02040503050406030204" pitchFamily="18" charset="0"/>
                            </a:rPr>
                            <m:t>𝑗</m:t>
                          </m:r>
                        </m:sub>
                        <m:sup>
                          <m:d>
                            <m:dPr>
                              <m:ctrlPr>
                                <a:rPr lang="en-US" sz="2400" b="0" i="1" dirty="0"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r>
                                <a:rPr lang="en-US" sz="2400" b="0" i="1" dirty="0" smtClean="0">
                                  <a:latin typeface="Cambria Math" panose="02040503050406030204" pitchFamily="18" charset="0"/>
                                </a:rPr>
                                <m:t>2</m:t>
                              </m:r>
                            </m:e>
                          </m:d>
                        </m:sup>
                      </m:sSubSup>
                      <m:r>
                        <a:rPr lang="en-US" sz="2400" b="0" i="1" dirty="0" smtClean="0">
                          <a:latin typeface="Cambria Math" panose="02040503050406030204" pitchFamily="18" charset="0"/>
                        </a:rPr>
                        <m:t>)</m:t>
                      </m:r>
                      <m:r>
                        <a:rPr lang="en-US" sz="2400" b="0" i="0" dirty="0" smtClean="0">
                          <a:latin typeface="Cambria Math" panose="02040503050406030204" pitchFamily="18" charset="0"/>
                        </a:rPr>
                        <m:t>+</m:t>
                      </m:r>
                      <m:sSup>
                        <m:sSupPr>
                          <m:ctrlPr>
                            <a:rPr lang="en-US" sz="2400" b="0" i="1" smtClean="0"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a:rPr lang="en-US" sz="2400" b="0" i="1" smtClean="0">
                              <a:latin typeface="Cambria Math" panose="02040503050406030204" pitchFamily="18" charset="0"/>
                            </a:rPr>
                            <m:t>𝐽</m:t>
                          </m:r>
                        </m:e>
                        <m:sup>
                          <m:r>
                            <a:rPr lang="en-US" sz="2400" b="0" i="1" smtClean="0">
                              <a:latin typeface="Cambria Math" panose="02040503050406030204" pitchFamily="18" charset="0"/>
                            </a:rPr>
                            <m:t>′</m:t>
                          </m:r>
                        </m:sup>
                      </m:sSup>
                      <m:nary>
                        <m:naryPr>
                          <m:chr m:val="∑"/>
                          <m:supHide m:val="on"/>
                          <m:ctrlPr>
                            <a:rPr lang="en-US" sz="2400" b="0" i="1" smtClean="0">
                              <a:latin typeface="Cambria Math" panose="02040503050406030204" pitchFamily="18" charset="0"/>
                            </a:rPr>
                          </m:ctrlPr>
                        </m:naryPr>
                        <m:sub>
                          <m:r>
                            <a:rPr lang="en-US" sz="2400" b="0" i="1" smtClean="0">
                              <a:latin typeface="Cambria Math" panose="02040503050406030204" pitchFamily="18" charset="0"/>
                            </a:rPr>
                            <m:t>𝑖</m:t>
                          </m:r>
                        </m:sub>
                        <m:sup/>
                        <m:e>
                          <m:r>
                            <a:rPr lang="en-US" sz="2400" b="0" i="1" smtClean="0">
                              <a:latin typeface="Cambria Math" panose="02040503050406030204" pitchFamily="18" charset="0"/>
                            </a:rPr>
                            <m:t>(</m:t>
                          </m:r>
                          <m:sSubSup>
                            <m:sSubSupPr>
                              <m:ctrlPr>
                                <a:rPr lang="en-US" sz="2400" i="1" dirty="0">
                                  <a:latin typeface="Cambria Math" panose="02040503050406030204" pitchFamily="18" charset="0"/>
                                </a:rPr>
                              </m:ctrlPr>
                            </m:sSubSupPr>
                            <m:e>
                              <m:acc>
                                <m:accPr>
                                  <m:chr m:val="⃗"/>
                                  <m:ctrlPr>
                                    <a:rPr lang="en-US" sz="2400" i="1" dirty="0">
                                      <a:latin typeface="Cambria Math" panose="02040503050406030204" pitchFamily="18" charset="0"/>
                                    </a:rPr>
                                  </m:ctrlPr>
                                </m:accPr>
                                <m:e>
                                  <m:r>
                                    <a:rPr lang="en-US" sz="2400" i="1" dirty="0">
                                      <a:latin typeface="Cambria Math" panose="02040503050406030204" pitchFamily="18" charset="0"/>
                                    </a:rPr>
                                    <m:t>𝑆</m:t>
                                  </m:r>
                                </m:e>
                              </m:acc>
                            </m:e>
                            <m:sub>
                              <m:r>
                                <a:rPr lang="en-US" sz="2400" i="1" dirty="0">
                                  <a:latin typeface="Cambria Math" panose="02040503050406030204" pitchFamily="18" charset="0"/>
                                </a:rPr>
                                <m:t>𝑖</m:t>
                              </m:r>
                            </m:sub>
                            <m:sup>
                              <m:r>
                                <a:rPr lang="en-US" sz="2400" i="1" dirty="0">
                                  <a:latin typeface="Cambria Math" panose="02040503050406030204" pitchFamily="18" charset="0"/>
                                </a:rPr>
                                <m:t>(1)</m:t>
                              </m:r>
                            </m:sup>
                          </m:sSubSup>
                          <m:r>
                            <a:rPr lang="en-US" sz="2400" b="0" i="1" smtClean="0">
                              <a:latin typeface="Cambria Math" panose="02040503050406030204" pitchFamily="18" charset="0"/>
                            </a:rPr>
                            <m:t>⋅</m:t>
                          </m:r>
                          <m:sSubSup>
                            <m:sSubSupPr>
                              <m:ctrlPr>
                                <a:rPr lang="en-US" sz="2400" i="1" dirty="0">
                                  <a:latin typeface="Cambria Math" panose="02040503050406030204" pitchFamily="18" charset="0"/>
                                </a:rPr>
                              </m:ctrlPr>
                            </m:sSubSupPr>
                            <m:e>
                              <m:acc>
                                <m:accPr>
                                  <m:chr m:val="⃗"/>
                                  <m:ctrlPr>
                                    <a:rPr lang="en-US" sz="2400" i="1" dirty="0">
                                      <a:latin typeface="Cambria Math" panose="02040503050406030204" pitchFamily="18" charset="0"/>
                                    </a:rPr>
                                  </m:ctrlPr>
                                </m:accPr>
                                <m:e>
                                  <m:r>
                                    <a:rPr lang="en-US" sz="2400" i="1" dirty="0">
                                      <a:latin typeface="Cambria Math" panose="02040503050406030204" pitchFamily="18" charset="0"/>
                                    </a:rPr>
                                    <m:t>𝑆</m:t>
                                  </m:r>
                                </m:e>
                              </m:acc>
                            </m:e>
                            <m:sub>
                              <m:r>
                                <a:rPr lang="en-US" sz="2400" i="1" dirty="0">
                                  <a:latin typeface="Cambria Math" panose="02040503050406030204" pitchFamily="18" charset="0"/>
                                </a:rPr>
                                <m:t>𝑖</m:t>
                              </m:r>
                            </m:sub>
                            <m:sup>
                              <m:r>
                                <a:rPr lang="en-US" sz="2400" i="1" dirty="0">
                                  <a:latin typeface="Cambria Math" panose="02040503050406030204" pitchFamily="18" charset="0"/>
                                </a:rPr>
                                <m:t>(</m:t>
                              </m:r>
                              <m:r>
                                <a:rPr lang="en-US" sz="2400" b="0" i="1" dirty="0" smtClean="0">
                                  <a:latin typeface="Cambria Math" panose="02040503050406030204" pitchFamily="18" charset="0"/>
                                </a:rPr>
                                <m:t>2</m:t>
                              </m:r>
                              <m:r>
                                <a:rPr lang="en-US" sz="2400" i="1" dirty="0">
                                  <a:latin typeface="Cambria Math" panose="02040503050406030204" pitchFamily="18" charset="0"/>
                                </a:rPr>
                                <m:t>)</m:t>
                              </m:r>
                            </m:sup>
                          </m:sSubSup>
                          <m:r>
                            <a:rPr lang="en-US" sz="2400" b="0" i="1" dirty="0" smtClean="0">
                              <a:latin typeface="Cambria Math" panose="02040503050406030204" pitchFamily="18" charset="0"/>
                            </a:rPr>
                            <m:t>)</m:t>
                          </m:r>
                        </m:e>
                      </m:nary>
                    </m:oMath>
                  </m:oMathPara>
                </a14:m>
                <a:endParaRPr lang="en-US" sz="2400" b="0" dirty="0"/>
              </a:p>
              <a:p>
                <a:pPr marL="0" indent="0">
                  <a:buNone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sz="2400" b="0" i="1" smtClean="0">
                          <a:latin typeface="Cambria Math" panose="02040503050406030204" pitchFamily="18" charset="0"/>
                        </a:rPr>
                        <m:t>+ 4</m:t>
                      </m:r>
                      <m:r>
                        <a:rPr lang="en-US" sz="2400" b="0" i="1" smtClean="0">
                          <a:latin typeface="Cambria Math" panose="02040503050406030204" pitchFamily="18" charset="0"/>
                        </a:rPr>
                        <m:t>𝑈</m:t>
                      </m:r>
                      <m:nary>
                        <m:naryPr>
                          <m:chr m:val="∑"/>
                          <m:supHide m:val="on"/>
                          <m:ctrlPr>
                            <a:rPr lang="en-US" sz="2400" i="1">
                              <a:latin typeface="Cambria Math" panose="02040503050406030204" pitchFamily="18" charset="0"/>
                            </a:rPr>
                          </m:ctrlPr>
                        </m:naryPr>
                        <m:sub>
                          <m:r>
                            <m:rPr>
                              <m:brk m:alnAt="7"/>
                            </m:rPr>
                            <a:rPr lang="en-US" sz="2400" i="1">
                              <a:latin typeface="Cambria Math" panose="02040503050406030204" pitchFamily="18" charset="0"/>
                            </a:rPr>
                            <m:t>&lt;</m:t>
                          </m:r>
                          <m:r>
                            <a:rPr lang="en-US" sz="2400" i="1">
                              <a:latin typeface="Cambria Math" panose="02040503050406030204" pitchFamily="18" charset="0"/>
                            </a:rPr>
                            <m:t>𝑖</m:t>
                          </m:r>
                          <m:r>
                            <a:rPr lang="en-US" sz="2400" i="1">
                              <a:latin typeface="Cambria Math" panose="02040503050406030204" pitchFamily="18" charset="0"/>
                            </a:rPr>
                            <m:t>,</m:t>
                          </m:r>
                          <m:r>
                            <a:rPr lang="en-US" sz="2400" i="1">
                              <a:latin typeface="Cambria Math" panose="02040503050406030204" pitchFamily="18" charset="0"/>
                            </a:rPr>
                            <m:t>𝑗</m:t>
                          </m:r>
                          <m:r>
                            <a:rPr lang="en-US" sz="2400" i="1">
                              <a:latin typeface="Cambria Math" panose="02040503050406030204" pitchFamily="18" charset="0"/>
                            </a:rPr>
                            <m:t>&gt;</m:t>
                          </m:r>
                        </m:sub>
                        <m:sup/>
                        <m:e>
                          <m:r>
                            <a:rPr lang="en-US" sz="2400" i="1">
                              <a:latin typeface="Cambria Math" panose="02040503050406030204" pitchFamily="18" charset="0"/>
                            </a:rPr>
                            <m:t>(</m:t>
                          </m:r>
                          <m:sSubSup>
                            <m:sSubSupPr>
                              <m:ctrlPr>
                                <a:rPr lang="en-US" sz="2400" i="1" dirty="0">
                                  <a:latin typeface="Cambria Math" panose="02040503050406030204" pitchFamily="18" charset="0"/>
                                </a:rPr>
                              </m:ctrlPr>
                            </m:sSubSupPr>
                            <m:e>
                              <m:acc>
                                <m:accPr>
                                  <m:chr m:val="⃗"/>
                                  <m:ctrlPr>
                                    <a:rPr lang="en-US" sz="2400" i="1" dirty="0">
                                      <a:latin typeface="Cambria Math" panose="02040503050406030204" pitchFamily="18" charset="0"/>
                                    </a:rPr>
                                  </m:ctrlPr>
                                </m:accPr>
                                <m:e>
                                  <m:r>
                                    <a:rPr lang="en-US" sz="2400" i="1" dirty="0">
                                      <a:latin typeface="Cambria Math" panose="02040503050406030204" pitchFamily="18" charset="0"/>
                                    </a:rPr>
                                    <m:t>𝑆</m:t>
                                  </m:r>
                                </m:e>
                              </m:acc>
                            </m:e>
                            <m:sub>
                              <m:r>
                                <a:rPr lang="en-US" sz="2400" i="1" dirty="0">
                                  <a:latin typeface="Cambria Math" panose="02040503050406030204" pitchFamily="18" charset="0"/>
                                </a:rPr>
                                <m:t>𝑖</m:t>
                              </m:r>
                            </m:sub>
                            <m:sup>
                              <m:r>
                                <a:rPr lang="en-US" sz="2400" i="1" dirty="0">
                                  <a:latin typeface="Cambria Math" panose="02040503050406030204" pitchFamily="18" charset="0"/>
                                </a:rPr>
                                <m:t>(1)</m:t>
                              </m:r>
                            </m:sup>
                          </m:sSubSup>
                        </m:e>
                      </m:nary>
                      <m:r>
                        <a:rPr lang="en-US" sz="2400" i="1" dirty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∙</m:t>
                      </m:r>
                      <m:sSubSup>
                        <m:sSubSupPr>
                          <m:ctrlPr>
                            <a:rPr lang="en-US" sz="2400" i="1" dirty="0">
                              <a:latin typeface="Cambria Math" panose="02040503050406030204" pitchFamily="18" charset="0"/>
                            </a:rPr>
                          </m:ctrlPr>
                        </m:sSubSupPr>
                        <m:e>
                          <m:acc>
                            <m:accPr>
                              <m:chr m:val="⃗"/>
                              <m:ctrlPr>
                                <a:rPr lang="en-US" sz="2400" i="1" dirty="0">
                                  <a:latin typeface="Cambria Math" panose="02040503050406030204" pitchFamily="18" charset="0"/>
                                </a:rPr>
                              </m:ctrlPr>
                            </m:accPr>
                            <m:e>
                              <m:r>
                                <a:rPr lang="en-US" sz="2400" i="1" dirty="0">
                                  <a:latin typeface="Cambria Math" panose="02040503050406030204" pitchFamily="18" charset="0"/>
                                </a:rPr>
                                <m:t>𝑆</m:t>
                              </m:r>
                            </m:e>
                          </m:acc>
                        </m:e>
                        <m:sub>
                          <m:r>
                            <a:rPr lang="en-US" sz="2400" i="1" dirty="0">
                              <a:latin typeface="Cambria Math" panose="02040503050406030204" pitchFamily="18" charset="0"/>
                            </a:rPr>
                            <m:t>𝑗</m:t>
                          </m:r>
                        </m:sub>
                        <m:sup>
                          <m:d>
                            <m:dPr>
                              <m:ctrlPr>
                                <a:rPr lang="en-US" sz="2400" i="1" dirty="0"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r>
                                <a:rPr lang="en-US" sz="2400" i="1" dirty="0">
                                  <a:latin typeface="Cambria Math" panose="02040503050406030204" pitchFamily="18" charset="0"/>
                                </a:rPr>
                                <m:t>1</m:t>
                              </m:r>
                            </m:e>
                          </m:d>
                        </m:sup>
                      </m:sSubSup>
                      <m:r>
                        <a:rPr lang="en-US" sz="2400" b="0" i="1" dirty="0" smtClean="0">
                          <a:latin typeface="Cambria Math" panose="02040503050406030204" pitchFamily="18" charset="0"/>
                        </a:rPr>
                        <m:t>)(</m:t>
                      </m:r>
                      <m:sSubSup>
                        <m:sSubSupPr>
                          <m:ctrlPr>
                            <a:rPr lang="en-US" sz="2400" i="1" dirty="0">
                              <a:latin typeface="Cambria Math" panose="02040503050406030204" pitchFamily="18" charset="0"/>
                            </a:rPr>
                          </m:ctrlPr>
                        </m:sSubSupPr>
                        <m:e>
                          <m:acc>
                            <m:accPr>
                              <m:chr m:val="⃗"/>
                              <m:ctrlPr>
                                <a:rPr lang="en-US" sz="2400" i="1" dirty="0">
                                  <a:latin typeface="Cambria Math" panose="02040503050406030204" pitchFamily="18" charset="0"/>
                                </a:rPr>
                              </m:ctrlPr>
                            </m:accPr>
                            <m:e>
                              <m:r>
                                <a:rPr lang="en-US" sz="2400" i="1" dirty="0">
                                  <a:latin typeface="Cambria Math" panose="02040503050406030204" pitchFamily="18" charset="0"/>
                                </a:rPr>
                                <m:t>𝑆</m:t>
                              </m:r>
                            </m:e>
                          </m:acc>
                        </m:e>
                        <m:sub>
                          <m:r>
                            <a:rPr lang="en-US" sz="2400" i="1" dirty="0">
                              <a:latin typeface="Cambria Math" panose="02040503050406030204" pitchFamily="18" charset="0"/>
                            </a:rPr>
                            <m:t>𝑖</m:t>
                          </m:r>
                        </m:sub>
                        <m:sup>
                          <m:d>
                            <m:dPr>
                              <m:ctrlPr>
                                <a:rPr lang="en-US" sz="2400" i="1" dirty="0"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r>
                                <a:rPr lang="en-US" sz="2400" i="1" dirty="0">
                                  <a:latin typeface="Cambria Math" panose="02040503050406030204" pitchFamily="18" charset="0"/>
                                </a:rPr>
                                <m:t>2</m:t>
                              </m:r>
                            </m:e>
                          </m:d>
                        </m:sup>
                      </m:sSubSup>
                      <m:r>
                        <a:rPr lang="en-US" sz="2400" i="1">
                          <a:latin typeface="Cambria Math" panose="02040503050406030204" pitchFamily="18" charset="0"/>
                        </a:rPr>
                        <m:t>⋅</m:t>
                      </m:r>
                      <m:sSubSup>
                        <m:sSubSupPr>
                          <m:ctrlPr>
                            <a:rPr lang="en-US" sz="2400" i="1" dirty="0">
                              <a:latin typeface="Cambria Math" panose="02040503050406030204" pitchFamily="18" charset="0"/>
                            </a:rPr>
                          </m:ctrlPr>
                        </m:sSubSupPr>
                        <m:e>
                          <m:acc>
                            <m:accPr>
                              <m:chr m:val="⃗"/>
                              <m:ctrlPr>
                                <a:rPr lang="en-US" sz="2400" i="1" dirty="0">
                                  <a:latin typeface="Cambria Math" panose="02040503050406030204" pitchFamily="18" charset="0"/>
                                </a:rPr>
                              </m:ctrlPr>
                            </m:accPr>
                            <m:e>
                              <m:r>
                                <a:rPr lang="en-US" sz="2400" i="1" dirty="0">
                                  <a:latin typeface="Cambria Math" panose="02040503050406030204" pitchFamily="18" charset="0"/>
                                </a:rPr>
                                <m:t>𝑆</m:t>
                              </m:r>
                            </m:e>
                          </m:acc>
                        </m:e>
                        <m:sub>
                          <m:r>
                            <a:rPr lang="en-US" sz="2400" i="1" dirty="0">
                              <a:latin typeface="Cambria Math" panose="02040503050406030204" pitchFamily="18" charset="0"/>
                            </a:rPr>
                            <m:t>𝑗</m:t>
                          </m:r>
                        </m:sub>
                        <m:sup>
                          <m:d>
                            <m:dPr>
                              <m:ctrlPr>
                                <a:rPr lang="en-US" sz="2400" i="1" dirty="0"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r>
                                <a:rPr lang="en-US" sz="2400" i="1" dirty="0">
                                  <a:latin typeface="Cambria Math" panose="02040503050406030204" pitchFamily="18" charset="0"/>
                                </a:rPr>
                                <m:t>2</m:t>
                              </m:r>
                            </m:e>
                          </m:d>
                        </m:sup>
                      </m:sSubSup>
                      <m:r>
                        <a:rPr lang="en-US" sz="2400" i="1" dirty="0">
                          <a:latin typeface="Cambria Math" panose="02040503050406030204" pitchFamily="18" charset="0"/>
                        </a:rPr>
                        <m:t>)</m:t>
                      </m:r>
                      <m:r>
                        <a:rPr lang="en-US" sz="2400" dirty="0">
                          <a:latin typeface="Cambria Math" panose="02040503050406030204" pitchFamily="18" charset="0"/>
                        </a:rPr>
                        <m:t>+</m:t>
                      </m:r>
                      <m:r>
                        <a:rPr lang="en-US" sz="2400" i="1">
                          <a:latin typeface="Cambria Math" panose="02040503050406030204" pitchFamily="18" charset="0"/>
                        </a:rPr>
                        <m:t>4</m:t>
                      </m:r>
                      <m:r>
                        <a:rPr lang="en-US" sz="2400" i="1">
                          <a:latin typeface="Cambria Math" panose="02040503050406030204" pitchFamily="18" charset="0"/>
                        </a:rPr>
                        <m:t>𝑈</m:t>
                      </m:r>
                      <m:r>
                        <a:rPr lang="en-US" sz="2400" b="0" i="1" smtClean="0">
                          <a:latin typeface="Cambria Math" panose="02040503050406030204" pitchFamily="18" charset="0"/>
                        </a:rPr>
                        <m:t>′</m:t>
                      </m:r>
                      <m:nary>
                        <m:naryPr>
                          <m:chr m:val="∑"/>
                          <m:supHide m:val="on"/>
                          <m:ctrlPr>
                            <a:rPr lang="en-US" sz="2400" i="1">
                              <a:latin typeface="Cambria Math" panose="02040503050406030204" pitchFamily="18" charset="0"/>
                            </a:rPr>
                          </m:ctrlPr>
                        </m:naryPr>
                        <m:sub>
                          <m:r>
                            <m:rPr>
                              <m:brk m:alnAt="7"/>
                            </m:rPr>
                            <a:rPr lang="en-US" sz="2400" i="1">
                              <a:latin typeface="Cambria Math" panose="02040503050406030204" pitchFamily="18" charset="0"/>
                            </a:rPr>
                            <m:t>&lt;</m:t>
                          </m:r>
                          <m:r>
                            <a:rPr lang="en-US" sz="2400" i="1">
                              <a:latin typeface="Cambria Math" panose="02040503050406030204" pitchFamily="18" charset="0"/>
                            </a:rPr>
                            <m:t>𝑖</m:t>
                          </m:r>
                          <m:r>
                            <a:rPr lang="en-US" sz="2400" i="1">
                              <a:latin typeface="Cambria Math" panose="02040503050406030204" pitchFamily="18" charset="0"/>
                            </a:rPr>
                            <m:t>,</m:t>
                          </m:r>
                          <m:r>
                            <a:rPr lang="en-US" sz="2400" i="1">
                              <a:latin typeface="Cambria Math" panose="02040503050406030204" pitchFamily="18" charset="0"/>
                            </a:rPr>
                            <m:t>𝑗</m:t>
                          </m:r>
                          <m:r>
                            <a:rPr lang="en-US" sz="2400" i="1">
                              <a:latin typeface="Cambria Math" panose="02040503050406030204" pitchFamily="18" charset="0"/>
                            </a:rPr>
                            <m:t>&gt;</m:t>
                          </m:r>
                        </m:sub>
                        <m:sup/>
                        <m:e>
                          <m:r>
                            <a:rPr lang="en-US" sz="2400" i="1">
                              <a:latin typeface="Cambria Math" panose="02040503050406030204" pitchFamily="18" charset="0"/>
                            </a:rPr>
                            <m:t>(</m:t>
                          </m:r>
                          <m:sSubSup>
                            <m:sSubSupPr>
                              <m:ctrlPr>
                                <a:rPr lang="en-US" sz="2400" i="1" dirty="0">
                                  <a:latin typeface="Cambria Math" panose="02040503050406030204" pitchFamily="18" charset="0"/>
                                </a:rPr>
                              </m:ctrlPr>
                            </m:sSubSupPr>
                            <m:e>
                              <m:acc>
                                <m:accPr>
                                  <m:chr m:val="⃗"/>
                                  <m:ctrlPr>
                                    <a:rPr lang="en-US" sz="2400" i="1" dirty="0">
                                      <a:latin typeface="Cambria Math" panose="02040503050406030204" pitchFamily="18" charset="0"/>
                                    </a:rPr>
                                  </m:ctrlPr>
                                </m:accPr>
                                <m:e>
                                  <m:r>
                                    <a:rPr lang="en-US" sz="2400" i="1" dirty="0">
                                      <a:latin typeface="Cambria Math" panose="02040503050406030204" pitchFamily="18" charset="0"/>
                                    </a:rPr>
                                    <m:t>𝑆</m:t>
                                  </m:r>
                                </m:e>
                              </m:acc>
                            </m:e>
                            <m:sub>
                              <m:r>
                                <a:rPr lang="en-US" sz="2400" i="1" dirty="0">
                                  <a:latin typeface="Cambria Math" panose="02040503050406030204" pitchFamily="18" charset="0"/>
                                </a:rPr>
                                <m:t>𝑖</m:t>
                              </m:r>
                            </m:sub>
                            <m:sup>
                              <m:r>
                                <a:rPr lang="en-US" sz="2400" i="1" dirty="0">
                                  <a:latin typeface="Cambria Math" panose="02040503050406030204" pitchFamily="18" charset="0"/>
                                </a:rPr>
                                <m:t>(1)</m:t>
                              </m:r>
                            </m:sup>
                          </m:sSubSup>
                        </m:e>
                      </m:nary>
                      <m:r>
                        <a:rPr lang="en-US" sz="2400" i="1" dirty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∙</m:t>
                      </m:r>
                      <m:sSubSup>
                        <m:sSubSupPr>
                          <m:ctrlPr>
                            <a:rPr lang="en-US" sz="2400" i="1" dirty="0">
                              <a:latin typeface="Cambria Math" panose="02040503050406030204" pitchFamily="18" charset="0"/>
                            </a:rPr>
                          </m:ctrlPr>
                        </m:sSubSupPr>
                        <m:e>
                          <m:acc>
                            <m:accPr>
                              <m:chr m:val="⃗"/>
                              <m:ctrlPr>
                                <a:rPr lang="en-US" sz="2400" i="1" dirty="0">
                                  <a:latin typeface="Cambria Math" panose="02040503050406030204" pitchFamily="18" charset="0"/>
                                </a:rPr>
                              </m:ctrlPr>
                            </m:accPr>
                            <m:e>
                              <m:r>
                                <a:rPr lang="en-US" sz="2400" i="1" dirty="0">
                                  <a:latin typeface="Cambria Math" panose="02040503050406030204" pitchFamily="18" charset="0"/>
                                </a:rPr>
                                <m:t>𝑆</m:t>
                              </m:r>
                            </m:e>
                          </m:acc>
                        </m:e>
                        <m:sub>
                          <m:r>
                            <a:rPr lang="en-US" sz="2400" b="0" i="1" dirty="0" smtClean="0">
                              <a:latin typeface="Cambria Math" panose="02040503050406030204" pitchFamily="18" charset="0"/>
                            </a:rPr>
                            <m:t>𝑖</m:t>
                          </m:r>
                        </m:sub>
                        <m:sup>
                          <m:d>
                            <m:dPr>
                              <m:ctrlPr>
                                <a:rPr lang="en-US" sz="2400" i="1" dirty="0"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r>
                                <a:rPr lang="en-US" sz="2400" b="0" i="1" dirty="0" smtClean="0">
                                  <a:latin typeface="Cambria Math" panose="02040503050406030204" pitchFamily="18" charset="0"/>
                                </a:rPr>
                                <m:t>2</m:t>
                              </m:r>
                            </m:e>
                          </m:d>
                        </m:sup>
                      </m:sSubSup>
                      <m:r>
                        <a:rPr lang="en-US" sz="2400" i="1" dirty="0">
                          <a:latin typeface="Cambria Math" panose="02040503050406030204" pitchFamily="18" charset="0"/>
                        </a:rPr>
                        <m:t>)(</m:t>
                      </m:r>
                      <m:sSubSup>
                        <m:sSubSupPr>
                          <m:ctrlPr>
                            <a:rPr lang="en-US" sz="2400" i="1" dirty="0">
                              <a:latin typeface="Cambria Math" panose="02040503050406030204" pitchFamily="18" charset="0"/>
                            </a:rPr>
                          </m:ctrlPr>
                        </m:sSubSupPr>
                        <m:e>
                          <m:acc>
                            <m:accPr>
                              <m:chr m:val="⃗"/>
                              <m:ctrlPr>
                                <a:rPr lang="en-US" sz="2400" i="1" dirty="0">
                                  <a:latin typeface="Cambria Math" panose="02040503050406030204" pitchFamily="18" charset="0"/>
                                </a:rPr>
                              </m:ctrlPr>
                            </m:accPr>
                            <m:e>
                              <m:r>
                                <a:rPr lang="en-US" sz="2400" i="1" dirty="0">
                                  <a:latin typeface="Cambria Math" panose="02040503050406030204" pitchFamily="18" charset="0"/>
                                </a:rPr>
                                <m:t>𝑆</m:t>
                              </m:r>
                            </m:e>
                          </m:acc>
                        </m:e>
                        <m:sub>
                          <m:r>
                            <a:rPr lang="en-US" sz="2400" b="0" i="1" dirty="0" smtClean="0">
                              <a:latin typeface="Cambria Math" panose="02040503050406030204" pitchFamily="18" charset="0"/>
                            </a:rPr>
                            <m:t>𝑗</m:t>
                          </m:r>
                        </m:sub>
                        <m:sup>
                          <m:d>
                            <m:dPr>
                              <m:ctrlPr>
                                <a:rPr lang="en-US" sz="2400" i="1" dirty="0" smtClean="0"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r>
                                <a:rPr lang="en-US" sz="2400" b="0" i="1" dirty="0" smtClean="0">
                                  <a:latin typeface="Cambria Math" panose="02040503050406030204" pitchFamily="18" charset="0"/>
                                </a:rPr>
                                <m:t>1</m:t>
                              </m:r>
                            </m:e>
                          </m:d>
                        </m:sup>
                      </m:sSubSup>
                      <m:r>
                        <a:rPr lang="en-US" sz="2400" i="1">
                          <a:latin typeface="Cambria Math" panose="02040503050406030204" pitchFamily="18" charset="0"/>
                        </a:rPr>
                        <m:t>⋅</m:t>
                      </m:r>
                      <m:sSubSup>
                        <m:sSubSupPr>
                          <m:ctrlPr>
                            <a:rPr lang="en-US" sz="2400" i="1" dirty="0">
                              <a:latin typeface="Cambria Math" panose="02040503050406030204" pitchFamily="18" charset="0"/>
                            </a:rPr>
                          </m:ctrlPr>
                        </m:sSubSupPr>
                        <m:e>
                          <m:acc>
                            <m:accPr>
                              <m:chr m:val="⃗"/>
                              <m:ctrlPr>
                                <a:rPr lang="en-US" sz="2400" i="1" dirty="0">
                                  <a:latin typeface="Cambria Math" panose="02040503050406030204" pitchFamily="18" charset="0"/>
                                </a:rPr>
                              </m:ctrlPr>
                            </m:accPr>
                            <m:e>
                              <m:r>
                                <a:rPr lang="en-US" sz="2400" i="1" dirty="0">
                                  <a:latin typeface="Cambria Math" panose="02040503050406030204" pitchFamily="18" charset="0"/>
                                </a:rPr>
                                <m:t>𝑆</m:t>
                              </m:r>
                            </m:e>
                          </m:acc>
                        </m:e>
                        <m:sub>
                          <m:r>
                            <a:rPr lang="en-US" sz="2400" i="1" dirty="0">
                              <a:latin typeface="Cambria Math" panose="02040503050406030204" pitchFamily="18" charset="0"/>
                            </a:rPr>
                            <m:t>𝑗</m:t>
                          </m:r>
                        </m:sub>
                        <m:sup>
                          <m:d>
                            <m:dPr>
                              <m:ctrlPr>
                                <a:rPr lang="en-US" sz="2400" i="1" dirty="0"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r>
                                <a:rPr lang="en-US" sz="2400" i="1" dirty="0">
                                  <a:latin typeface="Cambria Math" panose="02040503050406030204" pitchFamily="18" charset="0"/>
                                </a:rPr>
                                <m:t>2</m:t>
                              </m:r>
                            </m:e>
                          </m:d>
                        </m:sup>
                      </m:sSubSup>
                      <m:r>
                        <a:rPr lang="en-US" sz="2400" i="1" dirty="0">
                          <a:latin typeface="Cambria Math" panose="02040503050406030204" pitchFamily="18" charset="0"/>
                        </a:rPr>
                        <m:t>)</m:t>
                      </m:r>
                    </m:oMath>
                  </m:oMathPara>
                </a14:m>
                <a:endParaRPr lang="en-US" sz="2400" b="0" dirty="0"/>
              </a:p>
            </p:txBody>
          </p:sp>
        </mc:Choice>
        <mc:Fallback xmlns="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04A861E5-A7C8-B1AD-AE63-B8B20D2B6949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xfrm>
                <a:off x="838200" y="3544746"/>
                <a:ext cx="10515600" cy="2747963"/>
              </a:xfrm>
              <a:blipFill>
                <a:blip r:embed="rId2"/>
                <a:stretch>
                  <a:fillRect l="-1448" t="-18349" b="-61009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7F712827-61A9-F7DA-930E-8940545984B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852B8ED-7F2B-5448-BD79-1530102DF259}" type="slidenum">
              <a:rPr lang="en-US" smtClean="0"/>
              <a:t>12</a:t>
            </a:fld>
            <a:endParaRPr lang="en-US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B8F24762-F63B-B434-7037-DAD7126E8028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885044" y="1821674"/>
            <a:ext cx="6421912" cy="15144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25984202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uiExpand="1" build="p"/>
    </p:bldLst>
  </p:timing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96BC7C8-4715-7CEC-533C-4B2D19E9CAD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2CA948F-1469-36C0-EE2B-F461EBC060E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sz="3600" dirty="0"/>
              <a:t>Heisenberg ladder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D5CF903D-70BC-76FF-07EC-7FB911C92E7B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>
              <a:xfrm>
                <a:off x="838200" y="2084831"/>
                <a:ext cx="10515600" cy="4092131"/>
              </a:xfrm>
            </p:spPr>
            <p:txBody>
              <a:bodyPr>
                <a:normAutofit/>
              </a:bodyPr>
              <a:lstStyle/>
              <a:p>
                <a:pPr marL="0" indent="0">
                  <a:buNone/>
                </a:pPr>
                <a:r>
                  <a:rPr lang="en-US" sz="2400" dirty="0"/>
                  <a:t>Consider two integrable points to perturb around:</a:t>
                </a:r>
                <a:endParaRPr lang="en-US" sz="2400" b="0" i="1" dirty="0"/>
              </a:p>
              <a:p>
                <a:pPr marL="457200" indent="-457200">
                  <a:buFont typeface="+mj-lt"/>
                  <a:buAutoNum type="arabicParenR"/>
                </a:pPr>
                <a:r>
                  <a:rPr lang="en-US" sz="2400" dirty="0"/>
                  <a:t> </a:t>
                </a:r>
                <a14:m>
                  <m:oMath xmlns:m="http://schemas.openxmlformats.org/officeDocument/2006/math">
                    <m:sSup>
                      <m:sSupPr>
                        <m:ctrlPr>
                          <a:rPr lang="en-US" sz="2400" i="1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n-US" sz="2400" i="1">
                            <a:latin typeface="Cambria Math" panose="02040503050406030204" pitchFamily="18" charset="0"/>
                          </a:rPr>
                          <m:t>𝐽</m:t>
                        </m:r>
                      </m:e>
                      <m:sup>
                        <m:r>
                          <a:rPr lang="en-US" sz="2400" i="1">
                            <a:latin typeface="Cambria Math" panose="02040503050406030204" pitchFamily="18" charset="0"/>
                          </a:rPr>
                          <m:t>′</m:t>
                        </m:r>
                      </m:sup>
                    </m:sSup>
                    <m:r>
                      <a:rPr lang="en-US" sz="2400" i="1">
                        <a:latin typeface="Cambria Math" panose="02040503050406030204" pitchFamily="18" charset="0"/>
                      </a:rPr>
                      <m:t>=</m:t>
                    </m:r>
                    <m:r>
                      <a:rPr lang="en-US" sz="2400" i="1">
                        <a:latin typeface="Cambria Math" panose="02040503050406030204" pitchFamily="18" charset="0"/>
                      </a:rPr>
                      <m:t>𝑈</m:t>
                    </m:r>
                    <m:r>
                      <a:rPr lang="en-US" sz="2400" i="1">
                        <a:latin typeface="Cambria Math" panose="02040503050406030204" pitchFamily="18" charset="0"/>
                      </a:rPr>
                      <m:t>=</m:t>
                    </m:r>
                    <m:sSup>
                      <m:sSupPr>
                        <m:ctrlPr>
                          <a:rPr lang="en-US" sz="2400" i="1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n-US" sz="2400" i="1">
                            <a:latin typeface="Cambria Math" panose="02040503050406030204" pitchFamily="18" charset="0"/>
                          </a:rPr>
                          <m:t>𝑈</m:t>
                        </m:r>
                      </m:e>
                      <m:sup>
                        <m:r>
                          <a:rPr lang="en-US" sz="2400" i="1">
                            <a:latin typeface="Cambria Math" panose="02040503050406030204" pitchFamily="18" charset="0"/>
                          </a:rPr>
                          <m:t>′</m:t>
                        </m:r>
                      </m:sup>
                    </m:sSup>
                    <m:r>
                      <a:rPr lang="en-US" sz="2400" i="1">
                        <a:latin typeface="Cambria Math" panose="02040503050406030204" pitchFamily="18" charset="0"/>
                      </a:rPr>
                      <m:t>=0</m:t>
                    </m:r>
                  </m:oMath>
                </a14:m>
                <a:endParaRPr lang="en-US" sz="2400" dirty="0"/>
              </a:p>
              <a:p>
                <a:pPr marL="0" indent="0">
                  <a:buNone/>
                </a:pPr>
                <a:endParaRPr lang="en-US" sz="2400" b="0" dirty="0"/>
              </a:p>
              <a:p>
                <a:pPr marL="0" indent="0">
                  <a:buNone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sz="2400" b="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sz="2400" b="0" i="1" smtClean="0">
                              <a:latin typeface="Cambria Math" panose="02040503050406030204" pitchFamily="18" charset="0"/>
                            </a:rPr>
                            <m:t>𝐻</m:t>
                          </m:r>
                        </m:e>
                        <m:sub>
                          <m:r>
                            <a:rPr lang="en-US" sz="2400" b="0" i="1" smtClean="0">
                              <a:latin typeface="Cambria Math" panose="02040503050406030204" pitchFamily="18" charset="0"/>
                            </a:rPr>
                            <m:t>0</m:t>
                          </m:r>
                        </m:sub>
                      </m:sSub>
                      <m:r>
                        <a:rPr lang="en-US" sz="2400" b="0" i="1" smtClean="0">
                          <a:latin typeface="Cambria Math" panose="02040503050406030204" pitchFamily="18" charset="0"/>
                        </a:rPr>
                        <m:t>=</m:t>
                      </m:r>
                      <m:r>
                        <a:rPr lang="en-US" sz="2400" b="0" i="1" smtClean="0">
                          <a:latin typeface="Cambria Math" panose="02040503050406030204" pitchFamily="18" charset="0"/>
                        </a:rPr>
                        <m:t>𝐽</m:t>
                      </m:r>
                      <m:nary>
                        <m:naryPr>
                          <m:chr m:val="∑"/>
                          <m:supHide m:val="on"/>
                          <m:ctrlPr>
                            <a:rPr lang="en-US" sz="2400" b="0" i="1" smtClean="0">
                              <a:latin typeface="Cambria Math" panose="02040503050406030204" pitchFamily="18" charset="0"/>
                            </a:rPr>
                          </m:ctrlPr>
                        </m:naryPr>
                        <m:sub>
                          <m:r>
                            <m:rPr>
                              <m:brk m:alnAt="7"/>
                            </m:rPr>
                            <a:rPr lang="en-US" sz="2400" b="0" i="1" smtClean="0">
                              <a:latin typeface="Cambria Math" panose="02040503050406030204" pitchFamily="18" charset="0"/>
                            </a:rPr>
                            <m:t>&lt;</m:t>
                          </m:r>
                          <m:r>
                            <a:rPr lang="en-US" sz="2400" b="0" i="1" smtClean="0">
                              <a:latin typeface="Cambria Math" panose="02040503050406030204" pitchFamily="18" charset="0"/>
                            </a:rPr>
                            <m:t>𝑖</m:t>
                          </m:r>
                          <m:r>
                            <a:rPr lang="en-US" sz="2400" b="0" i="1" smtClean="0">
                              <a:latin typeface="Cambria Math" panose="02040503050406030204" pitchFamily="18" charset="0"/>
                            </a:rPr>
                            <m:t>,</m:t>
                          </m:r>
                          <m:r>
                            <a:rPr lang="en-US" sz="2400" b="0" i="1" smtClean="0">
                              <a:latin typeface="Cambria Math" panose="02040503050406030204" pitchFamily="18" charset="0"/>
                            </a:rPr>
                            <m:t>𝑗</m:t>
                          </m:r>
                          <m:r>
                            <a:rPr lang="en-US" sz="2400" b="0" i="1" smtClean="0">
                              <a:latin typeface="Cambria Math" panose="02040503050406030204" pitchFamily="18" charset="0"/>
                            </a:rPr>
                            <m:t>&gt;</m:t>
                          </m:r>
                        </m:sub>
                        <m:sup/>
                        <m:e>
                          <m:r>
                            <a:rPr lang="en-US" sz="2400" b="0" i="1" smtClean="0">
                              <a:latin typeface="Cambria Math" panose="02040503050406030204" pitchFamily="18" charset="0"/>
                            </a:rPr>
                            <m:t>(</m:t>
                          </m:r>
                          <m:sSubSup>
                            <m:sSubSupPr>
                              <m:ctrlPr>
                                <a:rPr lang="en-US" sz="2400" i="1" dirty="0">
                                  <a:latin typeface="Cambria Math" panose="02040503050406030204" pitchFamily="18" charset="0"/>
                                </a:rPr>
                              </m:ctrlPr>
                            </m:sSubSupPr>
                            <m:e>
                              <m:acc>
                                <m:accPr>
                                  <m:chr m:val="⃗"/>
                                  <m:ctrlPr>
                                    <a:rPr lang="en-US" sz="2400" i="1" dirty="0">
                                      <a:latin typeface="Cambria Math" panose="02040503050406030204" pitchFamily="18" charset="0"/>
                                    </a:rPr>
                                  </m:ctrlPr>
                                </m:accPr>
                                <m:e>
                                  <m:r>
                                    <a:rPr lang="en-US" sz="2400" i="1" dirty="0">
                                      <a:latin typeface="Cambria Math" panose="02040503050406030204" pitchFamily="18" charset="0"/>
                                    </a:rPr>
                                    <m:t>𝑆</m:t>
                                  </m:r>
                                </m:e>
                              </m:acc>
                            </m:e>
                            <m:sub>
                              <m:r>
                                <a:rPr lang="en-US" sz="2400" i="1" dirty="0">
                                  <a:latin typeface="Cambria Math" panose="02040503050406030204" pitchFamily="18" charset="0"/>
                                </a:rPr>
                                <m:t>𝑖</m:t>
                              </m:r>
                            </m:sub>
                            <m:sup>
                              <m:r>
                                <a:rPr lang="en-US" sz="2400" i="1" dirty="0">
                                  <a:latin typeface="Cambria Math" panose="02040503050406030204" pitchFamily="18" charset="0"/>
                                </a:rPr>
                                <m:t>(1)</m:t>
                              </m:r>
                            </m:sup>
                          </m:sSubSup>
                        </m:e>
                      </m:nary>
                      <m:r>
                        <a:rPr lang="en-US" sz="2400" b="0" i="1" dirty="0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∙</m:t>
                      </m:r>
                      <m:sSubSup>
                        <m:sSubSupPr>
                          <m:ctrlPr>
                            <a:rPr lang="en-US" sz="2400" i="1" dirty="0">
                              <a:latin typeface="Cambria Math" panose="02040503050406030204" pitchFamily="18" charset="0"/>
                            </a:rPr>
                          </m:ctrlPr>
                        </m:sSubSupPr>
                        <m:e>
                          <m:acc>
                            <m:accPr>
                              <m:chr m:val="⃗"/>
                              <m:ctrlPr>
                                <a:rPr lang="en-US" sz="2400" i="1" dirty="0">
                                  <a:latin typeface="Cambria Math" panose="02040503050406030204" pitchFamily="18" charset="0"/>
                                </a:rPr>
                              </m:ctrlPr>
                            </m:accPr>
                            <m:e>
                              <m:r>
                                <a:rPr lang="en-US" sz="2400" i="1" dirty="0">
                                  <a:latin typeface="Cambria Math" panose="02040503050406030204" pitchFamily="18" charset="0"/>
                                </a:rPr>
                                <m:t>𝑆</m:t>
                              </m:r>
                            </m:e>
                          </m:acc>
                        </m:e>
                        <m:sub>
                          <m:r>
                            <a:rPr lang="en-US" sz="2400" b="0" i="1" dirty="0" smtClean="0">
                              <a:latin typeface="Cambria Math" panose="02040503050406030204" pitchFamily="18" charset="0"/>
                            </a:rPr>
                            <m:t>𝑗</m:t>
                          </m:r>
                        </m:sub>
                        <m:sup>
                          <m:d>
                            <m:dPr>
                              <m:ctrlPr>
                                <a:rPr lang="en-US" sz="2400" i="1" dirty="0"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r>
                                <a:rPr lang="en-US" sz="2400" i="1" dirty="0">
                                  <a:latin typeface="Cambria Math" panose="02040503050406030204" pitchFamily="18" charset="0"/>
                                </a:rPr>
                                <m:t>1</m:t>
                              </m:r>
                            </m:e>
                          </m:d>
                        </m:sup>
                      </m:sSubSup>
                      <m:r>
                        <a:rPr lang="en-US" sz="2400" b="0" i="1" dirty="0" smtClean="0">
                          <a:latin typeface="Cambria Math" panose="02040503050406030204" pitchFamily="18" charset="0"/>
                        </a:rPr>
                        <m:t>+</m:t>
                      </m:r>
                      <m:sSubSup>
                        <m:sSubSupPr>
                          <m:ctrlPr>
                            <a:rPr lang="en-US" sz="2400" i="1" dirty="0">
                              <a:latin typeface="Cambria Math" panose="02040503050406030204" pitchFamily="18" charset="0"/>
                            </a:rPr>
                          </m:ctrlPr>
                        </m:sSubSupPr>
                        <m:e>
                          <m:acc>
                            <m:accPr>
                              <m:chr m:val="⃗"/>
                              <m:ctrlPr>
                                <a:rPr lang="en-US" sz="2400" i="1" dirty="0">
                                  <a:latin typeface="Cambria Math" panose="02040503050406030204" pitchFamily="18" charset="0"/>
                                </a:rPr>
                              </m:ctrlPr>
                            </m:accPr>
                            <m:e>
                              <m:r>
                                <a:rPr lang="en-US" sz="2400" i="1" dirty="0">
                                  <a:latin typeface="Cambria Math" panose="02040503050406030204" pitchFamily="18" charset="0"/>
                                </a:rPr>
                                <m:t>𝑆</m:t>
                              </m:r>
                            </m:e>
                          </m:acc>
                        </m:e>
                        <m:sub>
                          <m:r>
                            <a:rPr lang="en-US" sz="2400" i="1" dirty="0">
                              <a:latin typeface="Cambria Math" panose="02040503050406030204" pitchFamily="18" charset="0"/>
                            </a:rPr>
                            <m:t>𝑖</m:t>
                          </m:r>
                        </m:sub>
                        <m:sup>
                          <m:d>
                            <m:dPr>
                              <m:ctrlPr>
                                <a:rPr lang="en-US" sz="2400" b="0" i="1" dirty="0"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r>
                                <a:rPr lang="en-US" sz="2400" b="0" i="1" dirty="0" smtClean="0">
                                  <a:latin typeface="Cambria Math" panose="02040503050406030204" pitchFamily="18" charset="0"/>
                                </a:rPr>
                                <m:t>2</m:t>
                              </m:r>
                            </m:e>
                          </m:d>
                        </m:sup>
                      </m:sSubSup>
                      <m:r>
                        <a:rPr lang="en-US" sz="2400" b="0" i="1" smtClean="0">
                          <a:latin typeface="Cambria Math" panose="02040503050406030204" pitchFamily="18" charset="0"/>
                        </a:rPr>
                        <m:t>⋅</m:t>
                      </m:r>
                      <m:sSubSup>
                        <m:sSubSupPr>
                          <m:ctrlPr>
                            <a:rPr lang="en-US" sz="2400" i="1" dirty="0">
                              <a:latin typeface="Cambria Math" panose="02040503050406030204" pitchFamily="18" charset="0"/>
                            </a:rPr>
                          </m:ctrlPr>
                        </m:sSubSupPr>
                        <m:e>
                          <m:acc>
                            <m:accPr>
                              <m:chr m:val="⃗"/>
                              <m:ctrlPr>
                                <a:rPr lang="en-US" sz="2400" i="1" dirty="0">
                                  <a:latin typeface="Cambria Math" panose="02040503050406030204" pitchFamily="18" charset="0"/>
                                </a:rPr>
                              </m:ctrlPr>
                            </m:accPr>
                            <m:e>
                              <m:r>
                                <a:rPr lang="en-US" sz="2400" i="1" dirty="0">
                                  <a:latin typeface="Cambria Math" panose="02040503050406030204" pitchFamily="18" charset="0"/>
                                </a:rPr>
                                <m:t>𝑆</m:t>
                              </m:r>
                            </m:e>
                          </m:acc>
                        </m:e>
                        <m:sub>
                          <m:r>
                            <a:rPr lang="en-US" sz="2400" b="0" i="1" dirty="0" smtClean="0">
                              <a:latin typeface="Cambria Math" panose="02040503050406030204" pitchFamily="18" charset="0"/>
                            </a:rPr>
                            <m:t>𝑗</m:t>
                          </m:r>
                        </m:sub>
                        <m:sup>
                          <m:d>
                            <m:dPr>
                              <m:ctrlPr>
                                <a:rPr lang="en-US" sz="2400" b="0" i="1" dirty="0"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r>
                                <a:rPr lang="en-US" sz="2400" b="0" i="1" dirty="0" smtClean="0">
                                  <a:latin typeface="Cambria Math" panose="02040503050406030204" pitchFamily="18" charset="0"/>
                                </a:rPr>
                                <m:t>2</m:t>
                              </m:r>
                            </m:e>
                          </m:d>
                        </m:sup>
                      </m:sSubSup>
                      <m:r>
                        <a:rPr lang="en-US" sz="2400" b="0" i="1" dirty="0" smtClean="0">
                          <a:latin typeface="Cambria Math" panose="02040503050406030204" pitchFamily="18" charset="0"/>
                        </a:rPr>
                        <m:t>)</m:t>
                      </m:r>
                    </m:oMath>
                  </m:oMathPara>
                </a14:m>
                <a:endParaRPr lang="en-US" sz="2400" b="0" dirty="0"/>
              </a:p>
              <a:p>
                <a:pPr marL="0" indent="0">
                  <a:buNone/>
                </a:pPr>
                <a:endParaRPr lang="en-US" sz="2400" dirty="0"/>
              </a:p>
              <a:p>
                <a:pPr marL="0" indent="0">
                  <a:buNone/>
                </a:pPr>
                <a:endParaRPr lang="en-US" sz="2400" dirty="0"/>
              </a:p>
              <a:p>
                <a:pPr marL="0" indent="0">
                  <a:buNone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b="0" i="1" smtClean="0">
                          <a:solidFill>
                            <a:schemeClr val="accent1"/>
                          </a:solidFill>
                          <a:latin typeface="Cambria Math" panose="02040503050406030204" pitchFamily="18" charset="0"/>
                        </a:rPr>
                        <m:t>𝐺</m:t>
                      </m:r>
                      <m:r>
                        <a:rPr lang="en-US" b="0" i="1" smtClean="0">
                          <a:solidFill>
                            <a:schemeClr val="accent1"/>
                          </a:solidFill>
                          <a:latin typeface="Cambria Math" panose="02040503050406030204" pitchFamily="18" charset="0"/>
                        </a:rPr>
                        <m:t>=</m:t>
                      </m:r>
                      <m:r>
                        <a:rPr lang="en-US" b="0" i="1" smtClean="0">
                          <a:solidFill>
                            <a:schemeClr val="accent1"/>
                          </a:solidFill>
                          <a:latin typeface="Cambria Math" panose="02040503050406030204" pitchFamily="18" charset="0"/>
                        </a:rPr>
                        <m:t>𝑆𝑈</m:t>
                      </m:r>
                      <m:d>
                        <m:dPr>
                          <m:ctrlPr>
                            <a:rPr lang="en-US" b="0" i="1" smtClean="0">
                              <a:solidFill>
                                <a:schemeClr val="accent1"/>
                              </a:solidFill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US" b="0" i="1" smtClean="0">
                              <a:solidFill>
                                <a:schemeClr val="accent1"/>
                              </a:solidFill>
                              <a:latin typeface="Cambria Math" panose="02040503050406030204" pitchFamily="18" charset="0"/>
                            </a:rPr>
                            <m:t>2</m:t>
                          </m:r>
                        </m:e>
                      </m:d>
                      <m:r>
                        <a:rPr lang="en-US" b="0" i="1" smtClean="0">
                          <a:solidFill>
                            <a:schemeClr val="accent1"/>
                          </a:solidFill>
                          <a:latin typeface="Cambria Math" panose="02040503050406030204" pitchFamily="18" charset="0"/>
                        </a:rPr>
                        <m:t> × </m:t>
                      </m:r>
                      <m:r>
                        <a:rPr lang="en-US" b="0" i="1" smtClean="0">
                          <a:solidFill>
                            <a:schemeClr val="accent1"/>
                          </a:solidFill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𝑆𝑈</m:t>
                      </m:r>
                      <m:r>
                        <a:rPr lang="en-US" b="0" i="1" smtClean="0">
                          <a:solidFill>
                            <a:schemeClr val="accent1"/>
                          </a:solidFill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(2)</m:t>
                      </m:r>
                    </m:oMath>
                  </m:oMathPara>
                </a14:m>
                <a:endParaRPr lang="en-US" b="0" dirty="0">
                  <a:solidFill>
                    <a:schemeClr val="accent1"/>
                  </a:solidFill>
                </a:endParaRPr>
              </a:p>
            </p:txBody>
          </p:sp>
        </mc:Choice>
        <mc:Fallback xmlns="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D5CF903D-70BC-76FF-07EC-7FB911C92E7B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xfrm>
                <a:off x="838200" y="2084831"/>
                <a:ext cx="10515600" cy="4092131"/>
              </a:xfrm>
              <a:blipFill>
                <a:blip r:embed="rId2"/>
                <a:stretch>
                  <a:fillRect l="-1448" t="-2167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479E3BFF-3405-1EDD-06C1-13AA4AC1379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852B8ED-7F2B-5448-BD79-1530102DF259}" type="slidenum">
              <a:rPr lang="en-US" smtClean="0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781834906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uiExpand="1" build="p"/>
    </p:bldLst>
  </p:timing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DEA12BB-B794-3700-B35A-99DB8EEE04B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288403A-3F30-B271-F021-E02B3213775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sz="3600" dirty="0"/>
              <a:t>Heisenberg ladder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605A9F65-B7DF-0E83-AE63-490A4E16DD03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>
              <a:xfrm>
                <a:off x="838200" y="2084831"/>
                <a:ext cx="10515600" cy="4092131"/>
              </a:xfrm>
              <a:effectLst>
                <a:softEdge rad="0"/>
              </a:effectLst>
            </p:spPr>
            <p:txBody>
              <a:bodyPr>
                <a:normAutofit/>
              </a:bodyPr>
              <a:lstStyle/>
              <a:p>
                <a:pPr marL="0" indent="0">
                  <a:buNone/>
                </a:pPr>
                <a:r>
                  <a:rPr lang="en-US" sz="2400" dirty="0"/>
                  <a:t>Consider two integrable points to perturb around:</a:t>
                </a:r>
                <a:endParaRPr lang="en-US" sz="2400" b="0" i="1" dirty="0"/>
              </a:p>
              <a:p>
                <a:pPr marL="457200" indent="-457200">
                  <a:buFont typeface="+mj-lt"/>
                  <a:buAutoNum type="arabicParenR" startAt="2"/>
                </a:pPr>
                <a:r>
                  <a:rPr lang="en-US" sz="2400" dirty="0"/>
                  <a:t> </a:t>
                </a:r>
                <a14:m>
                  <m:oMath xmlns:m="http://schemas.openxmlformats.org/officeDocument/2006/math">
                    <m:r>
                      <a:rPr lang="en-US" sz="2400" i="1">
                        <a:latin typeface="Cambria Math" panose="02040503050406030204" pitchFamily="18" charset="0"/>
                      </a:rPr>
                      <m:t>𝑈</m:t>
                    </m:r>
                    <m:r>
                      <a:rPr lang="en-US" sz="2400" i="1">
                        <a:latin typeface="Cambria Math" panose="02040503050406030204" pitchFamily="18" charset="0"/>
                      </a:rPr>
                      <m:t>=</m:t>
                    </m:r>
                    <m:r>
                      <a:rPr lang="en-US" sz="2400" i="1">
                        <a:latin typeface="Cambria Math" panose="02040503050406030204" pitchFamily="18" charset="0"/>
                      </a:rPr>
                      <m:t>𝐽</m:t>
                    </m:r>
                    <m:r>
                      <a:rPr lang="en-US" sz="2400" i="1">
                        <a:latin typeface="Cambria Math" panose="02040503050406030204" pitchFamily="18" charset="0"/>
                      </a:rPr>
                      <m:t>,  </m:t>
                    </m:r>
                    <m:r>
                      <a:rPr lang="en-US" sz="2400" i="1">
                        <a:latin typeface="Cambria Math" panose="02040503050406030204" pitchFamily="18" charset="0"/>
                      </a:rPr>
                      <m:t>𝐽</m:t>
                    </m:r>
                    <m:r>
                      <a:rPr lang="en-US" sz="2400" i="1">
                        <a:latin typeface="Cambria Math" panose="02040503050406030204" pitchFamily="18" charset="0"/>
                      </a:rPr>
                      <m:t>′=</m:t>
                    </m:r>
                    <m:sSup>
                      <m:sSupPr>
                        <m:ctrlPr>
                          <a:rPr lang="en-US" sz="2400" i="1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n-US" sz="2400" i="1">
                            <a:latin typeface="Cambria Math" panose="02040503050406030204" pitchFamily="18" charset="0"/>
                          </a:rPr>
                          <m:t>𝑈</m:t>
                        </m:r>
                      </m:e>
                      <m:sup>
                        <m:r>
                          <a:rPr lang="en-US" sz="2400" i="1">
                            <a:latin typeface="Cambria Math" panose="02040503050406030204" pitchFamily="18" charset="0"/>
                          </a:rPr>
                          <m:t>′</m:t>
                        </m:r>
                      </m:sup>
                    </m:sSup>
                    <m:r>
                      <a:rPr lang="en-US" sz="2400" i="1">
                        <a:latin typeface="Cambria Math" panose="02040503050406030204" pitchFamily="18" charset="0"/>
                      </a:rPr>
                      <m:t>=0</m:t>
                    </m:r>
                  </m:oMath>
                </a14:m>
                <a:endParaRPr lang="en-US" sz="2400" b="0" dirty="0"/>
              </a:p>
              <a:p>
                <a:pPr marL="0" indent="0">
                  <a:buNone/>
                </a:pPr>
                <a:endParaRPr lang="en-US" sz="2400" b="0" dirty="0"/>
              </a:p>
              <a:p>
                <a:pPr marL="0" indent="0">
                  <a:buNone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sz="2400" b="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sz="2400" b="0" i="1" smtClean="0">
                              <a:latin typeface="Cambria Math" panose="02040503050406030204" pitchFamily="18" charset="0"/>
                            </a:rPr>
                            <m:t>𝐻</m:t>
                          </m:r>
                        </m:e>
                        <m:sub>
                          <m:r>
                            <a:rPr lang="en-US" sz="2400" b="0" i="1" smtClean="0">
                              <a:latin typeface="Cambria Math" panose="02040503050406030204" pitchFamily="18" charset="0"/>
                            </a:rPr>
                            <m:t>0</m:t>
                          </m:r>
                        </m:sub>
                      </m:sSub>
                      <m:r>
                        <a:rPr lang="en-US" sz="2400" b="0" i="1" smtClean="0">
                          <a:latin typeface="Cambria Math" panose="02040503050406030204" pitchFamily="18" charset="0"/>
                        </a:rPr>
                        <m:t>=</m:t>
                      </m:r>
                      <m:f>
                        <m:fPr>
                          <m:ctrlPr>
                            <a:rPr lang="en-US" sz="2400" b="0" i="1" smtClean="0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en-US" sz="2400" b="0" i="1" smtClean="0">
                              <a:latin typeface="Cambria Math" panose="02040503050406030204" pitchFamily="18" charset="0"/>
                            </a:rPr>
                            <m:t>𝐽</m:t>
                          </m:r>
                        </m:num>
                        <m:den>
                          <m:r>
                            <a:rPr lang="en-US" sz="2400" b="0" i="1" smtClean="0">
                              <a:latin typeface="Cambria Math" panose="02040503050406030204" pitchFamily="18" charset="0"/>
                            </a:rPr>
                            <m:t>4</m:t>
                          </m:r>
                        </m:den>
                      </m:f>
                      <m:nary>
                        <m:naryPr>
                          <m:chr m:val="∑"/>
                          <m:supHide m:val="on"/>
                          <m:ctrlPr>
                            <a:rPr lang="en-US" sz="2400" b="0" i="1" smtClean="0">
                              <a:latin typeface="Cambria Math" panose="02040503050406030204" pitchFamily="18" charset="0"/>
                            </a:rPr>
                          </m:ctrlPr>
                        </m:naryPr>
                        <m:sub>
                          <m:r>
                            <m:rPr>
                              <m:brk m:alnAt="7"/>
                            </m:rPr>
                            <a:rPr lang="en-US" sz="2400" b="0" i="1" smtClean="0">
                              <a:latin typeface="Cambria Math" panose="02040503050406030204" pitchFamily="18" charset="0"/>
                            </a:rPr>
                            <m:t>&lt;</m:t>
                          </m:r>
                          <m:r>
                            <a:rPr lang="en-US" sz="2400" b="0" i="1" smtClean="0">
                              <a:latin typeface="Cambria Math" panose="02040503050406030204" pitchFamily="18" charset="0"/>
                            </a:rPr>
                            <m:t>𝑖</m:t>
                          </m:r>
                          <m:r>
                            <a:rPr lang="en-US" sz="2400" b="0" i="1" smtClean="0">
                              <a:latin typeface="Cambria Math" panose="02040503050406030204" pitchFamily="18" charset="0"/>
                            </a:rPr>
                            <m:t>,</m:t>
                          </m:r>
                          <m:r>
                            <a:rPr lang="en-US" sz="2400" b="0" i="1" smtClean="0">
                              <a:latin typeface="Cambria Math" panose="02040503050406030204" pitchFamily="18" charset="0"/>
                            </a:rPr>
                            <m:t>𝑗</m:t>
                          </m:r>
                          <m:r>
                            <a:rPr lang="en-US" sz="2400" b="0" i="1" smtClean="0">
                              <a:latin typeface="Cambria Math" panose="02040503050406030204" pitchFamily="18" charset="0"/>
                            </a:rPr>
                            <m:t>&gt;</m:t>
                          </m:r>
                        </m:sub>
                        <m:sup/>
                        <m:e>
                          <m:r>
                            <a:rPr lang="en-US" sz="2400" b="0" i="1" smtClean="0">
                              <a:latin typeface="Cambria Math" panose="02040503050406030204" pitchFamily="18" charset="0"/>
                            </a:rPr>
                            <m:t>(1+</m:t>
                          </m:r>
                          <m:sSubSup>
                            <m:sSubSupPr>
                              <m:ctrlPr>
                                <a:rPr lang="en-US" sz="2400" i="1" dirty="0">
                                  <a:latin typeface="Cambria Math" panose="02040503050406030204" pitchFamily="18" charset="0"/>
                                </a:rPr>
                              </m:ctrlPr>
                            </m:sSubSupPr>
                            <m:e>
                              <m:acc>
                                <m:accPr>
                                  <m:chr m:val="⃗"/>
                                  <m:ctrlPr>
                                    <a:rPr lang="en-US" sz="2400" i="1" dirty="0">
                                      <a:latin typeface="Cambria Math" panose="02040503050406030204" pitchFamily="18" charset="0"/>
                                    </a:rPr>
                                  </m:ctrlPr>
                                </m:accPr>
                                <m:e>
                                  <m:r>
                                    <a:rPr lang="en-US" sz="2400" i="1" dirty="0">
                                      <a:latin typeface="Cambria Math" panose="02040503050406030204" pitchFamily="18" charset="0"/>
                                    </a:rPr>
                                    <m:t>𝜎</m:t>
                                  </m:r>
                                </m:e>
                              </m:acc>
                            </m:e>
                            <m:sub>
                              <m:r>
                                <a:rPr lang="en-US" sz="2400" b="0" i="1" dirty="0" smtClean="0">
                                  <a:latin typeface="Cambria Math" panose="02040503050406030204" pitchFamily="18" charset="0"/>
                                </a:rPr>
                                <m:t>𝑖</m:t>
                              </m:r>
                            </m:sub>
                            <m:sup>
                              <m:d>
                                <m:dPr>
                                  <m:ctrlPr>
                                    <a:rPr lang="en-US" sz="2400" i="1" dirty="0">
                                      <a:latin typeface="Cambria Math" panose="02040503050406030204" pitchFamily="18" charset="0"/>
                                    </a:rPr>
                                  </m:ctrlPr>
                                </m:dPr>
                                <m:e>
                                  <m:r>
                                    <a:rPr lang="en-US" sz="2400" i="1" dirty="0">
                                      <a:latin typeface="Cambria Math" panose="02040503050406030204" pitchFamily="18" charset="0"/>
                                    </a:rPr>
                                    <m:t>1</m:t>
                                  </m:r>
                                </m:e>
                              </m:d>
                            </m:sup>
                          </m:sSubSup>
                        </m:e>
                      </m:nary>
                      <m:r>
                        <a:rPr lang="en-US" sz="2400" b="0" i="1" dirty="0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∙</m:t>
                      </m:r>
                      <m:sSubSup>
                        <m:sSubSupPr>
                          <m:ctrlPr>
                            <a:rPr lang="en-US" sz="2400" i="1" dirty="0">
                              <a:latin typeface="Cambria Math" panose="02040503050406030204" pitchFamily="18" charset="0"/>
                            </a:rPr>
                          </m:ctrlPr>
                        </m:sSubSupPr>
                        <m:e>
                          <m:acc>
                            <m:accPr>
                              <m:chr m:val="⃗"/>
                              <m:ctrlPr>
                                <a:rPr lang="en-US" sz="2400" i="1" dirty="0">
                                  <a:latin typeface="Cambria Math" panose="02040503050406030204" pitchFamily="18" charset="0"/>
                                </a:rPr>
                              </m:ctrlPr>
                            </m:accPr>
                            <m:e>
                              <m:r>
                                <a:rPr lang="en-US" sz="2400" i="1" dirty="0">
                                  <a:latin typeface="Cambria Math" panose="02040503050406030204" pitchFamily="18" charset="0"/>
                                </a:rPr>
                                <m:t>𝜎</m:t>
                              </m:r>
                            </m:e>
                          </m:acc>
                        </m:e>
                        <m:sub>
                          <m:r>
                            <a:rPr lang="en-US" sz="2400" b="0" i="1" dirty="0" smtClean="0">
                              <a:latin typeface="Cambria Math" panose="02040503050406030204" pitchFamily="18" charset="0"/>
                            </a:rPr>
                            <m:t>𝑗</m:t>
                          </m:r>
                        </m:sub>
                        <m:sup>
                          <m:d>
                            <m:dPr>
                              <m:ctrlPr>
                                <a:rPr lang="en-US" sz="2400" i="1" dirty="0"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r>
                                <a:rPr lang="en-US" sz="2400" i="1" dirty="0">
                                  <a:latin typeface="Cambria Math" panose="02040503050406030204" pitchFamily="18" charset="0"/>
                                </a:rPr>
                                <m:t>1</m:t>
                              </m:r>
                            </m:e>
                          </m:d>
                        </m:sup>
                      </m:sSubSup>
                      <m:r>
                        <a:rPr lang="en-US" sz="2400" b="0" i="1" dirty="0" smtClean="0">
                          <a:latin typeface="Cambria Math" panose="02040503050406030204" pitchFamily="18" charset="0"/>
                        </a:rPr>
                        <m:t>)(1+</m:t>
                      </m:r>
                      <m:sSubSup>
                        <m:sSubSupPr>
                          <m:ctrlPr>
                            <a:rPr lang="en-US" sz="2400" i="1" dirty="0">
                              <a:latin typeface="Cambria Math" panose="02040503050406030204" pitchFamily="18" charset="0"/>
                            </a:rPr>
                          </m:ctrlPr>
                        </m:sSubSupPr>
                        <m:e>
                          <m:acc>
                            <m:accPr>
                              <m:chr m:val="⃗"/>
                              <m:ctrlPr>
                                <a:rPr lang="en-US" sz="2400" i="1" dirty="0">
                                  <a:latin typeface="Cambria Math" panose="02040503050406030204" pitchFamily="18" charset="0"/>
                                </a:rPr>
                              </m:ctrlPr>
                            </m:accPr>
                            <m:e>
                              <m:r>
                                <a:rPr lang="en-US" sz="2400" i="1" dirty="0">
                                  <a:latin typeface="Cambria Math" panose="02040503050406030204" pitchFamily="18" charset="0"/>
                                </a:rPr>
                                <m:t>𝜎</m:t>
                              </m:r>
                            </m:e>
                          </m:acc>
                        </m:e>
                        <m:sub>
                          <m:r>
                            <a:rPr lang="en-US" sz="2400" i="1" dirty="0">
                              <a:latin typeface="Cambria Math" panose="02040503050406030204" pitchFamily="18" charset="0"/>
                            </a:rPr>
                            <m:t>𝑖</m:t>
                          </m:r>
                        </m:sub>
                        <m:sup>
                          <m:d>
                            <m:dPr>
                              <m:ctrlPr>
                                <a:rPr lang="en-US" sz="2400" i="1" dirty="0" smtClean="0"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r>
                                <a:rPr lang="en-US" sz="2400" b="0" i="1" dirty="0" smtClean="0">
                                  <a:latin typeface="Cambria Math" panose="02040503050406030204" pitchFamily="18" charset="0"/>
                                </a:rPr>
                                <m:t>2</m:t>
                              </m:r>
                            </m:e>
                          </m:d>
                        </m:sup>
                      </m:sSubSup>
                      <m:r>
                        <a:rPr lang="en-US" sz="2400" b="0" i="1" smtClean="0">
                          <a:latin typeface="Cambria Math" panose="02040503050406030204" pitchFamily="18" charset="0"/>
                        </a:rPr>
                        <m:t>⋅</m:t>
                      </m:r>
                      <m:sSubSup>
                        <m:sSubSupPr>
                          <m:ctrlPr>
                            <a:rPr lang="en-US" sz="2400" i="1" dirty="0">
                              <a:latin typeface="Cambria Math" panose="02040503050406030204" pitchFamily="18" charset="0"/>
                            </a:rPr>
                          </m:ctrlPr>
                        </m:sSubSupPr>
                        <m:e>
                          <m:acc>
                            <m:accPr>
                              <m:chr m:val="⃗"/>
                              <m:ctrlPr>
                                <a:rPr lang="en-US" sz="2400" i="1" dirty="0">
                                  <a:latin typeface="Cambria Math" panose="02040503050406030204" pitchFamily="18" charset="0"/>
                                </a:rPr>
                              </m:ctrlPr>
                            </m:accPr>
                            <m:e>
                              <m:r>
                                <a:rPr lang="en-US" sz="2400" i="1" dirty="0">
                                  <a:latin typeface="Cambria Math" panose="02040503050406030204" pitchFamily="18" charset="0"/>
                                </a:rPr>
                                <m:t>𝜎</m:t>
                              </m:r>
                            </m:e>
                          </m:acc>
                        </m:e>
                        <m:sub>
                          <m:r>
                            <a:rPr lang="en-US" sz="2400" i="1" dirty="0">
                              <a:latin typeface="Cambria Math" panose="02040503050406030204" pitchFamily="18" charset="0"/>
                            </a:rPr>
                            <m:t>𝑗</m:t>
                          </m:r>
                        </m:sub>
                        <m:sup>
                          <m:d>
                            <m:dPr>
                              <m:ctrlPr>
                                <a:rPr lang="en-US" sz="2400" i="1" dirty="0"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r>
                                <a:rPr lang="en-US" sz="2400" b="0" i="1" dirty="0" smtClean="0">
                                  <a:latin typeface="Cambria Math" panose="02040503050406030204" pitchFamily="18" charset="0"/>
                                </a:rPr>
                                <m:t>2</m:t>
                              </m:r>
                            </m:e>
                          </m:d>
                        </m:sup>
                      </m:sSubSup>
                      <m:r>
                        <a:rPr lang="en-US" sz="2400" b="0" i="1" dirty="0" smtClean="0">
                          <a:latin typeface="Cambria Math" panose="02040503050406030204" pitchFamily="18" charset="0"/>
                        </a:rPr>
                        <m:t>)</m:t>
                      </m:r>
                    </m:oMath>
                  </m:oMathPara>
                </a14:m>
                <a:endParaRPr lang="en-US" sz="2400" b="0" i="1" dirty="0">
                  <a:latin typeface="Cambria Math" panose="02040503050406030204" pitchFamily="18" charset="0"/>
                </a:endParaRPr>
              </a:p>
              <a:p>
                <a:pPr marL="0" indent="0">
                  <a:buNone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sz="2400" b="0" i="1" smtClean="0">
                          <a:latin typeface="Cambria Math" panose="02040503050406030204" pitchFamily="18" charset="0"/>
                        </a:rPr>
                        <m:t>=</m:t>
                      </m:r>
                      <m:f>
                        <m:fPr>
                          <m:ctrlPr>
                            <a:rPr lang="en-US" sz="2400" i="1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en-US" sz="2400" i="1">
                              <a:latin typeface="Cambria Math" panose="02040503050406030204" pitchFamily="18" charset="0"/>
                            </a:rPr>
                            <m:t>𝐽</m:t>
                          </m:r>
                        </m:num>
                        <m:den>
                          <m:r>
                            <a:rPr lang="en-US" sz="2400" i="1">
                              <a:latin typeface="Cambria Math" panose="02040503050406030204" pitchFamily="18" charset="0"/>
                            </a:rPr>
                            <m:t>4</m:t>
                          </m:r>
                        </m:den>
                      </m:f>
                      <m:nary>
                        <m:naryPr>
                          <m:chr m:val="∑"/>
                          <m:supHide m:val="on"/>
                          <m:ctrlPr>
                            <a:rPr lang="en-US" sz="2400" i="1" smtClean="0">
                              <a:latin typeface="Cambria Math" panose="02040503050406030204" pitchFamily="18" charset="0"/>
                            </a:rPr>
                          </m:ctrlPr>
                        </m:naryPr>
                        <m:sub>
                          <m:r>
                            <m:rPr>
                              <m:brk m:alnAt="7"/>
                            </m:rPr>
                            <a:rPr lang="en-US" sz="2400" i="1">
                              <a:latin typeface="Cambria Math" panose="02040503050406030204" pitchFamily="18" charset="0"/>
                            </a:rPr>
                            <m:t>&lt;</m:t>
                          </m:r>
                          <m:r>
                            <a:rPr lang="en-US" sz="2400" i="1">
                              <a:latin typeface="Cambria Math" panose="02040503050406030204" pitchFamily="18" charset="0"/>
                            </a:rPr>
                            <m:t>𝑖</m:t>
                          </m:r>
                          <m:r>
                            <a:rPr lang="en-US" sz="2400" i="1">
                              <a:latin typeface="Cambria Math" panose="02040503050406030204" pitchFamily="18" charset="0"/>
                            </a:rPr>
                            <m:t>,</m:t>
                          </m:r>
                          <m:r>
                            <a:rPr lang="en-US" sz="2400" i="1">
                              <a:latin typeface="Cambria Math" panose="02040503050406030204" pitchFamily="18" charset="0"/>
                            </a:rPr>
                            <m:t>𝑗</m:t>
                          </m:r>
                          <m:r>
                            <a:rPr lang="en-US" sz="2400" i="1">
                              <a:latin typeface="Cambria Math" panose="02040503050406030204" pitchFamily="18" charset="0"/>
                            </a:rPr>
                            <m:t>&gt;</m:t>
                          </m:r>
                        </m:sub>
                        <m:sup/>
                        <m:e>
                          <m:sSub>
                            <m:sSubPr>
                              <m:ctrlPr>
                                <a:rPr lang="en-US" sz="2400" b="0" i="1" smtClean="0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sz="2400" b="0" i="1" smtClean="0">
                                  <a:latin typeface="Cambria Math" panose="02040503050406030204" pitchFamily="18" charset="0"/>
                                </a:rPr>
                                <m:t>𝑃</m:t>
                              </m:r>
                            </m:e>
                            <m:sub>
                              <m:r>
                                <a:rPr lang="en-US" sz="2400" b="0" i="1" smtClean="0">
                                  <a:latin typeface="Cambria Math" panose="02040503050406030204" pitchFamily="18" charset="0"/>
                                </a:rPr>
                                <m:t>𝑖</m:t>
                              </m:r>
                              <m:r>
                                <a:rPr lang="en-US" sz="2400" b="0" i="1" smtClean="0">
                                  <a:latin typeface="Cambria Math" panose="02040503050406030204" pitchFamily="18" charset="0"/>
                                </a:rPr>
                                <m:t>,</m:t>
                              </m:r>
                              <m:r>
                                <a:rPr lang="en-US" sz="2400" b="0" i="1" smtClean="0">
                                  <a:latin typeface="Cambria Math" panose="02040503050406030204" pitchFamily="18" charset="0"/>
                                </a:rPr>
                                <m:t>𝑗</m:t>
                              </m:r>
                            </m:sub>
                          </m:sSub>
                        </m:e>
                      </m:nary>
                    </m:oMath>
                  </m:oMathPara>
                </a14:m>
                <a:endParaRPr lang="en-US" sz="2400" dirty="0"/>
              </a:p>
              <a:p>
                <a:pPr marL="0" indent="0">
                  <a:buNone/>
                </a:pPr>
                <a:endParaRPr lang="en-US" sz="2400" b="0" i="1" dirty="0">
                  <a:solidFill>
                    <a:schemeClr val="accent1"/>
                  </a:solidFill>
                  <a:latin typeface="Cambria Math" panose="02040503050406030204" pitchFamily="18" charset="0"/>
                </a:endParaRPr>
              </a:p>
              <a:p>
                <a:pPr marL="0" indent="0">
                  <a:buNone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b="0" i="1" smtClean="0">
                          <a:solidFill>
                            <a:schemeClr val="accent1"/>
                          </a:solidFill>
                          <a:latin typeface="Cambria Math" panose="02040503050406030204" pitchFamily="18" charset="0"/>
                        </a:rPr>
                        <m:t>𝐺</m:t>
                      </m:r>
                      <m:r>
                        <a:rPr lang="en-US" b="0" i="1" smtClean="0">
                          <a:solidFill>
                            <a:schemeClr val="accent1"/>
                          </a:solidFill>
                          <a:latin typeface="Cambria Math" panose="02040503050406030204" pitchFamily="18" charset="0"/>
                        </a:rPr>
                        <m:t>=</m:t>
                      </m:r>
                      <m:r>
                        <a:rPr lang="en-US" b="0" i="1" smtClean="0">
                          <a:solidFill>
                            <a:schemeClr val="accent1"/>
                          </a:solidFill>
                          <a:latin typeface="Cambria Math" panose="02040503050406030204" pitchFamily="18" charset="0"/>
                        </a:rPr>
                        <m:t>𝑆𝑈</m:t>
                      </m:r>
                      <m:r>
                        <a:rPr lang="en-US" b="0" i="1" smtClean="0">
                          <a:solidFill>
                            <a:schemeClr val="accent1"/>
                          </a:solidFill>
                          <a:latin typeface="Cambria Math" panose="02040503050406030204" pitchFamily="18" charset="0"/>
                        </a:rPr>
                        <m:t>(4)</m:t>
                      </m:r>
                    </m:oMath>
                  </m:oMathPara>
                </a14:m>
                <a:endParaRPr lang="en-US" b="0" dirty="0">
                  <a:solidFill>
                    <a:schemeClr val="accent1"/>
                  </a:solidFill>
                </a:endParaRPr>
              </a:p>
            </p:txBody>
          </p:sp>
        </mc:Choice>
        <mc:Fallback xmlns="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605A9F65-B7DF-0E83-AE63-490A4E16DD03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xfrm>
                <a:off x="838200" y="2084831"/>
                <a:ext cx="10515600" cy="4092131"/>
              </a:xfrm>
              <a:blipFill>
                <a:blip r:embed="rId2"/>
                <a:stretch>
                  <a:fillRect l="-1448" t="-2167" b="-20743"/>
                </a:stretch>
              </a:blipFill>
              <a:effectLst>
                <a:softEdge rad="0"/>
              </a:effectLst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A514E08E-EB93-1EDF-A140-D9A8989971A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852B8ED-7F2B-5448-BD79-1530102DF259}" type="slidenum">
              <a:rPr lang="en-US" smtClean="0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310707229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uiExpand="1" build="p"/>
    </p:bldLst>
  </p:timing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082E99B-F461-0F1C-E50A-71A53415B4F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sz="3600" dirty="0"/>
              <a:t>Spin Transport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C60DAA66-7DA2-4ED5-0605-824F251D6429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/>
            <p:txBody>
              <a:bodyPr>
                <a:normAutofit fontScale="85000" lnSpcReduction="20000"/>
              </a:bodyPr>
              <a:lstStyle/>
              <a:p>
                <a:pPr marL="0" indent="0">
                  <a:buNone/>
                </a:pPr>
                <a:r>
                  <a:rPr lang="en-US" sz="2400" dirty="0"/>
                  <a:t>To characterize transport, we focus on time evolution from an inhomogeneous quench</a:t>
                </a:r>
                <a:endParaRPr lang="en-US" sz="2400" b="0" i="1" dirty="0">
                  <a:latin typeface="Cambria Math" panose="02040503050406030204" pitchFamily="18" charset="0"/>
                </a:endParaRPr>
              </a:p>
              <a:p>
                <a:pPr marL="0" indent="0">
                  <a:buNone/>
                </a:pPr>
                <a:endParaRPr lang="en-US" sz="2400" b="0" i="1" dirty="0">
                  <a:latin typeface="Cambria Math" panose="02040503050406030204" pitchFamily="18" charset="0"/>
                </a:endParaRPr>
              </a:p>
              <a:p>
                <a:pPr marL="0" indent="0">
                  <a:buNone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sz="2400" b="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sz="2400" b="0" i="1" smtClean="0">
                              <a:latin typeface="Cambria Math" panose="02040503050406030204" pitchFamily="18" charset="0"/>
                            </a:rPr>
                            <m:t>𝜌</m:t>
                          </m:r>
                        </m:e>
                        <m:sub>
                          <m:r>
                            <a:rPr lang="en-US" sz="2400" b="0" i="1" smtClean="0">
                              <a:latin typeface="Cambria Math" panose="02040503050406030204" pitchFamily="18" charset="0"/>
                            </a:rPr>
                            <m:t>𝜇</m:t>
                          </m:r>
                        </m:sub>
                      </m:sSub>
                      <m:d>
                        <m:dPr>
                          <m:ctrlPr>
                            <a:rPr lang="en-US" sz="2400" b="0" i="1" smtClean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US" sz="2400" b="0" i="1" smtClean="0">
                              <a:latin typeface="Cambria Math" panose="02040503050406030204" pitchFamily="18" charset="0"/>
                            </a:rPr>
                            <m:t>𝑡</m:t>
                          </m:r>
                          <m:r>
                            <a:rPr lang="en-US" sz="2400" b="0" i="1" smtClean="0">
                              <a:latin typeface="Cambria Math" panose="02040503050406030204" pitchFamily="18" charset="0"/>
                            </a:rPr>
                            <m:t>=0</m:t>
                          </m:r>
                        </m:e>
                      </m:d>
                      <m:r>
                        <a:rPr lang="en-US" sz="2400" b="0" i="1" smtClean="0">
                          <a:latin typeface="Cambria Math" panose="02040503050406030204" pitchFamily="18" charset="0"/>
                        </a:rPr>
                        <m:t>∼</m:t>
                      </m:r>
                      <m:func>
                        <m:funcPr>
                          <m:ctrlPr>
                            <a:rPr lang="en-US" sz="2400" b="0" i="1" smtClean="0">
                              <a:latin typeface="Cambria Math" panose="02040503050406030204" pitchFamily="18" charset="0"/>
                            </a:rPr>
                          </m:ctrlPr>
                        </m:funcPr>
                        <m:fName>
                          <m:r>
                            <m:rPr>
                              <m:sty m:val="p"/>
                            </m:rPr>
                            <a:rPr lang="en-US" sz="2400" b="0" i="0" smtClean="0">
                              <a:latin typeface="Cambria Math" panose="02040503050406030204" pitchFamily="18" charset="0"/>
                            </a:rPr>
                            <m:t>exp</m:t>
                          </m:r>
                        </m:fName>
                        <m:e>
                          <m:d>
                            <m:dPr>
                              <m:ctrlPr>
                                <a:rPr lang="en-US" sz="2400" b="0" i="1" smtClean="0"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r>
                                <a:rPr lang="en-US" sz="2400" b="0" i="1" smtClean="0">
                                  <a:latin typeface="Cambria Math" panose="02040503050406030204" pitchFamily="18" charset="0"/>
                                </a:rPr>
                                <m:t>𝜇</m:t>
                              </m:r>
                              <m:sSubSup>
                                <m:sSubSupPr>
                                  <m:ctrlPr>
                                    <a:rPr lang="en-US" sz="2400" i="1" dirty="0">
                                      <a:latin typeface="Cambria Math" panose="02040503050406030204" pitchFamily="18" charset="0"/>
                                    </a:rPr>
                                  </m:ctrlPr>
                                </m:sSubSupPr>
                                <m:e>
                                  <m:r>
                                    <a:rPr lang="en-US" sz="2400" i="1" dirty="0">
                                      <a:latin typeface="Cambria Math" panose="02040503050406030204" pitchFamily="18" charset="0"/>
                                    </a:rPr>
                                    <m:t>𝑆</m:t>
                                  </m:r>
                                </m:e>
                                <m:sub>
                                  <m:r>
                                    <m:rPr>
                                      <m:sty m:val="p"/>
                                    </m:rPr>
                                    <a:rPr lang="en-US" sz="2400" dirty="0">
                                      <a:latin typeface="Cambria Math" panose="02040503050406030204" pitchFamily="18" charset="0"/>
                                    </a:rPr>
                                    <m:t>left</m:t>
                                  </m:r>
                                </m:sub>
                                <m:sup>
                                  <m:r>
                                    <a:rPr lang="en-US" sz="2400" i="1" dirty="0">
                                      <a:latin typeface="Cambria Math" panose="02040503050406030204" pitchFamily="18" charset="0"/>
                                    </a:rPr>
                                    <m:t>𝑧</m:t>
                                  </m:r>
                                </m:sup>
                              </m:sSubSup>
                            </m:e>
                          </m:d>
                        </m:e>
                      </m:func>
                      <m:r>
                        <a:rPr lang="en-US" sz="2400" b="0" i="1" dirty="0" smtClean="0">
                          <a:latin typeface="Cambria Math" panose="02040503050406030204" pitchFamily="18" charset="0"/>
                        </a:rPr>
                        <m:t>⋅</m:t>
                      </m:r>
                      <m:func>
                        <m:funcPr>
                          <m:ctrlPr>
                            <a:rPr lang="en-US" sz="2400" b="0" i="1" smtClean="0">
                              <a:latin typeface="Cambria Math" panose="02040503050406030204" pitchFamily="18" charset="0"/>
                            </a:rPr>
                          </m:ctrlPr>
                        </m:funcPr>
                        <m:fName>
                          <m:r>
                            <m:rPr>
                              <m:sty m:val="p"/>
                            </m:rPr>
                            <a:rPr lang="en-US" sz="2400" b="0" i="0" smtClean="0">
                              <a:latin typeface="Cambria Math" panose="02040503050406030204" pitchFamily="18" charset="0"/>
                            </a:rPr>
                            <m:t>exp</m:t>
                          </m:r>
                        </m:fName>
                        <m:e>
                          <m:d>
                            <m:dPr>
                              <m:ctrlPr>
                                <a:rPr lang="en-US" sz="2400" b="0" i="1" smtClean="0"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r>
                                <a:rPr lang="en-US" sz="2400" b="0" i="1" smtClean="0">
                                  <a:latin typeface="Cambria Math" panose="02040503050406030204" pitchFamily="18" charset="0"/>
                                </a:rPr>
                                <m:t>−</m:t>
                              </m:r>
                              <m:r>
                                <a:rPr lang="en-US" sz="2400" b="0" i="1" smtClean="0">
                                  <a:latin typeface="Cambria Math" panose="02040503050406030204" pitchFamily="18" charset="0"/>
                                </a:rPr>
                                <m:t>𝜇</m:t>
                              </m:r>
                              <m:sSubSup>
                                <m:sSubSupPr>
                                  <m:ctrlPr>
                                    <a:rPr lang="en-US" sz="2400" i="1" dirty="0">
                                      <a:latin typeface="Cambria Math" panose="02040503050406030204" pitchFamily="18" charset="0"/>
                                    </a:rPr>
                                  </m:ctrlPr>
                                </m:sSubSupPr>
                                <m:e>
                                  <m:r>
                                    <a:rPr lang="en-US" sz="2400" i="1" dirty="0">
                                      <a:latin typeface="Cambria Math" panose="02040503050406030204" pitchFamily="18" charset="0"/>
                                    </a:rPr>
                                    <m:t>𝑆</m:t>
                                  </m:r>
                                </m:e>
                                <m:sub>
                                  <m:r>
                                    <m:rPr>
                                      <m:sty m:val="p"/>
                                    </m:rPr>
                                    <a:rPr lang="en-US" sz="2400" b="0" i="0" dirty="0" smtClean="0">
                                      <a:latin typeface="Cambria Math" panose="02040503050406030204" pitchFamily="18" charset="0"/>
                                    </a:rPr>
                                    <m:t>right</m:t>
                                  </m:r>
                                </m:sub>
                                <m:sup>
                                  <m:r>
                                    <a:rPr lang="en-US" sz="2400" i="1" dirty="0">
                                      <a:latin typeface="Cambria Math" panose="02040503050406030204" pitchFamily="18" charset="0"/>
                                    </a:rPr>
                                    <m:t>𝑧</m:t>
                                  </m:r>
                                </m:sup>
                              </m:sSubSup>
                            </m:e>
                          </m:d>
                        </m:e>
                      </m:func>
                    </m:oMath>
                  </m:oMathPara>
                </a14:m>
                <a:endParaRPr lang="en-US" sz="2400" b="0" dirty="0"/>
              </a:p>
              <a:p>
                <a:pPr marL="0" indent="0">
                  <a:buNone/>
                </a:pPr>
                <a:endParaRPr lang="en-US" sz="2400" i="1" dirty="0">
                  <a:latin typeface="Cambria Math" panose="02040503050406030204" pitchFamily="18" charset="0"/>
                </a:endParaRPr>
              </a:p>
              <a:p>
                <a:pPr marL="0" indent="0" algn="ctr">
                  <a:buNone/>
                </a:pPr>
                <a14:m>
                  <m:oMath xmlns:m="http://schemas.openxmlformats.org/officeDocument/2006/math">
                    <m:r>
                      <a:rPr lang="en-US" sz="2400" b="0" i="1" smtClean="0">
                        <a:latin typeface="Cambria Math" panose="02040503050406030204" pitchFamily="18" charset="0"/>
                      </a:rPr>
                      <m:t>𝜇</m:t>
                    </m:r>
                    <m:r>
                      <a:rPr lang="en-US" sz="2400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≪1⇒</m:t>
                    </m:r>
                  </m:oMath>
                </a14:m>
                <a:r>
                  <a:rPr lang="en-US" sz="2400" dirty="0"/>
                  <a:t> initial state is nearly infinite temperature mixed state, polarized in opposite directions in left/right half</a:t>
                </a:r>
              </a:p>
              <a:p>
                <a:pPr marL="0" indent="0">
                  <a:buNone/>
                </a:pPr>
                <a:endParaRPr lang="en-US" sz="2400" dirty="0"/>
              </a:p>
              <a:p>
                <a:pPr marL="0" indent="0">
                  <a:buNone/>
                </a:pPr>
                <a:r>
                  <a:rPr lang="en-US" sz="2400" dirty="0"/>
                  <a:t>Natural measure of transport is “magnetization transfer”</a:t>
                </a:r>
              </a:p>
              <a:p>
                <a:pPr marL="0" indent="0">
                  <a:buNone/>
                </a:pPr>
                <a:endParaRPr lang="en-US" sz="700" dirty="0">
                  <a:latin typeface="Cambria Math" panose="02040503050406030204" pitchFamily="18" charset="0"/>
                </a:endParaRPr>
              </a:p>
              <a:p>
                <a:pPr marL="0" indent="0">
                  <a:buNone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m:rPr>
                          <m:sty m:val="p"/>
                        </m:rPr>
                        <a:rPr lang="en-US" sz="2400" b="0" i="0" smtClean="0">
                          <a:latin typeface="Cambria Math" panose="02040503050406030204" pitchFamily="18" charset="0"/>
                        </a:rPr>
                        <m:t>Δ</m:t>
                      </m:r>
                      <m:r>
                        <a:rPr lang="en-US" sz="2400" b="0" i="1" smtClean="0">
                          <a:latin typeface="Cambria Math" panose="02040503050406030204" pitchFamily="18" charset="0"/>
                        </a:rPr>
                        <m:t>𝑠</m:t>
                      </m:r>
                      <m:d>
                        <m:dPr>
                          <m:ctrlPr>
                            <a:rPr lang="en-US" sz="2400" b="0" i="1" smtClean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US" sz="2400" b="0" i="1" smtClean="0">
                              <a:latin typeface="Cambria Math" panose="02040503050406030204" pitchFamily="18" charset="0"/>
                            </a:rPr>
                            <m:t>𝑡</m:t>
                          </m:r>
                        </m:e>
                      </m:d>
                      <m:r>
                        <a:rPr lang="en-US" sz="2400" b="0" i="1" smtClean="0">
                          <a:latin typeface="Cambria Math" panose="02040503050406030204" pitchFamily="18" charset="0"/>
                        </a:rPr>
                        <m:t>≡</m:t>
                      </m:r>
                      <m:sSub>
                        <m:sSubPr>
                          <m:ctrlPr>
                            <a:rPr lang="en-US" sz="2400" b="0" i="1" dirty="0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d>
                            <m:dPr>
                              <m:begChr m:val="⟨"/>
                              <m:endChr m:val="⟩"/>
                              <m:ctrlPr>
                                <a:rPr lang="en-US" sz="2400" b="0" i="1" smtClean="0"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sSubSup>
                                <m:sSubSupPr>
                                  <m:ctrlPr>
                                    <a:rPr lang="en-US" sz="2400" b="0" i="1" dirty="0" smtClean="0">
                                      <a:latin typeface="Cambria Math" panose="02040503050406030204" pitchFamily="18" charset="0"/>
                                    </a:rPr>
                                  </m:ctrlPr>
                                </m:sSubSupPr>
                                <m:e>
                                  <m:r>
                                    <a:rPr lang="en-US" sz="2400" b="0" i="1" dirty="0" smtClean="0">
                                      <a:latin typeface="Cambria Math" panose="02040503050406030204" pitchFamily="18" charset="0"/>
                                    </a:rPr>
                                    <m:t>𝑆</m:t>
                                  </m:r>
                                </m:e>
                                <m:sub>
                                  <m:r>
                                    <m:rPr>
                                      <m:sty m:val="p"/>
                                    </m:rPr>
                                    <a:rPr lang="en-US" sz="2400" b="0" i="0" dirty="0" smtClean="0">
                                      <a:latin typeface="Cambria Math" panose="02040503050406030204" pitchFamily="18" charset="0"/>
                                    </a:rPr>
                                    <m:t>left</m:t>
                                  </m:r>
                                </m:sub>
                                <m:sup>
                                  <m:r>
                                    <a:rPr lang="en-US" sz="2400" b="0" i="1" dirty="0" smtClean="0">
                                      <a:latin typeface="Cambria Math" panose="02040503050406030204" pitchFamily="18" charset="0"/>
                                    </a:rPr>
                                    <m:t>𝑧</m:t>
                                  </m:r>
                                </m:sup>
                              </m:sSubSup>
                              <m:d>
                                <m:dPr>
                                  <m:ctrlPr>
                                    <a:rPr lang="en-US" sz="2400" b="0" i="1" dirty="0" smtClean="0">
                                      <a:latin typeface="Cambria Math" panose="02040503050406030204" pitchFamily="18" charset="0"/>
                                    </a:rPr>
                                  </m:ctrlPr>
                                </m:dPr>
                                <m:e>
                                  <m:r>
                                    <a:rPr lang="en-US" sz="2400" b="0" i="1" dirty="0" smtClean="0">
                                      <a:latin typeface="Cambria Math" panose="02040503050406030204" pitchFamily="18" charset="0"/>
                                    </a:rPr>
                                    <m:t>𝑡</m:t>
                                  </m:r>
                                </m:e>
                              </m:d>
                              <m:r>
                                <a:rPr lang="en-US" sz="2400" b="0" i="1" dirty="0" smtClean="0">
                                  <a:latin typeface="Cambria Math" panose="02040503050406030204" pitchFamily="18" charset="0"/>
                                </a:rPr>
                                <m:t>−</m:t>
                              </m:r>
                              <m:sSubSup>
                                <m:sSubSupPr>
                                  <m:ctrlPr>
                                    <a:rPr lang="en-US" sz="2400" b="0" i="1" dirty="0" smtClean="0">
                                      <a:latin typeface="Cambria Math" panose="02040503050406030204" pitchFamily="18" charset="0"/>
                                    </a:rPr>
                                  </m:ctrlPr>
                                </m:sSubSupPr>
                                <m:e>
                                  <m:r>
                                    <a:rPr lang="en-US" sz="2400" b="0" i="1" dirty="0" smtClean="0">
                                      <a:latin typeface="Cambria Math" panose="02040503050406030204" pitchFamily="18" charset="0"/>
                                    </a:rPr>
                                    <m:t>𝑆</m:t>
                                  </m:r>
                                </m:e>
                                <m:sub>
                                  <m:r>
                                    <m:rPr>
                                      <m:sty m:val="p"/>
                                    </m:rPr>
                                    <a:rPr lang="en-US" sz="2400" b="0" i="0" dirty="0" smtClean="0">
                                      <a:latin typeface="Cambria Math" panose="02040503050406030204" pitchFamily="18" charset="0"/>
                                    </a:rPr>
                                    <m:t>left</m:t>
                                  </m:r>
                                </m:sub>
                                <m:sup>
                                  <m:r>
                                    <a:rPr lang="en-US" sz="2400" b="0" i="1" dirty="0" smtClean="0">
                                      <a:latin typeface="Cambria Math" panose="02040503050406030204" pitchFamily="18" charset="0"/>
                                    </a:rPr>
                                    <m:t>𝑧</m:t>
                                  </m:r>
                                </m:sup>
                              </m:sSubSup>
                              <m:d>
                                <m:dPr>
                                  <m:ctrlPr>
                                    <a:rPr lang="en-US" sz="2400" b="0" i="1" dirty="0" smtClean="0">
                                      <a:latin typeface="Cambria Math" panose="02040503050406030204" pitchFamily="18" charset="0"/>
                                    </a:rPr>
                                  </m:ctrlPr>
                                </m:dPr>
                                <m:e>
                                  <m:r>
                                    <a:rPr lang="en-US" sz="2400" b="0" i="1" dirty="0" smtClean="0">
                                      <a:latin typeface="Cambria Math" panose="02040503050406030204" pitchFamily="18" charset="0"/>
                                    </a:rPr>
                                    <m:t>0</m:t>
                                  </m:r>
                                </m:e>
                              </m:d>
                            </m:e>
                          </m:d>
                        </m:e>
                        <m:sub>
                          <m:r>
                            <a:rPr lang="en-US" sz="2400" b="0" i="1" dirty="0" smtClean="0">
                              <a:latin typeface="Cambria Math" panose="02040503050406030204" pitchFamily="18" charset="0"/>
                            </a:rPr>
                            <m:t>𝜇</m:t>
                          </m:r>
                        </m:sub>
                      </m:sSub>
                    </m:oMath>
                  </m:oMathPara>
                </a14:m>
                <a:endParaRPr lang="en-US" sz="2400" dirty="0"/>
              </a:p>
              <a:p>
                <a:pPr marL="0" indent="0">
                  <a:buNone/>
                </a:pPr>
                <a:r>
                  <a:rPr lang="en-US" sz="2400" dirty="0"/>
                  <a:t>                                                             = charge transferred from right to left half </a:t>
                </a:r>
              </a:p>
            </p:txBody>
          </p:sp>
        </mc:Choice>
        <mc:Fallback xmlns="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C60DAA66-7DA2-4ED5-0605-824F251D6429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blipFill>
                <a:blip r:embed="rId2"/>
                <a:stretch>
                  <a:fillRect l="-1043" t="-2839" r="-1825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52FDB77C-2DF8-12D0-EC58-7EC2E6DC5FE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852B8ED-7F2B-5448-BD79-1530102DF259}" type="slidenum">
              <a:rPr lang="en-US" smtClean="0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929817041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uiExpand="1" build="p"/>
    </p:bldLst>
  </p:timing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082E99B-F461-0F1C-E50A-71A53415B4F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sz="3600" dirty="0"/>
              <a:t>Spin Transport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C60DAA66-7DA2-4ED5-0605-824F251D6429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/>
            <p:txBody>
              <a:bodyPr>
                <a:normAutofit/>
              </a:bodyPr>
              <a:lstStyle/>
              <a:p>
                <a:pPr marL="0" indent="0">
                  <a:buNone/>
                </a:pPr>
                <a:r>
                  <a:rPr lang="en-US" sz="2400" dirty="0"/>
                  <a:t>The magnetization transfer scales as</a:t>
                </a:r>
                <a:endParaRPr lang="en-US" sz="2400" b="0" i="1" dirty="0">
                  <a:latin typeface="Cambria Math" panose="02040503050406030204" pitchFamily="18" charset="0"/>
                </a:endParaRPr>
              </a:p>
              <a:p>
                <a:pPr marL="0" indent="0">
                  <a:buNone/>
                </a:pPr>
                <a:endParaRPr lang="en-US" sz="700" dirty="0">
                  <a:latin typeface="Cambria Math" panose="02040503050406030204" pitchFamily="18" charset="0"/>
                </a:endParaRPr>
              </a:p>
              <a:p>
                <a:pPr marL="0" indent="0">
                  <a:buNone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m:rPr>
                          <m:sty m:val="p"/>
                        </m:rPr>
                        <a:rPr lang="en-US" sz="2400" b="0" i="0" smtClean="0">
                          <a:latin typeface="Cambria Math" panose="02040503050406030204" pitchFamily="18" charset="0"/>
                        </a:rPr>
                        <m:t>Δ</m:t>
                      </m:r>
                      <m:r>
                        <a:rPr lang="en-US" sz="2400" b="0" i="1" smtClean="0">
                          <a:latin typeface="Cambria Math" panose="02040503050406030204" pitchFamily="18" charset="0"/>
                        </a:rPr>
                        <m:t>𝑠</m:t>
                      </m:r>
                      <m:d>
                        <m:dPr>
                          <m:ctrlPr>
                            <a:rPr lang="en-US" sz="2400" b="0" i="1" smtClean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US" sz="2400" b="0" i="1" smtClean="0">
                              <a:latin typeface="Cambria Math" panose="02040503050406030204" pitchFamily="18" charset="0"/>
                            </a:rPr>
                            <m:t>𝑡</m:t>
                          </m:r>
                        </m:e>
                      </m:d>
                      <m:r>
                        <a:rPr lang="en-US" sz="2400" b="0" i="1" smtClean="0">
                          <a:latin typeface="Cambria Math" panose="02040503050406030204" pitchFamily="18" charset="0"/>
                        </a:rPr>
                        <m:t>∼</m:t>
                      </m:r>
                      <m:sSup>
                        <m:sSupPr>
                          <m:ctrlPr>
                            <a:rPr lang="en-US" sz="2400" b="0" i="1" smtClean="0"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a:rPr lang="en-US" sz="2400" b="0" i="1" smtClean="0">
                              <a:latin typeface="Cambria Math" panose="02040503050406030204" pitchFamily="18" charset="0"/>
                            </a:rPr>
                            <m:t>𝑡</m:t>
                          </m:r>
                        </m:e>
                        <m:sup>
                          <m:r>
                            <a:rPr lang="en-US" sz="2400" b="0" i="1" smtClean="0">
                              <a:latin typeface="Cambria Math" panose="02040503050406030204" pitchFamily="18" charset="0"/>
                            </a:rPr>
                            <m:t>1/</m:t>
                          </m:r>
                          <m:r>
                            <a:rPr lang="en-US" sz="2400" b="0" i="1" smtClean="0">
                              <a:latin typeface="Cambria Math" panose="02040503050406030204" pitchFamily="18" charset="0"/>
                            </a:rPr>
                            <m:t>𝑧</m:t>
                          </m:r>
                        </m:sup>
                      </m:sSup>
                    </m:oMath>
                  </m:oMathPara>
                </a14:m>
                <a:endParaRPr lang="en-US" sz="2400" dirty="0"/>
              </a:p>
              <a:p>
                <a:pPr marL="0" indent="0">
                  <a:buNone/>
                </a:pPr>
                <a:r>
                  <a:rPr lang="en-US" sz="2400" dirty="0"/>
                  <a:t>With integrability breaking, </a:t>
                </a:r>
                <a14:m>
                  <m:oMath xmlns:m="http://schemas.openxmlformats.org/officeDocument/2006/math">
                    <m:r>
                      <a:rPr lang="en-US" sz="2400" b="0" i="1" smtClean="0">
                        <a:latin typeface="Cambria Math" panose="02040503050406030204" pitchFamily="18" charset="0"/>
                      </a:rPr>
                      <m:t>𝑧</m:t>
                    </m:r>
                    <m:r>
                      <a:rPr lang="en-US" sz="2400" b="0" i="0" smtClean="0">
                        <a:latin typeface="Cambria Math" panose="02040503050406030204" pitchFamily="18" charset="0"/>
                      </a:rPr>
                      <m:t> </m:t>
                    </m:r>
                  </m:oMath>
                </a14:m>
                <a:r>
                  <a:rPr lang="en-US" sz="2400" dirty="0"/>
                  <a:t>should interpolate between superdiffusion </a:t>
                </a:r>
                <a14:m>
                  <m:oMath xmlns:m="http://schemas.openxmlformats.org/officeDocument/2006/math">
                    <m:r>
                      <a:rPr lang="en-US" sz="2400" b="0" i="1" smtClean="0">
                        <a:latin typeface="Cambria Math" panose="02040503050406030204" pitchFamily="18" charset="0"/>
                      </a:rPr>
                      <m:t>𝑧</m:t>
                    </m:r>
                    <m:r>
                      <a:rPr lang="en-US" sz="2400" b="0" i="1" smtClean="0">
                        <a:latin typeface="Cambria Math" panose="02040503050406030204" pitchFamily="18" charset="0"/>
                      </a:rPr>
                      <m:t>=1.5</m:t>
                    </m:r>
                  </m:oMath>
                </a14:m>
                <a:r>
                  <a:rPr lang="en-US" sz="2400" dirty="0"/>
                  <a:t> and diffusion </a:t>
                </a:r>
                <a14:m>
                  <m:oMath xmlns:m="http://schemas.openxmlformats.org/officeDocument/2006/math">
                    <m:r>
                      <a:rPr lang="en-US" sz="2400" b="0" i="1" smtClean="0">
                        <a:latin typeface="Cambria Math" panose="02040503050406030204" pitchFamily="18" charset="0"/>
                      </a:rPr>
                      <m:t>𝑧</m:t>
                    </m:r>
                    <m:r>
                      <a:rPr lang="en-US" sz="2400" b="0" i="1" smtClean="0">
                        <a:latin typeface="Cambria Math" panose="02040503050406030204" pitchFamily="18" charset="0"/>
                      </a:rPr>
                      <m:t>=2</m:t>
                    </m:r>
                  </m:oMath>
                </a14:m>
                <a:endParaRPr lang="en-US" sz="2400" dirty="0"/>
              </a:p>
              <a:p>
                <a:pPr marL="0" indent="0">
                  <a:buNone/>
                </a:pPr>
                <a:endParaRPr lang="en-US" sz="2400" dirty="0"/>
              </a:p>
              <a:p>
                <a:pPr marL="0" indent="0">
                  <a:buNone/>
                </a:pPr>
                <a:r>
                  <a:rPr lang="en-US" sz="2400" dirty="0"/>
                  <a:t>Power law fits over scanning time windows </a:t>
                </a:r>
                <a14:m>
                  <m:oMath xmlns:m="http://schemas.openxmlformats.org/officeDocument/2006/math">
                    <m:r>
                      <a:rPr lang="en-US" sz="240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⇒</m:t>
                    </m:r>
                  </m:oMath>
                </a14:m>
                <a:r>
                  <a:rPr lang="en-US" sz="2400" dirty="0"/>
                  <a:t> </a:t>
                </a:r>
                <a14:m>
                  <m:oMath xmlns:m="http://schemas.openxmlformats.org/officeDocument/2006/math">
                    <m:r>
                      <a:rPr lang="en-US" sz="2400" b="0" i="1" smtClean="0">
                        <a:latin typeface="Cambria Math" panose="02040503050406030204" pitchFamily="18" charset="0"/>
                      </a:rPr>
                      <m:t>𝑧</m:t>
                    </m:r>
                    <m:r>
                      <a:rPr lang="en-US" sz="2400" b="0" i="1" smtClean="0">
                        <a:latin typeface="Cambria Math" panose="02040503050406030204" pitchFamily="18" charset="0"/>
                      </a:rPr>
                      <m:t>(</m:t>
                    </m:r>
                    <m:r>
                      <a:rPr lang="en-US" sz="2400" b="0" i="1" smtClean="0">
                        <a:latin typeface="Cambria Math" panose="02040503050406030204" pitchFamily="18" charset="0"/>
                      </a:rPr>
                      <m:t>𝑡</m:t>
                    </m:r>
                    <m:r>
                      <a:rPr lang="en-US" sz="2400" b="0" i="1" smtClean="0"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endParaRPr lang="en-US" sz="2400" dirty="0"/>
              </a:p>
            </p:txBody>
          </p:sp>
        </mc:Choice>
        <mc:Fallback xmlns="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C60DAA66-7DA2-4ED5-0605-824F251D6429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blipFill>
                <a:blip r:embed="rId2"/>
                <a:stretch>
                  <a:fillRect l="-1434" t="-2208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BCE042E4-635D-4000-00E0-FC09F18FF62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852B8ED-7F2B-5448-BD79-1530102DF259}" type="slidenum">
              <a:rPr lang="en-US" smtClean="0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95346368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uiExpand="1" build="p"/>
    </p:bldLst>
  </p:timing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1">
            <a:extLst>
              <a:ext uri="{FF2B5EF4-FFF2-40B4-BE49-F238E27FC236}">
                <a16:creationId xmlns:a16="http://schemas.microsoft.com/office/drawing/2014/main" id="{9B5C0FF1-C503-7D8C-0C39-E661FF92625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sz="3600" dirty="0"/>
              <a:t>Spin Transport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5" name="Content Placeholder 2">
                <a:extLst>
                  <a:ext uri="{FF2B5EF4-FFF2-40B4-BE49-F238E27FC236}">
                    <a16:creationId xmlns:a16="http://schemas.microsoft.com/office/drawing/2014/main" id="{76B01133-A199-C409-AE7C-2F6877490350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>
              <a:xfrm>
                <a:off x="838199" y="1825625"/>
                <a:ext cx="11083901" cy="666290"/>
              </a:xfrm>
            </p:spPr>
            <p:txBody>
              <a:bodyPr>
                <a:noAutofit/>
              </a:bodyPr>
              <a:lstStyle/>
              <a:p>
                <a:pPr marL="457200" indent="-457200">
                  <a:buFont typeface="+mj-lt"/>
                  <a:buAutoNum type="arabicParenR"/>
                </a:pPr>
                <a:r>
                  <a:rPr lang="en-US" sz="2000" dirty="0"/>
                  <a:t> </a:t>
                </a:r>
                <a14:m>
                  <m:oMath xmlns:m="http://schemas.openxmlformats.org/officeDocument/2006/math">
                    <m:sSup>
                      <m:sSupPr>
                        <m:ctrlPr>
                          <a:rPr lang="en-US" sz="2000" i="1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n-US" sz="2000" i="1">
                            <a:latin typeface="Cambria Math" panose="02040503050406030204" pitchFamily="18" charset="0"/>
                          </a:rPr>
                          <m:t>𝐽</m:t>
                        </m:r>
                      </m:e>
                      <m:sup>
                        <m:r>
                          <a:rPr lang="en-US" sz="2000" i="1">
                            <a:latin typeface="Cambria Math" panose="02040503050406030204" pitchFamily="18" charset="0"/>
                          </a:rPr>
                          <m:t>′</m:t>
                        </m:r>
                      </m:sup>
                    </m:sSup>
                    <m:r>
                      <a:rPr lang="en-US" sz="2000" i="1">
                        <a:latin typeface="Cambria Math" panose="02040503050406030204" pitchFamily="18" charset="0"/>
                      </a:rPr>
                      <m:t>=</m:t>
                    </m:r>
                    <m:r>
                      <a:rPr lang="en-US" sz="2000" i="1">
                        <a:latin typeface="Cambria Math" panose="02040503050406030204" pitchFamily="18" charset="0"/>
                      </a:rPr>
                      <m:t>𝑈</m:t>
                    </m:r>
                    <m:r>
                      <a:rPr lang="en-US" sz="2000" i="1">
                        <a:latin typeface="Cambria Math" panose="02040503050406030204" pitchFamily="18" charset="0"/>
                      </a:rPr>
                      <m:t>=</m:t>
                    </m:r>
                    <m:sSup>
                      <m:sSupPr>
                        <m:ctrlPr>
                          <a:rPr lang="en-US" sz="2000" i="1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n-US" sz="2000" i="1">
                            <a:latin typeface="Cambria Math" panose="02040503050406030204" pitchFamily="18" charset="0"/>
                          </a:rPr>
                          <m:t>𝑈</m:t>
                        </m:r>
                      </m:e>
                      <m:sup>
                        <m:r>
                          <a:rPr lang="en-US" sz="2000" i="1">
                            <a:latin typeface="Cambria Math" panose="02040503050406030204" pitchFamily="18" charset="0"/>
                          </a:rPr>
                          <m:t>′</m:t>
                        </m:r>
                      </m:sup>
                    </m:sSup>
                    <m:r>
                      <a:rPr lang="en-US" sz="2000" i="1">
                        <a:latin typeface="Cambria Math" panose="02040503050406030204" pitchFamily="18" charset="0"/>
                      </a:rPr>
                      <m:t>=0</m:t>
                    </m:r>
                    <m:r>
                      <a:rPr lang="en-US" sz="2000" b="0" i="0" smtClean="0">
                        <a:latin typeface="Cambria Math" panose="02040503050406030204" pitchFamily="18" charset="0"/>
                      </a:rPr>
                      <m:t>                   </m:t>
                    </m:r>
                    <m:sSub>
                      <m:sSubPr>
                        <m:ctrlPr>
                          <a:rPr lang="en-US" sz="2000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sz="2000" i="1">
                            <a:latin typeface="Cambria Math" panose="02040503050406030204" pitchFamily="18" charset="0"/>
                          </a:rPr>
                          <m:t>𝐻</m:t>
                        </m:r>
                      </m:e>
                      <m:sub>
                        <m:r>
                          <a:rPr lang="en-US" sz="2000" i="1">
                            <a:latin typeface="Cambria Math" panose="02040503050406030204" pitchFamily="18" charset="0"/>
                          </a:rPr>
                          <m:t>0</m:t>
                        </m:r>
                      </m:sub>
                    </m:sSub>
                    <m:r>
                      <a:rPr lang="en-US" sz="2000" i="1">
                        <a:latin typeface="Cambria Math" panose="02040503050406030204" pitchFamily="18" charset="0"/>
                      </a:rPr>
                      <m:t>=</m:t>
                    </m:r>
                    <m:nary>
                      <m:naryPr>
                        <m:chr m:val="∑"/>
                        <m:supHide m:val="on"/>
                        <m:ctrlPr>
                          <a:rPr lang="en-US" sz="2000" i="1">
                            <a:latin typeface="Cambria Math" panose="02040503050406030204" pitchFamily="18" charset="0"/>
                          </a:rPr>
                        </m:ctrlPr>
                      </m:naryPr>
                      <m:sub>
                        <m:r>
                          <m:rPr>
                            <m:brk m:alnAt="7"/>
                          </m:rPr>
                          <a:rPr lang="en-US" sz="2000" i="1">
                            <a:latin typeface="Cambria Math" panose="02040503050406030204" pitchFamily="18" charset="0"/>
                          </a:rPr>
                          <m:t>&lt;</m:t>
                        </m:r>
                        <m:r>
                          <a:rPr lang="en-US" sz="2000" i="1">
                            <a:latin typeface="Cambria Math" panose="02040503050406030204" pitchFamily="18" charset="0"/>
                          </a:rPr>
                          <m:t>𝑖</m:t>
                        </m:r>
                        <m:r>
                          <a:rPr lang="en-US" sz="2000" i="1">
                            <a:latin typeface="Cambria Math" panose="02040503050406030204" pitchFamily="18" charset="0"/>
                          </a:rPr>
                          <m:t>,</m:t>
                        </m:r>
                        <m:r>
                          <a:rPr lang="en-US" sz="2000" i="1">
                            <a:latin typeface="Cambria Math" panose="02040503050406030204" pitchFamily="18" charset="0"/>
                          </a:rPr>
                          <m:t>𝑗</m:t>
                        </m:r>
                        <m:r>
                          <a:rPr lang="en-US" sz="2000" i="1">
                            <a:latin typeface="Cambria Math" panose="02040503050406030204" pitchFamily="18" charset="0"/>
                          </a:rPr>
                          <m:t>&gt;</m:t>
                        </m:r>
                      </m:sub>
                      <m:sup/>
                      <m:e>
                        <m:r>
                          <a:rPr lang="en-US" sz="2000" i="1">
                            <a:latin typeface="Cambria Math" panose="02040503050406030204" pitchFamily="18" charset="0"/>
                          </a:rPr>
                          <m:t>(</m:t>
                        </m:r>
                        <m:sSubSup>
                          <m:sSubSupPr>
                            <m:ctrlPr>
                              <a:rPr lang="en-US" sz="2000" i="1" dirty="0">
                                <a:latin typeface="Cambria Math" panose="02040503050406030204" pitchFamily="18" charset="0"/>
                              </a:rPr>
                            </m:ctrlPr>
                          </m:sSubSupPr>
                          <m:e>
                            <m:acc>
                              <m:accPr>
                                <m:chr m:val="⃗"/>
                                <m:ctrlPr>
                                  <a:rPr lang="en-US" sz="2000" i="1" dirty="0">
                                    <a:latin typeface="Cambria Math" panose="02040503050406030204" pitchFamily="18" charset="0"/>
                                  </a:rPr>
                                </m:ctrlPr>
                              </m:accPr>
                              <m:e>
                                <m:r>
                                  <a:rPr lang="en-US" sz="2000" i="1" dirty="0">
                                    <a:latin typeface="Cambria Math" panose="02040503050406030204" pitchFamily="18" charset="0"/>
                                  </a:rPr>
                                  <m:t>𝑆</m:t>
                                </m:r>
                              </m:e>
                            </m:acc>
                          </m:e>
                          <m:sub>
                            <m:r>
                              <a:rPr lang="en-US" sz="2000" i="1" dirty="0">
                                <a:latin typeface="Cambria Math" panose="02040503050406030204" pitchFamily="18" charset="0"/>
                              </a:rPr>
                              <m:t>𝑖</m:t>
                            </m:r>
                          </m:sub>
                          <m:sup>
                            <m:r>
                              <a:rPr lang="en-US" sz="2000" i="1" dirty="0">
                                <a:latin typeface="Cambria Math" panose="02040503050406030204" pitchFamily="18" charset="0"/>
                              </a:rPr>
                              <m:t>(1)</m:t>
                            </m:r>
                          </m:sup>
                        </m:sSubSup>
                      </m:e>
                    </m:nary>
                    <m:r>
                      <a:rPr lang="en-US" sz="2000" i="1" dirty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∙</m:t>
                    </m:r>
                    <m:sSubSup>
                      <m:sSubSupPr>
                        <m:ctrlPr>
                          <a:rPr lang="en-US" sz="2000" i="1" dirty="0">
                            <a:latin typeface="Cambria Math" panose="02040503050406030204" pitchFamily="18" charset="0"/>
                          </a:rPr>
                        </m:ctrlPr>
                      </m:sSubSupPr>
                      <m:e>
                        <m:acc>
                          <m:accPr>
                            <m:chr m:val="⃗"/>
                            <m:ctrlPr>
                              <a:rPr lang="en-US" sz="2000" i="1" dirty="0">
                                <a:latin typeface="Cambria Math" panose="02040503050406030204" pitchFamily="18" charset="0"/>
                              </a:rPr>
                            </m:ctrlPr>
                          </m:accPr>
                          <m:e>
                            <m:r>
                              <a:rPr lang="en-US" sz="2000" i="1" dirty="0">
                                <a:latin typeface="Cambria Math" panose="02040503050406030204" pitchFamily="18" charset="0"/>
                              </a:rPr>
                              <m:t>𝑆</m:t>
                            </m:r>
                          </m:e>
                        </m:acc>
                      </m:e>
                      <m:sub>
                        <m:r>
                          <a:rPr lang="en-US" sz="2000" i="1" dirty="0">
                            <a:latin typeface="Cambria Math" panose="02040503050406030204" pitchFamily="18" charset="0"/>
                          </a:rPr>
                          <m:t>𝑗</m:t>
                        </m:r>
                      </m:sub>
                      <m:sup>
                        <m:d>
                          <m:dPr>
                            <m:ctrlPr>
                              <a:rPr lang="en-US" sz="2000" i="1" dirty="0"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r>
                              <a:rPr lang="en-US" sz="2000" i="1" dirty="0">
                                <a:latin typeface="Cambria Math" panose="02040503050406030204" pitchFamily="18" charset="0"/>
                              </a:rPr>
                              <m:t>1</m:t>
                            </m:r>
                          </m:e>
                        </m:d>
                      </m:sup>
                    </m:sSubSup>
                    <m:r>
                      <a:rPr lang="en-US" sz="2000" i="1" dirty="0">
                        <a:latin typeface="Cambria Math" panose="02040503050406030204" pitchFamily="18" charset="0"/>
                      </a:rPr>
                      <m:t>+</m:t>
                    </m:r>
                    <m:sSubSup>
                      <m:sSubSupPr>
                        <m:ctrlPr>
                          <a:rPr lang="en-US" sz="2000" i="1" dirty="0">
                            <a:latin typeface="Cambria Math" panose="02040503050406030204" pitchFamily="18" charset="0"/>
                          </a:rPr>
                        </m:ctrlPr>
                      </m:sSubSupPr>
                      <m:e>
                        <m:acc>
                          <m:accPr>
                            <m:chr m:val="⃗"/>
                            <m:ctrlPr>
                              <a:rPr lang="en-US" sz="2000" i="1" dirty="0">
                                <a:latin typeface="Cambria Math" panose="02040503050406030204" pitchFamily="18" charset="0"/>
                              </a:rPr>
                            </m:ctrlPr>
                          </m:accPr>
                          <m:e>
                            <m:r>
                              <a:rPr lang="en-US" sz="2000" i="1" dirty="0">
                                <a:latin typeface="Cambria Math" panose="02040503050406030204" pitchFamily="18" charset="0"/>
                              </a:rPr>
                              <m:t>𝑆</m:t>
                            </m:r>
                          </m:e>
                        </m:acc>
                      </m:e>
                      <m:sub>
                        <m:r>
                          <a:rPr lang="en-US" sz="2000" i="1" dirty="0">
                            <a:latin typeface="Cambria Math" panose="02040503050406030204" pitchFamily="18" charset="0"/>
                          </a:rPr>
                          <m:t>𝑖</m:t>
                        </m:r>
                      </m:sub>
                      <m:sup>
                        <m:d>
                          <m:dPr>
                            <m:ctrlPr>
                              <a:rPr lang="en-US" sz="2000" i="1" dirty="0"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r>
                              <a:rPr lang="en-US" sz="2000" i="1" dirty="0">
                                <a:latin typeface="Cambria Math" panose="02040503050406030204" pitchFamily="18" charset="0"/>
                              </a:rPr>
                              <m:t>2</m:t>
                            </m:r>
                          </m:e>
                        </m:d>
                      </m:sup>
                    </m:sSubSup>
                    <m:r>
                      <a:rPr lang="en-US" sz="2000" i="1">
                        <a:latin typeface="Cambria Math" panose="02040503050406030204" pitchFamily="18" charset="0"/>
                      </a:rPr>
                      <m:t>⋅</m:t>
                    </m:r>
                    <m:sSubSup>
                      <m:sSubSupPr>
                        <m:ctrlPr>
                          <a:rPr lang="en-US" sz="2000" i="1" dirty="0">
                            <a:latin typeface="Cambria Math" panose="02040503050406030204" pitchFamily="18" charset="0"/>
                          </a:rPr>
                        </m:ctrlPr>
                      </m:sSubSupPr>
                      <m:e>
                        <m:acc>
                          <m:accPr>
                            <m:chr m:val="⃗"/>
                            <m:ctrlPr>
                              <a:rPr lang="en-US" sz="2000" i="1" dirty="0">
                                <a:latin typeface="Cambria Math" panose="02040503050406030204" pitchFamily="18" charset="0"/>
                              </a:rPr>
                            </m:ctrlPr>
                          </m:accPr>
                          <m:e>
                            <m:r>
                              <a:rPr lang="en-US" sz="2000" i="1" dirty="0">
                                <a:latin typeface="Cambria Math" panose="02040503050406030204" pitchFamily="18" charset="0"/>
                              </a:rPr>
                              <m:t>𝑆</m:t>
                            </m:r>
                          </m:e>
                        </m:acc>
                      </m:e>
                      <m:sub>
                        <m:r>
                          <a:rPr lang="en-US" sz="2000" i="1" dirty="0">
                            <a:latin typeface="Cambria Math" panose="02040503050406030204" pitchFamily="18" charset="0"/>
                          </a:rPr>
                          <m:t>𝑗</m:t>
                        </m:r>
                      </m:sub>
                      <m:sup>
                        <m:d>
                          <m:dPr>
                            <m:ctrlPr>
                              <a:rPr lang="en-US" sz="2000" i="1" dirty="0"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r>
                              <a:rPr lang="en-US" sz="2000" i="1" dirty="0">
                                <a:latin typeface="Cambria Math" panose="02040503050406030204" pitchFamily="18" charset="0"/>
                              </a:rPr>
                              <m:t>2</m:t>
                            </m:r>
                          </m:e>
                        </m:d>
                      </m:sup>
                    </m:sSubSup>
                    <m:r>
                      <a:rPr lang="en-US" sz="2000" i="1" dirty="0">
                        <a:latin typeface="Cambria Math" panose="02040503050406030204" pitchFamily="18" charset="0"/>
                      </a:rPr>
                      <m:t>)</m:t>
                    </m:r>
                    <m:r>
                      <a:rPr lang="en-US" sz="2000" b="0" i="1" dirty="0" smtClean="0">
                        <a:latin typeface="Cambria Math" panose="02040503050406030204" pitchFamily="18" charset="0"/>
                      </a:rPr>
                      <m:t>             </m:t>
                    </m:r>
                    <m:r>
                      <a:rPr lang="en-US" sz="2000" i="1">
                        <a:solidFill>
                          <a:schemeClr val="accent1"/>
                        </a:solidFill>
                        <a:latin typeface="Cambria Math" panose="02040503050406030204" pitchFamily="18" charset="0"/>
                      </a:rPr>
                      <m:t>𝐺</m:t>
                    </m:r>
                    <m:r>
                      <a:rPr lang="en-US" sz="2000" i="1">
                        <a:solidFill>
                          <a:schemeClr val="accent1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US" sz="2000" i="1">
                        <a:solidFill>
                          <a:schemeClr val="accent1"/>
                        </a:solidFill>
                        <a:latin typeface="Cambria Math" panose="02040503050406030204" pitchFamily="18" charset="0"/>
                      </a:rPr>
                      <m:t>𝑆𝑈</m:t>
                    </m:r>
                    <m:r>
                      <a:rPr lang="en-US" sz="2000" i="1">
                        <a:solidFill>
                          <a:schemeClr val="accent1"/>
                        </a:solidFill>
                        <a:latin typeface="Cambria Math" panose="02040503050406030204" pitchFamily="18" charset="0"/>
                      </a:rPr>
                      <m:t>(2) × </m:t>
                    </m:r>
                    <m:r>
                      <a:rPr lang="en-US" sz="2000" i="1">
                        <a:solidFill>
                          <a:schemeClr val="accent1"/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𝑆𝑈</m:t>
                    </m:r>
                    <m:r>
                      <a:rPr lang="en-US" sz="2000" i="1">
                        <a:solidFill>
                          <a:schemeClr val="accent1"/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(2)</m:t>
                    </m:r>
                  </m:oMath>
                </a14:m>
                <a:endParaRPr lang="en-US" sz="2000" dirty="0">
                  <a:solidFill>
                    <a:schemeClr val="accent1"/>
                  </a:solidFill>
                </a:endParaRPr>
              </a:p>
              <a:p>
                <a:pPr marL="457200" indent="-457200">
                  <a:buFont typeface="+mj-lt"/>
                  <a:buAutoNum type="arabicParenR"/>
                </a:pPr>
                <a:endParaRPr lang="en-US" sz="2000" dirty="0"/>
              </a:p>
            </p:txBody>
          </p:sp>
        </mc:Choice>
        <mc:Fallback xmlns="">
          <p:sp>
            <p:nvSpPr>
              <p:cNvPr id="5" name="Content Placeholder 2">
                <a:extLst>
                  <a:ext uri="{FF2B5EF4-FFF2-40B4-BE49-F238E27FC236}">
                    <a16:creationId xmlns:a16="http://schemas.microsoft.com/office/drawing/2014/main" id="{76B01133-A199-C409-AE7C-2F6877490350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xfrm>
                <a:off x="838199" y="1825625"/>
                <a:ext cx="11083901" cy="666290"/>
              </a:xfrm>
              <a:blipFill>
                <a:blip r:embed="rId4"/>
                <a:stretch>
                  <a:fillRect l="-801" t="-64815" b="-70370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13" name="Slide Number Placeholder 12">
            <a:extLst>
              <a:ext uri="{FF2B5EF4-FFF2-40B4-BE49-F238E27FC236}">
                <a16:creationId xmlns:a16="http://schemas.microsoft.com/office/drawing/2014/main" id="{031AE00F-CB37-7A67-67D8-AA99C1F9FDC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852B8ED-7F2B-5448-BD79-1530102DF259}" type="slidenum">
              <a:rPr lang="en-US" smtClean="0"/>
              <a:t>17</a:t>
            </a:fld>
            <a:endParaRPr lang="en-US"/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6F868764-1FBB-8118-0308-160EED80AF02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4853447" y="527384"/>
            <a:ext cx="4244992" cy="1001044"/>
          </a:xfrm>
          <a:prstGeom prst="rect">
            <a:avLst/>
          </a:prstGeom>
        </p:spPr>
      </p:pic>
      <p:grpSp>
        <p:nvGrpSpPr>
          <p:cNvPr id="2" name="Group 1">
            <a:extLst>
              <a:ext uri="{FF2B5EF4-FFF2-40B4-BE49-F238E27FC236}">
                <a16:creationId xmlns:a16="http://schemas.microsoft.com/office/drawing/2014/main" id="{EF9796E3-81A5-4497-FCE0-21799C3D44B8}"/>
              </a:ext>
            </a:extLst>
          </p:cNvPr>
          <p:cNvGrpSpPr/>
          <p:nvPr/>
        </p:nvGrpSpPr>
        <p:grpSpPr>
          <a:xfrm>
            <a:off x="2458756" y="2746836"/>
            <a:ext cx="7274488" cy="3388004"/>
            <a:chOff x="2458756" y="2746836"/>
            <a:chExt cx="7274488" cy="3388004"/>
          </a:xfrm>
        </p:grpSpPr>
        <p:pic>
          <p:nvPicPr>
            <p:cNvPr id="12" name="Picture 11" descr="A group of graphs with different colors&#10;&#10;AI-generated content may be incorrect.">
              <a:extLst>
                <a:ext uri="{FF2B5EF4-FFF2-40B4-BE49-F238E27FC236}">
                  <a16:creationId xmlns:a16="http://schemas.microsoft.com/office/drawing/2014/main" id="{BA1AB00A-6E5C-B004-8698-7A6A2776E7FE}"/>
                </a:ext>
              </a:extLst>
            </p:cNvPr>
            <p:cNvPicPr>
              <a:picLocks noChangeAspect="1"/>
            </p:cNvPicPr>
            <p:nvPr/>
          </p:nvPicPr>
          <p:blipFill>
            <a:blip r:embed="rId6"/>
            <a:stretch>
              <a:fillRect/>
            </a:stretch>
          </p:blipFill>
          <p:spPr>
            <a:xfrm>
              <a:off x="2458756" y="2746836"/>
              <a:ext cx="7274488" cy="3031037"/>
            </a:xfrm>
            <a:prstGeom prst="rect">
              <a:avLst/>
            </a:prstGeom>
          </p:spPr>
        </p:pic>
        <mc:AlternateContent xmlns:mc="http://schemas.openxmlformats.org/markup-compatibility/2006" xmlns:a14="http://schemas.microsoft.com/office/drawing/2010/main">
          <mc:Choice Requires="a14">
            <p:sp>
              <p:nvSpPr>
                <p:cNvPr id="7" name="TextBox 6">
                  <a:extLst>
                    <a:ext uri="{FF2B5EF4-FFF2-40B4-BE49-F238E27FC236}">
                      <a16:creationId xmlns:a16="http://schemas.microsoft.com/office/drawing/2014/main" id="{AF0BB745-B13F-056E-4AE3-B6829C7F0341}"/>
                    </a:ext>
                  </a:extLst>
                </p:cNvPr>
                <p:cNvSpPr txBox="1"/>
                <p:nvPr/>
              </p:nvSpPr>
              <p:spPr>
                <a:xfrm>
                  <a:off x="3231811" y="5765508"/>
                  <a:ext cx="1396030" cy="369332"/>
                </a:xfrm>
                <a:prstGeom prst="rect">
                  <a:avLst/>
                </a:prstGeom>
                <a:noFill/>
              </p:spPr>
              <p:txBody>
                <a:bodyPr wrap="square" rtlCol="0">
                  <a:spAutoFit/>
                </a:bodyPr>
                <a:lstStyle/>
                <a:p>
                  <a:pPr algn="ctr"/>
                  <a14:m>
                    <m:oMath xmlns:m="http://schemas.openxmlformats.org/officeDocument/2006/math">
                      <m:r>
                        <a:rPr lang="en-US" i="1" dirty="0" smtClean="0">
                          <a:solidFill>
                            <a:schemeClr val="accent1"/>
                          </a:solidFill>
                          <a:latin typeface="Cambria Math" panose="02040503050406030204" pitchFamily="18" charset="0"/>
                        </a:rPr>
                        <m:t>𝐺</m:t>
                      </m:r>
                    </m:oMath>
                  </a14:m>
                  <a:r>
                    <a:rPr lang="en-US" dirty="0">
                      <a:solidFill>
                        <a:schemeClr val="accent1"/>
                      </a:solidFill>
                    </a:rPr>
                    <a:t>-breaking</a:t>
                  </a:r>
                </a:p>
              </p:txBody>
            </p:sp>
          </mc:Choice>
          <mc:Fallback xmlns="">
            <p:sp>
              <p:nvSpPr>
                <p:cNvPr id="7" name="TextBox 6">
                  <a:extLst>
                    <a:ext uri="{FF2B5EF4-FFF2-40B4-BE49-F238E27FC236}">
                      <a16:creationId xmlns:a16="http://schemas.microsoft.com/office/drawing/2014/main" id="{AF0BB745-B13F-056E-4AE3-B6829C7F0341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3231811" y="5765508"/>
                  <a:ext cx="1396030" cy="369332"/>
                </a:xfrm>
                <a:prstGeom prst="rect">
                  <a:avLst/>
                </a:prstGeom>
                <a:blipFill>
                  <a:blip r:embed="rId7"/>
                  <a:stretch>
                    <a:fillRect t="-10000" b="-26667"/>
                  </a:stretch>
                </a:blipFill>
              </p:spPr>
              <p:txBody>
                <a:bodyPr/>
                <a:lstStyle/>
                <a:p>
                  <a:r>
                    <a:rPr lang="en-US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 xmlns:a14="http://schemas.microsoft.com/office/drawing/2010/main">
          <mc:Choice Requires="a14">
            <p:sp>
              <p:nvSpPr>
                <p:cNvPr id="8" name="TextBox 7">
                  <a:extLst>
                    <a:ext uri="{FF2B5EF4-FFF2-40B4-BE49-F238E27FC236}">
                      <a16:creationId xmlns:a16="http://schemas.microsoft.com/office/drawing/2014/main" id="{1A18A313-D604-D2FA-D585-DCF38486CFA9}"/>
                    </a:ext>
                  </a:extLst>
                </p:cNvPr>
                <p:cNvSpPr txBox="1"/>
                <p:nvPr/>
              </p:nvSpPr>
              <p:spPr>
                <a:xfrm>
                  <a:off x="5579913" y="5765508"/>
                  <a:ext cx="1396030" cy="369332"/>
                </a:xfrm>
                <a:prstGeom prst="rect">
                  <a:avLst/>
                </a:prstGeom>
                <a:noFill/>
              </p:spPr>
              <p:txBody>
                <a:bodyPr wrap="square" rtlCol="0">
                  <a:spAutoFit/>
                </a:bodyPr>
                <a:lstStyle/>
                <a:p>
                  <a:pPr algn="ctr"/>
                  <a14:m>
                    <m:oMath xmlns:m="http://schemas.openxmlformats.org/officeDocument/2006/math">
                      <m:r>
                        <a:rPr lang="en-US" i="1" dirty="0" smtClean="0">
                          <a:solidFill>
                            <a:schemeClr val="accent1"/>
                          </a:solidFill>
                          <a:latin typeface="Cambria Math" panose="02040503050406030204" pitchFamily="18" charset="0"/>
                        </a:rPr>
                        <m:t>𝐺</m:t>
                      </m:r>
                    </m:oMath>
                  </a14:m>
                  <a:r>
                    <a:rPr lang="en-US" dirty="0">
                      <a:solidFill>
                        <a:schemeClr val="accent1"/>
                      </a:solidFill>
                    </a:rPr>
                    <a:t>-breaking</a:t>
                  </a:r>
                </a:p>
              </p:txBody>
            </p:sp>
          </mc:Choice>
          <mc:Fallback xmlns="">
            <p:sp>
              <p:nvSpPr>
                <p:cNvPr id="8" name="TextBox 7">
                  <a:extLst>
                    <a:ext uri="{FF2B5EF4-FFF2-40B4-BE49-F238E27FC236}">
                      <a16:creationId xmlns:a16="http://schemas.microsoft.com/office/drawing/2014/main" id="{1A18A313-D604-D2FA-D585-DCF38486CFA9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5579913" y="5765508"/>
                  <a:ext cx="1396030" cy="369332"/>
                </a:xfrm>
                <a:prstGeom prst="rect">
                  <a:avLst/>
                </a:prstGeom>
                <a:blipFill>
                  <a:blip r:embed="rId8"/>
                  <a:stretch>
                    <a:fillRect t="-10000" b="-26667"/>
                  </a:stretch>
                </a:blipFill>
              </p:spPr>
              <p:txBody>
                <a:bodyPr/>
                <a:lstStyle/>
                <a:p>
                  <a:r>
                    <a:rPr lang="en-US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 xmlns:a14="http://schemas.microsoft.com/office/drawing/2010/main">
          <mc:Choice Requires="a14">
            <p:sp>
              <p:nvSpPr>
                <p:cNvPr id="9" name="TextBox 8">
                  <a:extLst>
                    <a:ext uri="{FF2B5EF4-FFF2-40B4-BE49-F238E27FC236}">
                      <a16:creationId xmlns:a16="http://schemas.microsoft.com/office/drawing/2014/main" id="{1BBB1A8F-E894-2759-4021-530E91AB4C1E}"/>
                    </a:ext>
                  </a:extLst>
                </p:cNvPr>
                <p:cNvSpPr txBox="1"/>
                <p:nvPr/>
              </p:nvSpPr>
              <p:spPr>
                <a:xfrm>
                  <a:off x="7820542" y="5765508"/>
                  <a:ext cx="1396030" cy="369332"/>
                </a:xfrm>
                <a:prstGeom prst="rect">
                  <a:avLst/>
                </a:prstGeom>
                <a:noFill/>
              </p:spPr>
              <p:txBody>
                <a:bodyPr wrap="square" rtlCol="0">
                  <a:spAutoFit/>
                </a:bodyPr>
                <a:lstStyle/>
                <a:p>
                  <a:pPr algn="ctr"/>
                  <a14:m>
                    <m:oMath xmlns:m="http://schemas.openxmlformats.org/officeDocument/2006/math">
                      <m:r>
                        <a:rPr lang="en-US" i="1" dirty="0" smtClean="0">
                          <a:solidFill>
                            <a:schemeClr val="accent1"/>
                          </a:solidFill>
                          <a:latin typeface="Cambria Math" panose="02040503050406030204" pitchFamily="18" charset="0"/>
                        </a:rPr>
                        <m:t>𝐺</m:t>
                      </m:r>
                    </m:oMath>
                  </a14:m>
                  <a:r>
                    <a:rPr lang="en-US" dirty="0">
                      <a:solidFill>
                        <a:schemeClr val="accent1"/>
                      </a:solidFill>
                    </a:rPr>
                    <a:t>-invariant</a:t>
                  </a:r>
                </a:p>
              </p:txBody>
            </p:sp>
          </mc:Choice>
          <mc:Fallback xmlns="">
            <p:sp>
              <p:nvSpPr>
                <p:cNvPr id="9" name="TextBox 8">
                  <a:extLst>
                    <a:ext uri="{FF2B5EF4-FFF2-40B4-BE49-F238E27FC236}">
                      <a16:creationId xmlns:a16="http://schemas.microsoft.com/office/drawing/2014/main" id="{1BBB1A8F-E894-2759-4021-530E91AB4C1E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7820542" y="5765508"/>
                  <a:ext cx="1396030" cy="369332"/>
                </a:xfrm>
                <a:prstGeom prst="rect">
                  <a:avLst/>
                </a:prstGeom>
                <a:blipFill>
                  <a:blip r:embed="rId9"/>
                  <a:stretch>
                    <a:fillRect t="-10000" b="-26667"/>
                  </a:stretch>
                </a:blipFill>
              </p:spPr>
              <p:txBody>
                <a:bodyPr/>
                <a:lstStyle/>
                <a:p>
                  <a:r>
                    <a:rPr lang="en-US">
                      <a:noFill/>
                    </a:rPr>
                    <a:t> </a:t>
                  </a:r>
                </a:p>
              </p:txBody>
            </p:sp>
          </mc:Fallback>
        </mc:AlternateContent>
      </p:grpSp>
    </p:spTree>
    <p:extLst>
      <p:ext uri="{BB962C8B-B14F-4D97-AF65-F5344CB8AC3E}">
        <p14:creationId xmlns:p14="http://schemas.microsoft.com/office/powerpoint/2010/main" val="1680543964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EDF0303-F44F-F001-AF11-E501F1C7162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7E03F94D-5A2A-701C-0CC8-3A72D32524C2}"/>
              </a:ext>
            </a:extLst>
          </p:cNvPr>
          <p:cNvPicPr>
            <a:picLocks noChangeAspect="1"/>
          </p:cNvPicPr>
          <p:nvPr/>
        </p:nvPicPr>
        <p:blipFill>
          <a:blip r:embed="rId3"/>
          <a:srcRect/>
          <a:stretch/>
        </p:blipFill>
        <p:spPr>
          <a:xfrm>
            <a:off x="2459846" y="2734471"/>
            <a:ext cx="7272307" cy="3031037"/>
          </a:xfrm>
          <a:prstGeom prst="rect">
            <a:avLst/>
          </a:prstGeom>
        </p:spPr>
      </p:pic>
      <p:sp>
        <p:nvSpPr>
          <p:cNvPr id="4" name="Title 1">
            <a:extLst>
              <a:ext uri="{FF2B5EF4-FFF2-40B4-BE49-F238E27FC236}">
                <a16:creationId xmlns:a16="http://schemas.microsoft.com/office/drawing/2014/main" id="{4D40D586-3216-98BB-2169-BCA08529FA5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sz="3600" dirty="0"/>
              <a:t>Spin Transport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5" name="Content Placeholder 2">
                <a:extLst>
                  <a:ext uri="{FF2B5EF4-FFF2-40B4-BE49-F238E27FC236}">
                    <a16:creationId xmlns:a16="http://schemas.microsoft.com/office/drawing/2014/main" id="{C7FCD7CA-B785-DFBB-5ADC-F149B20241D8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>
              <a:xfrm>
                <a:off x="838200" y="1825625"/>
                <a:ext cx="10515600" cy="666290"/>
              </a:xfrm>
            </p:spPr>
            <p:txBody>
              <a:bodyPr>
                <a:noAutofit/>
              </a:bodyPr>
              <a:lstStyle/>
              <a:p>
                <a:pPr marL="457200" indent="-457200">
                  <a:buFont typeface="+mj-lt"/>
                  <a:buAutoNum type="arabicParenR" startAt="2"/>
                </a:pPr>
                <a:r>
                  <a:rPr lang="en-US" sz="2000" dirty="0"/>
                  <a:t> </a:t>
                </a:r>
                <a14:m>
                  <m:oMath xmlns:m="http://schemas.openxmlformats.org/officeDocument/2006/math">
                    <m:r>
                      <a:rPr lang="en-US" sz="2000" i="1" smtClean="0">
                        <a:latin typeface="Cambria Math" panose="02040503050406030204" pitchFamily="18" charset="0"/>
                      </a:rPr>
                      <m:t>𝑈</m:t>
                    </m:r>
                    <m:r>
                      <a:rPr lang="en-US" sz="2000" i="1" smtClean="0">
                        <a:latin typeface="Cambria Math" panose="02040503050406030204" pitchFamily="18" charset="0"/>
                      </a:rPr>
                      <m:t>=</m:t>
                    </m:r>
                    <m:r>
                      <a:rPr lang="en-US" sz="2000" i="1" smtClean="0">
                        <a:latin typeface="Cambria Math" panose="02040503050406030204" pitchFamily="18" charset="0"/>
                      </a:rPr>
                      <m:t>𝐽</m:t>
                    </m:r>
                    <m:r>
                      <a:rPr lang="en-US" sz="2000" i="1" smtClean="0">
                        <a:latin typeface="Cambria Math" panose="02040503050406030204" pitchFamily="18" charset="0"/>
                      </a:rPr>
                      <m:t>,  </m:t>
                    </m:r>
                    <m:sSup>
                      <m:sSupPr>
                        <m:ctrlPr>
                          <a:rPr lang="en-US" sz="2000" i="1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n-US" sz="2000" i="1">
                            <a:latin typeface="Cambria Math" panose="02040503050406030204" pitchFamily="18" charset="0"/>
                          </a:rPr>
                          <m:t>𝐽</m:t>
                        </m:r>
                      </m:e>
                      <m:sup>
                        <m:r>
                          <a:rPr lang="en-US" sz="2000" i="1">
                            <a:latin typeface="Cambria Math" panose="02040503050406030204" pitchFamily="18" charset="0"/>
                          </a:rPr>
                          <m:t>′</m:t>
                        </m:r>
                      </m:sup>
                    </m:sSup>
                    <m:r>
                      <a:rPr lang="en-US" sz="2000" i="1">
                        <a:latin typeface="Cambria Math" panose="02040503050406030204" pitchFamily="18" charset="0"/>
                      </a:rPr>
                      <m:t>=</m:t>
                    </m:r>
                    <m:sSup>
                      <m:sSupPr>
                        <m:ctrlPr>
                          <a:rPr lang="en-US" sz="2000" i="1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n-US" sz="2000" i="1">
                            <a:latin typeface="Cambria Math" panose="02040503050406030204" pitchFamily="18" charset="0"/>
                          </a:rPr>
                          <m:t>𝑈</m:t>
                        </m:r>
                      </m:e>
                      <m:sup>
                        <m:r>
                          <a:rPr lang="en-US" sz="2000" i="1">
                            <a:latin typeface="Cambria Math" panose="02040503050406030204" pitchFamily="18" charset="0"/>
                          </a:rPr>
                          <m:t>′</m:t>
                        </m:r>
                      </m:sup>
                    </m:sSup>
                    <m:r>
                      <a:rPr lang="en-US" sz="2000" i="1">
                        <a:latin typeface="Cambria Math" panose="02040503050406030204" pitchFamily="18" charset="0"/>
                      </a:rPr>
                      <m:t>=0</m:t>
                    </m:r>
                    <m:r>
                      <a:rPr lang="en-US" sz="2000" b="0" i="1" smtClean="0">
                        <a:latin typeface="Cambria Math" panose="02040503050406030204" pitchFamily="18" charset="0"/>
                      </a:rPr>
                      <m:t> </m:t>
                    </m:r>
                    <m:sSub>
                      <m:sSubPr>
                        <m:ctrlPr>
                          <a:rPr lang="en-US" sz="2000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sz="2000" b="0" i="1" smtClean="0">
                            <a:latin typeface="Cambria Math" panose="02040503050406030204" pitchFamily="18" charset="0"/>
                          </a:rPr>
                          <m:t>                            </m:t>
                        </m:r>
                        <m:r>
                          <a:rPr lang="en-US" sz="2000" i="1">
                            <a:latin typeface="Cambria Math" panose="02040503050406030204" pitchFamily="18" charset="0"/>
                          </a:rPr>
                          <m:t>𝐻</m:t>
                        </m:r>
                      </m:e>
                      <m:sub>
                        <m:r>
                          <a:rPr lang="en-US" sz="2000" i="1">
                            <a:latin typeface="Cambria Math" panose="02040503050406030204" pitchFamily="18" charset="0"/>
                          </a:rPr>
                          <m:t>0</m:t>
                        </m:r>
                      </m:sub>
                    </m:sSub>
                    <m:r>
                      <a:rPr lang="en-US" sz="2000" i="1">
                        <a:latin typeface="Cambria Math" panose="02040503050406030204" pitchFamily="18" charset="0"/>
                      </a:rPr>
                      <m:t>=</m:t>
                    </m:r>
                    <m:f>
                      <m:fPr>
                        <m:ctrlPr>
                          <a:rPr lang="en-US" sz="2000" i="1"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US" sz="2000" b="0" i="1" smtClean="0">
                            <a:latin typeface="Cambria Math" panose="02040503050406030204" pitchFamily="18" charset="0"/>
                          </a:rPr>
                          <m:t>1</m:t>
                        </m:r>
                      </m:num>
                      <m:den>
                        <m:r>
                          <a:rPr lang="en-US" sz="2000" i="1">
                            <a:latin typeface="Cambria Math" panose="02040503050406030204" pitchFamily="18" charset="0"/>
                          </a:rPr>
                          <m:t>4</m:t>
                        </m:r>
                      </m:den>
                    </m:f>
                    <m:nary>
                      <m:naryPr>
                        <m:chr m:val="∑"/>
                        <m:supHide m:val="on"/>
                        <m:ctrlPr>
                          <a:rPr lang="en-US" sz="2000" i="1">
                            <a:latin typeface="Cambria Math" panose="02040503050406030204" pitchFamily="18" charset="0"/>
                          </a:rPr>
                        </m:ctrlPr>
                      </m:naryPr>
                      <m:sub>
                        <m:r>
                          <m:rPr>
                            <m:brk m:alnAt="7"/>
                          </m:rPr>
                          <a:rPr lang="en-US" sz="2000" i="1">
                            <a:latin typeface="Cambria Math" panose="02040503050406030204" pitchFamily="18" charset="0"/>
                          </a:rPr>
                          <m:t>&lt;</m:t>
                        </m:r>
                        <m:r>
                          <a:rPr lang="en-US" sz="2000" i="1">
                            <a:latin typeface="Cambria Math" panose="02040503050406030204" pitchFamily="18" charset="0"/>
                          </a:rPr>
                          <m:t>𝑖</m:t>
                        </m:r>
                        <m:r>
                          <a:rPr lang="en-US" sz="2000" i="1">
                            <a:latin typeface="Cambria Math" panose="02040503050406030204" pitchFamily="18" charset="0"/>
                          </a:rPr>
                          <m:t>,</m:t>
                        </m:r>
                        <m:r>
                          <a:rPr lang="en-US" sz="2000" i="1">
                            <a:latin typeface="Cambria Math" panose="02040503050406030204" pitchFamily="18" charset="0"/>
                          </a:rPr>
                          <m:t>𝑗</m:t>
                        </m:r>
                        <m:r>
                          <a:rPr lang="en-US" sz="2000" i="1">
                            <a:latin typeface="Cambria Math" panose="02040503050406030204" pitchFamily="18" charset="0"/>
                          </a:rPr>
                          <m:t>&gt;</m:t>
                        </m:r>
                      </m:sub>
                      <m:sup/>
                      <m:e>
                        <m:sSub>
                          <m:sSubPr>
                            <m:ctrlPr>
                              <a:rPr lang="en-US" sz="2000" i="1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sz="2000" i="1">
                                <a:latin typeface="Cambria Math" panose="02040503050406030204" pitchFamily="18" charset="0"/>
                              </a:rPr>
                              <m:t>𝑃</m:t>
                            </m:r>
                          </m:e>
                          <m:sub>
                            <m:r>
                              <a:rPr lang="en-US" sz="2000" i="1">
                                <a:latin typeface="Cambria Math" panose="02040503050406030204" pitchFamily="18" charset="0"/>
                              </a:rPr>
                              <m:t>𝑖</m:t>
                            </m:r>
                            <m:r>
                              <a:rPr lang="en-US" sz="2000" i="1">
                                <a:latin typeface="Cambria Math" panose="02040503050406030204" pitchFamily="18" charset="0"/>
                              </a:rPr>
                              <m:t>,</m:t>
                            </m:r>
                            <m:r>
                              <a:rPr lang="en-US" sz="2000" i="1">
                                <a:latin typeface="Cambria Math" panose="02040503050406030204" pitchFamily="18" charset="0"/>
                              </a:rPr>
                              <m:t>𝑗</m:t>
                            </m:r>
                          </m:sub>
                        </m:sSub>
                      </m:e>
                    </m:nary>
                  </m:oMath>
                </a14:m>
                <a:r>
                  <a:rPr lang="en-US" sz="2000" dirty="0"/>
                  <a:t>                       </a:t>
                </a:r>
                <a14:m>
                  <m:oMath xmlns:m="http://schemas.openxmlformats.org/officeDocument/2006/math">
                    <m:r>
                      <a:rPr lang="en-US" sz="2000" i="1">
                        <a:solidFill>
                          <a:schemeClr val="accent1"/>
                        </a:solidFill>
                        <a:latin typeface="Cambria Math" panose="02040503050406030204" pitchFamily="18" charset="0"/>
                      </a:rPr>
                      <m:t>𝐺</m:t>
                    </m:r>
                    <m:r>
                      <a:rPr lang="en-US" sz="2000" i="1">
                        <a:solidFill>
                          <a:schemeClr val="accent1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US" sz="2000" i="1">
                        <a:solidFill>
                          <a:schemeClr val="accent1"/>
                        </a:solidFill>
                        <a:latin typeface="Cambria Math" panose="02040503050406030204" pitchFamily="18" charset="0"/>
                      </a:rPr>
                      <m:t>𝑆𝑈</m:t>
                    </m:r>
                    <m:r>
                      <a:rPr lang="en-US" sz="2000" i="1">
                        <a:solidFill>
                          <a:schemeClr val="accent1"/>
                        </a:solidFill>
                        <a:latin typeface="Cambria Math" panose="02040503050406030204" pitchFamily="18" charset="0"/>
                      </a:rPr>
                      <m:t>(4)</m:t>
                    </m:r>
                  </m:oMath>
                </a14:m>
                <a:endParaRPr lang="en-US" sz="2000" dirty="0">
                  <a:solidFill>
                    <a:schemeClr val="accent1"/>
                  </a:solidFill>
                </a:endParaRPr>
              </a:p>
              <a:p>
                <a:pPr marL="457200" indent="-457200">
                  <a:buFont typeface="+mj-lt"/>
                  <a:buAutoNum type="arabicParenR" startAt="2"/>
                </a:pPr>
                <a:endParaRPr lang="en-US" sz="2400" dirty="0"/>
              </a:p>
            </p:txBody>
          </p:sp>
        </mc:Choice>
        <mc:Fallback xmlns="">
          <p:sp>
            <p:nvSpPr>
              <p:cNvPr id="5" name="Content Placeholder 2">
                <a:extLst>
                  <a:ext uri="{FF2B5EF4-FFF2-40B4-BE49-F238E27FC236}">
                    <a16:creationId xmlns:a16="http://schemas.microsoft.com/office/drawing/2014/main" id="{C7FCD7CA-B785-DFBB-5ADC-F149B20241D8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xfrm>
                <a:off x="838200" y="1825625"/>
                <a:ext cx="10515600" cy="666290"/>
              </a:xfrm>
              <a:blipFill>
                <a:blip r:embed="rId4"/>
                <a:stretch>
                  <a:fillRect l="-638" t="-69091" b="-73636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2" name="Slide Number Placeholder 1">
            <a:extLst>
              <a:ext uri="{FF2B5EF4-FFF2-40B4-BE49-F238E27FC236}">
                <a16:creationId xmlns:a16="http://schemas.microsoft.com/office/drawing/2014/main" id="{1793512A-26EE-F7BC-9BE3-86FA6E3403F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852B8ED-7F2B-5448-BD79-1530102DF259}" type="slidenum">
              <a:rPr lang="en-US" smtClean="0"/>
              <a:t>18</a:t>
            </a:fld>
            <a:endParaRPr lang="en-US"/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87DDD5EB-9135-91E1-76F0-A76482102D44}"/>
              </a:ext>
            </a:extLst>
          </p:cNvPr>
          <p:cNvPicPr>
            <a:picLocks noChangeAspect="1"/>
          </p:cNvPicPr>
          <p:nvPr/>
        </p:nvPicPr>
        <p:blipFill>
          <a:blip r:embed="rId5"/>
          <a:srcRect/>
          <a:stretch/>
        </p:blipFill>
        <p:spPr>
          <a:xfrm>
            <a:off x="4853447" y="915043"/>
            <a:ext cx="4244992" cy="528501"/>
          </a:xfrm>
          <a:prstGeom prst="rect">
            <a:avLst/>
          </a:prstGeom>
        </p:spPr>
      </p:pic>
      <mc:AlternateContent xmlns:mc="http://schemas.openxmlformats.org/markup-compatibility/2006" xmlns:a14="http://schemas.microsoft.com/office/drawing/2010/main">
        <mc:Choice Requires="a14">
          <p:sp>
            <p:nvSpPr>
              <p:cNvPr id="7" name="TextBox 6">
                <a:extLst>
                  <a:ext uri="{FF2B5EF4-FFF2-40B4-BE49-F238E27FC236}">
                    <a16:creationId xmlns:a16="http://schemas.microsoft.com/office/drawing/2014/main" id="{E751182B-E3E4-2046-0E1E-E10A2C6AB7C3}"/>
                  </a:ext>
                </a:extLst>
              </p:cNvPr>
              <p:cNvSpPr txBox="1"/>
              <p:nvPr/>
            </p:nvSpPr>
            <p:spPr>
              <a:xfrm>
                <a:off x="3080489" y="5765508"/>
                <a:ext cx="1772958" cy="646331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algn="ctr"/>
                <a14:m>
                  <m:oMath xmlns:m="http://schemas.openxmlformats.org/officeDocument/2006/math">
                    <m:r>
                      <a:rPr lang="en-US" b="0" i="1" dirty="0" smtClean="0">
                        <a:solidFill>
                          <a:schemeClr val="accent1"/>
                        </a:solidFill>
                        <a:latin typeface="Cambria Math" panose="02040503050406030204" pitchFamily="18" charset="0"/>
                      </a:rPr>
                      <m:t>𝑆𝑈</m:t>
                    </m:r>
                    <m:d>
                      <m:dPr>
                        <m:ctrlPr>
                          <a:rPr lang="en-US" b="0" i="1" dirty="0" smtClean="0">
                            <a:solidFill>
                              <a:schemeClr val="accent1"/>
                            </a:solidFill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b="0" i="1" dirty="0" smtClean="0">
                            <a:solidFill>
                              <a:schemeClr val="accent1"/>
                            </a:solidFill>
                            <a:latin typeface="Cambria Math" panose="02040503050406030204" pitchFamily="18" charset="0"/>
                          </a:rPr>
                          <m:t>4</m:t>
                        </m:r>
                      </m:e>
                    </m:d>
                    <m:r>
                      <a:rPr lang="en-US" b="0" i="1" dirty="0" smtClean="0">
                        <a:solidFill>
                          <a:schemeClr val="accent1"/>
                        </a:solidFill>
                        <a:latin typeface="Cambria Math" panose="02040503050406030204" pitchFamily="18" charset="0"/>
                      </a:rPr>
                      <m:t> </m:t>
                    </m:r>
                  </m:oMath>
                </a14:m>
                <a:r>
                  <a:rPr lang="en-US" dirty="0">
                    <a:solidFill>
                      <a:schemeClr val="accent1"/>
                    </a:solidFill>
                  </a:rPr>
                  <a:t>chemical potential</a:t>
                </a:r>
              </a:p>
            </p:txBody>
          </p:sp>
        </mc:Choice>
        <mc:Fallback xmlns="">
          <p:sp>
            <p:nvSpPr>
              <p:cNvPr id="7" name="TextBox 6">
                <a:extLst>
                  <a:ext uri="{FF2B5EF4-FFF2-40B4-BE49-F238E27FC236}">
                    <a16:creationId xmlns:a16="http://schemas.microsoft.com/office/drawing/2014/main" id="{E751182B-E3E4-2046-0E1E-E10A2C6AB7C3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080489" y="5765508"/>
                <a:ext cx="1772958" cy="646331"/>
              </a:xfrm>
              <a:prstGeom prst="rect">
                <a:avLst/>
              </a:prstGeom>
              <a:blipFill>
                <a:blip r:embed="rId6"/>
                <a:stretch>
                  <a:fillRect t="-5660" r="-2405" b="-14151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8" name="TextBox 7">
                <a:extLst>
                  <a:ext uri="{FF2B5EF4-FFF2-40B4-BE49-F238E27FC236}">
                    <a16:creationId xmlns:a16="http://schemas.microsoft.com/office/drawing/2014/main" id="{E1E9751E-1E6A-9264-E9AB-070AFB89CE5D}"/>
                  </a:ext>
                </a:extLst>
              </p:cNvPr>
              <p:cNvSpPr txBox="1"/>
              <p:nvPr/>
            </p:nvSpPr>
            <p:spPr>
              <a:xfrm>
                <a:off x="5579913" y="5765508"/>
                <a:ext cx="1396030" cy="369332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algn="ctr"/>
                <a14:m>
                  <m:oMath xmlns:m="http://schemas.openxmlformats.org/officeDocument/2006/math">
                    <m:r>
                      <a:rPr lang="en-US" i="1" dirty="0" smtClean="0">
                        <a:solidFill>
                          <a:schemeClr val="accent1"/>
                        </a:solidFill>
                        <a:latin typeface="Cambria Math" panose="02040503050406030204" pitchFamily="18" charset="0"/>
                      </a:rPr>
                      <m:t>𝐺</m:t>
                    </m:r>
                  </m:oMath>
                </a14:m>
                <a:r>
                  <a:rPr lang="en-US" dirty="0">
                    <a:solidFill>
                      <a:schemeClr val="accent1"/>
                    </a:solidFill>
                  </a:rPr>
                  <a:t>-breaking</a:t>
                </a:r>
              </a:p>
            </p:txBody>
          </p:sp>
        </mc:Choice>
        <mc:Fallback xmlns="">
          <p:sp>
            <p:nvSpPr>
              <p:cNvPr id="8" name="TextBox 7">
                <a:extLst>
                  <a:ext uri="{FF2B5EF4-FFF2-40B4-BE49-F238E27FC236}">
                    <a16:creationId xmlns:a16="http://schemas.microsoft.com/office/drawing/2014/main" id="{E1E9751E-1E6A-9264-E9AB-070AFB89CE5D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579913" y="5765508"/>
                <a:ext cx="1396030" cy="369332"/>
              </a:xfrm>
              <a:prstGeom prst="rect">
                <a:avLst/>
              </a:prstGeom>
              <a:blipFill>
                <a:blip r:embed="rId7"/>
                <a:stretch>
                  <a:fillRect t="-10000" b="-26667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9" name="TextBox 8">
                <a:extLst>
                  <a:ext uri="{FF2B5EF4-FFF2-40B4-BE49-F238E27FC236}">
                    <a16:creationId xmlns:a16="http://schemas.microsoft.com/office/drawing/2014/main" id="{74F449F6-1822-B7AD-E40B-769028463577}"/>
                  </a:ext>
                </a:extLst>
              </p:cNvPr>
              <p:cNvSpPr txBox="1"/>
              <p:nvPr/>
            </p:nvSpPr>
            <p:spPr>
              <a:xfrm>
                <a:off x="7820542" y="5765508"/>
                <a:ext cx="1396030" cy="369332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algn="ctr"/>
                <a14:m>
                  <m:oMath xmlns:m="http://schemas.openxmlformats.org/officeDocument/2006/math">
                    <m:r>
                      <a:rPr lang="en-US" i="1" dirty="0" smtClean="0">
                        <a:solidFill>
                          <a:schemeClr val="accent1"/>
                        </a:solidFill>
                        <a:latin typeface="Cambria Math" panose="02040503050406030204" pitchFamily="18" charset="0"/>
                      </a:rPr>
                      <m:t>𝐺</m:t>
                    </m:r>
                  </m:oMath>
                </a14:m>
                <a:r>
                  <a:rPr lang="en-US" dirty="0">
                    <a:solidFill>
                      <a:schemeClr val="accent1"/>
                    </a:solidFill>
                  </a:rPr>
                  <a:t>-breaking</a:t>
                </a:r>
              </a:p>
            </p:txBody>
          </p:sp>
        </mc:Choice>
        <mc:Fallback xmlns="">
          <p:sp>
            <p:nvSpPr>
              <p:cNvPr id="9" name="TextBox 8">
                <a:extLst>
                  <a:ext uri="{FF2B5EF4-FFF2-40B4-BE49-F238E27FC236}">
                    <a16:creationId xmlns:a16="http://schemas.microsoft.com/office/drawing/2014/main" id="{74F449F6-1822-B7AD-E40B-769028463577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7820542" y="5765508"/>
                <a:ext cx="1396030" cy="369332"/>
              </a:xfrm>
              <a:prstGeom prst="rect">
                <a:avLst/>
              </a:prstGeom>
              <a:blipFill>
                <a:blip r:embed="rId8"/>
                <a:stretch>
                  <a:fillRect t="-10000" b="-26667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379565672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0F4CF4A-ADB1-A355-E943-2EA05D18E89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7BE8400-BEE8-CB74-0BA6-21B3C6E7D69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sz="3600" dirty="0"/>
              <a:t>Superuniversal 𝐺-invariant behavior?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F4775752-5EC7-EDC2-A335-2ABAFD089E1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852B8ED-7F2B-5448-BD79-1530102DF259}" type="slidenum">
              <a:rPr lang="en-US" smtClean="0"/>
              <a:t>19</a:t>
            </a:fld>
            <a:endParaRPr lang="en-US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11" name="Content Placeholder 2">
                <a:extLst>
                  <a:ext uri="{FF2B5EF4-FFF2-40B4-BE49-F238E27FC236}">
                    <a16:creationId xmlns:a16="http://schemas.microsoft.com/office/drawing/2014/main" id="{04D4E19D-5743-65B3-FCB4-7E5B6E0B057F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>
              <a:xfrm>
                <a:off x="838200" y="1825624"/>
                <a:ext cx="10515600" cy="4770619"/>
              </a:xfrm>
            </p:spPr>
            <p:txBody>
              <a:bodyPr>
                <a:normAutofit/>
              </a:bodyPr>
              <a:lstStyle/>
              <a:p>
                <a:pPr marL="0" indent="0">
                  <a:buNone/>
                </a:pPr>
                <a:r>
                  <a:rPr lang="en-US" sz="2400" dirty="0"/>
                  <a:t>Simple non-abelian Lie group </a:t>
                </a:r>
                <a14:m>
                  <m:oMath xmlns:m="http://schemas.openxmlformats.org/officeDocument/2006/math">
                    <m:r>
                      <a:rPr lang="en-US" sz="2400" i="1" dirty="0" smtClean="0">
                        <a:latin typeface="Cambria Math" panose="02040503050406030204" pitchFamily="18" charset="0"/>
                      </a:rPr>
                      <m:t>𝐺</m:t>
                    </m:r>
                  </m:oMath>
                </a14:m>
                <a:r>
                  <a:rPr lang="en-US" sz="2400" dirty="0"/>
                  <a:t> of rank </a:t>
                </a:r>
                <a14:m>
                  <m:oMath xmlns:m="http://schemas.openxmlformats.org/officeDocument/2006/math">
                    <m:r>
                      <a:rPr lang="en-US" sz="2400" i="1" dirty="0" smtClean="0">
                        <a:latin typeface="Cambria Math" panose="02040503050406030204" pitchFamily="18" charset="0"/>
                      </a:rPr>
                      <m:t>𝑟</m:t>
                    </m:r>
                    <m:r>
                      <a:rPr lang="en-US" sz="2400" i="1" dirty="0" smtClean="0">
                        <a:latin typeface="Cambria Math" panose="02040503050406030204" pitchFamily="18" charset="0"/>
                      </a:rPr>
                      <m:t>⇒ </m:t>
                    </m:r>
                  </m:oMath>
                </a14:m>
                <a:r>
                  <a:rPr lang="en-US" sz="2400" dirty="0"/>
                  <a:t>quasiparticle flavor index </a:t>
                </a:r>
                <a14:m>
                  <m:oMath xmlns:m="http://schemas.openxmlformats.org/officeDocument/2006/math">
                    <m:r>
                      <a:rPr lang="en-US" sz="2400" b="0" i="1" smtClean="0">
                        <a:latin typeface="Cambria Math" panose="02040503050406030204" pitchFamily="18" charset="0"/>
                      </a:rPr>
                      <m:t>𝑎</m:t>
                    </m:r>
                    <m:r>
                      <a:rPr lang="en-US" sz="2400" b="0" i="1" smtClean="0">
                        <a:latin typeface="Cambria Math" panose="02040503050406030204" pitchFamily="18" charset="0"/>
                      </a:rPr>
                      <m:t>=1,…,</m:t>
                    </m:r>
                    <m:r>
                      <a:rPr lang="en-US" sz="2400" b="0" i="1" smtClean="0">
                        <a:latin typeface="Cambria Math" panose="02040503050406030204" pitchFamily="18" charset="0"/>
                      </a:rPr>
                      <m:t>𝑟</m:t>
                    </m:r>
                  </m:oMath>
                </a14:m>
                <a:endParaRPr lang="en-US" sz="2400" dirty="0"/>
              </a:p>
              <a:p>
                <a:pPr marL="0" indent="0">
                  <a:buNone/>
                </a:pPr>
                <a:r>
                  <a:rPr lang="en-US" sz="2400" dirty="0"/>
                  <a:t>Turns out that scaling of TBA quantities is universal </a:t>
                </a:r>
                <a:endParaRPr lang="en-US" sz="2000" dirty="0"/>
              </a:p>
              <a:p>
                <a:pPr lvl="1"/>
                <a14:m>
                  <m:oMath xmlns:m="http://schemas.openxmlformats.org/officeDocument/2006/math">
                    <m:sSub>
                      <m:sSubPr>
                        <m:ctrlPr>
                          <a:rPr lang="en-US" sz="2000" b="0" i="1" dirty="0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sz="2000" b="0" i="1" dirty="0" smtClean="0">
                            <a:latin typeface="Cambria Math" panose="02040503050406030204" pitchFamily="18" charset="0"/>
                          </a:rPr>
                          <m:t>𝑣</m:t>
                        </m:r>
                      </m:e>
                      <m:sub>
                        <m:r>
                          <a:rPr lang="en-US" sz="2000" b="0" i="1" dirty="0" smtClean="0">
                            <a:latin typeface="Cambria Math" panose="02040503050406030204" pitchFamily="18" charset="0"/>
                          </a:rPr>
                          <m:t>𝑎</m:t>
                        </m:r>
                        <m:r>
                          <a:rPr lang="en-US" sz="2000" b="0" i="1" dirty="0" smtClean="0">
                            <a:latin typeface="Cambria Math" panose="02040503050406030204" pitchFamily="18" charset="0"/>
                          </a:rPr>
                          <m:t>,</m:t>
                        </m:r>
                        <m:r>
                          <a:rPr lang="en-US" sz="2000" b="0" i="1" dirty="0" smtClean="0">
                            <a:latin typeface="Cambria Math" panose="02040503050406030204" pitchFamily="18" charset="0"/>
                          </a:rPr>
                          <m:t>𝑠</m:t>
                        </m:r>
                      </m:sub>
                    </m:sSub>
                    <m:r>
                      <a:rPr lang="en-US" sz="2000" b="0" i="1" dirty="0" smtClean="0">
                        <a:latin typeface="Cambria Math" panose="02040503050406030204" pitchFamily="18" charset="0"/>
                      </a:rPr>
                      <m:t> ~ 1/</m:t>
                    </m:r>
                    <m:r>
                      <a:rPr lang="en-US" sz="2000" i="1" dirty="0" smtClean="0">
                        <a:latin typeface="Cambria Math" panose="02040503050406030204" pitchFamily="18" charset="0"/>
                      </a:rPr>
                      <m:t>𝑠</m:t>
                    </m:r>
                  </m:oMath>
                </a14:m>
                <a:endParaRPr lang="en-US" sz="2000" i="1" dirty="0"/>
              </a:p>
              <a:p>
                <a:pPr lvl="1"/>
                <a14:m>
                  <m:oMath xmlns:m="http://schemas.openxmlformats.org/officeDocument/2006/math">
                    <m:sSub>
                      <m:sSubPr>
                        <m:ctrlPr>
                          <a:rPr lang="en-US" sz="2000" b="0" i="1" dirty="0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sz="2000" i="1" dirty="0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𝜌</m:t>
                        </m:r>
                      </m:e>
                      <m:sub>
                        <m:r>
                          <a:rPr lang="en-US" sz="2000" b="0" i="1" dirty="0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𝑎</m:t>
                        </m:r>
                        <m:r>
                          <a:rPr lang="en-US" sz="2000" b="0" i="1" dirty="0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,</m:t>
                        </m:r>
                        <m:r>
                          <a:rPr lang="en-US" sz="2000" b="0" i="1" dirty="0" smtClean="0">
                            <a:latin typeface="Cambria Math" panose="02040503050406030204" pitchFamily="18" charset="0"/>
                          </a:rPr>
                          <m:t>𝑠</m:t>
                        </m:r>
                      </m:sub>
                    </m:sSub>
                    <m:r>
                      <a:rPr lang="en-US" sz="2000" b="0" i="1" dirty="0" smtClean="0">
                        <a:latin typeface="Cambria Math" panose="02040503050406030204" pitchFamily="18" charset="0"/>
                      </a:rPr>
                      <m:t> ~ 1/</m:t>
                    </m:r>
                    <m:sSup>
                      <m:sSupPr>
                        <m:ctrlPr>
                          <a:rPr lang="en-US" sz="2000" b="0" i="1" dirty="0" smtClean="0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n-US" sz="2000" i="1" dirty="0" smtClean="0">
                            <a:latin typeface="Cambria Math" panose="02040503050406030204" pitchFamily="18" charset="0"/>
                          </a:rPr>
                          <m:t>𝑠</m:t>
                        </m:r>
                      </m:e>
                      <m:sup>
                        <m:r>
                          <a:rPr lang="en-US" sz="2000" b="0" i="1" dirty="0" smtClean="0">
                            <a:latin typeface="Cambria Math" panose="02040503050406030204" pitchFamily="18" charset="0"/>
                          </a:rPr>
                          <m:t>3</m:t>
                        </m:r>
                      </m:sup>
                    </m:sSup>
                  </m:oMath>
                </a14:m>
                <a:endParaRPr lang="en-US" sz="2000" i="1" dirty="0"/>
              </a:p>
              <a:p>
                <a:pPr lvl="1"/>
                <a14:m>
                  <m:oMath xmlns:m="http://schemas.openxmlformats.org/officeDocument/2006/math">
                    <m:sSub>
                      <m:sSubPr>
                        <m:ctrlPr>
                          <a:rPr lang="en-US" sz="2000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sz="200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𝜏</m:t>
                        </m:r>
                      </m:e>
                      <m:sub>
                        <m:r>
                          <a:rPr lang="en-US" sz="2000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𝑎</m:t>
                        </m:r>
                        <m:r>
                          <a:rPr lang="en-US" sz="2000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,</m:t>
                        </m:r>
                        <m:r>
                          <a:rPr lang="en-US" sz="2000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𝑠</m:t>
                        </m:r>
                      </m:sub>
                    </m:sSub>
                    <m:r>
                      <a:rPr lang="en-US" sz="2000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 ~ </m:t>
                    </m:r>
                    <m:sSup>
                      <m:sSupPr>
                        <m:ctrlPr>
                          <a:rPr lang="en-US" sz="2000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n-US" sz="2000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𝑠</m:t>
                        </m:r>
                      </m:e>
                      <m:sup>
                        <m:r>
                          <a:rPr lang="en-US" sz="2000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3</m:t>
                        </m:r>
                      </m:sup>
                    </m:sSup>
                  </m:oMath>
                </a14:m>
                <a:endParaRPr lang="en-US" sz="2000" b="0" i="1" dirty="0">
                  <a:ea typeface="Cambria Math" panose="02040503050406030204" pitchFamily="18" charset="0"/>
                </a:endParaRPr>
              </a:p>
              <a:p>
                <a:pPr lvl="1"/>
                <a14:m>
                  <m:oMath xmlns:m="http://schemas.openxmlformats.org/officeDocument/2006/math">
                    <m:sSub>
                      <m:sSubPr>
                        <m:ctrlPr>
                          <a:rPr lang="en-US" sz="2000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sz="2000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𝜀</m:t>
                        </m:r>
                      </m:e>
                      <m:sub>
                        <m:r>
                          <a:rPr lang="en-US" sz="2000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𝑎</m:t>
                        </m:r>
                        <m:r>
                          <a:rPr lang="en-US" sz="2000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,</m:t>
                        </m:r>
                        <m:r>
                          <a:rPr lang="en-US" sz="2000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𝑠</m:t>
                        </m:r>
                      </m:sub>
                    </m:sSub>
                    <m:r>
                      <a:rPr lang="en-US" sz="2000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 ~ 1/</m:t>
                    </m:r>
                    <m:r>
                      <a:rPr lang="en-US" sz="2000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𝑠</m:t>
                    </m:r>
                  </m:oMath>
                </a14:m>
                <a:endParaRPr lang="en-US" sz="2000" b="0" i="1" dirty="0">
                  <a:ea typeface="Cambria Math" panose="02040503050406030204" pitchFamily="18" charset="0"/>
                </a:endParaRPr>
              </a:p>
              <a:p>
                <a:endParaRPr lang="en-US" sz="2400" b="0" dirty="0">
                  <a:ea typeface="Cambria Math" panose="02040503050406030204" pitchFamily="18" charset="0"/>
                </a:endParaRPr>
              </a:p>
              <a:p>
                <a:r>
                  <a:rPr lang="en-US" sz="2400" dirty="0">
                    <a:ea typeface="Cambria Math" panose="02040503050406030204" pitchFamily="18" charset="0"/>
                  </a:rPr>
                  <a:t>So, argument for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sz="2400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sz="2400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𝑡</m:t>
                        </m:r>
                      </m:e>
                      <m:sub>
                        <m:r>
                          <a:rPr lang="en-US" sz="2400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∗</m:t>
                        </m:r>
                      </m:sub>
                    </m:sSub>
                    <m:r>
                      <a:rPr lang="en-US" sz="2400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 ~ </m:t>
                    </m:r>
                    <m:sSup>
                      <m:sSupPr>
                        <m:ctrlPr>
                          <a:rPr lang="en-US" sz="2400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n-US" sz="2400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𝜆</m:t>
                        </m:r>
                      </m:e>
                      <m:sup>
                        <m:r>
                          <a:rPr lang="en-US" sz="2400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−6</m:t>
                        </m:r>
                      </m:sup>
                    </m:sSup>
                  </m:oMath>
                </a14:m>
                <a:r>
                  <a:rPr lang="en-US" sz="2400" b="0" dirty="0">
                    <a:ea typeface="Cambria Math" panose="02040503050406030204" pitchFamily="18" charset="0"/>
                  </a:rPr>
                  <a:t> should still hold in principle</a:t>
                </a:r>
              </a:p>
            </p:txBody>
          </p:sp>
        </mc:Choice>
        <mc:Fallback xmlns="">
          <p:sp>
            <p:nvSpPr>
              <p:cNvPr id="11" name="Content Placeholder 2">
                <a:extLst>
                  <a:ext uri="{FF2B5EF4-FFF2-40B4-BE49-F238E27FC236}">
                    <a16:creationId xmlns:a16="http://schemas.microsoft.com/office/drawing/2014/main" id="{04D4E19D-5743-65B3-FCB4-7E5B6E0B057F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xfrm>
                <a:off x="838200" y="1825624"/>
                <a:ext cx="10515600" cy="4770619"/>
              </a:xfrm>
              <a:blipFill>
                <a:blip r:embed="rId2"/>
                <a:stretch>
                  <a:fillRect l="-1448" t="-1857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456111648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3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63A3430-0893-3F4A-1FB7-AB785F7DF1E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1">
            <a:extLst>
              <a:ext uri="{FF2B5EF4-FFF2-40B4-BE49-F238E27FC236}">
                <a16:creationId xmlns:a16="http://schemas.microsoft.com/office/drawing/2014/main" id="{2CD8D0DA-FA0C-05B9-62C0-0BB56F7C552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sz="3600" dirty="0"/>
              <a:t>Spin Transport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5" name="Content Placeholder 2">
                <a:extLst>
                  <a:ext uri="{FF2B5EF4-FFF2-40B4-BE49-F238E27FC236}">
                    <a16:creationId xmlns:a16="http://schemas.microsoft.com/office/drawing/2014/main" id="{975485A4-2954-D28A-3C48-537D219E9306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>
              <a:xfrm>
                <a:off x="838200" y="1825625"/>
                <a:ext cx="10515600" cy="4285808"/>
              </a:xfrm>
            </p:spPr>
            <p:txBody>
              <a:bodyPr>
                <a:noAutofit/>
              </a:bodyPr>
              <a:lstStyle/>
              <a:p>
                <a:pPr marL="457200" indent="-457200">
                  <a:buFont typeface="+mj-lt"/>
                  <a:buAutoNum type="arabicParenR" startAt="3"/>
                </a:pPr>
                <a:r>
                  <a:rPr lang="en-US" sz="2000" dirty="0"/>
                  <a:t>Simple generalization of Heisenberg ladder: increase local Hilbert space dimension </a:t>
                </a:r>
                <a14:m>
                  <m:oMath xmlns:m="http://schemas.openxmlformats.org/officeDocument/2006/math">
                    <m:r>
                      <a:rPr lang="en-US" sz="2000" b="0" i="1" smtClean="0">
                        <a:latin typeface="Cambria Math" panose="02040503050406030204" pitchFamily="18" charset="0"/>
                      </a:rPr>
                      <m:t>𝑑</m:t>
                    </m:r>
                    <m:r>
                      <a:rPr lang="en-US" sz="2000" b="0" i="1" smtClean="0">
                        <a:latin typeface="Cambria Math" panose="02040503050406030204" pitchFamily="18" charset="0"/>
                      </a:rPr>
                      <m:t>=2→3</m:t>
                    </m:r>
                  </m:oMath>
                </a14:m>
                <a:endParaRPr lang="en-US" sz="2000" b="0" i="1" dirty="0">
                  <a:latin typeface="Cambria Math" panose="02040503050406030204" pitchFamily="18" charset="0"/>
                </a:endParaRPr>
              </a:p>
              <a:p>
                <a:pPr marL="0" indent="0">
                  <a:buNone/>
                </a:pPr>
                <a:endParaRPr lang="en-US" sz="2000" i="1" dirty="0">
                  <a:latin typeface="Cambria Math" panose="02040503050406030204" pitchFamily="18" charset="0"/>
                </a:endParaRPr>
              </a:p>
              <a:p>
                <a:pPr marL="0" indent="0">
                  <a:buNone/>
                </a:pPr>
                <a14:m>
                  <m:oMathPara xmlns:m="http://schemas.openxmlformats.org/officeDocument/2006/math">
                    <m:oMathParaPr>
                      <m:jc m:val="left"/>
                    </m:oMathParaPr>
                    <m:oMath xmlns:m="http://schemas.openxmlformats.org/officeDocument/2006/math">
                      <m:r>
                        <a:rPr lang="en-US" sz="2000" b="0" i="1" smtClean="0">
                          <a:latin typeface="Cambria Math" panose="02040503050406030204" pitchFamily="18" charset="0"/>
                        </a:rPr>
                        <m:t>𝐻</m:t>
                      </m:r>
                      <m:r>
                        <a:rPr lang="en-US" sz="2000" i="1">
                          <a:latin typeface="Cambria Math" panose="02040503050406030204" pitchFamily="18" charset="0"/>
                        </a:rPr>
                        <m:t>=</m:t>
                      </m:r>
                      <m:nary>
                        <m:naryPr>
                          <m:chr m:val="∑"/>
                          <m:supHide m:val="on"/>
                          <m:ctrlPr>
                            <a:rPr lang="en-US" sz="2000" i="1">
                              <a:latin typeface="Cambria Math" panose="02040503050406030204" pitchFamily="18" charset="0"/>
                            </a:rPr>
                          </m:ctrlPr>
                        </m:naryPr>
                        <m:sub>
                          <m:r>
                            <m:rPr>
                              <m:brk m:alnAt="7"/>
                            </m:rPr>
                            <a:rPr lang="en-US" sz="2000" i="1">
                              <a:latin typeface="Cambria Math" panose="02040503050406030204" pitchFamily="18" charset="0"/>
                            </a:rPr>
                            <m:t>&lt;</m:t>
                          </m:r>
                          <m:r>
                            <a:rPr lang="en-US" sz="2000" i="1">
                              <a:latin typeface="Cambria Math" panose="02040503050406030204" pitchFamily="18" charset="0"/>
                            </a:rPr>
                            <m:t>𝑖</m:t>
                          </m:r>
                          <m:r>
                            <a:rPr lang="en-US" sz="2000" i="1">
                              <a:latin typeface="Cambria Math" panose="02040503050406030204" pitchFamily="18" charset="0"/>
                            </a:rPr>
                            <m:t>,</m:t>
                          </m:r>
                          <m:r>
                            <a:rPr lang="en-US" sz="2000" i="1">
                              <a:latin typeface="Cambria Math" panose="02040503050406030204" pitchFamily="18" charset="0"/>
                            </a:rPr>
                            <m:t>𝑗</m:t>
                          </m:r>
                          <m:r>
                            <a:rPr lang="en-US" sz="2000" i="1">
                              <a:latin typeface="Cambria Math" panose="02040503050406030204" pitchFamily="18" charset="0"/>
                            </a:rPr>
                            <m:t>&gt;</m:t>
                          </m:r>
                        </m:sub>
                        <m:sup/>
                        <m:e>
                          <m:sSubSup>
                            <m:sSubSupPr>
                              <m:ctrlPr>
                                <a:rPr lang="en-US" sz="2000" b="0" i="1" smtClean="0">
                                  <a:latin typeface="Cambria Math" panose="02040503050406030204" pitchFamily="18" charset="0"/>
                                </a:rPr>
                              </m:ctrlPr>
                            </m:sSubSupPr>
                            <m:e>
                              <m:r>
                                <a:rPr lang="en-US" sz="2000" i="1">
                                  <a:latin typeface="Cambria Math" panose="02040503050406030204" pitchFamily="18" charset="0"/>
                                </a:rPr>
                                <m:t>𝑃</m:t>
                              </m:r>
                            </m:e>
                            <m:sub>
                              <m:r>
                                <a:rPr lang="en-US" sz="2000" i="1">
                                  <a:latin typeface="Cambria Math" panose="02040503050406030204" pitchFamily="18" charset="0"/>
                                </a:rPr>
                                <m:t>𝑖</m:t>
                              </m:r>
                              <m:r>
                                <a:rPr lang="en-US" sz="2000" i="1">
                                  <a:latin typeface="Cambria Math" panose="02040503050406030204" pitchFamily="18" charset="0"/>
                                </a:rPr>
                                <m:t>,</m:t>
                              </m:r>
                              <m:r>
                                <a:rPr lang="en-US" sz="2000" i="1">
                                  <a:latin typeface="Cambria Math" panose="02040503050406030204" pitchFamily="18" charset="0"/>
                                </a:rPr>
                                <m:t>𝑗</m:t>
                              </m:r>
                            </m:sub>
                            <m:sup>
                              <m:r>
                                <a:rPr lang="en-US" sz="2000" b="0" i="1" smtClean="0">
                                  <a:latin typeface="Cambria Math" panose="02040503050406030204" pitchFamily="18" charset="0"/>
                                </a:rPr>
                                <m:t>(1)</m:t>
                              </m:r>
                            </m:sup>
                          </m:sSubSup>
                          <m:r>
                            <a:rPr lang="en-US" sz="2000" b="0" i="1" smtClean="0">
                              <a:latin typeface="Cambria Math" panose="02040503050406030204" pitchFamily="18" charset="0"/>
                            </a:rPr>
                            <m:t>+</m:t>
                          </m:r>
                          <m:sSubSup>
                            <m:sSubSupPr>
                              <m:ctrlPr>
                                <a:rPr lang="en-US" sz="2000" i="1">
                                  <a:latin typeface="Cambria Math" panose="02040503050406030204" pitchFamily="18" charset="0"/>
                                </a:rPr>
                              </m:ctrlPr>
                            </m:sSubSupPr>
                            <m:e>
                              <m:r>
                                <a:rPr lang="en-US" sz="2000" i="1">
                                  <a:latin typeface="Cambria Math" panose="02040503050406030204" pitchFamily="18" charset="0"/>
                                </a:rPr>
                                <m:t>𝑃</m:t>
                              </m:r>
                            </m:e>
                            <m:sub>
                              <m:r>
                                <a:rPr lang="en-US" sz="2000" i="1">
                                  <a:latin typeface="Cambria Math" panose="02040503050406030204" pitchFamily="18" charset="0"/>
                                </a:rPr>
                                <m:t>𝑖</m:t>
                              </m:r>
                              <m:r>
                                <a:rPr lang="en-US" sz="2000" i="1">
                                  <a:latin typeface="Cambria Math" panose="02040503050406030204" pitchFamily="18" charset="0"/>
                                </a:rPr>
                                <m:t>,</m:t>
                              </m:r>
                              <m:r>
                                <a:rPr lang="en-US" sz="2000" i="1">
                                  <a:latin typeface="Cambria Math" panose="02040503050406030204" pitchFamily="18" charset="0"/>
                                </a:rPr>
                                <m:t>𝑗</m:t>
                              </m:r>
                            </m:sub>
                            <m:sup>
                              <m:r>
                                <a:rPr lang="en-US" sz="2000" i="1">
                                  <a:latin typeface="Cambria Math" panose="02040503050406030204" pitchFamily="18" charset="0"/>
                                </a:rPr>
                                <m:t>(</m:t>
                              </m:r>
                              <m:r>
                                <a:rPr lang="en-US" sz="2000" b="0" i="1" smtClean="0">
                                  <a:latin typeface="Cambria Math" panose="02040503050406030204" pitchFamily="18" charset="0"/>
                                </a:rPr>
                                <m:t>2</m:t>
                              </m:r>
                              <m:r>
                                <a:rPr lang="en-US" sz="2000" i="1">
                                  <a:latin typeface="Cambria Math" panose="02040503050406030204" pitchFamily="18" charset="0"/>
                                </a:rPr>
                                <m:t>)</m:t>
                              </m:r>
                            </m:sup>
                          </m:sSubSup>
                          <m:r>
                            <a:rPr lang="en-US" sz="2000" b="0" i="1" smtClean="0">
                              <a:latin typeface="Cambria Math" panose="02040503050406030204" pitchFamily="18" charset="0"/>
                            </a:rPr>
                            <m:t>+</m:t>
                          </m:r>
                          <m:r>
                            <a:rPr lang="en-US" sz="2000" b="0" i="1" smtClean="0">
                              <a:latin typeface="Cambria Math" panose="02040503050406030204" pitchFamily="18" charset="0"/>
                            </a:rPr>
                            <m:t>𝑈</m:t>
                          </m:r>
                          <m:r>
                            <a:rPr lang="en-US" sz="2000" b="0" i="1" smtClean="0">
                              <a:latin typeface="Cambria Math" panose="02040503050406030204" pitchFamily="18" charset="0"/>
                            </a:rPr>
                            <m:t>(</m:t>
                          </m:r>
                          <m:sSubSup>
                            <m:sSubSupPr>
                              <m:ctrlPr>
                                <a:rPr lang="en-US" sz="2000" i="1">
                                  <a:latin typeface="Cambria Math" panose="02040503050406030204" pitchFamily="18" charset="0"/>
                                </a:rPr>
                              </m:ctrlPr>
                            </m:sSubSupPr>
                            <m:e>
                              <m:r>
                                <a:rPr lang="en-US" sz="2000" i="1">
                                  <a:latin typeface="Cambria Math" panose="02040503050406030204" pitchFamily="18" charset="0"/>
                                </a:rPr>
                                <m:t>𝑃</m:t>
                              </m:r>
                            </m:e>
                            <m:sub>
                              <m:r>
                                <a:rPr lang="en-US" sz="2000" i="1">
                                  <a:latin typeface="Cambria Math" panose="02040503050406030204" pitchFamily="18" charset="0"/>
                                </a:rPr>
                                <m:t>𝑖</m:t>
                              </m:r>
                              <m:r>
                                <a:rPr lang="en-US" sz="2000" i="1">
                                  <a:latin typeface="Cambria Math" panose="02040503050406030204" pitchFamily="18" charset="0"/>
                                </a:rPr>
                                <m:t>,</m:t>
                              </m:r>
                              <m:r>
                                <a:rPr lang="en-US" sz="2000" i="1">
                                  <a:latin typeface="Cambria Math" panose="02040503050406030204" pitchFamily="18" charset="0"/>
                                </a:rPr>
                                <m:t>𝑗</m:t>
                              </m:r>
                            </m:sub>
                            <m:sup>
                              <m:d>
                                <m:dPr>
                                  <m:ctrlPr>
                                    <a:rPr lang="en-US" sz="2000" i="1">
                                      <a:latin typeface="Cambria Math" panose="02040503050406030204" pitchFamily="18" charset="0"/>
                                    </a:rPr>
                                  </m:ctrlPr>
                                </m:dPr>
                                <m:e>
                                  <m:r>
                                    <a:rPr lang="en-US" sz="2000" i="1">
                                      <a:latin typeface="Cambria Math" panose="02040503050406030204" pitchFamily="18" charset="0"/>
                                    </a:rPr>
                                    <m:t>1</m:t>
                                  </m:r>
                                </m:e>
                              </m:d>
                            </m:sup>
                          </m:sSubSup>
                          <m:r>
                            <a:rPr lang="en-US" sz="2000" b="0" i="1" smtClean="0">
                              <a:latin typeface="Cambria Math" panose="02040503050406030204" pitchFamily="18" charset="0"/>
                            </a:rPr>
                            <m:t>⋅</m:t>
                          </m:r>
                          <m:sSubSup>
                            <m:sSubSupPr>
                              <m:ctrlPr>
                                <a:rPr lang="en-US" sz="2000" i="1">
                                  <a:latin typeface="Cambria Math" panose="02040503050406030204" pitchFamily="18" charset="0"/>
                                </a:rPr>
                              </m:ctrlPr>
                            </m:sSubSupPr>
                            <m:e>
                              <m:r>
                                <a:rPr lang="en-US" sz="2000" i="1">
                                  <a:latin typeface="Cambria Math" panose="02040503050406030204" pitchFamily="18" charset="0"/>
                                </a:rPr>
                                <m:t>𝑃</m:t>
                              </m:r>
                            </m:e>
                            <m:sub>
                              <m:r>
                                <a:rPr lang="en-US" sz="2000" i="1">
                                  <a:latin typeface="Cambria Math" panose="02040503050406030204" pitchFamily="18" charset="0"/>
                                </a:rPr>
                                <m:t>𝑖</m:t>
                              </m:r>
                              <m:r>
                                <a:rPr lang="en-US" sz="2000" i="1">
                                  <a:latin typeface="Cambria Math" panose="02040503050406030204" pitchFamily="18" charset="0"/>
                                </a:rPr>
                                <m:t>,</m:t>
                              </m:r>
                              <m:r>
                                <a:rPr lang="en-US" sz="2000" i="1">
                                  <a:latin typeface="Cambria Math" panose="02040503050406030204" pitchFamily="18" charset="0"/>
                                </a:rPr>
                                <m:t>𝑗</m:t>
                              </m:r>
                            </m:sub>
                            <m:sup>
                              <m:r>
                                <a:rPr lang="en-US" sz="2000" i="1">
                                  <a:latin typeface="Cambria Math" panose="02040503050406030204" pitchFamily="18" charset="0"/>
                                </a:rPr>
                                <m:t>(</m:t>
                              </m:r>
                              <m:r>
                                <a:rPr lang="en-US" sz="2000" b="0" i="1" smtClean="0">
                                  <a:latin typeface="Cambria Math" panose="02040503050406030204" pitchFamily="18" charset="0"/>
                                </a:rPr>
                                <m:t>2</m:t>
                              </m:r>
                              <m:r>
                                <a:rPr lang="en-US" sz="2000" i="1">
                                  <a:latin typeface="Cambria Math" panose="02040503050406030204" pitchFamily="18" charset="0"/>
                                </a:rPr>
                                <m:t>)</m:t>
                              </m:r>
                            </m:sup>
                          </m:sSubSup>
                          <m:r>
                            <a:rPr lang="en-US" sz="2000" b="0" i="1" smtClean="0">
                              <a:latin typeface="Cambria Math" panose="02040503050406030204" pitchFamily="18" charset="0"/>
                            </a:rPr>
                            <m:t>)</m:t>
                          </m:r>
                        </m:e>
                      </m:nary>
                    </m:oMath>
                  </m:oMathPara>
                </a14:m>
                <a:endParaRPr lang="en-US" sz="2000" i="1" dirty="0">
                  <a:solidFill>
                    <a:schemeClr val="accent1"/>
                  </a:solidFill>
                  <a:latin typeface="Cambria Math" panose="02040503050406030204" pitchFamily="18" charset="0"/>
                </a:endParaRPr>
              </a:p>
              <a:p>
                <a:pPr marL="0" indent="0">
                  <a:buNone/>
                </a:pPr>
                <a:endParaRPr lang="en-US" sz="2000" i="1" dirty="0">
                  <a:solidFill>
                    <a:schemeClr val="accent1"/>
                  </a:solidFill>
                  <a:latin typeface="Cambria Math" panose="02040503050406030204" pitchFamily="18" charset="0"/>
                </a:endParaRPr>
              </a:p>
              <a:p>
                <a:pPr marL="0" indent="0">
                  <a:buNone/>
                </a:pPr>
                <a14:m>
                  <m:oMathPara xmlns:m="http://schemas.openxmlformats.org/officeDocument/2006/math">
                    <m:oMathParaPr>
                      <m:jc m:val="left"/>
                    </m:oMathParaPr>
                    <m:oMath xmlns:m="http://schemas.openxmlformats.org/officeDocument/2006/math">
                      <m:r>
                        <a:rPr lang="en-US" sz="2000" i="1">
                          <a:solidFill>
                            <a:schemeClr val="accent1"/>
                          </a:solidFill>
                          <a:latin typeface="Cambria Math" panose="02040503050406030204" pitchFamily="18" charset="0"/>
                        </a:rPr>
                        <m:t>𝐺</m:t>
                      </m:r>
                      <m:r>
                        <a:rPr lang="en-US" sz="2000" i="1">
                          <a:solidFill>
                            <a:schemeClr val="accent1"/>
                          </a:solidFill>
                          <a:latin typeface="Cambria Math" panose="02040503050406030204" pitchFamily="18" charset="0"/>
                        </a:rPr>
                        <m:t>=</m:t>
                      </m:r>
                      <m:r>
                        <a:rPr lang="en-US" sz="2000" i="1">
                          <a:solidFill>
                            <a:schemeClr val="accent1"/>
                          </a:solidFill>
                          <a:latin typeface="Cambria Math" panose="02040503050406030204" pitchFamily="18" charset="0"/>
                        </a:rPr>
                        <m:t>𝑆𝑈</m:t>
                      </m:r>
                      <m:d>
                        <m:dPr>
                          <m:ctrlPr>
                            <a:rPr lang="en-US" sz="2000" i="1">
                              <a:solidFill>
                                <a:schemeClr val="accent1"/>
                              </a:solidFill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US" sz="2000" b="0" i="1" smtClean="0">
                              <a:solidFill>
                                <a:schemeClr val="accent1"/>
                              </a:solidFill>
                              <a:latin typeface="Cambria Math" panose="02040503050406030204" pitchFamily="18" charset="0"/>
                            </a:rPr>
                            <m:t>3</m:t>
                          </m:r>
                        </m:e>
                      </m:d>
                      <m:r>
                        <a:rPr lang="en-US" sz="2000" b="0" i="1" smtClean="0">
                          <a:solidFill>
                            <a:schemeClr val="accent1"/>
                          </a:solidFill>
                          <a:latin typeface="Cambria Math" panose="02040503050406030204" pitchFamily="18" charset="0"/>
                        </a:rPr>
                        <m:t> × </m:t>
                      </m:r>
                      <m:r>
                        <a:rPr lang="en-US" sz="2000" b="0" i="1" smtClean="0">
                          <a:solidFill>
                            <a:schemeClr val="accent1"/>
                          </a:solidFill>
                          <a:latin typeface="Cambria Math" panose="02040503050406030204" pitchFamily="18" charset="0"/>
                        </a:rPr>
                        <m:t>𝑆𝑈</m:t>
                      </m:r>
                      <m:r>
                        <a:rPr lang="en-US" sz="2000" b="0" i="1" smtClean="0">
                          <a:solidFill>
                            <a:schemeClr val="accent1"/>
                          </a:solidFill>
                          <a:latin typeface="Cambria Math" panose="02040503050406030204" pitchFamily="18" charset="0"/>
                        </a:rPr>
                        <m:t>(3)</m:t>
                      </m:r>
                    </m:oMath>
                  </m:oMathPara>
                </a14:m>
                <a:endParaRPr lang="en-US" sz="2000" dirty="0">
                  <a:solidFill>
                    <a:schemeClr val="accent1"/>
                  </a:solidFill>
                </a:endParaRPr>
              </a:p>
              <a:p>
                <a:pPr marL="457200" indent="-457200">
                  <a:buFont typeface="+mj-lt"/>
                  <a:buAutoNum type="arabicParenR" startAt="3"/>
                </a:pPr>
                <a:endParaRPr lang="en-US" sz="2400" dirty="0"/>
              </a:p>
            </p:txBody>
          </p:sp>
        </mc:Choice>
        <mc:Fallback xmlns="">
          <p:sp>
            <p:nvSpPr>
              <p:cNvPr id="5" name="Content Placeholder 2">
                <a:extLst>
                  <a:ext uri="{FF2B5EF4-FFF2-40B4-BE49-F238E27FC236}">
                    <a16:creationId xmlns:a16="http://schemas.microsoft.com/office/drawing/2014/main" id="{975485A4-2954-D28A-3C48-537D219E9306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xfrm>
                <a:off x="838200" y="1825625"/>
                <a:ext cx="10515600" cy="4285808"/>
              </a:xfrm>
              <a:blipFill>
                <a:blip r:embed="rId3"/>
                <a:stretch>
                  <a:fillRect l="-3257" t="-8555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2" name="Slide Number Placeholder 1">
            <a:extLst>
              <a:ext uri="{FF2B5EF4-FFF2-40B4-BE49-F238E27FC236}">
                <a16:creationId xmlns:a16="http://schemas.microsoft.com/office/drawing/2014/main" id="{0443C904-0D21-16A0-9FA3-FE0EBDE031F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852B8ED-7F2B-5448-BD79-1530102DF259}" type="slidenum">
              <a:rPr lang="en-US" smtClean="0"/>
              <a:t>20</a:t>
            </a:fld>
            <a:endParaRPr lang="en-US"/>
          </a:p>
        </p:txBody>
      </p:sp>
      <p:pic>
        <p:nvPicPr>
          <p:cNvPr id="10" name="Picture 9">
            <a:extLst>
              <a:ext uri="{FF2B5EF4-FFF2-40B4-BE49-F238E27FC236}">
                <a16:creationId xmlns:a16="http://schemas.microsoft.com/office/drawing/2014/main" id="{CD83E341-1C1B-B661-74D7-5807C2F848EF}"/>
              </a:ext>
            </a:extLst>
          </p:cNvPr>
          <p:cNvPicPr>
            <a:picLocks noChangeAspect="1"/>
          </p:cNvPicPr>
          <p:nvPr/>
        </p:nvPicPr>
        <p:blipFill>
          <a:blip r:embed="rId4"/>
          <a:srcRect/>
          <a:stretch/>
        </p:blipFill>
        <p:spPr>
          <a:xfrm>
            <a:off x="4853447" y="529769"/>
            <a:ext cx="4244992" cy="996273"/>
          </a:xfrm>
          <a:prstGeom prst="rect">
            <a:avLst/>
          </a:prstGeom>
        </p:spPr>
      </p:pic>
      <p:pic>
        <p:nvPicPr>
          <p:cNvPr id="14" name="Picture 13" descr="A graph of a function&#10;&#10;AI-generated content may be incorrect.">
            <a:extLst>
              <a:ext uri="{FF2B5EF4-FFF2-40B4-BE49-F238E27FC236}">
                <a16:creationId xmlns:a16="http://schemas.microsoft.com/office/drawing/2014/main" id="{FE924478-F9DF-AC80-E9C9-C84575363298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911051" y="2577867"/>
            <a:ext cx="3833149" cy="383314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190804856"/>
      </p:ext>
    </p:extLst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757A4F7-86A5-1222-203D-540C9169871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Summary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9315E454-FB9C-96D4-3004-DC6AB75C52B0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/>
            <p:txBody>
              <a:bodyPr>
                <a:normAutofit/>
              </a:bodyPr>
              <a:lstStyle/>
              <a:p>
                <a:pPr lvl="1"/>
                <a:r>
                  <a:rPr lang="en-US" sz="2400" dirty="0"/>
                  <a:t>Quantum Heisenberg chain (integrable models invariant under non-abelian </a:t>
                </a:r>
                <a14:m>
                  <m:oMath xmlns:m="http://schemas.openxmlformats.org/officeDocument/2006/math">
                    <m:r>
                      <a:rPr lang="en-US" sz="2400" b="0" i="1" smtClean="0">
                        <a:latin typeface="Cambria Math" panose="02040503050406030204" pitchFamily="18" charset="0"/>
                      </a:rPr>
                      <m:t>𝐺</m:t>
                    </m:r>
                  </m:oMath>
                </a14:m>
                <a:r>
                  <a:rPr lang="en-US" sz="2400" dirty="0"/>
                  <a:t>) displays superdiffusive spin transport </a:t>
                </a:r>
                <a14:m>
                  <m:oMath xmlns:m="http://schemas.openxmlformats.org/officeDocument/2006/math">
                    <m:r>
                      <a:rPr lang="en-US" sz="2400" b="0" i="1" smtClean="0">
                        <a:latin typeface="Cambria Math" panose="02040503050406030204" pitchFamily="18" charset="0"/>
                      </a:rPr>
                      <m:t>𝑡</m:t>
                    </m:r>
                    <m:r>
                      <a:rPr lang="en-US" sz="2400" b="0" i="1" smtClean="0">
                        <a:latin typeface="Cambria Math" panose="02040503050406030204" pitchFamily="18" charset="0"/>
                      </a:rPr>
                      <m:t> ~ </m:t>
                    </m:r>
                    <m:sSup>
                      <m:sSupPr>
                        <m:ctrlPr>
                          <a:rPr lang="en-US" sz="2400" b="0" i="1" smtClean="0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n-US" sz="2400" b="0" i="1" smtClean="0"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  <m:sup>
                        <m:r>
                          <a:rPr lang="en-US" sz="2400" b="0" i="1" smtClean="0">
                            <a:latin typeface="Cambria Math" panose="02040503050406030204" pitchFamily="18" charset="0"/>
                          </a:rPr>
                          <m:t>3/2</m:t>
                        </m:r>
                      </m:sup>
                    </m:sSup>
                    <m:r>
                      <a:rPr lang="en-US" sz="2400" b="0" i="1" smtClean="0">
                        <a:latin typeface="Cambria Math" panose="02040503050406030204" pitchFamily="18" charset="0"/>
                      </a:rPr>
                      <m:t> </m:t>
                    </m:r>
                  </m:oMath>
                </a14:m>
                <a:r>
                  <a:rPr lang="en-US" sz="2400" dirty="0"/>
                  <a:t>at high temperature</a:t>
                </a:r>
              </a:p>
              <a:p>
                <a:pPr lvl="1"/>
                <a:r>
                  <a:rPr lang="en-US" sz="2400" dirty="0"/>
                  <a:t>Break integrability on ladder geometry and find different scaling behavior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sz="2400" b="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sz="2400" b="0" i="1" smtClean="0">
                            <a:latin typeface="Cambria Math" panose="02040503050406030204" pitchFamily="18" charset="0"/>
                          </a:rPr>
                          <m:t>𝑡</m:t>
                        </m:r>
                      </m:e>
                      <m:sub>
                        <m:r>
                          <a:rPr lang="en-US" sz="2400" b="0" i="1" smtClean="0">
                            <a:latin typeface="Cambria Math" panose="02040503050406030204" pitchFamily="18" charset="0"/>
                          </a:rPr>
                          <m:t>∗</m:t>
                        </m:r>
                      </m:sub>
                    </m:sSub>
                    <m:r>
                      <a:rPr lang="en-US" sz="2400" b="0" i="1" smtClean="0">
                        <a:latin typeface="Cambria Math" panose="02040503050406030204" pitchFamily="18" charset="0"/>
                      </a:rPr>
                      <m:t> ~ </m:t>
                    </m:r>
                    <m:sSup>
                      <m:sSupPr>
                        <m:ctrlPr>
                          <a:rPr lang="en-US" sz="2400" b="0" i="1" smtClean="0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n-US" sz="2400" b="0" i="1" smtClean="0">
                            <a:latin typeface="Cambria Math" panose="02040503050406030204" pitchFamily="18" charset="0"/>
                          </a:rPr>
                          <m:t>𝜆</m:t>
                        </m:r>
                      </m:e>
                      <m:sup>
                        <m:r>
                          <a:rPr lang="en-US" sz="2400" b="0" i="1" smtClean="0">
                            <a:latin typeface="Cambria Math" panose="02040503050406030204" pitchFamily="18" charset="0"/>
                          </a:rPr>
                          <m:t>−</m:t>
                        </m:r>
                        <m:r>
                          <a:rPr lang="en-US" sz="2400" b="0" i="1" smtClean="0">
                            <a:latin typeface="Cambria Math" panose="02040503050406030204" pitchFamily="18" charset="0"/>
                          </a:rPr>
                          <m:t>𝛼</m:t>
                        </m:r>
                      </m:sup>
                    </m:sSup>
                  </m:oMath>
                </a14:m>
                <a:r>
                  <a:rPr lang="en-US" sz="2400" dirty="0"/>
                  <a:t> depending on whether </a:t>
                </a:r>
                <a14:m>
                  <m:oMath xmlns:m="http://schemas.openxmlformats.org/officeDocument/2006/math">
                    <m:r>
                      <a:rPr lang="en-US" sz="2400" b="0" i="1" smtClean="0">
                        <a:latin typeface="Cambria Math" panose="02040503050406030204" pitchFamily="18" charset="0"/>
                      </a:rPr>
                      <m:t>𝐻</m:t>
                    </m:r>
                    <m:r>
                      <a:rPr lang="en-US" sz="2400" b="0" i="1" smtClean="0">
                        <a:latin typeface="Cambria Math" panose="02040503050406030204" pitchFamily="18" charset="0"/>
                      </a:rPr>
                      <m:t>′</m:t>
                    </m:r>
                  </m:oMath>
                </a14:m>
                <a:r>
                  <a:rPr lang="en-US" sz="2400" dirty="0"/>
                  <a:t> preserves </a:t>
                </a:r>
                <a14:m>
                  <m:oMath xmlns:m="http://schemas.openxmlformats.org/officeDocument/2006/math">
                    <m:r>
                      <a:rPr lang="en-US" sz="2400" b="0" i="1" smtClean="0">
                        <a:latin typeface="Cambria Math" panose="02040503050406030204" pitchFamily="18" charset="0"/>
                      </a:rPr>
                      <m:t>𝐺</m:t>
                    </m:r>
                    <m:r>
                      <a:rPr lang="en-US" sz="2400" b="0" i="1" smtClean="0">
                        <a:latin typeface="Cambria Math" panose="02040503050406030204" pitchFamily="18" charset="0"/>
                      </a:rPr>
                      <m:t> (</m:t>
                    </m:r>
                    <m:r>
                      <a:rPr lang="en-US" sz="2400" b="0" i="1" smtClean="0">
                        <a:latin typeface="Cambria Math" panose="02040503050406030204" pitchFamily="18" charset="0"/>
                      </a:rPr>
                      <m:t>𝛼</m:t>
                    </m:r>
                    <m:r>
                      <a:rPr lang="en-US" sz="2400" b="0" i="1" smtClean="0">
                        <a:latin typeface="Cambria Math" panose="02040503050406030204" pitchFamily="18" charset="0"/>
                      </a:rPr>
                      <m:t>=6)</m:t>
                    </m:r>
                  </m:oMath>
                </a14:m>
                <a:r>
                  <a:rPr lang="en-US" sz="2400" dirty="0"/>
                  <a:t> or breaks    </a:t>
                </a:r>
                <a14:m>
                  <m:oMath xmlns:m="http://schemas.openxmlformats.org/officeDocument/2006/math">
                    <m:r>
                      <a:rPr lang="en-US" sz="2400" i="1">
                        <a:latin typeface="Cambria Math" panose="02040503050406030204" pitchFamily="18" charset="0"/>
                      </a:rPr>
                      <m:t>𝐺</m:t>
                    </m:r>
                    <m:r>
                      <a:rPr lang="en-US" sz="2400" i="1">
                        <a:latin typeface="Cambria Math" panose="02040503050406030204" pitchFamily="18" charset="0"/>
                      </a:rPr>
                      <m:t> (</m:t>
                    </m:r>
                    <m:r>
                      <a:rPr lang="en-US" sz="2400" i="1">
                        <a:latin typeface="Cambria Math" panose="02040503050406030204" pitchFamily="18" charset="0"/>
                      </a:rPr>
                      <m:t>𝛼</m:t>
                    </m:r>
                    <m:r>
                      <a:rPr lang="en-US" sz="2400" i="1">
                        <a:latin typeface="Cambria Math" panose="02040503050406030204" pitchFamily="18" charset="0"/>
                      </a:rPr>
                      <m:t>=2)</m:t>
                    </m:r>
                  </m:oMath>
                </a14:m>
                <a:r>
                  <a:rPr lang="en-US" sz="2400" dirty="0"/>
                  <a:t> </a:t>
                </a:r>
              </a:p>
              <a:p>
                <a:pPr lvl="1"/>
                <a:r>
                  <a:rPr lang="en-US" sz="2400" dirty="0"/>
                  <a:t>Behavior inherits the “superuniversal” physics underlying superdiffusion</a:t>
                </a:r>
              </a:p>
            </p:txBody>
          </p:sp>
        </mc:Choice>
        <mc:Fallback xmlns="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9315E454-FB9C-96D4-3004-DC6AB75C52B0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blipFill>
                <a:blip r:embed="rId3"/>
                <a:stretch>
                  <a:fillRect t="-2208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098235BE-F4D0-55AB-D49D-D1DD945CB53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852B8ED-7F2B-5448-BD79-1530102DF259}" type="slidenum">
              <a:rPr lang="en-US" smtClean="0"/>
              <a:t>21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540393714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uiExpand="1" build="p"/>
    </p:bldLst>
  </p:timing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F9796D2-9BE7-62FE-FCC2-ABBEF2EC45A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95C4F6A-81EE-C312-F526-A344A6E4ED3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Future Directions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CF16CBD3-68C5-E39B-ED56-69DF1EE6B77E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pPr lvl="1"/>
            <a:r>
              <a:rPr lang="en-US" sz="2400" dirty="0"/>
              <a:t>Materials Synthesis: S=1/2 spin chains in </a:t>
            </a:r>
            <a:r>
              <a:rPr lang="en-US" sz="2400" b="1" dirty="0"/>
              <a:t>nanoribbons</a:t>
            </a:r>
          </a:p>
          <a:p>
            <a:pPr lvl="2"/>
            <a:r>
              <a:rPr lang="en-US" sz="2000" dirty="0"/>
              <a:t>Topological graphene nanoribbons (</a:t>
            </a:r>
            <a:r>
              <a:rPr lang="pt-BR" sz="2000" dirty="0"/>
              <a:t>Cao, Zhao &amp; Louie,</a:t>
            </a:r>
            <a:r>
              <a:rPr lang="en-US" sz="2000" dirty="0"/>
              <a:t> </a:t>
            </a:r>
            <a:r>
              <a:rPr lang="en-US" sz="2000" i="1" dirty="0"/>
              <a:t>PRL </a:t>
            </a:r>
            <a:r>
              <a:rPr lang="en-US" sz="2000" dirty="0"/>
              <a:t>’17</a:t>
            </a:r>
          </a:p>
          <a:p>
            <a:pPr marL="310896" lvl="2" indent="0">
              <a:buNone/>
            </a:pPr>
            <a:r>
              <a:rPr lang="en-US" sz="2000" dirty="0"/>
              <a:t>				      Rizzo, …, Louie, Crommie &amp; Fischer, </a:t>
            </a:r>
            <a:r>
              <a:rPr lang="en-US" sz="2000" i="1" dirty="0"/>
              <a:t>Nature ’18</a:t>
            </a:r>
            <a:r>
              <a:rPr lang="en-US" sz="2000" dirty="0"/>
              <a:t>)</a:t>
            </a:r>
            <a:endParaRPr lang="en-US" sz="2000" dirty="0">
              <a:solidFill>
                <a:schemeClr val="tx1">
                  <a:lumMod val="50000"/>
                  <a:lumOff val="50000"/>
                </a:schemeClr>
              </a:solidFill>
            </a:endParaRPr>
          </a:p>
          <a:p>
            <a:pPr lvl="2"/>
            <a:r>
              <a:rPr lang="en-US" sz="2000" dirty="0"/>
              <a:t>Edge theory of zigzag nanoribbons (Koop &amp; Schmidt, </a:t>
            </a:r>
            <a:r>
              <a:rPr lang="en-US" sz="2000" i="1" dirty="0"/>
              <a:t>PRB ’14)</a:t>
            </a:r>
          </a:p>
          <a:p>
            <a:pPr lvl="2"/>
            <a:r>
              <a:rPr lang="en-US" sz="2000" dirty="0"/>
              <a:t>Nanographene Olympicene chains (Zhao et al., </a:t>
            </a:r>
            <a:r>
              <a:rPr lang="en-US" sz="2000" i="1" dirty="0"/>
              <a:t>Nat. Mater. ’25)</a:t>
            </a:r>
            <a:endParaRPr lang="en-US" sz="2000" dirty="0"/>
          </a:p>
          <a:p>
            <a:pPr lvl="2"/>
            <a:r>
              <a:rPr lang="en-US" sz="2000" dirty="0"/>
              <a:t>Molecular chains (Sun et al., </a:t>
            </a:r>
            <a:r>
              <a:rPr lang="en-US" sz="2000" i="1" dirty="0"/>
              <a:t>Science Advances ’25)</a:t>
            </a:r>
          </a:p>
          <a:p>
            <a:pPr lvl="2"/>
            <a:endParaRPr lang="en-US" sz="2000" dirty="0"/>
          </a:p>
          <a:p>
            <a:pPr lvl="2"/>
            <a:endParaRPr lang="en-US" sz="2000" dirty="0"/>
          </a:p>
          <a:p>
            <a:pPr marL="310896" lvl="2" indent="0" algn="ctr">
              <a:buNone/>
            </a:pPr>
            <a:r>
              <a:rPr lang="en-US" sz="2400" dirty="0">
                <a:solidFill>
                  <a:schemeClr val="accent1"/>
                </a:solidFill>
              </a:rPr>
              <a:t>Synthesize effective Heisenberg ladders with tunable interactions?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699D6E32-5929-25EA-150D-D32D3753C4D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852B8ED-7F2B-5448-BD79-1530102DF259}" type="slidenum">
              <a:rPr lang="en-US" smtClean="0"/>
              <a:t>22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24548700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" fill="hold">
                      <p:stCondLst>
                        <p:cond delay="indefinite"/>
                      </p:stCondLst>
                      <p:childTnLst>
                        <p:par>
                          <p:cTn id="18" fill="hold">
                            <p:stCondLst>
                              <p:cond delay="0"/>
                            </p:stCondLst>
                            <p:childTnLst>
                              <p:par>
                                <p:cTn id="1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uiExpand="1" build="p"/>
    </p:bldLst>
  </p:timing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66E43E0-8FF5-0420-99C7-8D085A48A48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117262" y="2679192"/>
            <a:ext cx="9720072" cy="1499616"/>
          </a:xfrm>
        </p:spPr>
        <p:txBody>
          <a:bodyPr/>
          <a:lstStyle/>
          <a:p>
            <a:pPr algn="ctr"/>
            <a:r>
              <a:rPr lang="en-US" dirty="0"/>
              <a:t>Thanks!</a:t>
            </a:r>
          </a:p>
        </p:txBody>
      </p:sp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2A435525-7829-F0C7-2D72-D30F7339295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852B8ED-7F2B-5448-BD79-1530102DF259}" type="slidenum">
              <a:rPr lang="en-US" smtClean="0"/>
              <a:t>23</a:t>
            </a:fld>
            <a:endParaRPr lang="en-US"/>
          </a:p>
        </p:txBody>
      </p:sp>
      <p:pic>
        <p:nvPicPr>
          <p:cNvPr id="1026" name="Picture 2" descr="United States Department of Energy ...">
            <a:extLst>
              <a:ext uri="{FF2B5EF4-FFF2-40B4-BE49-F238E27FC236}">
                <a16:creationId xmlns:a16="http://schemas.microsoft.com/office/drawing/2014/main" id="{DA45ABAE-B845-E0E2-2881-2339096E3A04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890695" y="4924441"/>
            <a:ext cx="1546263" cy="1546263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028" name="Picture 4" descr="Quantum Science Center">
            <a:extLst>
              <a:ext uri="{FF2B5EF4-FFF2-40B4-BE49-F238E27FC236}">
                <a16:creationId xmlns:a16="http://schemas.microsoft.com/office/drawing/2014/main" id="{73A33E52-A47A-86A9-405E-C9C617A861C7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871119" y="5462814"/>
            <a:ext cx="2828109" cy="100789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030" name="Picture 6" descr="Joel Moore">
            <a:extLst>
              <a:ext uri="{FF2B5EF4-FFF2-40B4-BE49-F238E27FC236}">
                <a16:creationId xmlns:a16="http://schemas.microsoft.com/office/drawing/2014/main" id="{DA150AF1-C069-26EB-ED20-38BE9F17ED46}"/>
              </a:ext>
            </a:extLst>
          </p:cNvPr>
          <p:cNvPicPr>
            <a:picLocks noChangeAspect="1" noChangeArrowheads="1"/>
          </p:cNvPicPr>
          <p:nvPr/>
        </p:nvPicPr>
        <p:blipFill rotWithShape="1"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19048" r="14560"/>
          <a:stretch>
            <a:fillRect/>
          </a:stretch>
        </p:blipFill>
        <p:spPr bwMode="auto">
          <a:xfrm>
            <a:off x="8378939" y="3965706"/>
            <a:ext cx="1883884" cy="191747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4" name="TextBox 3">
            <a:extLst>
              <a:ext uri="{FF2B5EF4-FFF2-40B4-BE49-F238E27FC236}">
                <a16:creationId xmlns:a16="http://schemas.microsoft.com/office/drawing/2014/main" id="{F7A5D729-8D08-1554-D958-780D22DBA8B9}"/>
              </a:ext>
            </a:extLst>
          </p:cNvPr>
          <p:cNvSpPr txBox="1"/>
          <p:nvPr/>
        </p:nvSpPr>
        <p:spPr>
          <a:xfrm>
            <a:off x="8467074" y="5991493"/>
            <a:ext cx="1685580" cy="37457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dirty="0"/>
              <a:t>Joel Moore</a:t>
            </a:r>
          </a:p>
        </p:txBody>
      </p:sp>
      <p:pic>
        <p:nvPicPr>
          <p:cNvPr id="5" name="Google Shape;99;p1" title="Kavli ENSI Logo_LBNL Creative Services.png">
            <a:extLst>
              <a:ext uri="{FF2B5EF4-FFF2-40B4-BE49-F238E27FC236}">
                <a16:creationId xmlns:a16="http://schemas.microsoft.com/office/drawing/2014/main" id="{9CF07CC4-64B9-569D-0419-5C117240A825}"/>
              </a:ext>
            </a:extLst>
          </p:cNvPr>
          <p:cNvPicPr preferRelativeResize="0"/>
          <p:nvPr/>
        </p:nvPicPr>
        <p:blipFill>
          <a:blip r:embed="rId5">
            <a:alphaModFix/>
          </a:blip>
          <a:stretch>
            <a:fillRect/>
          </a:stretch>
        </p:blipFill>
        <p:spPr>
          <a:xfrm>
            <a:off x="810796" y="584609"/>
            <a:ext cx="3108425" cy="1348950"/>
          </a:xfrm>
          <a:prstGeom prst="rect">
            <a:avLst/>
          </a:prstGeom>
          <a:noFill/>
          <a:ln>
            <a:noFill/>
          </a:ln>
        </p:spPr>
      </p:pic>
    </p:spTree>
    <p:extLst>
      <p:ext uri="{BB962C8B-B14F-4D97-AF65-F5344CB8AC3E}">
        <p14:creationId xmlns:p14="http://schemas.microsoft.com/office/powerpoint/2010/main" val="4008973000"/>
      </p:ext>
    </p:extLst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 show="0">
  <p:cSld>
    <p:spTree>
      <p:nvGrpSpPr>
        <p:cNvPr id="1" name="">
          <a:extLst>
            <a:ext uri="{FF2B5EF4-FFF2-40B4-BE49-F238E27FC236}">
              <a16:creationId xmlns:a16="http://schemas.microsoft.com/office/drawing/2014/main" id="{7FEF999E-E702-8F64-202E-BB17A4D9CCC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909CE4C-3B87-8505-4E53-4290B2741AF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Future Directions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66D50AD8-0034-04BE-707F-B4030D80AC8F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/>
            <p:txBody>
              <a:bodyPr>
                <a:normAutofit/>
              </a:bodyPr>
              <a:lstStyle/>
              <a:p>
                <a:pPr lvl="1"/>
                <a:r>
                  <a:rPr lang="en-US" sz="2400" dirty="0"/>
                  <a:t>Energy transport (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sz="2400" b="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sz="2400" b="0" i="1" smtClean="0">
                            <a:latin typeface="Cambria Math" panose="02040503050406030204" pitchFamily="18" charset="0"/>
                          </a:rPr>
                          <m:t> </m:t>
                        </m:r>
                        <m:r>
                          <a:rPr lang="en-US" sz="2400" b="0" i="1" smtClean="0">
                            <a:latin typeface="Cambria Math" panose="02040503050406030204" pitchFamily="18" charset="0"/>
                          </a:rPr>
                          <m:t>𝐽</m:t>
                        </m:r>
                      </m:e>
                      <m:sub>
                        <m:r>
                          <a:rPr lang="en-US" sz="2400" b="0" i="1" smtClean="0">
                            <a:latin typeface="Cambria Math" panose="02040503050406030204" pitchFamily="18" charset="0"/>
                          </a:rPr>
                          <m:t>𝐸</m:t>
                        </m:r>
                      </m:sub>
                    </m:sSub>
                  </m:oMath>
                </a14:m>
                <a:r>
                  <a:rPr lang="en-US" sz="2400" dirty="0"/>
                  <a:t>) measurements</a:t>
                </a:r>
              </a:p>
              <a:p>
                <a:pPr lvl="2"/>
                <a:r>
                  <a:rPr lang="en-US" sz="1600" dirty="0"/>
                  <a:t>Unlike spin transport, the energy current in the Heisenberg chain is explicitly conserved (ballistic transport)</a:t>
                </a:r>
              </a:p>
              <a:p>
                <a:pPr lvl="2"/>
                <a:r>
                  <a:rPr lang="en-US" sz="1600" dirty="0"/>
                  <a:t>Resonant Inelastic X-ray Scattering (RIXS) can probe energy correlations (Kumar et al. </a:t>
                </a:r>
                <a:r>
                  <a:rPr lang="en-US" sz="1600" i="1" dirty="0"/>
                  <a:t>PRB ‘22)</a:t>
                </a:r>
                <a:endParaRPr lang="en-US" sz="1600" dirty="0"/>
              </a:p>
              <a:p>
                <a:pPr lvl="2"/>
                <a:endParaRPr lang="en-US" sz="1600" dirty="0"/>
              </a:p>
              <a:p>
                <a:pPr marL="310896" lvl="2" indent="0" algn="ctr">
                  <a:buNone/>
                </a:pPr>
                <a:endParaRPr lang="en-US" sz="2000" dirty="0">
                  <a:solidFill>
                    <a:schemeClr val="accent1"/>
                  </a:solidFill>
                </a:endParaRPr>
              </a:p>
              <a:p>
                <a:pPr marL="310896" lvl="2" indent="0" algn="ctr">
                  <a:buNone/>
                </a:pPr>
                <a:endParaRPr lang="en-US" sz="2000" dirty="0">
                  <a:solidFill>
                    <a:schemeClr val="accent1"/>
                  </a:solidFill>
                </a:endParaRPr>
              </a:p>
              <a:p>
                <a:pPr marL="310896" lvl="2" indent="0" algn="ctr">
                  <a:buNone/>
                </a:pPr>
                <a:r>
                  <a:rPr lang="en-US" sz="2400" dirty="0">
                    <a:solidFill>
                      <a:schemeClr val="accent1"/>
                    </a:solidFill>
                  </a:rPr>
                  <a:t>Possible to observe signatures of ballistic transport in RIXS data for quasi-1D Heisenberg chains?</a:t>
                </a:r>
                <a:endParaRPr lang="en-US" sz="2800" dirty="0">
                  <a:solidFill>
                    <a:schemeClr val="accent1"/>
                  </a:solidFill>
                </a:endParaRPr>
              </a:p>
            </p:txBody>
          </p:sp>
        </mc:Choice>
        <mc:Fallback xmlns="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66D50AD8-0034-04BE-707F-B4030D80AC8F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blipFill>
                <a:blip r:embed="rId3"/>
                <a:stretch>
                  <a:fillRect t="-2121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C08E0614-CF72-26E2-890A-E5AE6024A15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852B8ED-7F2B-5448-BD79-1530102DF259}" type="slidenum">
              <a:rPr lang="en-US" smtClean="0"/>
              <a:t>24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30706412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uiExpand="1" build="p"/>
    </p:bldLst>
  </p:timing>
</p:sld>
</file>

<file path=ppt/theme/_rels/them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1.jpeg"/></Relationships>
</file>

<file path=ppt/theme/_rels/them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jpeg"/><Relationship Id="rId1" Type="http://schemas.openxmlformats.org/officeDocument/2006/relationships/image" Target="../media/image2.jpeg"/></Relationships>
</file>

<file path=ppt/theme/theme1.xml><?xml version="1.0" encoding="utf-8"?>
<a:theme xmlns:a="http://schemas.openxmlformats.org/drawingml/2006/main" name="Integral">
  <a:themeElements>
    <a:clrScheme name="Integral">
      <a:dk1>
        <a:sysClr val="windowText" lastClr="000000"/>
      </a:dk1>
      <a:lt1>
        <a:sysClr val="window" lastClr="FFFFFF"/>
      </a:lt1>
      <a:dk2>
        <a:srgbClr val="335B74"/>
      </a:dk2>
      <a:lt2>
        <a:srgbClr val="DFE3E5"/>
      </a:lt2>
      <a:accent1>
        <a:srgbClr val="1CADE4"/>
      </a:accent1>
      <a:accent2>
        <a:srgbClr val="2683C6"/>
      </a:accent2>
      <a:accent3>
        <a:srgbClr val="27CED7"/>
      </a:accent3>
      <a:accent4>
        <a:srgbClr val="42BA97"/>
      </a:accent4>
      <a:accent5>
        <a:srgbClr val="3E8853"/>
      </a:accent5>
      <a:accent6>
        <a:srgbClr val="62A39F"/>
      </a:accent6>
      <a:hlink>
        <a:srgbClr val="6B9F25"/>
      </a:hlink>
      <a:folHlink>
        <a:srgbClr val="B26B02"/>
      </a:folHlink>
    </a:clrScheme>
    <a:fontScheme name="Integral">
      <a:majorFont>
        <a:latin typeface="Tw Cen MT Condensed" panose="020B0606020104020203"/>
        <a:ea typeface=""/>
        <a:cs typeface=""/>
        <a:font script="Grek" typeface="Calibri"/>
        <a:font script="Cyrl" typeface="Calibri"/>
        <a:font script="Jpan" typeface="メイリオ"/>
        <a:font script="Hang" typeface="HY얕은샘물M"/>
        <a:font script="Hans" typeface="华文仿宋"/>
        <a:font script="Hant" typeface="微軟正黑體"/>
        <a:font script="Arab" typeface="Arial"/>
        <a:font script="Hebr" typeface="Levenim MT"/>
        <a:font script="Thai" typeface="Freesia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ahoma"/>
        <a:font script="Uigh" typeface="Microsoft Uighur"/>
        <a:font script="Geor" typeface="Sylfaen"/>
      </a:majorFont>
      <a:minorFont>
        <a:latin typeface="Tw Cen MT" panose="020B0602020104020603"/>
        <a:ea typeface=""/>
        <a:cs typeface=""/>
        <a:font script="Grek" typeface="Calibri"/>
        <a:font script="Cyrl" typeface="Calibri"/>
        <a:font script="Jpan" typeface="メイリオ"/>
        <a:font script="Hang" typeface="HY얕은샘물M"/>
        <a:font script="Hans" typeface="华文仿宋"/>
        <a:font script="Hant" typeface="微軟正黑體"/>
        <a:font script="Arab" typeface="Arial"/>
        <a:font script="Hebr" typeface="Levenim MT"/>
        <a:font script="Thai" typeface="Freesia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ahoma"/>
        <a:font script="Uigh" typeface="Microsoft Uighur"/>
        <a:font script="Geor" typeface="Sylfaen"/>
      </a:minorFont>
    </a:fontScheme>
    <a:fmtScheme name="Integral">
      <a:fillStyleLst>
        <a:solidFill>
          <a:schemeClr val="phClr"/>
        </a:solidFill>
        <a:gradFill rotWithShape="1">
          <a:gsLst>
            <a:gs pos="0">
              <a:schemeClr val="phClr">
                <a:tint val="83000"/>
                <a:satMod val="100000"/>
                <a:lumMod val="100000"/>
              </a:schemeClr>
            </a:gs>
            <a:gs pos="100000">
              <a:schemeClr val="phClr">
                <a:tint val="61000"/>
                <a:satMod val="150000"/>
                <a:lumMod val="100000"/>
              </a:schemeClr>
            </a:gs>
          </a:gsLst>
          <a:path path="circle">
            <a:fillToRect l="100000" t="100000" r="100000" b="100000"/>
          </a:path>
        </a:gradFill>
        <a:gradFill rotWithShape="1">
          <a:gsLst>
            <a:gs pos="0">
              <a:schemeClr val="phClr">
                <a:tint val="100000"/>
                <a:shade val="85000"/>
                <a:satMod val="100000"/>
                <a:lumMod val="100000"/>
              </a:schemeClr>
            </a:gs>
            <a:gs pos="100000">
              <a:schemeClr val="phClr">
                <a:tint val="90000"/>
                <a:shade val="100000"/>
                <a:satMod val="150000"/>
                <a:lumMod val="100000"/>
              </a:schemeClr>
            </a:gs>
          </a:gsLst>
          <a:path path="circle">
            <a:fillToRect l="100000" t="100000" r="100000" b="100000"/>
          </a:path>
        </a:gradFill>
      </a:fillStyleLst>
      <a:lnStyleLst>
        <a:ln w="9525" cap="flat" cmpd="sng" algn="ctr">
          <a:solidFill>
            <a:schemeClr val="phClr"/>
          </a:solidFill>
          <a:prstDash val="solid"/>
        </a:ln>
        <a:ln w="15875" cap="flat" cmpd="sng" algn="ctr">
          <a:solidFill>
            <a:schemeClr val="phClr"/>
          </a:solidFill>
          <a:prstDash val="solid"/>
        </a:ln>
        <a:ln w="19050" cap="flat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>
            <a:outerShdw blurRad="50800" dist="12700" dir="5400000" algn="ctr" rotWithShape="0">
              <a:srgbClr val="000000">
                <a:alpha val="50000"/>
              </a:srgbClr>
            </a:outerShdw>
          </a:effectLst>
        </a:effectStyle>
        <a:effectStyle>
          <a:effectLst>
            <a:outerShdw blurRad="76200" dist="25400" dir="5400000" algn="ctr" rotWithShape="0">
              <a:srgbClr val="000000">
                <a:alpha val="60000"/>
              </a:srgbClr>
            </a:outerShdw>
          </a:effectLst>
          <a:scene3d>
            <a:camera prst="orthographicFront">
              <a:rot lat="0" lon="0" rev="0"/>
            </a:camera>
            <a:lightRig rig="flat" dir="t">
              <a:rot lat="0" lon="0" rev="3600000"/>
            </a:lightRig>
          </a:scene3d>
          <a:sp3d contourW="12700" prstMaterial="flat">
            <a:bevelT w="38100" h="44450" prst="angle"/>
            <a:contourClr>
              <a:schemeClr val="phClr">
                <a:shade val="35000"/>
                <a:satMod val="160000"/>
              </a:schemeClr>
            </a:contourClr>
          </a:sp3d>
        </a:effectStyle>
      </a:effectStyleLst>
      <a:bgFillStyleLst>
        <a:solidFill>
          <a:schemeClr val="phClr"/>
        </a:solidFill>
        <a:solidFill>
          <a:schemeClr val="phClr">
            <a:tint val="95000"/>
            <a:shade val="85000"/>
            <a:satMod val="125000"/>
          </a:schemeClr>
        </a:solidFill>
        <a:blipFill rotWithShape="1">
          <a:blip xmlns:r="http://schemas.openxmlformats.org/officeDocument/2006/relationships" r:embed="rId1">
            <a:duotone>
              <a:schemeClr val="phClr">
                <a:tint val="95000"/>
                <a:shade val="74000"/>
                <a:satMod val="230000"/>
              </a:schemeClr>
              <a:schemeClr val="phClr">
                <a:tint val="92000"/>
                <a:shade val="69000"/>
                <a:satMod val="250000"/>
              </a:schemeClr>
            </a:duotone>
          </a:blip>
          <a:tile tx="0" ty="0" sx="40000" sy="40000" flip="none" algn="tl"/>
        </a:blip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Integral" id="{3577F8C9-A904-41D8-97D2-FD898F53F20E}" vid="{682D6EBE-8D36-4FF2-9DB3-F3D8D7B6715D}"/>
    </a:ext>
  </a:extLst>
</a:theme>
</file>

<file path=ppt/theme/theme2.xml><?xml version="1.0" encoding="utf-8"?>
<a:theme xmlns:a="http://schemas.openxmlformats.org/drawingml/2006/main" name="1_Integral">
  <a:themeElements>
    <a:clrScheme name="Integral">
      <a:dk1>
        <a:srgbClr val="2E2B21"/>
      </a:dk1>
      <a:lt1>
        <a:srgbClr val="FFFFFF"/>
      </a:lt1>
      <a:dk2>
        <a:srgbClr val="605B4F"/>
      </a:dk2>
      <a:lt2>
        <a:srgbClr val="D8D6BE"/>
      </a:lt2>
      <a:accent1>
        <a:srgbClr val="A9A57C"/>
      </a:accent1>
      <a:accent2>
        <a:srgbClr val="9CBEBD"/>
      </a:accent2>
      <a:accent3>
        <a:srgbClr val="D2CB6C"/>
      </a:accent3>
      <a:accent4>
        <a:srgbClr val="95A39D"/>
      </a:accent4>
      <a:accent5>
        <a:srgbClr val="C89F5D"/>
      </a:accent5>
      <a:accent6>
        <a:srgbClr val="B1A089"/>
      </a:accent6>
      <a:hlink>
        <a:srgbClr val="D25814"/>
      </a:hlink>
      <a:folHlink>
        <a:srgbClr val="849A0A"/>
      </a:folHlink>
    </a:clrScheme>
    <a:fontScheme name="Integral">
      <a:majorFont>
        <a:latin typeface="Tw Cen MT Condensed" panose="020B0606020104020203"/>
        <a:ea typeface=""/>
        <a:cs typeface=""/>
        <a:font script="Grek" typeface="Calibri"/>
        <a:font script="Cyrl" typeface="Calibri"/>
        <a:font script="Jpan" typeface="メイリオ"/>
        <a:font script="Hang" typeface="HY얕은샘물M"/>
        <a:font script="Hans" typeface="华文仿宋"/>
        <a:font script="Hant" typeface="微軟正黑體"/>
        <a:font script="Arab" typeface="Arial"/>
        <a:font script="Hebr" typeface="Levenim MT"/>
        <a:font script="Thai" typeface="Freesia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ahoma"/>
        <a:font script="Uigh" typeface="Microsoft Uighur"/>
        <a:font script="Geor" typeface="Sylfaen"/>
      </a:majorFont>
      <a:minorFont>
        <a:latin typeface="Tw Cen MT" panose="020B0602020104020603"/>
        <a:ea typeface=""/>
        <a:cs typeface=""/>
        <a:font script="Grek" typeface="Calibri"/>
        <a:font script="Cyrl" typeface="Calibri"/>
        <a:font script="Jpan" typeface="メイリオ"/>
        <a:font script="Hang" typeface="HY얕은샘물M"/>
        <a:font script="Hans" typeface="华文仿宋"/>
        <a:font script="Hant" typeface="微軟正黑體"/>
        <a:font script="Arab" typeface="Arial"/>
        <a:font script="Hebr" typeface="Levenim MT"/>
        <a:font script="Thai" typeface="Freesia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ahoma"/>
        <a:font script="Uigh" typeface="Microsoft Uighur"/>
        <a:font script="Geor" typeface="Sylfaen"/>
      </a:minorFont>
    </a:fontScheme>
    <a:fmtScheme name="Integral">
      <a:fillStyleLst>
        <a:solidFill>
          <a:schemeClr val="phClr"/>
        </a:solidFill>
        <a:gradFill rotWithShape="1">
          <a:gsLst>
            <a:gs pos="0">
              <a:schemeClr val="phClr">
                <a:tint val="83000"/>
                <a:satMod val="100000"/>
                <a:lumMod val="100000"/>
              </a:schemeClr>
            </a:gs>
            <a:gs pos="100000">
              <a:schemeClr val="phClr">
                <a:tint val="61000"/>
                <a:satMod val="150000"/>
                <a:lumMod val="100000"/>
              </a:schemeClr>
            </a:gs>
          </a:gsLst>
          <a:path path="circle">
            <a:fillToRect l="100000" t="100000" r="100000" b="100000"/>
          </a:path>
        </a:gradFill>
        <a:gradFill rotWithShape="1">
          <a:gsLst>
            <a:gs pos="0">
              <a:schemeClr val="phClr">
                <a:tint val="100000"/>
                <a:shade val="85000"/>
                <a:satMod val="100000"/>
                <a:lumMod val="100000"/>
              </a:schemeClr>
            </a:gs>
            <a:gs pos="100000">
              <a:schemeClr val="phClr">
                <a:tint val="90000"/>
                <a:shade val="100000"/>
                <a:satMod val="150000"/>
                <a:lumMod val="100000"/>
              </a:schemeClr>
            </a:gs>
          </a:gsLst>
          <a:path path="circle">
            <a:fillToRect l="100000" t="100000" r="100000" b="100000"/>
          </a:path>
        </a:gradFill>
      </a:fillStyleLst>
      <a:lnStyleLst>
        <a:ln w="9525" cap="flat" cmpd="sng" algn="ctr">
          <a:solidFill>
            <a:schemeClr val="phClr"/>
          </a:solidFill>
          <a:prstDash val="solid"/>
        </a:ln>
        <a:ln w="15875" cap="flat" cmpd="sng" algn="ctr">
          <a:solidFill>
            <a:schemeClr val="phClr"/>
          </a:solidFill>
          <a:prstDash val="solid"/>
        </a:ln>
        <a:ln w="19050" cap="flat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>
            <a:outerShdw blurRad="50800" dist="12700" dir="5400000" algn="ctr" rotWithShape="0">
              <a:srgbClr val="000000">
                <a:alpha val="50000"/>
              </a:srgbClr>
            </a:outerShdw>
          </a:effectLst>
        </a:effectStyle>
        <a:effectStyle>
          <a:effectLst>
            <a:outerShdw blurRad="76200" dist="25400" dir="5400000" algn="ctr" rotWithShape="0">
              <a:srgbClr val="000000">
                <a:alpha val="60000"/>
              </a:srgbClr>
            </a:outerShdw>
          </a:effectLst>
          <a:scene3d>
            <a:camera prst="orthographicFront">
              <a:rot lat="0" lon="0" rev="0"/>
            </a:camera>
            <a:lightRig rig="flat" dir="t">
              <a:rot lat="0" lon="0" rev="3600000"/>
            </a:lightRig>
          </a:scene3d>
          <a:sp3d contourW="12700" prstMaterial="flat">
            <a:bevelT w="38100" h="44450" prst="angle"/>
            <a:contourClr>
              <a:schemeClr val="phClr">
                <a:shade val="35000"/>
                <a:satMod val="160000"/>
              </a:schemeClr>
            </a:contourClr>
          </a:sp3d>
        </a:effectStyle>
      </a:effectStyleLst>
      <a:bgFillStyleLst>
        <a:solidFill>
          <a:schemeClr val="phClr"/>
        </a:solidFill>
        <a:blipFill rotWithShape="1">
          <a:blip xmlns:r="http://schemas.openxmlformats.org/officeDocument/2006/relationships" r:embed="rId1">
            <a:duotone>
              <a:schemeClr val="phClr">
                <a:tint val="98000"/>
              </a:schemeClr>
              <a:schemeClr val="phClr">
                <a:shade val="89000"/>
                <a:satMod val="145000"/>
              </a:schemeClr>
            </a:duotone>
          </a:blip>
          <a:tile tx="0" ty="0" sx="32000" sy="32000" flip="none" algn="tl"/>
        </a:blipFill>
        <a:blipFill rotWithShape="1">
          <a:blip xmlns:r="http://schemas.openxmlformats.org/officeDocument/2006/relationships" r:embed="rId2">
            <a:duotone>
              <a:schemeClr val="phClr">
                <a:tint val="98000"/>
              </a:schemeClr>
              <a:schemeClr val="phClr">
                <a:shade val="95000"/>
              </a:schemeClr>
            </a:duotone>
          </a:blip>
          <a:tile tx="0" ty="0" sx="32000" sy="32000" flip="none" algn="tl"/>
        </a:blip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Integral" id="{3577F8C9-A904-41D8-97D2-FD898F53F20E}" vid="{090DCB5F-146D-478A-852A-34B16FE9F3A8}"/>
    </a:ext>
  </a:extLst>
</a:theme>
</file>

<file path=ppt/theme/theme3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Integral</Template>
  <TotalTime>26587</TotalTime>
  <Words>1268</Words>
  <Application>Microsoft Macintosh PowerPoint</Application>
  <PresentationFormat>Widescreen</PresentationFormat>
  <Paragraphs>216</Paragraphs>
  <Slides>24</Slides>
  <Notes>10</Notes>
  <HiddenSlides>1</HiddenSlides>
  <MMClips>0</MMClips>
  <ScaleCrop>false</ScaleCrop>
  <HeadingPairs>
    <vt:vector size="6" baseType="variant">
      <vt:variant>
        <vt:lpstr>Fonts Used</vt:lpstr>
      </vt:variant>
      <vt:variant>
        <vt:i4>5</vt:i4>
      </vt:variant>
      <vt:variant>
        <vt:lpstr>Theme</vt:lpstr>
      </vt:variant>
      <vt:variant>
        <vt:i4>2</vt:i4>
      </vt:variant>
      <vt:variant>
        <vt:lpstr>Slide Titles</vt:lpstr>
      </vt:variant>
      <vt:variant>
        <vt:i4>24</vt:i4>
      </vt:variant>
    </vt:vector>
  </HeadingPairs>
  <TitlesOfParts>
    <vt:vector size="31" baseType="lpstr">
      <vt:lpstr>Aptos</vt:lpstr>
      <vt:lpstr>Cambria Math</vt:lpstr>
      <vt:lpstr>Tw Cen MT</vt:lpstr>
      <vt:lpstr>Tw Cen MT Condensed</vt:lpstr>
      <vt:lpstr>Wingdings 3</vt:lpstr>
      <vt:lpstr>Integral</vt:lpstr>
      <vt:lpstr>1_Integral</vt:lpstr>
      <vt:lpstr>Breakdown of Superdiffusion in Perturbed Quantum Integrable Spin Chains and Ladders</vt:lpstr>
      <vt:lpstr>Quantum Heisenberg Model</vt:lpstr>
      <vt:lpstr>S=1/2 Heisenberg Chain: Anomalous Spin Transport</vt:lpstr>
      <vt:lpstr>Generalized Hydrodynamics (GHD)</vt:lpstr>
      <vt:lpstr>Generalized Hydrodynamics (GHD)</vt:lpstr>
      <vt:lpstr>S=1/2 Heisenberg Chain: Anomalous Spin Transport</vt:lpstr>
      <vt:lpstr>Why superdiffusion?</vt:lpstr>
      <vt:lpstr>Why superdiffusion?</vt:lpstr>
      <vt:lpstr>“Superuniversality” of superdiffusion</vt:lpstr>
      <vt:lpstr>Breaking integrability</vt:lpstr>
      <vt:lpstr>Breaking integrability</vt:lpstr>
      <vt:lpstr>Heisenberg ladder</vt:lpstr>
      <vt:lpstr>Heisenberg ladder</vt:lpstr>
      <vt:lpstr>Heisenberg ladder</vt:lpstr>
      <vt:lpstr>Spin Transport</vt:lpstr>
      <vt:lpstr>Spin Transport</vt:lpstr>
      <vt:lpstr>Spin Transport</vt:lpstr>
      <vt:lpstr>Spin Transport</vt:lpstr>
      <vt:lpstr>Superuniversal 𝐺-invariant behavior?</vt:lpstr>
      <vt:lpstr>Spin Transport</vt:lpstr>
      <vt:lpstr>Summary</vt:lpstr>
      <vt:lpstr>Future Directions</vt:lpstr>
      <vt:lpstr>Thanks!</vt:lpstr>
      <vt:lpstr>Future Directions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Kevin Wang</dc:creator>
  <cp:lastModifiedBy>Kevin Wang</cp:lastModifiedBy>
  <cp:revision>51</cp:revision>
  <dcterms:created xsi:type="dcterms:W3CDTF">2024-06-07T07:59:19Z</dcterms:created>
  <dcterms:modified xsi:type="dcterms:W3CDTF">2025-10-03T00:19:21Z</dcterms:modified>
</cp:coreProperties>
</file>