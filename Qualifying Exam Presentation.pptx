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29"/>
  </p:notesMasterIdLst>
  <p:sldIdLst>
    <p:sldId id="256" r:id="rId3"/>
    <p:sldId id="275" r:id="rId4"/>
    <p:sldId id="296" r:id="rId5"/>
    <p:sldId id="297" r:id="rId6"/>
    <p:sldId id="276" r:id="rId7"/>
    <p:sldId id="278" r:id="rId8"/>
    <p:sldId id="279" r:id="rId9"/>
    <p:sldId id="277" r:id="rId10"/>
    <p:sldId id="280" r:id="rId11"/>
    <p:sldId id="281" r:id="rId12"/>
    <p:sldId id="283" r:id="rId13"/>
    <p:sldId id="282" r:id="rId14"/>
    <p:sldId id="286" r:id="rId15"/>
    <p:sldId id="257" r:id="rId16"/>
    <p:sldId id="285" r:id="rId17"/>
    <p:sldId id="284" r:id="rId18"/>
    <p:sldId id="258" r:id="rId19"/>
    <p:sldId id="260" r:id="rId20"/>
    <p:sldId id="261" r:id="rId21"/>
    <p:sldId id="288" r:id="rId22"/>
    <p:sldId id="289" r:id="rId23"/>
    <p:sldId id="291" r:id="rId24"/>
    <p:sldId id="274" r:id="rId25"/>
    <p:sldId id="293" r:id="rId26"/>
    <p:sldId id="292" r:id="rId27"/>
    <p:sldId id="294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52" autoAdjust="0"/>
    <p:restoredTop sz="94680"/>
  </p:normalViewPr>
  <p:slideViewPr>
    <p:cSldViewPr snapToGrid="0">
      <p:cViewPr varScale="1">
        <p:scale>
          <a:sx n="211" d="100"/>
          <a:sy n="211" d="100"/>
        </p:scale>
        <p:origin x="1088" y="200"/>
      </p:cViewPr>
      <p:guideLst/>
    </p:cSldViewPr>
  </p:slideViewPr>
  <p:outlineViewPr>
    <p:cViewPr>
      <p:scale>
        <a:sx n="33" d="100"/>
        <a:sy n="33" d="100"/>
      </p:scale>
      <p:origin x="0" y="-1993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8.png"/><Relationship Id="rId4" Type="http://schemas.openxmlformats.org/officeDocument/2006/relationships/image" Target="../media/image37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close-up of several chains&#10;&#10;AI-generated content may be incorrect.">
            <a:extLst>
              <a:ext uri="{FF2B5EF4-FFF2-40B4-BE49-F238E27FC236}">
                <a16:creationId xmlns:a16="http://schemas.microsoft.com/office/drawing/2014/main" id="{07A95EEF-BF06-FA23-3044-AA312981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16" b="131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A5BCE34-61A5-4D9E-BB0C-10B1138F2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9968"/>
            <a:ext cx="12192000" cy="2298032"/>
          </a:xfrm>
          <a:prstGeom prst="rect">
            <a:avLst/>
          </a:prstGeom>
          <a:solidFill>
            <a:schemeClr val="accent2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Kevin Wang</a:t>
            </a:r>
          </a:p>
          <a:p>
            <a:r>
              <a:rPr lang="en-US" dirty="0">
                <a:solidFill>
                  <a:srgbClr val="FFFFFF"/>
                </a:solidFill>
              </a:rPr>
              <a:t>UC Berkeley Qualifying Exam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F1B0F4-BC5D-4BBC-BFC1-4AECA3537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4" y="6470704"/>
            <a:ext cx="973666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Matrix product state simulations of </a:t>
            </a:r>
            <a:br>
              <a:rPr lang="en-US" sz="3500" dirty="0">
                <a:solidFill>
                  <a:srgbClr val="FFFFFF"/>
                </a:solidFill>
              </a:rPr>
            </a:br>
            <a:r>
              <a:rPr lang="en-US" sz="3500" dirty="0">
                <a:solidFill>
                  <a:srgbClr val="FFFFFF"/>
                </a:solidFill>
              </a:rPr>
              <a:t>low-dimensional quantum magnetism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lvl="1"/>
                <a:endParaRPr lang="en-US" sz="2000" dirty="0"/>
              </a:p>
              <a:p>
                <a:pPr lvl="1"/>
                <a:r>
                  <a:rPr lang="en-US" sz="2000" dirty="0"/>
                  <a:t>Paradigmatic model of quantum magnetism: simple, effective model describing antiferromagnetic (J&gt;0) magnetic insulators</a:t>
                </a:r>
              </a:p>
              <a:p>
                <a:pPr lvl="1"/>
                <a:endParaRPr lang="en-US" sz="2000" i="1" dirty="0"/>
              </a:p>
              <a:p>
                <a:pPr marL="128016" lvl="1" indent="0" algn="ctr">
                  <a:buNone/>
                </a:pPr>
                <a:r>
                  <a:rPr lang="en-US" sz="2000" b="1" u="sng" dirty="0"/>
                  <a:t>Despite simplicity, low-dimensional physics is extremely rich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  <a:blipFill>
                <a:blip r:embed="rId2"/>
                <a:stretch>
                  <a:fillRect t="-52574" b="-4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202B4-27CD-5B77-6A9D-6AAE97F6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74BE5-5185-D976-C318-4BBCB774A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0836" y="1840521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One dimension (1D)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Half-odd-integer spin chains are </a:t>
                </a:r>
                <a:r>
                  <a:rPr lang="en-US" sz="2000" i="1" dirty="0"/>
                  <a:t>gapless</a:t>
                </a:r>
              </a:p>
              <a:p>
                <a:pPr lvl="2"/>
                <a:r>
                  <a:rPr lang="en-US" sz="1600" dirty="0"/>
                  <a:t>low-T physics = Luttinger Liquid</a:t>
                </a:r>
              </a:p>
              <a:p>
                <a:pPr lvl="1"/>
                <a:r>
                  <a:rPr lang="en-US" sz="2000" dirty="0"/>
                  <a:t>Integer spin chains are </a:t>
                </a:r>
                <a:r>
                  <a:rPr lang="en-US" sz="2000" i="1" dirty="0"/>
                  <a:t>gapped</a:t>
                </a:r>
              </a:p>
              <a:p>
                <a:pPr lvl="2"/>
                <a:r>
                  <a:rPr lang="en-US" sz="1600" dirty="0"/>
                  <a:t>S=1 Haldane chain: canonical example of symmetry protected topological (SPT) phase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S=1/2 chain is exactly solvable via the Bethe ansatz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Integrability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infinite number of local conserved charges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Fractionalization of spin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deconfined </a:t>
                </a:r>
                <a:r>
                  <a:rPr lang="en-US" sz="1600" dirty="0" err="1">
                    <a:solidFill>
                      <a:schemeClr val="tx1"/>
                    </a:solidFill>
                  </a:rPr>
                  <a:t>spinon</a:t>
                </a:r>
                <a:r>
                  <a:rPr lang="en-US" sz="1600" dirty="0">
                    <a:solidFill>
                      <a:schemeClr val="tx1"/>
                    </a:solidFill>
                  </a:rPr>
                  <a:t> excitations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  <a:blipFill>
                <a:blip r:embed="rId2"/>
                <a:stretch>
                  <a:fillRect t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D5765-8A1E-24FF-D081-8F9C78E5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6D4CB-D793-35DB-3845-741830FAE758}"/>
              </a:ext>
            </a:extLst>
          </p:cNvPr>
          <p:cNvGrpSpPr/>
          <p:nvPr/>
        </p:nvGrpSpPr>
        <p:grpSpPr>
          <a:xfrm>
            <a:off x="7540088" y="2119499"/>
            <a:ext cx="3473450" cy="1989922"/>
            <a:chOff x="7476967" y="1999454"/>
            <a:chExt cx="3473450" cy="198992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123851-9093-FC9D-864E-9390E9C6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73"/>
            <a:stretch>
              <a:fillRect/>
            </a:stretch>
          </p:blipFill>
          <p:spPr>
            <a:xfrm>
              <a:off x="7476967" y="1999454"/>
              <a:ext cx="3473450" cy="172831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F02E1B-D095-3D7C-11B9-3B2F26A81F16}"/>
                </a:ext>
              </a:extLst>
            </p:cNvPr>
            <p:cNvSpPr txBox="1"/>
            <p:nvPr/>
          </p:nvSpPr>
          <p:spPr>
            <a:xfrm>
              <a:off x="7716294" y="3727766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Lake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PRL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‘13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DC43D4-290F-32DD-C31D-97E03B872C93}"/>
              </a:ext>
            </a:extLst>
          </p:cNvPr>
          <p:cNvGrpSpPr/>
          <p:nvPr/>
        </p:nvGrpSpPr>
        <p:grpSpPr>
          <a:xfrm>
            <a:off x="7518703" y="4556832"/>
            <a:ext cx="3642461" cy="1330065"/>
            <a:chOff x="7476967" y="4534137"/>
            <a:chExt cx="3642461" cy="1330065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33CA5FB0-70E9-E388-8961-27BD86F535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76967" y="4534137"/>
              <a:ext cx="3642461" cy="1068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4B301F-06C7-6323-AC55-D04C0D5E471D}"/>
                </a:ext>
              </a:extLst>
            </p:cNvPr>
            <p:cNvSpPr txBox="1"/>
            <p:nvPr/>
          </p:nvSpPr>
          <p:spPr>
            <a:xfrm>
              <a:off x="7667850" y="5602592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“AKLT Model”, Wikipedia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705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31F2-3186-5189-AC81-0C296693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C7AC-8D3A-241E-1107-5C0FA11F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7AF0E-39BD-2E3A-48CD-B903AF147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4128" y="1786020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dimensions (2D)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Frustrated systems may host </a:t>
                </a:r>
                <a:r>
                  <a:rPr lang="en-US" sz="2000" b="1" dirty="0"/>
                  <a:t>quantum spin liquids</a:t>
                </a:r>
              </a:p>
              <a:p>
                <a:pPr lvl="2"/>
                <a:r>
                  <a:rPr lang="en-US" sz="1600" dirty="0"/>
                  <a:t>Frustration prevents ordering down zero T</a:t>
                </a:r>
              </a:p>
              <a:p>
                <a:pPr lvl="2"/>
                <a:r>
                  <a:rPr lang="en-US" sz="1600" dirty="0"/>
                  <a:t>Highly entangled superposition of singlet, valence-bond states (resonating valence bond, RVB)</a:t>
                </a:r>
              </a:p>
              <a:p>
                <a:pPr lvl="2"/>
                <a:r>
                  <a:rPr lang="en-US" sz="1600" dirty="0"/>
                  <a:t>Like 1D S=1/2 chain, fractionalized </a:t>
                </a:r>
                <a:r>
                  <a:rPr lang="en-US" sz="1600" dirty="0" err="1"/>
                  <a:t>spinon</a:t>
                </a:r>
                <a:r>
                  <a:rPr lang="en-US" sz="1600" dirty="0"/>
                  <a:t> excitations become deconfined</a:t>
                </a:r>
              </a:p>
              <a:p>
                <a:pPr lvl="2"/>
                <a:r>
                  <a:rPr lang="en-US" sz="1600" dirty="0"/>
                  <a:t>Bosonic or fermionic (</a:t>
                </a:r>
                <a:r>
                  <a:rPr lang="en-US" sz="1600" dirty="0" err="1"/>
                  <a:t>parton</a:t>
                </a:r>
                <a:r>
                  <a:rPr lang="en-US" sz="1600" dirty="0"/>
                  <a:t>) descriptions of </a:t>
                </a:r>
                <a:r>
                  <a:rPr lang="en-US" sz="1600" dirty="0" err="1"/>
                  <a:t>spinons</a:t>
                </a:r>
                <a:endParaRPr lang="en-US" sz="1600" dirty="0"/>
              </a:p>
              <a:p>
                <a:pPr lvl="2"/>
                <a:r>
                  <a:rPr lang="en-US" sz="1600" dirty="0"/>
                  <a:t>Charged under emergent dynamical gauge field: </a:t>
                </a:r>
                <a:endParaRPr lang="en-US" sz="16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10896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(1),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 </m:t>
                      </m:r>
                    </m:oMath>
                  </m:oMathPara>
                </a14:m>
                <a:endParaRPr lang="en-US" sz="1600" dirty="0"/>
              </a:p>
              <a:p>
                <a:pPr lvl="2"/>
                <a:r>
                  <a:rPr lang="en-US" sz="1600" dirty="0"/>
                  <a:t>Excitations can have nontrivial braiding statistics</a:t>
                </a:r>
              </a:p>
              <a:p>
                <a:pPr lvl="2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  <a:blipFill>
                <a:blip r:embed="rId2"/>
                <a:stretch>
                  <a:fillRect t="-1894" r="-18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D01F9-F0E6-9E59-56AF-4C53AE71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29AA4-083D-410E-40C2-E4618EE46BC5}"/>
              </a:ext>
            </a:extLst>
          </p:cNvPr>
          <p:cNvGrpSpPr/>
          <p:nvPr/>
        </p:nvGrpSpPr>
        <p:grpSpPr>
          <a:xfrm>
            <a:off x="6533520" y="1940101"/>
            <a:ext cx="5075121" cy="1343958"/>
            <a:chOff x="6533520" y="1940101"/>
            <a:chExt cx="5075121" cy="1343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DF35418-996D-F21E-8984-1581E3A6F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3520" y="1940101"/>
              <a:ext cx="5075121" cy="10276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FEB2F-10F0-93A0-17AC-C71F90564C2A}"/>
                </a:ext>
              </a:extLst>
            </p:cNvPr>
            <p:cNvSpPr txBox="1"/>
            <p:nvPr/>
          </p:nvSpPr>
          <p:spPr>
            <a:xfrm>
              <a:off x="7345241" y="3022449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Savary and </a:t>
              </a:r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Balents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Rep. Prog. Phys.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‘17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68F929-DF70-E997-5174-170C0B757B63}"/>
              </a:ext>
            </a:extLst>
          </p:cNvPr>
          <p:cNvGrpSpPr/>
          <p:nvPr/>
        </p:nvGrpSpPr>
        <p:grpSpPr>
          <a:xfrm>
            <a:off x="9408003" y="3321074"/>
            <a:ext cx="1616298" cy="2179393"/>
            <a:chOff x="9658131" y="3186849"/>
            <a:chExt cx="1616298" cy="217939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EE8EF4-F32C-9A00-CF64-9952134B4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58131" y="3186849"/>
              <a:ext cx="1616298" cy="19177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85CAA4-B01C-7BFE-5410-2985821EF0DC}"/>
                </a:ext>
              </a:extLst>
            </p:cNvPr>
            <p:cNvSpPr txBox="1"/>
            <p:nvPr/>
          </p:nvSpPr>
          <p:spPr>
            <a:xfrm>
              <a:off x="9700782" y="5104632"/>
              <a:ext cx="153099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Wietek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PRX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‘24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9E4D95-0D99-2C59-79D8-F08DCFF81540}"/>
              </a:ext>
            </a:extLst>
          </p:cNvPr>
          <p:cNvGrpSpPr/>
          <p:nvPr/>
        </p:nvGrpSpPr>
        <p:grpSpPr>
          <a:xfrm>
            <a:off x="6833860" y="3493423"/>
            <a:ext cx="2237219" cy="2204319"/>
            <a:chOff x="6833860" y="3493423"/>
            <a:chExt cx="2237219" cy="220431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7C0013-2A22-BCE2-70A4-A1B301EF6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3860" y="3493423"/>
              <a:ext cx="2237219" cy="1804209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C69122-699D-2D5E-8C65-4914CEDE65AD}"/>
                </a:ext>
              </a:extLst>
            </p:cNvPr>
            <p:cNvSpPr txBox="1"/>
            <p:nvPr/>
          </p:nvSpPr>
          <p:spPr>
            <a:xfrm>
              <a:off x="6924082" y="5297632"/>
              <a:ext cx="1814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“Quantum Phases of Matter” Subir Sachdev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2064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189430" cy="4326031"/>
            <a:chOff x="7222603" y="1620456"/>
            <a:chExt cx="4189430" cy="43260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8230115" y="5607933"/>
              <a:ext cx="31819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‘17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581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714941"/>
            <a:chOff x="6653048" y="2048423"/>
            <a:chExt cx="5349725" cy="3714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834360" y="5922266"/>
              <a:ext cx="3071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448" t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2122" b="-26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‘21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445"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676" t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’17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’18</a:t>
            </a:r>
            <a:r>
              <a:rPr lang="en-US" sz="2000" dirty="0"/>
              <a:t>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’14)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’25)</a:t>
            </a:r>
            <a:endParaRPr lang="en-US" sz="2000" dirty="0"/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’25)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25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26712</TotalTime>
  <Words>1413</Words>
  <Application>Microsoft Macintosh PowerPoint</Application>
  <PresentationFormat>Widescreen</PresentationFormat>
  <Paragraphs>239</Paragraphs>
  <Slides>26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Arial</vt:lpstr>
      <vt:lpstr>Cambria Math</vt:lpstr>
      <vt:lpstr>Tw Cen MT</vt:lpstr>
      <vt:lpstr>Tw Cen MT Condensed</vt:lpstr>
      <vt:lpstr>Wingdings 3</vt:lpstr>
      <vt:lpstr>Integral</vt:lpstr>
      <vt:lpstr>1_Integral</vt:lpstr>
      <vt:lpstr>Matrix product state simulations of  low-dimensional quantum magnetism</vt:lpstr>
      <vt:lpstr>Quantum Heisenberg Model</vt:lpstr>
      <vt:lpstr>Quantum Heisenberg Model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Thanks!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54</cp:revision>
  <dcterms:created xsi:type="dcterms:W3CDTF">2024-06-07T07:59:19Z</dcterms:created>
  <dcterms:modified xsi:type="dcterms:W3CDTF">2026-03-02T20:58:55Z</dcterms:modified>
</cp:coreProperties>
</file>