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5" r:id="rId1"/>
    <p:sldMasterId id="2147483907" r:id="rId2"/>
  </p:sldMasterIdLst>
  <p:notesMasterIdLst>
    <p:notesMasterId r:id="rId45"/>
  </p:notesMasterIdLst>
  <p:sldIdLst>
    <p:sldId id="256" r:id="rId3"/>
    <p:sldId id="275" r:id="rId4"/>
    <p:sldId id="296" r:id="rId5"/>
    <p:sldId id="297" r:id="rId6"/>
    <p:sldId id="298" r:id="rId7"/>
    <p:sldId id="299" r:id="rId8"/>
    <p:sldId id="276" r:id="rId9"/>
    <p:sldId id="278" r:id="rId10"/>
    <p:sldId id="279" r:id="rId11"/>
    <p:sldId id="277" r:id="rId12"/>
    <p:sldId id="280" r:id="rId13"/>
    <p:sldId id="281" r:id="rId14"/>
    <p:sldId id="283" r:id="rId15"/>
    <p:sldId id="282" r:id="rId16"/>
    <p:sldId id="286" r:id="rId17"/>
    <p:sldId id="257" r:id="rId18"/>
    <p:sldId id="285" r:id="rId19"/>
    <p:sldId id="284" r:id="rId20"/>
    <p:sldId id="258" r:id="rId21"/>
    <p:sldId id="260" r:id="rId22"/>
    <p:sldId id="261" r:id="rId23"/>
    <p:sldId id="288" r:id="rId24"/>
    <p:sldId id="289" r:id="rId25"/>
    <p:sldId id="291" r:id="rId26"/>
    <p:sldId id="274" r:id="rId27"/>
    <p:sldId id="293" r:id="rId28"/>
    <p:sldId id="305" r:id="rId29"/>
    <p:sldId id="300" r:id="rId30"/>
    <p:sldId id="302" r:id="rId31"/>
    <p:sldId id="303" r:id="rId32"/>
    <p:sldId id="307" r:id="rId33"/>
    <p:sldId id="306" r:id="rId34"/>
    <p:sldId id="308" r:id="rId35"/>
    <p:sldId id="309" r:id="rId36"/>
    <p:sldId id="310" r:id="rId37"/>
    <p:sldId id="311" r:id="rId38"/>
    <p:sldId id="313" r:id="rId39"/>
    <p:sldId id="314" r:id="rId40"/>
    <p:sldId id="315" r:id="rId41"/>
    <p:sldId id="318" r:id="rId42"/>
    <p:sldId id="292" r:id="rId43"/>
    <p:sldId id="294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81" autoAdjust="0"/>
    <p:restoredTop sz="94719"/>
  </p:normalViewPr>
  <p:slideViewPr>
    <p:cSldViewPr snapToGrid="0">
      <p:cViewPr varScale="1">
        <p:scale>
          <a:sx n="91" d="100"/>
          <a:sy n="91" d="100"/>
        </p:scale>
        <p:origin x="952" y="48"/>
      </p:cViewPr>
      <p:guideLst/>
    </p:cSldViewPr>
  </p:slideViewPr>
  <p:outlineViewPr>
    <p:cViewPr>
      <p:scale>
        <a:sx n="33" d="100"/>
        <a:sy n="33" d="100"/>
      </p:scale>
      <p:origin x="0" y="-52072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11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14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AF6D-58BD-F013-2A10-12E72672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A24C4-8C9B-4D70-48CF-751D74D83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F3E04-8135-73EF-221F-535F18971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C278-1492-B406-EC81-AF00F0675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456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E5909-B2AA-689A-22FF-372BBB913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C9ACD-92AF-F8D8-EE2C-293BFF0FF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71888-C5B2-4072-82EE-1B8510D46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711F3-3875-FAA6-13AB-98E78E762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906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8076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47A03-539B-6CA7-2386-119405E26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C673F-AB98-C1A2-08F5-4ADCF9B32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CE5EE-897E-8342-96F3-9FAF05C1C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03641-F084-89C4-F067-EF42D6B8C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598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6217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BDDE8-DCED-5F1C-131D-A2DE47C3C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CF51E-8CE5-83E0-C787-A90F35FD9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F69BC-3C6A-D470-F85D-EA57682C5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167A8B-6773-B39F-3EAF-639E7DE888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812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9875F-FA46-5A53-01F0-9A53F4137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CD1109-225C-42C7-3DBB-29F880B4E7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CD8CD-7527-8F64-39CC-95A95BA26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DD0B9-67FB-F3CD-47A2-76AED30FFC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8908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FC11E-F936-3496-778D-C0E8279B9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53C732-7EE8-C75E-9627-2552FCCFC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656226-2C77-7C51-3BCD-283AC082D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4FCFF-E0BB-FC7A-4FD9-267E14ED7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6233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EC49C-8C80-C34A-D608-58EF4155D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353A9-3AE0-1CC8-C401-784D79F709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B29AC-7DA5-BDF3-6228-BEB7CFCFC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900CC-F5E8-4379-083F-976317F7F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0821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77CE8-158D-A410-5EE2-11B5333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F88A4-B1A5-37FF-7DEB-82C7A5E1F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144A87-E1CB-DF2A-95AC-6B524EA9D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31C36-F0AA-3D34-B62B-7A10C9818C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2945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E234-E549-FAA4-51ED-8E5BA6B4F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87AB6-3999-F074-59F0-026788ED4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DC1E9-5A12-420E-84C5-A2293DDD1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B9DAA-BE67-A168-D593-EF73AFD76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49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29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828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8197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985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4331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2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72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1318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5784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41341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27777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1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2051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209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0144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2467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61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398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774247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4864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37208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00545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63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330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18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1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32.png"/><Relationship Id="rId4" Type="http://schemas.openxmlformats.org/officeDocument/2006/relationships/image" Target="../media/image27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0.png"/><Relationship Id="rId4" Type="http://schemas.openxmlformats.org/officeDocument/2006/relationships/image" Target="../media/image4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67.png"/><Relationship Id="rId4" Type="http://schemas.openxmlformats.org/officeDocument/2006/relationships/image" Target="../media/image66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17D00EF-8BEA-D560-EB0E-A25800553B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3500" dirty="0">
                <a:solidFill>
                  <a:schemeClr val="tx1"/>
                </a:solidFill>
              </a:rPr>
              <a:t>low-dimensional quantum magnetism:</a:t>
            </a:r>
            <a:br>
              <a:rPr lang="en-US" sz="3500" dirty="0">
                <a:solidFill>
                  <a:schemeClr val="tx1"/>
                </a:solidFill>
              </a:rPr>
            </a:br>
            <a:r>
              <a:rPr lang="en-US" sz="3500" dirty="0">
                <a:solidFill>
                  <a:schemeClr val="tx1"/>
                </a:solidFill>
              </a:rPr>
              <a:t>superdiffusion breakdown in spin ladders and quantum spin liquids on the triangular lattice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Kevin Wang</a:t>
            </a:r>
          </a:p>
          <a:p>
            <a:r>
              <a:rPr lang="en-US" dirty="0">
                <a:solidFill>
                  <a:schemeClr val="tx1"/>
                </a:solidFill>
              </a:rPr>
              <a:t>UC Berkeley Qualifying Exam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D966-0408-0CA1-4149-DF0215A3B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852B8ED-7F2B-5448-BD79-1530102DF259}" type="slidenum">
              <a:rPr lang="en-US">
                <a:solidFill>
                  <a:srgbClr val="FFFFFF">
                    <a:alpha val="80000"/>
                  </a:srgbClr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>
                  <a:alpha val="8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lvl="1"/>
                <a:endParaRPr lang="en-US" sz="2000" dirty="0"/>
              </a:p>
              <a:p>
                <a:pPr lvl="1"/>
                <a:r>
                  <a:rPr lang="en-US" sz="2000" dirty="0"/>
                  <a:t>Paradigmatic model of quantum magnetism: simple, effective model describing antiferromagnetic (J&gt;0) magnetic insulators</a:t>
                </a:r>
              </a:p>
              <a:p>
                <a:pPr lvl="1"/>
                <a:endParaRPr lang="en-US" sz="2000" i="1" dirty="0"/>
              </a:p>
              <a:p>
                <a:pPr marL="128016" lvl="1" indent="0" algn="ctr">
                  <a:buNone/>
                </a:pPr>
                <a:r>
                  <a:rPr lang="en-US" sz="2000" b="1" u="sng" dirty="0"/>
                  <a:t>Despite simplicity, low-dimensional physics is extremely rich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  <a:blipFill>
                <a:blip r:embed="rId2"/>
                <a:stretch>
                  <a:fillRect t="-52574" b="-4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37BA0-EF27-0ECB-7E32-ADCEC228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202B4-27CD-5B77-6A9D-6AAE97F6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674BE5-5185-D976-C318-4BBCB774A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0836" y="1840521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One dimension (1D)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Half-odd-integer spin chains are </a:t>
                </a:r>
                <a:r>
                  <a:rPr lang="en-US" sz="2000" i="1" dirty="0"/>
                  <a:t>gapless</a:t>
                </a:r>
              </a:p>
              <a:p>
                <a:pPr lvl="2"/>
                <a:r>
                  <a:rPr lang="en-US" sz="1600" dirty="0"/>
                  <a:t>low-T physics = Luttinger Liquid</a:t>
                </a:r>
              </a:p>
              <a:p>
                <a:pPr lvl="1"/>
                <a:r>
                  <a:rPr lang="en-US" sz="2000" dirty="0"/>
                  <a:t>Integer spin chains are </a:t>
                </a:r>
                <a:r>
                  <a:rPr lang="en-US" sz="2000" i="1" dirty="0"/>
                  <a:t>gapped</a:t>
                </a:r>
              </a:p>
              <a:p>
                <a:pPr lvl="2"/>
                <a:r>
                  <a:rPr lang="en-US" sz="1600" dirty="0"/>
                  <a:t>S=1 Haldane chain: canonical example of symmetry protected topological (SPT) phase</a:t>
                </a:r>
              </a:p>
              <a:p>
                <a:pPr lvl="1"/>
                <a:r>
                  <a:rPr lang="en-US" sz="2000" dirty="0">
                    <a:solidFill>
                      <a:schemeClr val="tx1"/>
                    </a:solidFill>
                  </a:rPr>
                  <a:t>S=1/2 chain is exactly solvable via the Bethe ansatz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Integrability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infinite number of local conserved charges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Fractionalization of spin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deconfined </a:t>
                </a:r>
                <a:r>
                  <a:rPr lang="en-US" sz="1600" dirty="0" err="1">
                    <a:solidFill>
                      <a:schemeClr val="tx1"/>
                    </a:solidFill>
                  </a:rPr>
                  <a:t>spinon</a:t>
                </a:r>
                <a:r>
                  <a:rPr lang="en-US" sz="1600" dirty="0">
                    <a:solidFill>
                      <a:schemeClr val="tx1"/>
                    </a:solidFill>
                  </a:rPr>
                  <a:t> excitations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  <a:blipFill>
                <a:blip r:embed="rId2"/>
                <a:stretch>
                  <a:fillRect t="-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2D5765-8A1E-24FF-D081-8F9C78E50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46D4CB-D793-35DB-3845-741830FAE758}"/>
              </a:ext>
            </a:extLst>
          </p:cNvPr>
          <p:cNvGrpSpPr/>
          <p:nvPr/>
        </p:nvGrpSpPr>
        <p:grpSpPr>
          <a:xfrm>
            <a:off x="7540088" y="2119499"/>
            <a:ext cx="3473450" cy="1989922"/>
            <a:chOff x="7476967" y="1999454"/>
            <a:chExt cx="3473450" cy="1989922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6123851-9093-FC9D-864E-9390E9C61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73"/>
            <a:stretch>
              <a:fillRect/>
            </a:stretch>
          </p:blipFill>
          <p:spPr>
            <a:xfrm>
              <a:off x="7476967" y="1999454"/>
              <a:ext cx="3473450" cy="1728311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F02E1B-D095-3D7C-11B9-3B2F26A81F16}"/>
                </a:ext>
              </a:extLst>
            </p:cNvPr>
            <p:cNvSpPr txBox="1"/>
            <p:nvPr/>
          </p:nvSpPr>
          <p:spPr>
            <a:xfrm>
              <a:off x="7716294" y="3727766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Lake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PRL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(2013)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9DC43D4-290F-32DD-C31D-97E03B872C93}"/>
              </a:ext>
            </a:extLst>
          </p:cNvPr>
          <p:cNvGrpSpPr/>
          <p:nvPr/>
        </p:nvGrpSpPr>
        <p:grpSpPr>
          <a:xfrm>
            <a:off x="7518703" y="4556832"/>
            <a:ext cx="3642461" cy="1330065"/>
            <a:chOff x="7476967" y="4534137"/>
            <a:chExt cx="3642461" cy="1330065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33CA5FB0-70E9-E388-8961-27BD86F535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76967" y="4534137"/>
              <a:ext cx="3642461" cy="1068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4B301F-06C7-6323-AC55-D04C0D5E471D}"/>
                </a:ext>
              </a:extLst>
            </p:cNvPr>
            <p:cNvSpPr txBox="1"/>
            <p:nvPr/>
          </p:nvSpPr>
          <p:spPr>
            <a:xfrm>
              <a:off x="7667850" y="5602592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“AKLT Model”, Wikipedia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8705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C31F2-3186-5189-AC81-0C296693D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CC7AC-8D3A-241E-1107-5C0FA11F8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67AF0E-39BD-2E3A-48CD-B903AF1474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4128" y="1786020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Two dimensions (2D)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Frustrated systems may host </a:t>
                </a:r>
                <a:r>
                  <a:rPr lang="en-US" sz="2000" b="1" dirty="0"/>
                  <a:t>quantum spin liquids</a:t>
                </a:r>
              </a:p>
              <a:p>
                <a:pPr lvl="2"/>
                <a:r>
                  <a:rPr lang="en-US" sz="1600" dirty="0"/>
                  <a:t>Frustration prevents ordering down to zero T</a:t>
                </a:r>
              </a:p>
              <a:p>
                <a:pPr lvl="2"/>
                <a:r>
                  <a:rPr lang="en-US" sz="1600" dirty="0"/>
                  <a:t>Highly entangled superposition of singlet, valence-bond states (resonating valence bond, RVB)</a:t>
                </a:r>
              </a:p>
              <a:p>
                <a:pPr lvl="2"/>
                <a:r>
                  <a:rPr lang="en-US" sz="1600" dirty="0"/>
                  <a:t>Like 1D S=1/2 chain, fractionalized </a:t>
                </a:r>
                <a:r>
                  <a:rPr lang="en-US" sz="1600" dirty="0" err="1"/>
                  <a:t>spinon</a:t>
                </a:r>
                <a:r>
                  <a:rPr lang="en-US" sz="1600" dirty="0"/>
                  <a:t> excitations become </a:t>
                </a:r>
                <a:r>
                  <a:rPr lang="en-US" sz="1600" i="1" dirty="0"/>
                  <a:t>deconfined</a:t>
                </a:r>
              </a:p>
              <a:p>
                <a:pPr lvl="2"/>
                <a:r>
                  <a:rPr lang="en-US" sz="1600" dirty="0"/>
                  <a:t>Bosonic or fermionic (</a:t>
                </a:r>
                <a:r>
                  <a:rPr lang="en-US" sz="1600" dirty="0" err="1"/>
                  <a:t>parton</a:t>
                </a:r>
                <a:r>
                  <a:rPr lang="en-US" sz="1600" dirty="0"/>
                  <a:t>) descriptions of </a:t>
                </a:r>
                <a:r>
                  <a:rPr lang="en-US" sz="1600" dirty="0" err="1"/>
                  <a:t>spinons</a:t>
                </a:r>
                <a:endParaRPr lang="en-US" sz="1600" dirty="0"/>
              </a:p>
              <a:p>
                <a:pPr lvl="2"/>
                <a:r>
                  <a:rPr lang="en-US" sz="1600" dirty="0"/>
                  <a:t>Charged under emergent dynamical gauge field: </a:t>
                </a:r>
                <a:endParaRPr lang="en-US" sz="16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10896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(1),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 </m:t>
                      </m:r>
                    </m:oMath>
                  </m:oMathPara>
                </a14:m>
                <a:endParaRPr lang="en-US" sz="1600" dirty="0"/>
              </a:p>
              <a:p>
                <a:pPr lvl="2"/>
                <a:r>
                  <a:rPr lang="en-US" sz="1600" dirty="0"/>
                  <a:t>Excitations can have nontrivial braiding statistics</a:t>
                </a:r>
              </a:p>
              <a:p>
                <a:pPr lvl="2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  <a:blipFill>
                <a:blip r:embed="rId2"/>
                <a:stretch>
                  <a:fillRect t="-1825" r="-2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8D01F9-F0E6-9E59-56AF-4C53AE71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</a:t>
            </a:fld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2929AA4-083D-410E-40C2-E4618EE46BC5}"/>
              </a:ext>
            </a:extLst>
          </p:cNvPr>
          <p:cNvGrpSpPr/>
          <p:nvPr/>
        </p:nvGrpSpPr>
        <p:grpSpPr>
          <a:xfrm>
            <a:off x="6533520" y="1940101"/>
            <a:ext cx="5075121" cy="1343958"/>
            <a:chOff x="6533520" y="1940101"/>
            <a:chExt cx="5075121" cy="13439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DF35418-996D-F21E-8984-1581E3A6F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33520" y="1940101"/>
              <a:ext cx="5075121" cy="102768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7BFEB2F-10F0-93A0-17AC-C71F90564C2A}"/>
                </a:ext>
              </a:extLst>
            </p:cNvPr>
            <p:cNvSpPr txBox="1"/>
            <p:nvPr/>
          </p:nvSpPr>
          <p:spPr>
            <a:xfrm>
              <a:off x="7345241" y="3022449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Savary and </a:t>
              </a:r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Balents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Rep. Prog. Phys.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(2017)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B68F929-DF70-E997-5174-170C0B757B63}"/>
              </a:ext>
            </a:extLst>
          </p:cNvPr>
          <p:cNvGrpSpPr/>
          <p:nvPr/>
        </p:nvGrpSpPr>
        <p:grpSpPr>
          <a:xfrm>
            <a:off x="9365354" y="3321074"/>
            <a:ext cx="1658947" cy="2179393"/>
            <a:chOff x="9615482" y="3186849"/>
            <a:chExt cx="1658947" cy="217939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2EE8EF4-F32C-9A00-CF64-9952134B42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58131" y="3186849"/>
              <a:ext cx="1616298" cy="191778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585CAA4-B01C-7BFE-5410-2985821EF0DC}"/>
                </a:ext>
              </a:extLst>
            </p:cNvPr>
            <p:cNvSpPr txBox="1"/>
            <p:nvPr/>
          </p:nvSpPr>
          <p:spPr>
            <a:xfrm>
              <a:off x="9615482" y="5104632"/>
              <a:ext cx="1658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Wietek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PRX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(2024)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59E4D95-0D99-2C59-79D8-F08DCFF81540}"/>
              </a:ext>
            </a:extLst>
          </p:cNvPr>
          <p:cNvGrpSpPr/>
          <p:nvPr/>
        </p:nvGrpSpPr>
        <p:grpSpPr>
          <a:xfrm>
            <a:off x="6833860" y="3493423"/>
            <a:ext cx="2237219" cy="2204319"/>
            <a:chOff x="6833860" y="3493423"/>
            <a:chExt cx="2237219" cy="220431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C7C0013-2A22-BCE2-70A4-A1B301EF6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33860" y="3493423"/>
              <a:ext cx="2237219" cy="1804209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8C69122-699D-2D5E-8C65-4914CEDE65AD}"/>
                </a:ext>
              </a:extLst>
            </p:cNvPr>
            <p:cNvSpPr txBox="1"/>
            <p:nvPr/>
          </p:nvSpPr>
          <p:spPr>
            <a:xfrm>
              <a:off x="6924082" y="5297632"/>
              <a:ext cx="1814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“Quantum Phases of Matter” Subir Sachdev (2023)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2064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90759-9354-34CF-94D7-F2D6D1D25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C0956-AB99-0F23-A306-E821A7B9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FC85B-2C2A-5374-F526-D420B6493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F60F8-A68F-A4DF-92A6-A8DC97D0E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5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5F13D8FE-AE02-3B0C-855B-C31E7AF96497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tx1"/>
                </a:solidFill>
              </a:rPr>
              <a:t>Part II: </a:t>
            </a:r>
            <a:r>
              <a:rPr lang="en-US" dirty="0">
                <a:solidFill>
                  <a:schemeClr val="tx1"/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3756556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41E71-ACC6-7CF9-8961-DB10D800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AC848-D188-DB7D-1CD2-BE14914C4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6DA8A-CB90-C863-E228-4AB324E2A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D765B-8346-0AC7-31B3-1E10F7111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6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940477B-B53D-0FFE-EAB3-C8DC4EE6A405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4113060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high-temperature spin transport discovered to be </a:t>
                </a:r>
                <a:r>
                  <a:rPr lang="en-US" sz="2400" i="1" dirty="0"/>
                  <a:t>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033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6CA70-DED4-B14F-B39C-4E7E4922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7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E36BBCC-FB43-BD40-D59A-A734C4230EC7}"/>
              </a:ext>
            </a:extLst>
          </p:cNvPr>
          <p:cNvGrpSpPr/>
          <p:nvPr/>
        </p:nvGrpSpPr>
        <p:grpSpPr>
          <a:xfrm>
            <a:off x="7222603" y="1620456"/>
            <a:ext cx="4428787" cy="4295254"/>
            <a:chOff x="7222603" y="1620456"/>
            <a:chExt cx="4428787" cy="429525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B686C5-138D-9DF5-23F0-08DE1DE10096}"/>
                </a:ext>
              </a:extLst>
            </p:cNvPr>
            <p:cNvGrpSpPr/>
            <p:nvPr/>
          </p:nvGrpSpPr>
          <p:grpSpPr>
            <a:xfrm>
              <a:off x="7222603" y="1620456"/>
              <a:ext cx="4131197" cy="3930549"/>
              <a:chOff x="7222603" y="1620456"/>
              <a:chExt cx="4131197" cy="3930549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B738DD6-6D0A-A9D8-5DB1-D02489CEC390}"/>
                  </a:ext>
                </a:extLst>
              </p:cNvPr>
              <p:cNvGrpSpPr/>
              <p:nvPr/>
            </p:nvGrpSpPr>
            <p:grpSpPr>
              <a:xfrm>
                <a:off x="7265475" y="1677384"/>
                <a:ext cx="4088325" cy="3873621"/>
                <a:chOff x="7265475" y="1492189"/>
                <a:chExt cx="4088325" cy="387362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67C207BC-0287-2024-35F8-F3DA12818A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65475" y="1492189"/>
                  <a:ext cx="4088325" cy="3873621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2/3</m:t>
                                </m:r>
                              </m:sup>
                            </m:sSup>
                          </m:oMath>
                        </m:oMathPara>
                      </a14:m>
                      <a:endParaRPr lang="en-US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33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3F84B4-3EC5-1632-CECD-FB6A1043E248}"/>
                  </a:ext>
                </a:extLst>
              </p:cNvPr>
              <p:cNvSpPr/>
              <p:nvPr/>
            </p:nvSpPr>
            <p:spPr>
              <a:xfrm>
                <a:off x="7222603" y="1620456"/>
                <a:ext cx="300941" cy="358815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E0FB26-326B-8DE8-ED55-A71D64CDA13F}"/>
                </a:ext>
              </a:extLst>
            </p:cNvPr>
            <p:cNvSpPr txBox="1"/>
            <p:nvPr/>
          </p:nvSpPr>
          <p:spPr>
            <a:xfrm>
              <a:off x="7373073" y="5607933"/>
              <a:ext cx="42783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Ljubotina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Žnidarič &amp; Prosen, </a:t>
              </a:r>
              <a:r>
                <a:rPr lang="en-US" sz="14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Nat. Commun. 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(2017)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  <a:p>
                <a:pPr lvl="1"/>
                <a:endParaRPr lang="en-US" sz="2000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d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000" dirty="0"/>
              </a:p>
              <a:p>
                <a:pPr marL="128016" lvl="1" indent="0" algn="ctr">
                  <a:buNone/>
                </a:pPr>
                <a:r>
                  <a:rPr lang="en-US" sz="2000" dirty="0"/>
                  <a:t>“Bethe-Boltzmann equation”</a:t>
                </a:r>
              </a:p>
              <a:p>
                <a:pPr marL="128016" lvl="1" indent="0" algn="ctr">
                  <a:buNone/>
                </a:pPr>
                <a:r>
                  <a:rPr lang="en-US" sz="13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Bulchandani</a:t>
                </a:r>
                <a:r>
                  <a:rPr lang="en-US" sz="13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et al., </a:t>
                </a:r>
                <a:r>
                  <a:rPr lang="en-US" sz="13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PRB</a:t>
                </a:r>
                <a:r>
                  <a:rPr lang="en-US" sz="13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(2018)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2172" t="-2241" r="-1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5C89C-D9A8-B58A-0212-6C307EAC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8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FD6718-5A10-DB3C-CCF9-56FF6D528AE8}"/>
              </a:ext>
            </a:extLst>
          </p:cNvPr>
          <p:cNvGrpSpPr/>
          <p:nvPr/>
        </p:nvGrpSpPr>
        <p:grpSpPr>
          <a:xfrm>
            <a:off x="6653048" y="2048423"/>
            <a:ext cx="5349725" cy="3684164"/>
            <a:chOff x="6653048" y="2048423"/>
            <a:chExt cx="5349725" cy="368416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28233C-94EE-975B-D6BC-31EFA6E04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53048" y="2048423"/>
              <a:ext cx="5349725" cy="33013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43B29D-C26B-170A-0F9C-DFDB9A61D718}"/>
                </a:ext>
              </a:extLst>
            </p:cNvPr>
            <p:cNvSpPr txBox="1"/>
            <p:nvPr/>
          </p:nvSpPr>
          <p:spPr>
            <a:xfrm>
              <a:off x="8048530" y="5424810"/>
              <a:ext cx="312103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4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9720073" cy="42245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(renormalized)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DAA62-ED21-81DA-21EF-F533E79F5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9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6DE18E5-18BA-55E4-819E-B0E2DB75AF8B}"/>
              </a:ext>
            </a:extLst>
          </p:cNvPr>
          <p:cNvGrpSpPr/>
          <p:nvPr/>
        </p:nvGrpSpPr>
        <p:grpSpPr>
          <a:xfrm>
            <a:off x="3867490" y="3097891"/>
            <a:ext cx="4457020" cy="3162929"/>
            <a:chOff x="3867490" y="3097891"/>
            <a:chExt cx="4457020" cy="31629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2418434-E62E-03FC-9169-06D3025CD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7490" y="3097891"/>
              <a:ext cx="4457020" cy="296176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A432CC-BBC8-5841-432F-AE9B40499383}"/>
                </a:ext>
              </a:extLst>
            </p:cNvPr>
            <p:cNvSpPr txBox="1"/>
            <p:nvPr/>
          </p:nvSpPr>
          <p:spPr>
            <a:xfrm>
              <a:off x="4599921" y="5922266"/>
              <a:ext cx="330558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Generically, GHD predicts </a:t>
                </a:r>
                <a:r>
                  <a:rPr lang="en-US" sz="2400" i="1" dirty="0"/>
                  <a:t>ballistic 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) transport</a:t>
                </a:r>
              </a:p>
              <a:p>
                <a:r>
                  <a:rPr lang="en-US" sz="2400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sub-ballistic transport</a:t>
                </a:r>
              </a:p>
              <a:p>
                <a:r>
                  <a:rPr lang="en-US" sz="2400" dirty="0"/>
                  <a:t>Spin transport of XXZ Chain at half-filling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Easy-plane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ballistic</a:t>
                </a:r>
              </a:p>
              <a:p>
                <a:pPr lvl="1"/>
                <a:r>
                  <a:rPr lang="en-US" sz="2000" dirty="0"/>
                  <a:t>Easy-axis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diffusive</a:t>
                </a:r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FCFC6-A3DE-3359-BBF9-41577629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FACA8-C9BC-E4ED-9FC4-2087F4236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11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</p:spPr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/>
                  <a:t>Heuristic scaling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                     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  <a:blipFill>
                <a:blip r:embed="rId3"/>
                <a:stretch>
                  <a:fillRect l="-1333" t="-14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scaling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Screening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2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9A1F8-96F5-969D-D5FC-262039D3A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“Superuniversality” of superdiffusion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     non-abelian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Ilievski et al., </a:t>
                </a:r>
                <a:r>
                  <a:rPr lang="en-US" sz="18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PRX </a:t>
                </a: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(2021)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F7C58-0E67-E559-9761-E4B57851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the onset of diffusion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73" t="-3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125C8-DC5B-7846-B2DF-506F16B20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  <a:blipFill>
                <a:blip r:embed="rId2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  <a:blipFill>
                <a:blip r:embed="rId3"/>
                <a:stretch>
                  <a:fillRect l="-2591" t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  <a:blipFill>
                <a:blip r:embed="rId4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  <a:blipFill>
                <a:blip r:embed="rId5"/>
                <a:stretch>
                  <a:fillRect l="-2579" t="-19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1C9CC-68D3-9910-CF4C-FC17A7C2E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  <a:blipFill>
                <a:blip r:embed="rId2"/>
                <a:stretch>
                  <a:fillRect l="-1448" t="-18349" b="-61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12827-61A9-F7DA-930E-89405459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821674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3BFF-3405-1EDD-06C1-13AA4AC13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 b="-20743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4E08E-EB93-1EDF-A140-D9A898997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39" r="-1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DB77C-2DF8-12D0-EC58-7EC2E6DC5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34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042E4-635D-4000-00E0-FC09F18F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B5C0FF1-C503-7D8C-0C39-E661FF926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31AE00F-CB37-7A67-67D8-AA99C1F9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868764-1FBB-8118-0308-160EED80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F9796E3-81A5-4497-FCE0-21799C3D44B8}"/>
              </a:ext>
            </a:extLst>
          </p:cNvPr>
          <p:cNvGrpSpPr/>
          <p:nvPr/>
        </p:nvGrpSpPr>
        <p:grpSpPr>
          <a:xfrm>
            <a:off x="2458756" y="2746836"/>
            <a:ext cx="7274488" cy="3388004"/>
            <a:chOff x="2458756" y="2746836"/>
            <a:chExt cx="7274488" cy="3388004"/>
          </a:xfrm>
        </p:grpSpPr>
        <p:pic>
          <p:nvPicPr>
            <p:cNvPr id="12" name="Picture 11" descr="A group of graphs with different colors&#10;&#10;AI-generated content may be incorrect.">
              <a:extLst>
                <a:ext uri="{FF2B5EF4-FFF2-40B4-BE49-F238E27FC236}">
                  <a16:creationId xmlns:a16="http://schemas.microsoft.com/office/drawing/2014/main" id="{BA1AB00A-6E5C-B004-8698-7A6A2776E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58756" y="2746836"/>
              <a:ext cx="7274488" cy="30310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/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/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/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-invariant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F0303-F44F-F001-AF11-E501F1C7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03F94D-5A2A-701C-0CC8-3A72D3252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59846" y="2734471"/>
            <a:ext cx="7272307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40D586-3216-98BB-2169-BCA08529F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2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  <a:blipFill>
                <a:blip r:embed="rId4"/>
                <a:stretch>
                  <a:fillRect l="-638" t="-69091" b="-7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93512A-26EE-F7BC-9BE3-86FA6E340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DDD5EB-9135-91E1-76F0-A76482102D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53447" y="915043"/>
            <a:ext cx="4244992" cy="528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/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chemical potential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blipFill>
                <a:blip r:embed="rId6"/>
                <a:stretch>
                  <a:fillRect t="-5660" r="-240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65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CF4A-ADB1-A355-E943-2EA05D18E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8400-BEE8-CB74-0BA6-21B3C6E7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Superuniversal 𝐺-invariant behavior?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75752-5EC7-EDC2-A335-2ABAFD08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Simple non-abelian Lie group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 of rank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400" dirty="0"/>
                  <a:t>quasiparticle flavor index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Turns out that scaling of TBA quantities is universal </a:t>
                </a:r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1/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>
                    <a:ea typeface="Cambria Math" panose="02040503050406030204" pitchFamily="18" charset="0"/>
                  </a:rPr>
                  <a:t>So, same argument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 should still hold in principle</a:t>
                </a: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611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3430-0893-3F4A-1FB7-AB785F7D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CD8D0DA-FA0C-05B9-62C0-0BB56F7C5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3"/>
                </a:pPr>
                <a:r>
                  <a:rPr lang="en-US" sz="2000" dirty="0"/>
                  <a:t>Simple generalization of Heisenberg ladder: increase local Hilbert space dimension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=2→3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3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  <a:blipFill>
                <a:blip r:embed="rId3"/>
                <a:stretch>
                  <a:fillRect l="-3257" t="-8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43C904-0D21-16A0-9FA3-FE0EBDE0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24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83E341-1C1B-B661-74D7-5807C2F8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53447" y="529769"/>
            <a:ext cx="4244992" cy="996273"/>
          </a:xfrm>
          <a:prstGeom prst="rect">
            <a:avLst/>
          </a:prstGeom>
        </p:spPr>
      </p:pic>
      <p:pic>
        <p:nvPicPr>
          <p:cNvPr id="14" name="Picture 13" descr="A graph of a function&#10;&#10;AI-generated content may be incorrect.">
            <a:extLst>
              <a:ext uri="{FF2B5EF4-FFF2-40B4-BE49-F238E27FC236}">
                <a16:creationId xmlns:a16="http://schemas.microsoft.com/office/drawing/2014/main" id="{FE924478-F9DF-AC80-E9C9-C84575363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051" y="2577867"/>
            <a:ext cx="3833149" cy="383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8048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Summary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Quantum Heisenberg chain (integrable models invariant under non-abelian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) displays superdiffusive spin transport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3/2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at high temperature</a:t>
                </a:r>
              </a:p>
              <a:p>
                <a:pPr lvl="1"/>
                <a:r>
                  <a:rPr lang="en-US" sz="2400" dirty="0"/>
                  <a:t>Break integrability on ladder geometry and find different scaling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r>
                  <a:rPr lang="en-US" sz="2400" dirty="0"/>
                  <a:t> depending on whether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preserves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=6)</m:t>
                    </m:r>
                  </m:oMath>
                </a14:m>
                <a:r>
                  <a:rPr lang="en-US" sz="2400" dirty="0"/>
                  <a:t> or breaks 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:r>
                  <a:rPr lang="en-US" sz="2400" dirty="0"/>
                  <a:t>Behavior inherits the “superuniversal” physics underlying superdiffusion</a:t>
                </a:r>
              </a:p>
              <a:p>
                <a:pPr lvl="1"/>
                <a:endParaRPr lang="en-US" sz="2400" dirty="0"/>
              </a:p>
              <a:p>
                <a:pPr lvl="1"/>
                <a:endParaRPr lang="en-US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 marL="128016" lvl="1" indent="0" algn="ctr">
                  <a:buNone/>
                </a:pPr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Wang and Moore, </a:t>
                </a:r>
                <a:r>
                  <a:rPr lang="en-US" sz="24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PRB</a:t>
                </a:r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(2025)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235BE-F4D0-55AB-D49D-D1DD945C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96D2-9BE7-62FE-FCC2-ABBEF2E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4F6A-81EE-C312-F526-A344A6E4E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6CBD3-68C5-E39B-ED56-69DF1EE6B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947463"/>
            <a:ext cx="9720073" cy="4361897"/>
          </a:xfrm>
        </p:spPr>
        <p:txBody>
          <a:bodyPr>
            <a:normAutofit/>
          </a:bodyPr>
          <a:lstStyle/>
          <a:p>
            <a:pPr lvl="1"/>
            <a:r>
              <a:rPr lang="en-US" sz="2400" dirty="0"/>
              <a:t>Materials Synthesis: S=1/2 spin chains in </a:t>
            </a:r>
            <a:r>
              <a:rPr lang="en-US" sz="2400" b="1" dirty="0"/>
              <a:t>nanoribbons</a:t>
            </a:r>
          </a:p>
          <a:p>
            <a:pPr lvl="2"/>
            <a:r>
              <a:rPr lang="en-US" sz="2000" dirty="0"/>
              <a:t>Topological graphene nanoribbons (</a:t>
            </a:r>
            <a:r>
              <a:rPr lang="pt-BR" sz="2000" dirty="0"/>
              <a:t>Cao, Zhao &amp; Louie,</a:t>
            </a:r>
            <a:r>
              <a:rPr lang="en-US" sz="2000" dirty="0"/>
              <a:t> </a:t>
            </a:r>
            <a:r>
              <a:rPr lang="en-US" sz="2000" i="1" dirty="0"/>
              <a:t>PRL </a:t>
            </a:r>
            <a:r>
              <a:rPr lang="en-US" sz="2000" dirty="0"/>
              <a:t>(2017)</a:t>
            </a:r>
          </a:p>
          <a:p>
            <a:pPr marL="310896" lvl="2" indent="0">
              <a:buNone/>
            </a:pPr>
            <a:r>
              <a:rPr lang="en-US" sz="2000" dirty="0"/>
              <a:t>				      Rizzo, …, Louie, Crommie &amp; Fischer, </a:t>
            </a:r>
            <a:r>
              <a:rPr lang="en-US" sz="2000" i="1" dirty="0"/>
              <a:t>Nature (2018)</a:t>
            </a:r>
            <a:r>
              <a:rPr lang="en-US" sz="2000" dirty="0"/>
              <a:t>)</a:t>
            </a:r>
            <a:endParaRPr 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2"/>
            <a:r>
              <a:rPr lang="en-US" sz="2000" dirty="0"/>
              <a:t>Edge theory of zigzag nanoribbons (Koop &amp; Schmidt, </a:t>
            </a:r>
            <a:r>
              <a:rPr lang="en-US" sz="2000" i="1" dirty="0"/>
              <a:t>PRB (2014))</a:t>
            </a:r>
          </a:p>
          <a:p>
            <a:pPr lvl="2"/>
            <a:r>
              <a:rPr lang="en-US" sz="2000" dirty="0"/>
              <a:t>Nanographene Olympicene chains (Zhao et al., </a:t>
            </a:r>
            <a:r>
              <a:rPr lang="en-US" sz="2000" i="1" dirty="0"/>
              <a:t>Nat. Mater. (2025))</a:t>
            </a:r>
            <a:endParaRPr lang="en-US" sz="2000" dirty="0"/>
          </a:p>
          <a:p>
            <a:pPr lvl="2"/>
            <a:r>
              <a:rPr lang="en-US" sz="2000" dirty="0"/>
              <a:t>Molecular chains (Sun et al., </a:t>
            </a:r>
            <a:r>
              <a:rPr lang="en-US" sz="2000" i="1" dirty="0"/>
              <a:t>Science Advances (2025))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marL="310896" lvl="2" indent="0" algn="ctr">
              <a:buNone/>
            </a:pPr>
            <a:r>
              <a:rPr lang="en-US" sz="2400" dirty="0">
                <a:solidFill>
                  <a:schemeClr val="accent1"/>
                </a:solidFill>
              </a:rPr>
              <a:t>Synthesize effective Heisenberg ladders with tunable interactions?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D6E32-5929-25EA-150D-D32D3753C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8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D0282-7FE8-868C-BD9E-C51A4F707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BDFAA-0943-8FC5-8628-1F3A191F8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384C7-9BC8-B023-7CCC-5933E93ABC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349A3A-FB46-F163-099E-441B8380D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27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10FA6E3-C53C-C94F-1786-4F3815A79D23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20299974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E0C89-3FAF-1A6B-B171-16EDDD7D7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1689E-1FD6-F542-E8E4-2CCD1935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ADA5D-6DE8-D68D-4E33-68B10E46E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757863-E8F4-C72F-DC61-DA3B12A68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28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006BF17-FAF8-6890-F405-3F3F5C1E661A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tx1"/>
                </a:solidFill>
              </a:rPr>
              <a:t>Part II: </a:t>
            </a:r>
            <a:r>
              <a:rPr lang="en-US" dirty="0">
                <a:solidFill>
                  <a:schemeClr val="tx1"/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2827460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46FCD-0E60-2FDB-B36B-0AD1EAED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CFD344D1-186E-297A-890A-2E7F37E0E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</a:t>
            </a:r>
            <a:r>
              <a:rPr lang="en-US" sz="3600" baseline="-25000" dirty="0"/>
              <a:t>1</a:t>
            </a:r>
            <a:r>
              <a:rPr lang="en-US" sz="3600" dirty="0"/>
              <a:t>-J</a:t>
            </a:r>
            <a:r>
              <a:rPr lang="en-US" sz="3600" baseline="-25000" dirty="0"/>
              <a:t>2</a:t>
            </a:r>
            <a:r>
              <a:rPr lang="en-US" sz="3600" dirty="0"/>
              <a:t> model on triangular lattice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0A0BD6-D4D8-E9AF-65E9-82E2EEBA9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2154D0-8A94-ADD9-AF75-8ED56BDCAE6A}"/>
                  </a:ext>
                </a:extLst>
              </p:cNvPr>
              <p:cNvSpPr txBox="1"/>
              <p:nvPr/>
            </p:nvSpPr>
            <p:spPr>
              <a:xfrm>
                <a:off x="1671008" y="1929556"/>
                <a:ext cx="4424992" cy="10348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〈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〉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〈〈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〉〉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2154D0-8A94-ADD9-AF75-8ED56BDCAE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1008" y="1929556"/>
                <a:ext cx="4424992" cy="1034835"/>
              </a:xfrm>
              <a:prstGeom prst="rect">
                <a:avLst/>
              </a:prstGeom>
              <a:blipFill>
                <a:blip r:embed="rId2"/>
                <a:stretch>
                  <a:fillRect l="-1714" t="-125610" b="-168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4422EE2-E8C6-5512-CB8B-67858E0502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225800"/>
                <a:ext cx="6094413" cy="2951163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US" sz="2000" dirty="0"/>
                  <a:t>Anderson originally proposed the RVB state for J2=0</a:t>
                </a:r>
              </a:p>
              <a:p>
                <a:pPr lvl="2"/>
                <a:r>
                  <a:rPr lang="en-US" sz="1600" dirty="0"/>
                  <a:t>Turned out to have 120</a:t>
                </a: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/>
                  <a:t> AF order</a:t>
                </a:r>
              </a:p>
              <a:p>
                <a:pPr lvl="1"/>
                <a:r>
                  <a:rPr lang="en-US" sz="2000" dirty="0"/>
                  <a:t>Nonmagnetic phase discovered in region around classical phase transition 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=1/8</a:t>
                </a:r>
              </a:p>
              <a:p>
                <a:pPr lvl="1"/>
                <a:r>
                  <a:rPr lang="en-US" sz="2000" dirty="0"/>
                  <a:t>Nature of this phase is still hotly debated, centered around two possible spin liquid states:</a:t>
                </a:r>
                <a:endParaRPr lang="en-US" sz="1600" dirty="0"/>
              </a:p>
              <a:p>
                <a:pPr lvl="2"/>
                <a:r>
                  <a:rPr lang="en-US" sz="1600" dirty="0"/>
                  <a:t>Gapless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1600" dirty="0"/>
                  <a:t> Dirac spin liquid (DSL) or “algebraic spin liquid”</a:t>
                </a:r>
              </a:p>
              <a:p>
                <a:pPr lvl="2"/>
                <a:r>
                  <a:rPr lang="en-US" sz="16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spin liquid</a:t>
                </a: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4422EE2-E8C6-5512-CB8B-67858E050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225800"/>
                <a:ext cx="6094413" cy="2951163"/>
              </a:xfrm>
              <a:blipFill>
                <a:blip r:embed="rId3"/>
                <a:stretch>
                  <a:fillRect t="-2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39D700D9-2238-02BB-29A7-FE4BFA360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5558" y="1643232"/>
            <a:ext cx="4613525" cy="29511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E9F829E-2986-E47D-6DF6-405E3F02B4D6}"/>
              </a:ext>
            </a:extLst>
          </p:cNvPr>
          <p:cNvSpPr txBox="1"/>
          <p:nvPr/>
        </p:nvSpPr>
        <p:spPr>
          <a:xfrm>
            <a:off x="7941800" y="4570576"/>
            <a:ext cx="31210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Sherman, Dupont, and Moore, </a:t>
            </a:r>
            <a:r>
              <a:rPr lang="en-US" sz="11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PRB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(2023)</a:t>
            </a:r>
          </a:p>
        </p:txBody>
      </p:sp>
    </p:spTree>
    <p:extLst>
      <p:ext uri="{BB962C8B-B14F-4D97-AF65-F5344CB8AC3E}">
        <p14:creationId xmlns:p14="http://schemas.microsoft.com/office/powerpoint/2010/main" val="239543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AF30B-5A57-C96A-A35A-681AA14D6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7A46549-584E-08A3-85DF-C96F87194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8B6DE3-F2BC-B9CB-191C-C4CD7BA08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30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5B4895C-3B11-7A9A-FA85-8B0866133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77661"/>
            <a:ext cx="9720073" cy="4712920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US" sz="2400" dirty="0"/>
              <a:t>Parton methods: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Write spin Hilbert space in enlarged fermionic/bosonic representation</a:t>
            </a:r>
          </a:p>
          <a:p>
            <a:pPr lvl="2"/>
            <a:r>
              <a:rPr lang="en-US" sz="2000" dirty="0"/>
              <a:t>Physical Hilbert space recovered by imposing single-occupancy constraint</a:t>
            </a:r>
          </a:p>
          <a:p>
            <a:pPr lvl="2"/>
            <a:r>
              <a:rPr lang="en-US" sz="2000" dirty="0"/>
              <a:t>Spin liquid = low-energy matter-gauge theory with deconfined “</a:t>
            </a:r>
            <a:r>
              <a:rPr lang="en-US" sz="2000" dirty="0" err="1"/>
              <a:t>spinons</a:t>
            </a:r>
            <a:r>
              <a:rPr lang="en-US" sz="2000" dirty="0"/>
              <a:t>” carrying fractionalized spin S=1/2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49141C-2ED0-89C0-DC1D-E446BB963592}"/>
                  </a:ext>
                </a:extLst>
              </p:cNvPr>
              <p:cNvSpPr txBox="1"/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Schwinger bosons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2000" b="0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49141C-2ED0-89C0-DC1D-E446BB963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blipFill>
                <a:blip r:embed="rId3"/>
                <a:stretch>
                  <a:fillRect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8A7049-666C-F4F2-EEA7-F8FF4FB45694}"/>
                  </a:ext>
                </a:extLst>
              </p:cNvPr>
              <p:cNvSpPr txBox="1"/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 err="1"/>
                  <a:t>Abrikosov</a:t>
                </a:r>
                <a:r>
                  <a:rPr lang="en-US" dirty="0"/>
                  <a:t> fermions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8A7049-666C-F4F2-EEA7-F8FF4FB45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blipFill>
                <a:blip r:embed="rId4"/>
                <a:stretch>
                  <a:fillRect l="-1543" t="-1662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5673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8" grpId="0"/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C07E9-2A1B-C3EA-E0A6-3229A842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8EEB13D-84DA-849A-D5D3-E82E63C84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ADD708-F268-219C-ECB9-B1F0D3A96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9CD0254-7C23-4580-6642-E654F0C63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77661"/>
            <a:ext cx="9720073" cy="4712920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US" sz="2400" dirty="0"/>
              <a:t>Parton methods: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Write spin Hilbert space in enlarged fermionic/bosonic representation</a:t>
            </a:r>
          </a:p>
          <a:p>
            <a:pPr lvl="2"/>
            <a:r>
              <a:rPr lang="en-US" sz="2000" dirty="0"/>
              <a:t>Physical Hilbert space recovered by imposing single-occupancy constraint</a:t>
            </a:r>
          </a:p>
          <a:p>
            <a:pPr lvl="2"/>
            <a:r>
              <a:rPr lang="en-US" sz="2000" dirty="0"/>
              <a:t>Spin liquid = low-energy matter-gauge theory with deconfined “</a:t>
            </a:r>
            <a:r>
              <a:rPr lang="en-US" sz="2000" dirty="0" err="1"/>
              <a:t>spinons</a:t>
            </a:r>
            <a:r>
              <a:rPr lang="en-US" sz="2000" dirty="0"/>
              <a:t>” carrying fractionalized spin S=1/2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6AC852-CDA7-07F3-8B69-30386180B5BF}"/>
                  </a:ext>
                </a:extLst>
              </p:cNvPr>
              <p:cNvSpPr txBox="1"/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2">
                        <a:lumMod val="90000"/>
                      </a:schemeClr>
                    </a:solidFill>
                  </a:rPr>
                  <a:t>Schwinger bosons</a:t>
                </a:r>
              </a:p>
              <a:p>
                <a:pPr algn="ctr"/>
                <a:endParaRPr lang="en-US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2000" b="0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:endParaRPr lang="en-US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>
                  <a:solidFill>
                    <a:schemeClr val="bg2">
                      <a:lumMod val="9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6AC852-CDA7-07F3-8B69-30386180B5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blipFill>
                <a:blip r:embed="rId3"/>
                <a:stretch>
                  <a:fillRect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5BF4318-C74B-EF9D-DF7D-8670B68E910B}"/>
                  </a:ext>
                </a:extLst>
              </p:cNvPr>
              <p:cNvSpPr txBox="1"/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 err="1"/>
                  <a:t>Abrikosov</a:t>
                </a:r>
                <a:r>
                  <a:rPr lang="en-US" dirty="0"/>
                  <a:t> fermions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5BF4318-C74B-EF9D-DF7D-8670B68E91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blipFill>
                <a:blip r:embed="rId4"/>
                <a:stretch>
                  <a:fillRect l="-1543" t="-1662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86565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2B08D-62C0-9223-2024-B47C536E9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C51490D-5EEE-DB77-6C2E-575CE87F4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53CC93-BB43-96C3-6ADF-3C38AAE1D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73982F8-0045-BA53-EF0C-B8FBF53C7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772959"/>
                <a:ext cx="9720073" cy="4817622"/>
              </a:xfrm>
            </p:spPr>
            <p:txBody>
              <a:bodyPr>
                <a:normAutofit/>
              </a:bodyPr>
              <a:lstStyle/>
              <a:p>
                <a:pPr marL="128016" lvl="1" indent="0">
                  <a:buNone/>
                </a:pPr>
                <a:r>
                  <a:rPr lang="en-US" sz="2400" dirty="0"/>
                  <a:t>Recipe for mean-field theory: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Rewrite Heisenberg interaction using fermionic operators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Write down path integral with Lagrange multiplier term enforcing single occupancy</a:t>
                </a:r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Decouple quartic terms using Hubbard-</a:t>
                </a:r>
                <a:r>
                  <a:rPr lang="en-US" sz="1600" dirty="0" err="1"/>
                  <a:t>Stratonovich</a:t>
                </a:r>
                <a:r>
                  <a:rPr lang="en-US" sz="1600" dirty="0"/>
                  <a:t> transformation in hopping and pairing channels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Saddle point approximation leads to mean-field Hamiltonian for </a:t>
                </a:r>
                <a:r>
                  <a:rPr lang="en-US" sz="1600" dirty="0" err="1"/>
                  <a:t>spinons</a:t>
                </a:r>
                <a:r>
                  <a:rPr lang="en-US" sz="1600" dirty="0"/>
                  <a:t> (</a:t>
                </a:r>
                <a:r>
                  <a:rPr lang="en-US" sz="1600" dirty="0" err="1"/>
                  <a:t>partons</a:t>
                </a:r>
                <a:r>
                  <a:rPr lang="en-US" sz="1600" dirty="0"/>
                  <a:t>)</a:t>
                </a:r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Different patterns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1600" dirty="0"/>
                  <a:t> amount to different MF ansatze, with ground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𝑀𝐹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)⟩</m:t>
                    </m:r>
                  </m:oMath>
                </a14:m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Obtain physical wavefunction by (Gutzwiller) projecting to original Hilbert space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73982F8-0045-BA53-EF0C-B8FBF53C7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772959"/>
                <a:ext cx="9720073" cy="4817622"/>
              </a:xfrm>
              <a:blipFill>
                <a:blip r:embed="rId3"/>
                <a:stretch>
                  <a:fillRect l="-125" t="-17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7D83AC-8ACA-4EA6-0C7C-70F7606ADE16}"/>
                  </a:ext>
                </a:extLst>
              </p:cNvPr>
              <p:cNvSpPr txBox="1"/>
              <p:nvPr/>
            </p:nvSpPr>
            <p:spPr>
              <a:xfrm>
                <a:off x="9305522" y="689206"/>
                <a:ext cx="2018644" cy="129163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 algn="ctr"/>
                <a:endParaRPr lang="en-US" sz="1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7D83AC-8ACA-4EA6-0C7C-70F7606AD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522" y="689206"/>
                <a:ext cx="2018644" cy="1291636"/>
              </a:xfrm>
              <a:prstGeom prst="rect">
                <a:avLst/>
              </a:prstGeom>
              <a:blipFill>
                <a:blip r:embed="rId4"/>
                <a:stretch>
                  <a:fillRect t="-3256" r="-10746" b="-7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FBC2E37-BD17-9BFE-32B8-5577EA9992BD}"/>
                  </a:ext>
                </a:extLst>
              </p:cNvPr>
              <p:cNvSpPr txBox="1"/>
              <p:nvPr/>
            </p:nvSpPr>
            <p:spPr>
              <a:xfrm>
                <a:off x="4404279" y="2673180"/>
                <a:ext cx="2959769" cy="59939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endParaRPr lang="en-US" sz="1400" dirty="0"/>
              </a:p>
              <a:p>
                <a:pPr algn="ctr"/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∋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sz="16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FBC2E37-BD17-9BFE-32B8-5577EA999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4279" y="2673180"/>
                <a:ext cx="2959769" cy="599395"/>
              </a:xfrm>
              <a:prstGeom prst="rect">
                <a:avLst/>
              </a:prstGeom>
              <a:blipFill>
                <a:blip r:embed="rId5"/>
                <a:stretch>
                  <a:fillRect t="-41837" b="-11632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81CC69-F924-D2B5-6046-03BFB8F40651}"/>
                  </a:ext>
                </a:extLst>
              </p:cNvPr>
              <p:cNvSpPr txBox="1"/>
              <p:nvPr/>
            </p:nvSpPr>
            <p:spPr>
              <a:xfrm>
                <a:off x="2264862" y="3923131"/>
                <a:ext cx="7238604" cy="125797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endParaRPr lang="en-US" sz="1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𝛼𝛽</m:t>
                          </m:r>
                        </m:sub>
                      </m:sSub>
                      <m:sSubSup>
                        <m:sSub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iα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m:rPr>
                            <m:sty m:val="p"/>
                          </m:rPr>
                          <a:rPr lang="en-US" sz="1600" i="1" dirty="0">
                            <a:latin typeface="Cambria Math" panose="02040503050406030204" pitchFamily="18" charset="0"/>
                          </a:rPr>
                          <m:t>α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1600" b="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dirty="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𝛼𝛽</m:t>
                        </m:r>
                      </m:sub>
                    </m:sSub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iα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81CC69-F924-D2B5-6046-03BFB8F40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2" y="3923131"/>
                <a:ext cx="7238604" cy="1257973"/>
              </a:xfrm>
              <a:prstGeom prst="rect">
                <a:avLst/>
              </a:prstGeom>
              <a:blipFill>
                <a:blip r:embed="rId6"/>
                <a:stretch>
                  <a:fillRect b="-14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128396-ED15-083F-94B1-89C7311C48C2}"/>
                  </a:ext>
                </a:extLst>
              </p:cNvPr>
              <p:cNvSpPr txBox="1"/>
              <p:nvPr/>
            </p:nvSpPr>
            <p:spPr>
              <a:xfrm>
                <a:off x="1758020" y="6095088"/>
                <a:ext cx="8252285" cy="37561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≡</m:t>
                    </m:r>
                    <m:nary>
                      <m:naryPr>
                        <m:chr m:val="∏"/>
                        <m:limLoc m:val="subSup"/>
                        <m:supHide m:val="on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↑</m:t>
                            </m:r>
                          </m:sub>
                        </m:sSub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↓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1600" b="0" dirty="0"/>
                  <a:t>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dirty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𝑝h𝑦𝑠</m:t>
                            </m:r>
                          </m:sub>
                        </m:sSub>
                      </m:e>
                    </m:d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𝑀𝐹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128396-ED15-083F-94B1-89C7311C48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020" y="6095088"/>
                <a:ext cx="8252285" cy="375616"/>
              </a:xfrm>
              <a:prstGeom prst="rect">
                <a:avLst/>
              </a:prstGeom>
              <a:blipFill>
                <a:blip r:embed="rId7"/>
                <a:stretch>
                  <a:fillRect t="-93443" b="-1524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502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2" grpId="0"/>
      <p:bldP spid="3" grpId="0"/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2967F-E389-77E8-BA83-47B1E482A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6EC07B82-9ECA-F99D-8467-D5C9F419C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ACE062-4899-FAEB-BD37-88A820B05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2C085E5-1C39-FFF3-40A9-8799811600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813003"/>
                <a:ext cx="9720073" cy="3777578"/>
              </a:xfrm>
            </p:spPr>
            <p:txBody>
              <a:bodyPr>
                <a:normAutofit/>
              </a:bodyPr>
              <a:lstStyle/>
              <a:p>
                <a:pPr marL="310896" lvl="2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2400" dirty="0"/>
                  <a:t> Dirac spin liquid</a:t>
                </a:r>
              </a:p>
              <a:p>
                <a:pPr lvl="3"/>
                <a:r>
                  <a:rPr lang="en-US" sz="2000" dirty="0"/>
                  <a:t>No pairing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Particular “pi-flux” ansatz for </a:t>
                </a:r>
                <a:r>
                  <a:rPr lang="en-US" sz="2000" dirty="0" err="1"/>
                  <a:t>hoppings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leads to 4 Dirac cones (2 valley, 2 spin)</a:t>
                </a:r>
              </a:p>
              <a:p>
                <a:pPr lvl="3"/>
                <a:r>
                  <a:rPr lang="en-US" sz="2000" dirty="0"/>
                  <a:t>Local (gauge) U(1) symmetry exists:</a:t>
                </a:r>
              </a:p>
              <a:p>
                <a:pPr marL="457200" lvl="3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p>
                    </m:sSup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200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Beyond MF: phase fluctuations of hopping = U(1) gauge fluctuations</a:t>
                </a:r>
              </a:p>
              <a:p>
                <a:pPr lvl="3"/>
                <a:r>
                  <a:rPr lang="en-US" sz="2000" dirty="0"/>
                  <a:t>Full low-energy theory: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000" dirty="0"/>
                  <a:t> Dirac fermions + U(1) gauge fluctuations + monopoles</a:t>
                </a:r>
              </a:p>
              <a:p>
                <a:pPr marL="457200" lvl="3" indent="0" algn="ctr">
                  <a:buNone/>
                </a:pPr>
                <a:r>
                  <a:rPr lang="en-US" sz="2000" dirty="0"/>
                  <a:t>AKA compact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000" dirty="0"/>
                  <a:t> QED</a:t>
                </a:r>
                <a:r>
                  <a:rPr lang="en-US" sz="2000" baseline="-25000" dirty="0"/>
                  <a:t>3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known to be stable CFT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2C085E5-1C39-FFF3-40A9-8799811600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813003"/>
                <a:ext cx="9720073" cy="3777578"/>
              </a:xfrm>
              <a:blipFill>
                <a:blip r:embed="rId3"/>
                <a:stretch>
                  <a:fillRect t="-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78311C-B490-D2DE-9ACC-61208675683F}"/>
                  </a:ext>
                </a:extLst>
              </p:cNvPr>
              <p:cNvSpPr txBox="1"/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78311C-B490-D2DE-9ACC-612086756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E60DE8E7-7061-2876-3B32-F7CEFB7FFBBA}"/>
              </a:ext>
            </a:extLst>
          </p:cNvPr>
          <p:cNvGrpSpPr/>
          <p:nvPr/>
        </p:nvGrpSpPr>
        <p:grpSpPr>
          <a:xfrm>
            <a:off x="7627071" y="112976"/>
            <a:ext cx="3990112" cy="2193987"/>
            <a:chOff x="7161706" y="2143003"/>
            <a:chExt cx="3990112" cy="219398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8344AD8-6B3D-1D4C-F091-C68B34030E08}"/>
                </a:ext>
              </a:extLst>
            </p:cNvPr>
            <p:cNvGrpSpPr/>
            <p:nvPr/>
          </p:nvGrpSpPr>
          <p:grpSpPr>
            <a:xfrm>
              <a:off x="7161706" y="2143003"/>
              <a:ext cx="3990112" cy="2193987"/>
              <a:chOff x="7161706" y="2143003"/>
              <a:chExt cx="3990112" cy="219398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5C1E5BD-3452-D01E-10E1-37FB1277957E}"/>
                  </a:ext>
                </a:extLst>
              </p:cNvPr>
              <p:cNvGrpSpPr/>
              <p:nvPr/>
            </p:nvGrpSpPr>
            <p:grpSpPr>
              <a:xfrm>
                <a:off x="8437818" y="2143003"/>
                <a:ext cx="2714000" cy="2193987"/>
                <a:chOff x="8168809" y="3082512"/>
                <a:chExt cx="2714000" cy="2193987"/>
              </a:xfrm>
            </p:grpSpPr>
            <p:pic>
              <p:nvPicPr>
                <p:cNvPr id="8" name="Picture 7">
                  <a:extLst>
                    <a:ext uri="{FF2B5EF4-FFF2-40B4-BE49-F238E27FC236}">
                      <a16:creationId xmlns:a16="http://schemas.microsoft.com/office/drawing/2014/main" id="{961B19F3-5C4D-3B21-C034-7091E8F889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266511" y="3082512"/>
                  <a:ext cx="1616298" cy="1917783"/>
                </a:xfrm>
                <a:prstGeom prst="rect">
                  <a:avLst/>
                </a:prstGeom>
              </p:spPr>
            </p:pic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A18AF37-F726-F699-91AF-8A193F5C5EE4}"/>
                    </a:ext>
                  </a:extLst>
                </p:cNvPr>
                <p:cNvSpPr txBox="1"/>
                <p:nvPr/>
              </p:nvSpPr>
              <p:spPr>
                <a:xfrm>
                  <a:off x="8168809" y="5014889"/>
                  <a:ext cx="184101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 err="1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Wietek</a:t>
                  </a:r>
                  <a:r>
                    <a:rPr lang="en-US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 et al., </a:t>
                  </a:r>
                  <a:r>
                    <a:rPr lang="en-US" sz="1100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PRX </a:t>
                  </a:r>
                  <a:r>
                    <a:rPr lang="en-US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(2024)</a:t>
                  </a:r>
                </a:p>
              </p:txBody>
            </p:sp>
          </p:grp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82CC98ED-D4D5-95FD-2AA0-A81D5D6E4A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61706" y="2682298"/>
                <a:ext cx="2314898" cy="1133633"/>
              </a:xfrm>
              <a:prstGeom prst="rect">
                <a:avLst/>
              </a:prstGeom>
            </p:spPr>
          </p:pic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3544EF8-BE13-11F3-49B1-91761D13B873}"/>
                </a:ext>
              </a:extLst>
            </p:cNvPr>
            <p:cNvSpPr/>
            <p:nvPr/>
          </p:nvSpPr>
          <p:spPr>
            <a:xfrm>
              <a:off x="7412923" y="2682298"/>
              <a:ext cx="300147" cy="3680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1795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7964F-5786-E272-4508-80D85D198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3DB1C18-2B42-FAD5-D69B-C00F46722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06CCF6-520F-DEBB-D3DE-F2E7D25A5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34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F3157BF-7C16-5C8F-475F-6A995B93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813003"/>
                <a:ext cx="10039414" cy="3777578"/>
              </a:xfrm>
            </p:spPr>
            <p:txBody>
              <a:bodyPr>
                <a:normAutofit/>
              </a:bodyPr>
              <a:lstStyle/>
              <a:p>
                <a:pPr marL="310896" lvl="2" indent="0" algn="ctr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 spin liquid</a:t>
                </a:r>
              </a:p>
              <a:p>
                <a:pPr lvl="3"/>
                <a:r>
                  <a:rPr lang="en-US" sz="2000" dirty="0"/>
                  <a:t>Both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Local symmetry “</a:t>
                </a:r>
                <a:r>
                  <a:rPr lang="en-US" sz="2000" dirty="0" err="1"/>
                  <a:t>Higgsed</a:t>
                </a:r>
                <a:r>
                  <a:rPr lang="en-US" sz="2000" dirty="0"/>
                  <a:t>” down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pPr marL="457200" lvl="3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200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=±1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Particular MF ansatze give gapped </a:t>
                </a:r>
                <a:r>
                  <a:rPr lang="en-US" sz="2000" dirty="0" err="1"/>
                  <a:t>spinon</a:t>
                </a:r>
                <a:r>
                  <a:rPr lang="en-US" sz="2000" dirty="0"/>
                  <a:t> spectrum</a:t>
                </a:r>
              </a:p>
              <a:p>
                <a:pPr lvl="3"/>
                <a:r>
                  <a:rPr lang="en-US" sz="2000" dirty="0"/>
                  <a:t>Integrating out </a:t>
                </a:r>
                <a:r>
                  <a:rPr lang="en-US" sz="2000" dirty="0" err="1"/>
                  <a:t>spinons</a:t>
                </a:r>
                <a:r>
                  <a:rPr lang="en-US" sz="2000" dirty="0"/>
                  <a:t> leaves pure gauge theory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topological order (~ </a:t>
                </a:r>
                <a:r>
                  <a:rPr lang="en-US" sz="2000" dirty="0" err="1"/>
                  <a:t>toric</a:t>
                </a:r>
                <a:r>
                  <a:rPr lang="en-US" sz="2000" dirty="0"/>
                  <a:t> code)</a:t>
                </a:r>
              </a:p>
              <a:p>
                <a:pPr lvl="4"/>
                <a:r>
                  <a:rPr lang="en-US" sz="2000" dirty="0"/>
                  <a:t>Topological ground state degeneracy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anyonic</a:t>
                </a:r>
                <a:r>
                  <a:rPr lang="en-US" sz="2000" dirty="0"/>
                  <a:t> excitations with mutual “</a:t>
                </a:r>
                <a:r>
                  <a:rPr lang="en-US" sz="2000" dirty="0" err="1"/>
                  <a:t>semionic</a:t>
                </a:r>
                <a:r>
                  <a:rPr lang="en-US" sz="2000" dirty="0"/>
                  <a:t>” statistics</a:t>
                </a: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F3157BF-7C16-5C8F-475F-6A995B93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813003"/>
                <a:ext cx="10039414" cy="3777578"/>
              </a:xfrm>
              <a:blipFill>
                <a:blip r:embed="rId3"/>
                <a:stretch>
                  <a:fillRect t="-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298F6C-EE11-9B20-B78B-87CB2232910E}"/>
                  </a:ext>
                </a:extLst>
              </p:cNvPr>
              <p:cNvSpPr txBox="1"/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𝛼𝛽</m:t>
                          </m:r>
                        </m:sub>
                      </m:sSub>
                      <m:sSubSup>
                        <m:sSub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298F6C-EE11-9B20-B78B-87CB22329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8939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9FB1E-1296-EF21-52FB-7EF8E786A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Numerical evidence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5D399A-1F68-D36A-6798-02F0EA57550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024128" y="1916052"/>
                <a:ext cx="4754880" cy="4023360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2000" dirty="0"/>
                  <a:t> Dirac spin liquid</a:t>
                </a:r>
              </a:p>
              <a:p>
                <a:pPr lvl="1"/>
                <a:r>
                  <a:rPr lang="en-US" sz="1600" dirty="0"/>
                  <a:t>Kaneko, Morita, and Imada (2014, VMC)</a:t>
                </a:r>
              </a:p>
              <a:p>
                <a:pPr lvl="1"/>
                <a:r>
                  <a:rPr lang="en-US" sz="1600" dirty="0"/>
                  <a:t>Bishop and Li (2015, CCM)</a:t>
                </a:r>
              </a:p>
              <a:p>
                <a:pPr lvl="1"/>
                <a:r>
                  <a:rPr lang="en-US" sz="1600" dirty="0"/>
                  <a:t>Iqbal, Hu, </a:t>
                </a:r>
                <a:r>
                  <a:rPr lang="en-US" sz="1600" dirty="0" err="1"/>
                  <a:t>Thomale</a:t>
                </a:r>
                <a:r>
                  <a:rPr lang="en-US" sz="1600" dirty="0"/>
                  <a:t>, </a:t>
                </a:r>
                <a:r>
                  <a:rPr lang="en-US" sz="1600" dirty="0" err="1"/>
                  <a:t>Poilblanc</a:t>
                </a:r>
                <a:r>
                  <a:rPr lang="en-US" sz="1600" dirty="0"/>
                  <a:t>, and Becca (2016, VMC)</a:t>
                </a:r>
              </a:p>
              <a:p>
                <a:pPr lvl="1"/>
                <a:r>
                  <a:rPr lang="en-US" sz="1600" dirty="0"/>
                  <a:t>Hu, Zhu, Eggert, and He (2019, flux-insertion DMRG)</a:t>
                </a:r>
              </a:p>
              <a:p>
                <a:pPr lvl="1"/>
                <a:r>
                  <a:rPr lang="it-IT" sz="1600" dirty="0"/>
                  <a:t>Ferrari and Becca (2019, dynamical VMC)</a:t>
                </a:r>
              </a:p>
              <a:p>
                <a:pPr lvl="1"/>
                <a:r>
                  <a:rPr lang="en-US" sz="1600" dirty="0"/>
                  <a:t>Sherman, Dupont, and Moore (2023, MPS dynamics)</a:t>
                </a:r>
              </a:p>
              <a:p>
                <a:pPr lvl="1"/>
                <a:r>
                  <a:rPr lang="en-US" sz="1600" dirty="0"/>
                  <a:t>Drescher, </a:t>
                </a:r>
                <a:r>
                  <a:rPr lang="en-US" sz="1600" dirty="0" err="1"/>
                  <a:t>Vanderstraeten</a:t>
                </a:r>
                <a:r>
                  <a:rPr lang="en-US" sz="1600" dirty="0"/>
                  <a:t>, Moessner, and Pollmann (2023, MPS dynamics)</a:t>
                </a:r>
              </a:p>
              <a:p>
                <a:pPr lvl="1"/>
                <a:r>
                  <a:rPr lang="en-US" sz="1600" dirty="0" err="1"/>
                  <a:t>Wietek</a:t>
                </a:r>
                <a:r>
                  <a:rPr lang="en-US" sz="1600" dirty="0"/>
                  <a:t>, Capponi, and </a:t>
                </a:r>
                <a:r>
                  <a:rPr lang="en-US" sz="1600" dirty="0" err="1"/>
                  <a:t>Lauchli</a:t>
                </a:r>
                <a:r>
                  <a:rPr lang="en-US" sz="1600" dirty="0"/>
                  <a:t> (2024, ED)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5D399A-1F68-D36A-6798-02F0EA5755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024128" y="1916052"/>
                <a:ext cx="4754880" cy="4023360"/>
              </a:xfrm>
              <a:blipFill>
                <a:blip r:embed="rId2"/>
                <a:stretch>
                  <a:fillRect t="-1659" r="-10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FECE-2FB3-0ED0-9B16-3686E8808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4348DD3-E1AA-731E-282A-CEC63B4215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9321" y="1917867"/>
                <a:ext cx="4754880" cy="40233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10896" lvl="2" indent="0" algn="ctr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spin liquid</a:t>
                </a:r>
              </a:p>
              <a:p>
                <a:pPr lvl="1"/>
                <a:r>
                  <a:rPr lang="en-US" sz="1600" dirty="0"/>
                  <a:t>Zhu and White (2015, DMRG)</a:t>
                </a:r>
              </a:p>
              <a:p>
                <a:pPr lvl="1"/>
                <a:r>
                  <a:rPr lang="en-US" sz="1600" dirty="0"/>
                  <a:t>Hu, Gong, Zhu, and Sheng (2015, DMRG)</a:t>
                </a:r>
              </a:p>
              <a:p>
                <a:pPr lvl="1"/>
                <a:r>
                  <a:rPr lang="en-US" sz="1600" dirty="0"/>
                  <a:t>Saadatmand and McCulloch (2016, DMRG) </a:t>
                </a:r>
              </a:p>
              <a:p>
                <a:pPr lvl="1"/>
                <a:r>
                  <a:rPr lang="en-US" sz="1600" dirty="0"/>
                  <a:t>Jiang and Jiang (2023, DMRG)</a:t>
                </a:r>
              </a:p>
              <a:p>
                <a:pPr lvl="1"/>
                <a:endParaRPr lang="en-US" sz="1600" dirty="0"/>
              </a:p>
              <a:p>
                <a:pPr lvl="1"/>
                <a:endParaRPr lang="en-US" sz="1600" dirty="0"/>
              </a:p>
              <a:p>
                <a:pPr lvl="1"/>
                <a:endParaRPr lang="en-US" sz="16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4348DD3-E1AA-731E-282A-CEC63B421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321" y="1917867"/>
                <a:ext cx="4754880" cy="4023360"/>
              </a:xfrm>
              <a:prstGeom prst="rect">
                <a:avLst/>
              </a:prstGeom>
              <a:blipFill>
                <a:blip r:embed="rId3"/>
                <a:stretch>
                  <a:fillRect t="-1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6ABE2CA0-5E76-07D9-84B1-47389652D1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06724" y="3177924"/>
                <a:ext cx="4754880" cy="140803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10896" lvl="2" indent="0" algn="ctr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Competing quasi-degenerate sectors</a:t>
                </a:r>
                <a:endParaRPr lang="en-US" sz="2000" dirty="0"/>
              </a:p>
              <a:p>
                <a:pPr lvl="1"/>
                <a:r>
                  <a:rPr lang="da-DK" sz="1600" dirty="0"/>
                  <a:t>Kovalska et al. (2026, MPS + TaSK) </a:t>
                </a:r>
                <a:r>
                  <a:rPr lang="en-US" sz="1600" u="sng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NOT</a:t>
                </a:r>
                <a:r>
                  <a:rPr lang="en-US" sz="160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 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Jiang, White, </a:t>
                </a:r>
                <a:r>
                  <a:rPr lang="en-US" sz="1600" dirty="0" err="1"/>
                  <a:t>Kivelson</a:t>
                </a:r>
                <a:r>
                  <a:rPr lang="en-US" sz="1600" dirty="0"/>
                  <a:t>, and Jiang (2026, dynamical DMRG)</a:t>
                </a:r>
              </a:p>
              <a:p>
                <a:pPr lvl="1"/>
                <a:endParaRPr lang="en-US" sz="1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6ABE2CA0-5E76-07D9-84B1-47389652D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6724" y="3177924"/>
                <a:ext cx="4754880" cy="1408036"/>
              </a:xfrm>
              <a:prstGeom prst="rect">
                <a:avLst/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705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D17B-F119-213A-0D2C-F7A5FBB29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Dynamical correlations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04E8C4-A855-047D-5553-99D954D5DE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128016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rgbClr val="1CADE4"/>
                  </a:buClr>
                  <a:buSzTx/>
                  <a:buFont typeface="Wingdings 3" pitchFamily="18" charset="2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 Cen MT" panose="020B0602020104020603"/>
                    <a:ea typeface="+mn-ea"/>
                    <a:cs typeface="+mn-cs"/>
                  </a:rPr>
                  <a:t>Can use DMRG + time evolution to directly access magnetic Van Hove correlations in spacetime</a:t>
                </a:r>
              </a:p>
              <a:p>
                <a:pPr marL="128016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rgbClr val="1CADE4"/>
                  </a:buClr>
                  <a:buSzTx/>
                  <a:buFont typeface="Wingdings 3" pitchFamily="18" charset="2"/>
                  <a:buNone/>
                  <a:tabLst/>
                  <a:defRPr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=⟨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  <a:p>
                <a:pPr marL="128016" lvl="1" indent="0">
                  <a:buNone/>
                </a:pPr>
                <a:endParaRPr lang="en-US" sz="2400" dirty="0"/>
              </a:p>
              <a:p>
                <a:pPr marL="128016" lvl="1" indent="0">
                  <a:buNone/>
                </a:pPr>
                <a:r>
                  <a:rPr lang="en-US" sz="2400" dirty="0"/>
                  <a:t>Fourier transform gives spectral function, proportional to inelastic neutron scattering (INS) cross section</a:t>
                </a:r>
              </a:p>
              <a:p>
                <a:pPr marL="128016" lvl="1" indent="0">
                  <a:buNone/>
                </a:pPr>
                <a:endParaRPr lang="en-US" sz="2400" dirty="0"/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∼∫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𝑑𝑡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1" i="1" smtClean="0"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2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04E8C4-A855-047D-5553-99D954D5DE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5"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B20FA-CB2F-5F05-E9C0-3896889F5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593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71CA3-3ACC-698B-02EA-48D2BC806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D9AE58-D76F-2F86-24C9-7B81BCA18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898602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KYbSe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 </a:t>
                </a:r>
              </a:p>
              <a:p>
                <a:pPr lvl="1"/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=0.044(5)</a:t>
                </a:r>
              </a:p>
              <a:p>
                <a:pPr lvl="1"/>
                <a:r>
                  <a:rPr lang="en-US" sz="2000" dirty="0"/>
                  <a:t>Sits in 120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2000" dirty="0"/>
                  <a:t> ordered phase near quantum critical point (QCP)</a:t>
                </a:r>
              </a:p>
              <a:p>
                <a:pPr lvl="1"/>
                <a:r>
                  <a:rPr lang="en-US" sz="2000" dirty="0"/>
                  <a:t>T</a:t>
                </a:r>
                <a:r>
                  <a:rPr lang="en-US" sz="2000" baseline="-25000" dirty="0"/>
                  <a:t>N </a:t>
                </a:r>
                <a:r>
                  <a:rPr lang="en-US" sz="2000" dirty="0"/>
                  <a:t>= 290mK</a:t>
                </a:r>
              </a:p>
              <a:p>
                <a:pPr lvl="1"/>
                <a:r>
                  <a:rPr lang="en-US" sz="2000" dirty="0"/>
                  <a:t>Physics above T</a:t>
                </a:r>
                <a:r>
                  <a:rPr lang="en-US" sz="2000" baseline="-25000" dirty="0"/>
                  <a:t>N </a:t>
                </a:r>
                <a:r>
                  <a:rPr lang="en-US" sz="2000" dirty="0"/>
                  <a:t>described by quantum critical fan of QCP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D9AE58-D76F-2F86-24C9-7B81BCA18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898602"/>
                <a:ext cx="4392469" cy="4410758"/>
              </a:xfrm>
              <a:blipFill>
                <a:blip r:embed="rId2"/>
                <a:stretch>
                  <a:fillRect t="-1934" r="-26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E4903-C0A6-E29B-AA5E-5E7F35B82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9B6413-98BC-78E0-1C78-F88A54050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209" y="1559568"/>
            <a:ext cx="6181009" cy="3860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84B154-4B00-7959-9697-61F7B17E5FF4}"/>
              </a:ext>
            </a:extLst>
          </p:cNvPr>
          <p:cNvSpPr txBox="1"/>
          <p:nvPr/>
        </p:nvSpPr>
        <p:spPr>
          <a:xfrm>
            <a:off x="7395230" y="5483774"/>
            <a:ext cx="24969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Scheie et al., arxiv:2602.02433</a:t>
            </a:r>
          </a:p>
        </p:txBody>
      </p:sp>
    </p:spTree>
    <p:extLst>
      <p:ext uri="{BB962C8B-B14F-4D97-AF65-F5344CB8AC3E}">
        <p14:creationId xmlns:p14="http://schemas.microsoft.com/office/powerpoint/2010/main" val="32756093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69B0-34B7-D2A3-37D1-A1C8EB9D6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C5BE8-36FE-0234-C5AC-7A9FC86D8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D1890-FFB7-AADC-A28A-CFB4D4B7B0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YbZn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GaO</a:t>
                </a:r>
                <a:r>
                  <a:rPr lang="en-US" sz="2400" b="1" baseline="-25000" dirty="0"/>
                  <a:t>5</a:t>
                </a:r>
              </a:p>
              <a:p>
                <a:pPr marL="128016" lvl="1" indent="0">
                  <a:buNone/>
                </a:pPr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=0.12, XXZ anisotropy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000" dirty="0"/>
                  <a:t>=1.35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D1890-FFB7-AADC-A28A-CFB4D4B7B0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  <a:blipFill>
                <a:blip r:embed="rId2"/>
                <a:stretch>
                  <a:fillRect t="-1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95E95-8B7A-E4F3-07B6-5723A804E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10ADC2-1BDA-6439-24E5-DE16DCC54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690" y="2792873"/>
            <a:ext cx="6043358" cy="34799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D8D0E1-19E8-E9B7-E855-B6CB38B068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104" y="2853956"/>
            <a:ext cx="3110992" cy="16114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7022CF-32F2-0900-26F8-FF4BA1B2D325}"/>
              </a:ext>
            </a:extLst>
          </p:cNvPr>
          <p:cNvSpPr txBox="1"/>
          <p:nvPr/>
        </p:nvSpPr>
        <p:spPr>
          <a:xfrm>
            <a:off x="2522743" y="4532828"/>
            <a:ext cx="1771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Bag et al., 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PRL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(2024)</a:t>
            </a:r>
            <a:endParaRPr lang="en-US" sz="14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2292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E7CAD-701F-BFD4-A085-48A506861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934B9-511D-45A0-7C92-6655AD9AD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5ED7B0-2F5E-EEEF-AB7D-E2C4EDE519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YbZn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GaO</a:t>
                </a:r>
                <a:r>
                  <a:rPr lang="en-US" sz="2400" b="1" baseline="-25000" dirty="0"/>
                  <a:t>5</a:t>
                </a:r>
              </a:p>
              <a:p>
                <a:pPr marL="128016" lvl="1" indent="0">
                  <a:buNone/>
                </a:pPr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=0.12, XXZ anisotropy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000" dirty="0"/>
                  <a:t>=1.35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5ED7B0-2F5E-EEEF-AB7D-E2C4EDE519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  <a:blipFill>
                <a:blip r:embed="rId2"/>
                <a:stretch>
                  <a:fillRect t="-1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AD6B-F79E-5816-289C-B35A71892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7721EB-3C64-D6C8-6FD0-B3E87A3FE3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83" t="7103" r="17820" b="3229"/>
          <a:stretch>
            <a:fillRect/>
          </a:stretch>
        </p:blipFill>
        <p:spPr>
          <a:xfrm>
            <a:off x="1646151" y="2661881"/>
            <a:ext cx="9318505" cy="380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6523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5B487-6083-D483-F9AF-B2D9CB54C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0B8D2-4C3D-7984-6983-CB9802D76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Future Directions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8993A5-5638-8CAB-B95D-30E753F5C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947463"/>
                <a:ext cx="9720073" cy="4361897"/>
              </a:xfrm>
            </p:spPr>
            <p:txBody>
              <a:bodyPr>
                <a:normAutofit/>
              </a:bodyPr>
              <a:lstStyle/>
              <a:p>
                <a:pPr marL="128016" lvl="1" indent="0">
                  <a:buNone/>
                </a:pPr>
                <a:r>
                  <a:rPr lang="en-US" sz="2400" dirty="0"/>
                  <a:t>Gutzwiller MPS:</a:t>
                </a:r>
              </a:p>
              <a:p>
                <a:pPr lvl="2"/>
                <a:r>
                  <a:rPr lang="en-US" sz="2000" dirty="0"/>
                  <a:t>Can efficiently prepare MF ansatz as an MPS, i.e.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dirty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𝑝h𝑦𝑠</m:t>
                            </m:r>
                          </m:sub>
                        </m:sSub>
                      </m:e>
                    </m:d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𝑀𝐹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000" dirty="0"/>
                  <a:t> (Jin et al., AAPPS Bulletin (2025))</a:t>
                </a:r>
              </a:p>
              <a:p>
                <a:pPr lvl="2"/>
                <a:r>
                  <a:rPr lang="en-US" sz="2000" b="1" dirty="0"/>
                  <a:t>Ideas: </a:t>
                </a:r>
                <a:r>
                  <a:rPr lang="en-US" sz="2000" dirty="0"/>
                  <a:t>Prepare various ansatz states and…</a:t>
                </a:r>
              </a:p>
              <a:p>
                <a:pPr lvl="3"/>
                <a:r>
                  <a:rPr lang="en-US" sz="2000" dirty="0"/>
                  <a:t>Look at overlap with DMRG ground state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⟨</m:t>
                    </m:r>
                    <m:r>
                      <m:rPr>
                        <m:sty m:val="p"/>
                      </m:rPr>
                      <a:rPr lang="en-US" sz="160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Use as DMRG initialization to see if lower energy is reached</a:t>
                </a:r>
              </a:p>
              <a:p>
                <a:pPr lvl="3"/>
                <a:r>
                  <a:rPr lang="en-US" sz="2000" dirty="0"/>
                  <a:t>Dynamical correlations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=⟨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dirty="0"/>
              </a:p>
              <a:p>
                <a:pPr lvl="3"/>
                <a:r>
                  <a:rPr lang="en-US" sz="2000" dirty="0"/>
                  <a:t>Prepare excitation states and time evolve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spinon-spinon</a:t>
                </a:r>
                <a:r>
                  <a:rPr lang="en-US" sz="2000" dirty="0"/>
                  <a:t>, monopole-monopole correlations, etc.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8993A5-5638-8CAB-B95D-30E753F5C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947463"/>
                <a:ext cx="9720073" cy="4361897"/>
              </a:xfrm>
              <a:blipFill>
                <a:blip r:embed="rId3"/>
                <a:stretch>
                  <a:fillRect l="-125" t="-1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10FE7-A886-3AD5-6AFA-8968C6206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64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43E0-8FF5-0420-99C7-8D085A48A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262" y="2679192"/>
            <a:ext cx="9720072" cy="1499616"/>
          </a:xfrm>
        </p:spPr>
        <p:txBody>
          <a:bodyPr/>
          <a:lstStyle/>
          <a:p>
            <a:pPr algn="ctr"/>
            <a:r>
              <a:rPr lang="en-US" dirty="0"/>
              <a:t>Thanks!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35525-7829-F0C7-2D72-D30F73392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41</a:t>
            </a:fld>
            <a:endParaRPr lang="en-US"/>
          </a:p>
        </p:txBody>
      </p:sp>
      <p:pic>
        <p:nvPicPr>
          <p:cNvPr id="1026" name="Picture 2" descr="United States Department of Energy ...">
            <a:extLst>
              <a:ext uri="{FF2B5EF4-FFF2-40B4-BE49-F238E27FC236}">
                <a16:creationId xmlns:a16="http://schemas.microsoft.com/office/drawing/2014/main" id="{DA45ABAE-B845-E0E2-2881-2339096E3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695" y="4924441"/>
            <a:ext cx="1546263" cy="1546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Science Center">
            <a:extLst>
              <a:ext uri="{FF2B5EF4-FFF2-40B4-BE49-F238E27FC236}">
                <a16:creationId xmlns:a16="http://schemas.microsoft.com/office/drawing/2014/main" id="{73A33E52-A47A-86A9-405E-C9C617A86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1119" y="5462814"/>
            <a:ext cx="2828109" cy="100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oel Moore">
            <a:extLst>
              <a:ext uri="{FF2B5EF4-FFF2-40B4-BE49-F238E27FC236}">
                <a16:creationId xmlns:a16="http://schemas.microsoft.com/office/drawing/2014/main" id="{DA150AF1-C069-26EB-ED20-38BE9F17ED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48" r="14560"/>
          <a:stretch>
            <a:fillRect/>
          </a:stretch>
        </p:blipFill>
        <p:spPr bwMode="auto">
          <a:xfrm>
            <a:off x="8378939" y="3965706"/>
            <a:ext cx="1883884" cy="191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5D729-8D08-1554-D958-780D22DBA8B9}"/>
              </a:ext>
            </a:extLst>
          </p:cNvPr>
          <p:cNvSpPr txBox="1"/>
          <p:nvPr/>
        </p:nvSpPr>
        <p:spPr>
          <a:xfrm>
            <a:off x="8467074" y="5991493"/>
            <a:ext cx="1685580" cy="374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Joel Moore</a:t>
            </a:r>
          </a:p>
        </p:txBody>
      </p:sp>
      <p:pic>
        <p:nvPicPr>
          <p:cNvPr id="5" name="Google Shape;99;p1" title="Kavli ENSI Logo_LBNL Creative Services.png">
            <a:extLst>
              <a:ext uri="{FF2B5EF4-FFF2-40B4-BE49-F238E27FC236}">
                <a16:creationId xmlns:a16="http://schemas.microsoft.com/office/drawing/2014/main" id="{9CF07CC4-64B9-569D-0419-5C117240A8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0796" y="584609"/>
            <a:ext cx="3108425" cy="13489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89730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EF999E-E702-8F64-202E-BB17A4D9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9CE4C-3B87-8505-4E53-4290B2741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Energy transport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/>
                  <a:t>) measurements</a:t>
                </a:r>
              </a:p>
              <a:p>
                <a:pPr lvl="2"/>
                <a:r>
                  <a:rPr lang="en-US" sz="1600" dirty="0"/>
                  <a:t>Unlike spin transport, the energy current in the Heisenberg chain is explicitly conserved (ballistic transport)</a:t>
                </a:r>
              </a:p>
              <a:p>
                <a:pPr lvl="2"/>
                <a:r>
                  <a:rPr lang="en-US" sz="1600" dirty="0"/>
                  <a:t>Resonant Inelastic X-ray Scattering (RIXS) can probe energy correlations (Kumar et al. </a:t>
                </a:r>
                <a:r>
                  <a:rPr lang="en-US" sz="1600" i="1" dirty="0"/>
                  <a:t>PRB ‘22)</a:t>
                </a:r>
                <a:endParaRPr lang="en-US" sz="1600" dirty="0"/>
              </a:p>
              <a:p>
                <a:pPr lvl="2"/>
                <a:endParaRPr lang="en-US" sz="1600" dirty="0"/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r>
                  <a:rPr lang="en-US" sz="2400" dirty="0">
                    <a:solidFill>
                      <a:schemeClr val="accent1"/>
                    </a:solidFill>
                  </a:rPr>
                  <a:t>Possible to observe signatures of ballistic transport in RIXS data for quasi-1D Heisenberg chains?</a:t>
                </a:r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E0614-CF72-26E2-890A-E5AE6024A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06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1_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31232</TotalTime>
  <Words>2585</Words>
  <Application>Microsoft Office PowerPoint</Application>
  <PresentationFormat>Widescreen</PresentationFormat>
  <Paragraphs>428</Paragraphs>
  <Slides>42</Slides>
  <Notes>16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Aptos</vt:lpstr>
      <vt:lpstr>Cambria Math</vt:lpstr>
      <vt:lpstr>Tw Cen MT</vt:lpstr>
      <vt:lpstr>Tw Cen MT Condensed</vt:lpstr>
      <vt:lpstr>Wingdings 3</vt:lpstr>
      <vt:lpstr>Integral</vt:lpstr>
      <vt:lpstr>1_Integral</vt:lpstr>
      <vt:lpstr>low-dimensional quantum magnetism: superdiffusion breakdown in spin ladders and quantum spin liquids on the triangular lattice</vt:lpstr>
      <vt:lpstr>Quantum Heisenberg Model</vt:lpstr>
      <vt:lpstr>Quantum Heisenberg Model</vt:lpstr>
      <vt:lpstr>Quantum Heisenberg Model</vt:lpstr>
      <vt:lpstr>Quantum Heisenberg Model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Spin Transport</vt:lpstr>
      <vt:lpstr>Spin Transport</vt:lpstr>
      <vt:lpstr>Spin Transport</vt:lpstr>
      <vt:lpstr>Spin Transport</vt:lpstr>
      <vt:lpstr>Superuniversal 𝐺-invariant behavior?</vt:lpstr>
      <vt:lpstr>Spin Transport</vt:lpstr>
      <vt:lpstr>Summary</vt:lpstr>
      <vt:lpstr>Future Directions</vt:lpstr>
      <vt:lpstr>Quantum Heisenberg Model</vt:lpstr>
      <vt:lpstr>Quantum Heisenberg Model</vt:lpstr>
      <vt:lpstr>J1-J2 model on triangular lattice</vt:lpstr>
      <vt:lpstr>Theory of quantum spin liquids</vt:lpstr>
      <vt:lpstr>Theory of quantum spin liquids</vt:lpstr>
      <vt:lpstr>Theory of quantum spin liquids</vt:lpstr>
      <vt:lpstr>Theory of quantum spin liquids</vt:lpstr>
      <vt:lpstr>Theory of quantum spin liquids</vt:lpstr>
      <vt:lpstr>Numerical evidence</vt:lpstr>
      <vt:lpstr>Dynamical correlations</vt:lpstr>
      <vt:lpstr>Material platforms</vt:lpstr>
      <vt:lpstr>Material platforms</vt:lpstr>
      <vt:lpstr>Material platforms</vt:lpstr>
      <vt:lpstr>Future Directions</vt:lpstr>
      <vt:lpstr>Thanks!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87</cp:revision>
  <dcterms:created xsi:type="dcterms:W3CDTF">2024-06-07T07:59:19Z</dcterms:created>
  <dcterms:modified xsi:type="dcterms:W3CDTF">2026-03-13T18:51:40Z</dcterms:modified>
</cp:coreProperties>
</file>