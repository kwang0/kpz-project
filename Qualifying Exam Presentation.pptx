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5" r:id="rId1"/>
    <p:sldMasterId id="2147483907" r:id="rId2"/>
  </p:sldMasterIdLst>
  <p:notesMasterIdLst>
    <p:notesMasterId r:id="rId29"/>
  </p:notesMasterIdLst>
  <p:sldIdLst>
    <p:sldId id="256" r:id="rId3"/>
    <p:sldId id="275" r:id="rId4"/>
    <p:sldId id="296" r:id="rId5"/>
    <p:sldId id="297" r:id="rId6"/>
    <p:sldId id="276" r:id="rId7"/>
    <p:sldId id="278" r:id="rId8"/>
    <p:sldId id="279" r:id="rId9"/>
    <p:sldId id="277" r:id="rId10"/>
    <p:sldId id="280" r:id="rId11"/>
    <p:sldId id="281" r:id="rId12"/>
    <p:sldId id="283" r:id="rId13"/>
    <p:sldId id="282" r:id="rId14"/>
    <p:sldId id="286" r:id="rId15"/>
    <p:sldId id="257" r:id="rId16"/>
    <p:sldId id="285" r:id="rId17"/>
    <p:sldId id="284" r:id="rId18"/>
    <p:sldId id="258" r:id="rId19"/>
    <p:sldId id="260" r:id="rId20"/>
    <p:sldId id="261" r:id="rId21"/>
    <p:sldId id="288" r:id="rId22"/>
    <p:sldId id="289" r:id="rId23"/>
    <p:sldId id="291" r:id="rId24"/>
    <p:sldId id="274" r:id="rId25"/>
    <p:sldId id="293" r:id="rId26"/>
    <p:sldId id="292" r:id="rId27"/>
    <p:sldId id="29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52" autoAdjust="0"/>
    <p:restoredTop sz="94680"/>
  </p:normalViewPr>
  <p:slideViewPr>
    <p:cSldViewPr snapToGrid="0">
      <p:cViewPr varScale="1">
        <p:scale>
          <a:sx n="91" d="100"/>
          <a:sy n="91" d="100"/>
        </p:scale>
        <p:origin x="1024" y="48"/>
      </p:cViewPr>
      <p:guideLst/>
    </p:cSldViewPr>
  </p:slideViewPr>
  <p:outlineViewPr>
    <p:cViewPr>
      <p:scale>
        <a:sx n="33" d="100"/>
        <a:sy n="33" d="100"/>
      </p:scale>
      <p:origin x="0" y="-1993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C375C-D27F-6B4F-A98C-867F54470A23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7E23F-D384-0A43-BA50-535D3FAFD4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26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11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Infinite conservation laws, failure to thermalize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391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DAFFA-D5E5-5D2A-904D-2C6EA3DF5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7F431-89DB-EF96-02EA-433282338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235B82-D1DA-A7D0-7D16-C5FF34AEE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Infinite conservation laws, failure to thermalize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8CB98A-E955-BC56-CB6C-2C6FE302D4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541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17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14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BAF6D-58BD-F013-2A10-12E726724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A24C4-8C9B-4D70-48CF-751D74D83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F3E04-8135-73EF-221F-535F18971B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7C278-1492-B406-EC81-AF00F0675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45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E5909-B2AA-689A-22FF-372BBB913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4C9ACD-92AF-F8D8-EE2C-293BFF0FF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71888-C5B2-4072-82EE-1B8510D46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711F3-3875-FAA6-13AB-98E78E762C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1906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07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47A03-539B-6CA7-2386-119405E26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C673F-AB98-C1A2-08F5-4ADCF9B32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7CE5EE-897E-8342-96F3-9FAF05C1C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03641-F084-89C4-F067-EF42D6B8C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59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9E234-E549-FAA4-51ED-8E5BA6B4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87AB6-3999-F074-59F0-026788ED4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7DC1E9-5A12-420E-84C5-A2293DDD1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B9DAA-BE67-A168-D593-EF73AFD76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C7E23F-D384-0A43-BA50-535D3FAFD47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49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CF0DD94-3770-4A43-9B22-80284D031154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29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8280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0750-6365-6844-B64F-725A8DE5076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197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8985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74331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DFD9-5746-EC4F-8324-5E150B006DF7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28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CB042-4BAF-7645-AA0A-214365AE87EA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728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318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94A59-4970-9A4C-A186-FD370BB8CDB6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784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1341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27777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ECF0DD94-3770-4A43-9B22-80284D031154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12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82051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00750-6365-6844-B64F-725A8DE5076B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2099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0144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24678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FDFD9-5746-EC4F-8324-5E150B006DF7}" type="datetime1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2613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CB042-4BAF-7645-AA0A-214365AE87EA}" type="datetime1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398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7424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94A59-4970-9A4C-A186-FD370BB8CDB6}" type="datetime1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48645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37208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94754-273E-E948-9018-5261C08CB644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005455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3494754-273E-E948-9018-5261C08CB644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463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D3494754-273E-E948-9018-5261C08CB644}" type="datetime1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D852B8ED-7F2B-5448-BD79-1530102DF2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33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8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27.png"/><Relationship Id="rId9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31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32.png"/><Relationship Id="rId4" Type="http://schemas.openxmlformats.org/officeDocument/2006/relationships/image" Target="../media/image27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lose-up of several chains&#10;&#10;AI-generated content may be incorrect.">
            <a:extLst>
              <a:ext uri="{FF2B5EF4-FFF2-40B4-BE49-F238E27FC236}">
                <a16:creationId xmlns:a16="http://schemas.microsoft.com/office/drawing/2014/main" id="{07A95EEF-BF06-FA23-3044-AA312981AE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16" b="131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A5BCE34-61A5-4D9E-BB0C-10B1138F2D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59968"/>
            <a:ext cx="12192000" cy="2298032"/>
          </a:xfrm>
          <a:prstGeom prst="rect">
            <a:avLst/>
          </a:prstGeom>
          <a:solidFill>
            <a:schemeClr val="accent2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412BD7-FD4D-4F50-4F0C-493C40AA2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Kevin Wang</a:t>
            </a:r>
          </a:p>
          <a:p>
            <a:r>
              <a:rPr lang="en-US" dirty="0">
                <a:solidFill>
                  <a:srgbClr val="FFFFFF"/>
                </a:solidFill>
              </a:rPr>
              <a:t>UC Berkeley Qualifying Exam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F1B0F4-BC5D-4BBC-BFC1-4AECA3537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DD966-0408-0CA1-4149-DF0215A3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4" y="6470704"/>
            <a:ext cx="973666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852B8ED-7F2B-5448-BD79-1530102DF259}" type="slidenum">
              <a:rPr lang="en-US">
                <a:solidFill>
                  <a:srgbClr val="FFFFFF">
                    <a:alpha val="80000"/>
                  </a:srgb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rgbClr val="FFFFFF">
                  <a:alpha val="80000"/>
                </a:srgb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17D00EF-8BEA-D560-EB0E-A25800553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>
            <a:normAutofit fontScale="90000"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low-dimensional quantum magnetism:</a:t>
            </a:r>
            <a:br>
              <a:rPr lang="en-US" sz="3500" dirty="0">
                <a:solidFill>
                  <a:srgbClr val="FFFFFF"/>
                </a:solidFill>
              </a:rPr>
            </a:br>
            <a:r>
              <a:rPr lang="en-US" sz="3500" dirty="0">
                <a:solidFill>
                  <a:srgbClr val="FFFFFF"/>
                </a:solidFill>
              </a:rPr>
              <a:t>superdiffusion breakdown in spin ladders and quantum spin liquids on the triangular lattice</a:t>
            </a:r>
          </a:p>
        </p:txBody>
      </p:sp>
    </p:spTree>
    <p:extLst>
      <p:ext uri="{BB962C8B-B14F-4D97-AF65-F5344CB8AC3E}">
        <p14:creationId xmlns:p14="http://schemas.microsoft.com/office/powerpoint/2010/main" val="331438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DFBC-62E0-2E02-7342-48DF1584A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Quantum Heisenberg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93D385-A6A9-2B01-E7FE-791BF52EF4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7260" y="2664476"/>
                <a:ext cx="9720073" cy="344371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3200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32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lvl="1"/>
                <a:endParaRPr lang="en-US" sz="2000" dirty="0"/>
              </a:p>
              <a:p>
                <a:pPr lvl="1"/>
                <a:r>
                  <a:rPr lang="en-US" sz="2000" dirty="0"/>
                  <a:t>Paradigmatic model of quantum magnetism: simple, effective model describing antiferromagnetic (J&gt;0) magnetic insulators</a:t>
                </a:r>
              </a:p>
              <a:p>
                <a:pPr lvl="1"/>
                <a:endParaRPr lang="en-US" sz="2000" i="1" dirty="0"/>
              </a:p>
              <a:p>
                <a:pPr marL="128016" lvl="1" indent="0" algn="ctr">
                  <a:buNone/>
                </a:pPr>
                <a:r>
                  <a:rPr lang="en-US" sz="2000" b="1" u="sng" dirty="0"/>
                  <a:t>Despite simplicity, low-dimensional physics is extremely rich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93D385-A6A9-2B01-E7FE-791BF52EF4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7260" y="2664476"/>
                <a:ext cx="9720073" cy="3443715"/>
              </a:xfrm>
              <a:blipFill>
                <a:blip r:embed="rId2"/>
                <a:stretch>
                  <a:fillRect t="-52574" b="-47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37BA0-EF27-0ECB-7E32-ADCEC228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59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202B4-27CD-5B77-6A9D-6AAE97F65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0" i="0" u="none" strike="noStrike" kern="1200" cap="all" spc="10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j-ea"/>
                <a:cs typeface="+mj-cs"/>
              </a:rPr>
              <a:t>Quantum Heisenberg Model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74BE5-5185-D976-C318-4BBCB774A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0836" y="1840521"/>
            <a:ext cx="4754880" cy="82296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One dimension (1D)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0D1F2-CA1A-DEEE-DFDD-7D548293B0A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030836" y="2628673"/>
                <a:ext cx="4754880" cy="3341572"/>
              </a:xfrm>
            </p:spPr>
            <p:txBody>
              <a:bodyPr/>
              <a:lstStyle/>
              <a:p>
                <a:pPr lvl="1"/>
                <a:r>
                  <a:rPr lang="en-US" sz="2000" dirty="0"/>
                  <a:t>Half-odd-integer spin chains are </a:t>
                </a:r>
                <a:r>
                  <a:rPr lang="en-US" sz="2000" i="1" dirty="0"/>
                  <a:t>gapless</a:t>
                </a:r>
              </a:p>
              <a:p>
                <a:pPr lvl="2"/>
                <a:r>
                  <a:rPr lang="en-US" sz="1600" dirty="0"/>
                  <a:t>low-T physics = Luttinger Liquid</a:t>
                </a:r>
              </a:p>
              <a:p>
                <a:pPr lvl="1"/>
                <a:r>
                  <a:rPr lang="en-US" sz="2000" dirty="0"/>
                  <a:t>Integer spin chains are </a:t>
                </a:r>
                <a:r>
                  <a:rPr lang="en-US" sz="2000" i="1" dirty="0"/>
                  <a:t>gapped</a:t>
                </a:r>
              </a:p>
              <a:p>
                <a:pPr lvl="2"/>
                <a:r>
                  <a:rPr lang="en-US" sz="1600" dirty="0"/>
                  <a:t>S=1 Haldane chain: canonical example of symmetry protected topological (SPT) phase</a:t>
                </a:r>
              </a:p>
              <a:p>
                <a:pPr lvl="1"/>
                <a:r>
                  <a:rPr lang="en-US" sz="2000" dirty="0">
                    <a:solidFill>
                      <a:schemeClr val="tx1"/>
                    </a:solidFill>
                  </a:rPr>
                  <a:t>S=1/2 chain is exactly solvable via the Bethe ansatz</a:t>
                </a:r>
              </a:p>
              <a:p>
                <a:pPr lvl="2"/>
                <a:r>
                  <a:rPr lang="en-US" sz="1600" dirty="0">
                    <a:solidFill>
                      <a:schemeClr val="tx1"/>
                    </a:solidFill>
                  </a:rPr>
                  <a:t>Integrability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infinite number of local conserved charges</a:t>
                </a:r>
              </a:p>
              <a:p>
                <a:pPr lvl="2"/>
                <a:r>
                  <a:rPr lang="en-US" sz="1600" dirty="0">
                    <a:solidFill>
                      <a:schemeClr val="tx1"/>
                    </a:solidFill>
                  </a:rPr>
                  <a:t>Fractionalization of spin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deconfined 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spinon</a:t>
                </a:r>
                <a:r>
                  <a:rPr lang="en-US" sz="1600" dirty="0">
                    <a:solidFill>
                      <a:schemeClr val="tx1"/>
                    </a:solidFill>
                  </a:rPr>
                  <a:t> excitations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50D1F2-CA1A-DEEE-DFDD-7D548293B0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030836" y="2628673"/>
                <a:ext cx="4754880" cy="3341572"/>
              </a:xfrm>
              <a:blipFill>
                <a:blip r:embed="rId2"/>
                <a:stretch>
                  <a:fillRect t="-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2D5765-8A1E-24FF-D081-8F9C78E5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3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46D4CB-D793-35DB-3845-741830FAE758}"/>
              </a:ext>
            </a:extLst>
          </p:cNvPr>
          <p:cNvGrpSpPr/>
          <p:nvPr/>
        </p:nvGrpSpPr>
        <p:grpSpPr>
          <a:xfrm>
            <a:off x="7540088" y="2119499"/>
            <a:ext cx="3473450" cy="1989922"/>
            <a:chOff x="7476967" y="1999454"/>
            <a:chExt cx="3473450" cy="198992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6123851-9093-FC9D-864E-9390E9C61B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3973"/>
            <a:stretch>
              <a:fillRect/>
            </a:stretch>
          </p:blipFill>
          <p:spPr>
            <a:xfrm>
              <a:off x="7476967" y="1999454"/>
              <a:ext cx="3473450" cy="1728311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F02E1B-D095-3D7C-11B9-3B2F26A81F16}"/>
                </a:ext>
              </a:extLst>
            </p:cNvPr>
            <p:cNvSpPr txBox="1"/>
            <p:nvPr/>
          </p:nvSpPr>
          <p:spPr>
            <a:xfrm>
              <a:off x="7716294" y="3727766"/>
              <a:ext cx="31210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Lake et al., </a:t>
              </a:r>
              <a:r>
                <a:rPr lang="en-US" sz="11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PRL</a:t>
              </a: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‘13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DC43D4-290F-32DD-C31D-97E03B872C93}"/>
              </a:ext>
            </a:extLst>
          </p:cNvPr>
          <p:cNvGrpSpPr/>
          <p:nvPr/>
        </p:nvGrpSpPr>
        <p:grpSpPr>
          <a:xfrm>
            <a:off x="7518703" y="4556832"/>
            <a:ext cx="3642461" cy="1330065"/>
            <a:chOff x="7476967" y="4534137"/>
            <a:chExt cx="3642461" cy="1330065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33CA5FB0-70E9-E388-8961-27BD86F535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76967" y="4534137"/>
              <a:ext cx="3642461" cy="10684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64B301F-06C7-6323-AC55-D04C0D5E471D}"/>
                </a:ext>
              </a:extLst>
            </p:cNvPr>
            <p:cNvSpPr txBox="1"/>
            <p:nvPr/>
          </p:nvSpPr>
          <p:spPr>
            <a:xfrm>
              <a:off x="7667850" y="5602592"/>
              <a:ext cx="31210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“AKLT Model”, Wikipedia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8705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C31F2-3186-5189-AC81-0C296693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CC7AC-8D3A-241E-1107-5C0FA11F8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0" i="0" u="none" strike="noStrike" kern="1200" cap="all" spc="10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Tw Cen MT Condensed" panose="020B0606020104020203"/>
                <a:ea typeface="+mj-ea"/>
                <a:cs typeface="+mj-cs"/>
              </a:rPr>
              <a:t>Quantum Heisenberg Model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7AF0E-39BD-2E3A-48CD-B903AF147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4128" y="1786020"/>
            <a:ext cx="4754880" cy="82296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Two dimensions (2D)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5D53A8-C5C2-D248-BDBD-653B5E8DD99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1024128" y="2574172"/>
                <a:ext cx="4754880" cy="3341572"/>
              </a:xfrm>
            </p:spPr>
            <p:txBody>
              <a:bodyPr/>
              <a:lstStyle/>
              <a:p>
                <a:pPr lvl="1"/>
                <a:r>
                  <a:rPr lang="en-US" sz="2000" dirty="0"/>
                  <a:t>Frustrated systems may host </a:t>
                </a:r>
                <a:r>
                  <a:rPr lang="en-US" sz="2000" b="1" dirty="0"/>
                  <a:t>quantum spin liquids</a:t>
                </a:r>
              </a:p>
              <a:p>
                <a:pPr lvl="2"/>
                <a:r>
                  <a:rPr lang="en-US" sz="1600" dirty="0"/>
                  <a:t>Frustration prevents ordering down to zero T</a:t>
                </a:r>
              </a:p>
              <a:p>
                <a:pPr lvl="2"/>
                <a:r>
                  <a:rPr lang="en-US" sz="1600" dirty="0"/>
                  <a:t>Highly entangled superposition of singlet, valence-bond states (resonating valence bond, RVB)</a:t>
                </a:r>
              </a:p>
              <a:p>
                <a:pPr lvl="2"/>
                <a:r>
                  <a:rPr lang="en-US" sz="1600" dirty="0"/>
                  <a:t>Like 1D S=1/2 chain, fractionalized </a:t>
                </a:r>
                <a:r>
                  <a:rPr lang="en-US" sz="1600" dirty="0" err="1"/>
                  <a:t>spinon</a:t>
                </a:r>
                <a:r>
                  <a:rPr lang="en-US" sz="1600" dirty="0"/>
                  <a:t> excitations become </a:t>
                </a:r>
                <a:r>
                  <a:rPr lang="en-US" sz="1600" i="1" dirty="0"/>
                  <a:t>deconfined</a:t>
                </a:r>
              </a:p>
              <a:p>
                <a:pPr lvl="2"/>
                <a:r>
                  <a:rPr lang="en-US" sz="1600" dirty="0"/>
                  <a:t>Bosonic or fermionic (</a:t>
                </a:r>
                <a:r>
                  <a:rPr lang="en-US" sz="1600" dirty="0" err="1"/>
                  <a:t>parton</a:t>
                </a:r>
                <a:r>
                  <a:rPr lang="en-US" sz="1600" dirty="0"/>
                  <a:t>) descriptions of </a:t>
                </a:r>
                <a:r>
                  <a:rPr lang="en-US" sz="1600" dirty="0" err="1"/>
                  <a:t>spinons</a:t>
                </a:r>
                <a:endParaRPr lang="en-US" sz="1600" dirty="0"/>
              </a:p>
              <a:p>
                <a:pPr lvl="2"/>
                <a:r>
                  <a:rPr lang="en-US" sz="1600" dirty="0"/>
                  <a:t>Charged under emergent dynamical gauge field: </a:t>
                </a:r>
                <a:endParaRPr lang="en-US" sz="1600" b="0" i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310896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G</m:t>
                      </m:r>
                      <m:r>
                        <a:rPr lang="en-US" sz="1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(1), </m:t>
                      </m:r>
                      <m:r>
                        <m:rPr>
                          <m:sty m:val="p"/>
                        </m:rP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SU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(2) </m:t>
                      </m:r>
                    </m:oMath>
                  </m:oMathPara>
                </a14:m>
                <a:endParaRPr lang="en-US" sz="1600" dirty="0"/>
              </a:p>
              <a:p>
                <a:pPr lvl="2"/>
                <a:r>
                  <a:rPr lang="en-US" sz="1600" dirty="0"/>
                  <a:t>Excitations can have nontrivial braiding statistics</a:t>
                </a:r>
              </a:p>
              <a:p>
                <a:pPr lvl="2"/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15D53A8-C5C2-D248-BDBD-653B5E8DD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1024128" y="2574172"/>
                <a:ext cx="4754880" cy="3341572"/>
              </a:xfrm>
              <a:blipFill>
                <a:blip r:embed="rId2"/>
                <a:stretch>
                  <a:fillRect t="-1825" r="-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D01F9-F0E6-9E59-56AF-4C53AE713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4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2929AA4-083D-410E-40C2-E4618EE46BC5}"/>
              </a:ext>
            </a:extLst>
          </p:cNvPr>
          <p:cNvGrpSpPr/>
          <p:nvPr/>
        </p:nvGrpSpPr>
        <p:grpSpPr>
          <a:xfrm>
            <a:off x="6533520" y="1940101"/>
            <a:ext cx="5075121" cy="1343958"/>
            <a:chOff x="6533520" y="1940101"/>
            <a:chExt cx="5075121" cy="13439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DF35418-996D-F21E-8984-1581E3A6F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33520" y="1940101"/>
              <a:ext cx="5075121" cy="1027687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7BFEB2F-10F0-93A0-17AC-C71F90564C2A}"/>
                </a:ext>
              </a:extLst>
            </p:cNvPr>
            <p:cNvSpPr txBox="1"/>
            <p:nvPr/>
          </p:nvSpPr>
          <p:spPr>
            <a:xfrm>
              <a:off x="7345241" y="3022449"/>
              <a:ext cx="312103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Savary and </a:t>
              </a:r>
              <a:r>
                <a:rPr lang="en-US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Balents</a:t>
              </a: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, </a:t>
              </a:r>
              <a:r>
                <a:rPr lang="en-US" sz="11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Rep. Prog. Phys.</a:t>
              </a: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‘17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B68F929-DF70-E997-5174-170C0B757B63}"/>
              </a:ext>
            </a:extLst>
          </p:cNvPr>
          <p:cNvGrpSpPr/>
          <p:nvPr/>
        </p:nvGrpSpPr>
        <p:grpSpPr>
          <a:xfrm>
            <a:off x="9408003" y="3321074"/>
            <a:ext cx="1616298" cy="2179393"/>
            <a:chOff x="9658131" y="3186849"/>
            <a:chExt cx="1616298" cy="2179393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2EE8EF4-F32C-9A00-CF64-9952134B4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58131" y="3186849"/>
              <a:ext cx="1616298" cy="1917783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85CAA4-B01C-7BFE-5410-2985821EF0DC}"/>
                </a:ext>
              </a:extLst>
            </p:cNvPr>
            <p:cNvSpPr txBox="1"/>
            <p:nvPr/>
          </p:nvSpPr>
          <p:spPr>
            <a:xfrm>
              <a:off x="9700782" y="5104632"/>
              <a:ext cx="15309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Wietek</a:t>
              </a: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et al., </a:t>
              </a:r>
              <a:r>
                <a:rPr lang="en-US" sz="11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PRX</a:t>
              </a:r>
              <a:r>
                <a:rPr 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‘24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59E4D95-0D99-2C59-79D8-F08DCFF81540}"/>
              </a:ext>
            </a:extLst>
          </p:cNvPr>
          <p:cNvGrpSpPr/>
          <p:nvPr/>
        </p:nvGrpSpPr>
        <p:grpSpPr>
          <a:xfrm>
            <a:off x="6833860" y="3493423"/>
            <a:ext cx="2237219" cy="2204319"/>
            <a:chOff x="6833860" y="3493423"/>
            <a:chExt cx="2237219" cy="220431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C7C0013-2A22-BCE2-70A4-A1B301EF6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33860" y="3493423"/>
              <a:ext cx="2237219" cy="180420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8C69122-699D-2D5E-8C65-4914CEDE65AD}"/>
                </a:ext>
              </a:extLst>
            </p:cNvPr>
            <p:cNvSpPr txBox="1"/>
            <p:nvPr/>
          </p:nvSpPr>
          <p:spPr>
            <a:xfrm>
              <a:off x="6924082" y="5297632"/>
              <a:ext cx="18145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“Quantum Phases of Matter” Subir Sachdev (2023)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32064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11C42A38-614F-CB83-1BE4-8B396C28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S=1/2 Heisenberg Chain: Anomalous 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4DE38-EDE3-1DBC-0A5F-6ED7AB5DA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139375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Despite nearly a century of study, new physics has emerged</a:t>
                </a:r>
              </a:p>
              <a:p>
                <a:r>
                  <a:rPr lang="en-US" sz="2400" dirty="0"/>
                  <a:t>Surprisingly, high-temperature spin transport discovered to be </a:t>
                </a:r>
                <a:r>
                  <a:rPr lang="en-US" sz="2400" i="1" dirty="0"/>
                  <a:t>anomalous</a:t>
                </a:r>
              </a:p>
              <a:p>
                <a:r>
                  <a:rPr lang="en-US" sz="2400" dirty="0"/>
                  <a:t>Dynamical critical exponent: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∼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p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/>
                  <a:t> (ballistic)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000" dirty="0"/>
                  <a:t> (diffusion)</a:t>
                </a: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=3/2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 (superdiffusion)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4DE38-EDE3-1DBC-0A5F-6ED7AB5DA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139375" cy="4351338"/>
              </a:xfrm>
              <a:blipFill>
                <a:blip r:embed="rId2"/>
                <a:stretch>
                  <a:fillRect l="-1033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6CA70-DED4-B14F-B39C-4E7E4922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5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E36BBCC-FB43-BD40-D59A-A734C4230EC7}"/>
              </a:ext>
            </a:extLst>
          </p:cNvPr>
          <p:cNvGrpSpPr/>
          <p:nvPr/>
        </p:nvGrpSpPr>
        <p:grpSpPr>
          <a:xfrm>
            <a:off x="7222603" y="1620456"/>
            <a:ext cx="4189430" cy="4326031"/>
            <a:chOff x="7222603" y="1620456"/>
            <a:chExt cx="4189430" cy="432603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CB686C5-138D-9DF5-23F0-08DE1DE10096}"/>
                </a:ext>
              </a:extLst>
            </p:cNvPr>
            <p:cNvGrpSpPr/>
            <p:nvPr/>
          </p:nvGrpSpPr>
          <p:grpSpPr>
            <a:xfrm>
              <a:off x="7222603" y="1620456"/>
              <a:ext cx="4131197" cy="3930549"/>
              <a:chOff x="7222603" y="1620456"/>
              <a:chExt cx="4131197" cy="3930549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B738DD6-6D0A-A9D8-5DB1-D02489CEC390}"/>
                  </a:ext>
                </a:extLst>
              </p:cNvPr>
              <p:cNvGrpSpPr/>
              <p:nvPr/>
            </p:nvGrpSpPr>
            <p:grpSpPr>
              <a:xfrm>
                <a:off x="7265475" y="1677384"/>
                <a:ext cx="4088325" cy="3873621"/>
                <a:chOff x="7265475" y="1492189"/>
                <a:chExt cx="4088325" cy="3873621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67C207BC-0287-2024-35F8-F3DA12818A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265475" y="1492189"/>
                  <a:ext cx="4088325" cy="3873621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4B44C303-E774-74E4-A117-2CDA569DB27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821074" y="3049343"/>
                      <a:ext cx="900440" cy="37965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solidFill>
                                  <a:schemeClr val="accent6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~ 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accent6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2/3</m:t>
                                </m:r>
                              </m:sup>
                            </m:sSup>
                          </m:oMath>
                        </m:oMathPara>
                      </a14:m>
                      <a:endParaRPr lang="en-US" dirty="0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2" name="TextBox 1">
                      <a:extLst>
                        <a:ext uri="{FF2B5EF4-FFF2-40B4-BE49-F238E27FC236}">
                          <a16:creationId xmlns:a16="http://schemas.microsoft.com/office/drawing/2014/main" id="{4B44C303-E774-74E4-A117-2CDA569DB27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821074" y="3049343"/>
                      <a:ext cx="900440" cy="37965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3378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C3F84B4-3EC5-1632-CECD-FB6A1043E248}"/>
                  </a:ext>
                </a:extLst>
              </p:cNvPr>
              <p:cNvSpPr/>
              <p:nvPr/>
            </p:nvSpPr>
            <p:spPr>
              <a:xfrm>
                <a:off x="7222603" y="1620456"/>
                <a:ext cx="300941" cy="358815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E0FB26-326B-8DE8-ED55-A71D64CDA13F}"/>
                </a:ext>
              </a:extLst>
            </p:cNvPr>
            <p:cNvSpPr txBox="1"/>
            <p:nvPr/>
          </p:nvSpPr>
          <p:spPr>
            <a:xfrm>
              <a:off x="8230115" y="5607933"/>
              <a:ext cx="318191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Ljubotina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, Žnidarič &amp; Prosen, ‘17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698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A460F-39D8-9A37-4D7A-BC7139EEB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CDE8C-E1FA-BDE8-C0C5-E6C8D196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Generalized Hydrodynamics (GHD)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D0F712-28CC-2563-C475-FFDC627727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89893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How do we characterize non-equilibrium dynamics of integrable systems?</a:t>
                </a:r>
              </a:p>
              <a:p>
                <a:r>
                  <a:rPr lang="en-US" sz="2400" dirty="0"/>
                  <a:t>Integrability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infinite number of stable, ballistically propagating quasiparticles (e.g. Bethe strings)</a:t>
                </a:r>
              </a:p>
              <a:p>
                <a:r>
                  <a:rPr lang="en-US" sz="2400" dirty="0"/>
                  <a:t>GHD: </a:t>
                </a:r>
              </a:p>
              <a:p>
                <a:pPr lvl="1"/>
                <a:r>
                  <a:rPr lang="en-US" sz="2000" dirty="0"/>
                  <a:t>Local equilibration to generalized Gibbs ensemble (GGE)</a:t>
                </a:r>
              </a:p>
              <a:p>
                <a:pPr lvl="1"/>
                <a:r>
                  <a:rPr lang="en-US" sz="2000" dirty="0"/>
                  <a:t>Continuity equations for conserved charges</a:t>
                </a:r>
              </a:p>
              <a:p>
                <a:pPr lvl="1"/>
                <a:r>
                  <a:rPr lang="en-US" sz="2000" dirty="0"/>
                  <a:t>Convert to basis of quasiparticle densities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D0F712-28CC-2563-C475-FFDC62772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898931" cy="4351338"/>
              </a:xfrm>
              <a:blipFill>
                <a:blip r:embed="rId3"/>
                <a:stretch>
                  <a:fillRect l="-2581" t="-2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5C89C-D9A8-B58A-0212-6C307EACD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6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FD6718-5A10-DB3C-CCF9-56FF6D528AE8}"/>
              </a:ext>
            </a:extLst>
          </p:cNvPr>
          <p:cNvGrpSpPr/>
          <p:nvPr/>
        </p:nvGrpSpPr>
        <p:grpSpPr>
          <a:xfrm>
            <a:off x="6653048" y="2048423"/>
            <a:ext cx="5349725" cy="3714941"/>
            <a:chOff x="6653048" y="2048423"/>
            <a:chExt cx="5349725" cy="371494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D28233C-94EE-975B-D6BC-31EFA6E04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53048" y="2048423"/>
              <a:ext cx="5349725" cy="330134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843B29D-C26B-170A-0F9C-DFDB9A61D718}"/>
                </a:ext>
              </a:extLst>
            </p:cNvPr>
            <p:cNvSpPr txBox="1"/>
            <p:nvPr/>
          </p:nvSpPr>
          <p:spPr>
            <a:xfrm>
              <a:off x="8048530" y="5424810"/>
              <a:ext cx="31210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Doyon, </a:t>
              </a:r>
              <a:r>
                <a:rPr lang="en-US" sz="16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SciPost</a:t>
              </a:r>
              <a:r>
                <a:rPr lang="en-US" sz="16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Phys. Lect. Notes,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‘20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395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44A00-B605-FE26-4F59-A6163DC25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84A8-2F0E-5763-EA5F-556346964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Generalized Hydrodynamics (GHD)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7FA0C-E35B-49D9-3696-818E722CD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084832"/>
            <a:ext cx="9720073" cy="42245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Intuitive picture: quasiparticles travel ballistically with effective velocity and charge </a:t>
            </a:r>
            <a:r>
              <a:rPr lang="en-US" i="1" dirty="0"/>
              <a:t>dressed (renormalized) </a:t>
            </a:r>
            <a:r>
              <a:rPr lang="en-US" dirty="0"/>
              <a:t>by elastic collisions with other quasiparticles</a:t>
            </a: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DAA62-ED21-81DA-21EF-F533E79F5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7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6DE18E5-18BA-55E4-819E-B0E2DB75AF8B}"/>
              </a:ext>
            </a:extLst>
          </p:cNvPr>
          <p:cNvGrpSpPr/>
          <p:nvPr/>
        </p:nvGrpSpPr>
        <p:grpSpPr>
          <a:xfrm>
            <a:off x="3867490" y="3097891"/>
            <a:ext cx="4457020" cy="3162929"/>
            <a:chOff x="3867490" y="3097891"/>
            <a:chExt cx="4457020" cy="316292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2418434-E62E-03FC-9169-06D3025CD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67490" y="3097891"/>
              <a:ext cx="4457020" cy="296176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EA432CC-BBC8-5841-432F-AE9B40499383}"/>
                </a:ext>
              </a:extLst>
            </p:cNvPr>
            <p:cNvSpPr txBox="1"/>
            <p:nvPr/>
          </p:nvSpPr>
          <p:spPr>
            <a:xfrm>
              <a:off x="4834360" y="5922266"/>
              <a:ext cx="30711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Doyon, </a:t>
              </a:r>
              <a:r>
                <a:rPr lang="en-US" sz="1600" i="1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SciPost</a:t>
              </a:r>
              <a:r>
                <a:rPr lang="en-US" sz="16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Phys. Lect. Notes,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 ‘20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6777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13A59-945D-537E-A93E-3B94AA774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8ED10-1643-C5F6-E968-0C62B09C4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S=1/2 Heisenberg Chain: Anomalous 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F5043-2CBE-1D21-B3B3-51D93EFE7E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Generically, GHD predicts </a:t>
                </a:r>
                <a:r>
                  <a:rPr lang="en-US" sz="2400" i="1" dirty="0"/>
                  <a:t>ballistic 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) transport</a:t>
                </a:r>
              </a:p>
              <a:p>
                <a:r>
                  <a:rPr lang="en-US" sz="2400" dirty="0"/>
                  <a:t>But, dressed charge can become zero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sub-ballistic transport</a:t>
                </a:r>
              </a:p>
              <a:p>
                <a:r>
                  <a:rPr lang="en-US" sz="2400" dirty="0"/>
                  <a:t>Spin transport of XXZ Chain at half-filling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𝐽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bSup>
                      </m:e>
                    </m:nary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Easy-plane (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): ballistic</a:t>
                </a:r>
              </a:p>
              <a:p>
                <a:pPr lvl="1"/>
                <a:r>
                  <a:rPr lang="en-US" sz="2000" dirty="0"/>
                  <a:t>Easy-axis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/>
                  <a:t>): diffusive</a:t>
                </a:r>
              </a:p>
              <a:p>
                <a:pPr lvl="1"/>
                <a:r>
                  <a:rPr lang="en-US" sz="2000" dirty="0">
                    <a:solidFill>
                      <a:schemeClr val="accent1"/>
                    </a:solidFill>
                  </a:rPr>
                  <a:t>Isotropic 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 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solidFill>
                      <a:schemeClr val="accent1"/>
                    </a:solidFill>
                  </a:rPr>
                  <a:t>): superdiffusive</a:t>
                </a:r>
              </a:p>
              <a:p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0F5043-2CBE-1D21-B3B3-51D93EFE7E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FCFC6-A3DE-3359-BBF9-415776299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391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C3E4-6A88-B39D-2EF3-DED7AEA54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superdiffusion?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FACA8-C9BC-E4ED-9FC4-2087F423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44B33CB-9117-267B-19A7-DAD3C7C475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4"/>
                <a:ext cx="10515600" cy="4770619"/>
              </a:xfrm>
              <a:prstGeom prst="rect">
                <a:avLst/>
              </a:prstGeom>
            </p:spPr>
            <p:txBody>
              <a:bodyPr vert="horz" lIns="45720" tIns="45720" rIns="4572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b="1" dirty="0"/>
                  <a:t>Heuristic argument</a:t>
                </a:r>
              </a:p>
              <a:p>
                <a:pPr marL="0" indent="0">
                  <a:buNone/>
                </a:pPr>
                <a:r>
                  <a:rPr lang="en-US" sz="2400" dirty="0"/>
                  <a:t>Thermodynamic Bethe Ansatz (TBA): quasiparticles = Bethe strings</a:t>
                </a:r>
              </a:p>
              <a:p>
                <a:pPr lvl="1"/>
                <a:r>
                  <a:rPr lang="en-US" sz="2000" dirty="0"/>
                  <a:t>Length: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Magnetization: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~ 1/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Density: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~ 1/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i="1" dirty="0"/>
                  <a:t>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(fixed by static susceptibility sum rule)</a:t>
                </a:r>
                <a:endParaRPr lang="en-US" sz="2000" i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Quasiparticles carry current until encountering larger string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sz="20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endParaRPr lang="en-US" sz="20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  <m:sub>
                                <m:sSup>
                                  <m:sSupPr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7"/>
                              </m:r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brk m:alnAt="7"/>
                          </m:r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nary>
                    <m:r>
                      <a:rPr lang="en-US" sz="2000" i="1" dirty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~</m:t>
                    </m:r>
                    <m:f>
                      <m:fPr>
                        <m:ctrlP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000" i="1" dirty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000" i="1" dirty="0">
                  <a:solidFill>
                    <a:schemeClr val="accent1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ea typeface="Cambria Math" panose="02040503050406030204" pitchFamily="18" charset="0"/>
                  </a:rPr>
                  <a:t>                     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44B33CB-9117-267B-19A7-DAD3C7C47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4"/>
                <a:ext cx="10515600" cy="4770619"/>
              </a:xfrm>
              <a:prstGeom prst="rect">
                <a:avLst/>
              </a:prstGeom>
              <a:blipFill>
                <a:blip r:embed="rId3"/>
                <a:stretch>
                  <a:fillRect l="-1333" t="-1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641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73C49-3816-82F7-A817-600E2C24F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0C849-D04A-EE7F-00AB-AE658D18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superdiffusion?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62E142-2D1E-1299-0268-BD3331095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US" b="1" dirty="0"/>
                  <a:t>Heuristic argument</a:t>
                </a:r>
              </a:p>
              <a:p>
                <a:pPr marL="0" indent="0">
                  <a:buNone/>
                </a:pPr>
                <a:r>
                  <a:rPr lang="en-US" sz="2400" dirty="0"/>
                  <a:t>Thermodynamic Bethe Ansatz (TBA): quasiparticles = Bethe strings</a:t>
                </a:r>
              </a:p>
              <a:p>
                <a:pPr lvl="1"/>
                <a:r>
                  <a:rPr lang="en-US" sz="2000" dirty="0"/>
                  <a:t>Length: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Magnetization: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~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:r>
                  <a:rPr lang="en-US" sz="2000" dirty="0"/>
                  <a:t>Density: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i="1" dirty="0"/>
                  <a:t> </a:t>
                </a:r>
                <a:r>
                  <a:rPr lang="en-US" sz="2000" dirty="0">
                    <a:solidFill>
                      <a:schemeClr val="accent1"/>
                    </a:solidFill>
                  </a:rPr>
                  <a:t>(fixed by static susceptibility sum rule)</a:t>
                </a:r>
                <a:endParaRPr lang="en-US" sz="2000" i="1" dirty="0"/>
              </a:p>
              <a:p>
                <a:pPr lvl="1"/>
                <a:r>
                  <a:rPr lang="en-US" sz="2000" dirty="0"/>
                  <a:t>Screening time: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b="0" i="1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Kubo formula for AC conductivity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~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~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/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den>
                              </m:f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p>
                                    <m:sSup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sup>
                              </m:sSup>
                            </m:e>
                          </m:nary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~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−2/3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62E142-2D1E-1299-0268-BD3331095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  <a:blipFill>
                <a:blip r:embed="rId2"/>
                <a:stretch>
                  <a:fillRect l="-1333" t="-2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9A1F8-96F5-969D-D5FC-262039D3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2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7AEEF-51AC-40AC-6DF8-84A05C2C9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5026-F95B-EE83-2691-1D5394B45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“Superuniversality” of superdiffusion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782CD-BCC4-FAB3-09C7-D224A9975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 It has since been discovered that:</a:t>
                </a:r>
              </a:p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For any local quantum integrable model with global symmetry given by a      non-abelian simple Lie group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b="1" dirty="0"/>
                  <a:t>, the finite-temperature transport of associated Noether charges in a symmetric thermal state is </a:t>
                </a:r>
                <a:r>
                  <a:rPr lang="en-US" sz="2400" b="1" i="1" dirty="0" err="1"/>
                  <a:t>superdiffusive</a:t>
                </a:r>
                <a:r>
                  <a:rPr lang="en-US" sz="2400" b="1" i="1" dirty="0"/>
                  <a:t> </a:t>
                </a:r>
                <a:r>
                  <a:rPr lang="en-US" sz="2400" b="1" dirty="0"/>
                  <a:t>(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𝒛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2400" b="1" dirty="0"/>
                  <a:t>).</a:t>
                </a:r>
              </a:p>
              <a:p>
                <a:pPr marL="0" indent="0">
                  <a:buNone/>
                </a:pPr>
                <a:r>
                  <a:rPr lang="en-US" sz="1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Ilievski et al. </a:t>
                </a:r>
                <a:r>
                  <a:rPr lang="en-US" sz="1800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PRX </a:t>
                </a:r>
                <a:r>
                  <a:rPr lang="en-US" sz="18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‘21</a:t>
                </a:r>
              </a:p>
              <a:p>
                <a:pPr marL="0" indent="0">
                  <a:buNone/>
                </a:pPr>
                <a:endParaRPr lang="en-US" sz="2400" b="1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782CD-BCC4-FAB3-09C7-D224A9975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  <a:blipFill>
                <a:blip r:embed="rId2"/>
                <a:stretch>
                  <a:fillRect l="-1448" t="-1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F7C58-0E67-E559-9761-E4B578518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44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4BDE5-33DE-684C-9E1C-19F5C2A3C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Breaking integrability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794E6-2C64-4A60-29EE-766705E7A7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Introduce an integrability-breaking perturbation</a:t>
                </a: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Non-integrable models are generically diffusive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chemeClr val="accent1"/>
                    </a:solidFill>
                  </a:rPr>
                  <a:t>Question: </a:t>
                </a:r>
                <a:r>
                  <a:rPr lang="en-US" sz="2400" dirty="0">
                    <a:solidFill>
                      <a:schemeClr val="accent1"/>
                    </a:solidFill>
                  </a:rPr>
                  <a:t>How does the timescale of the onset of diffusion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 scale with the integrability breaking strength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>
                    <a:solidFill>
                      <a:schemeClr val="accent1"/>
                    </a:solidFill>
                  </a:rPr>
                  <a:t>?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accent1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400" dirty="0">
                    <a:solidFill>
                      <a:srgbClr val="FF0000"/>
                    </a:solidFill>
                  </a:rPr>
                  <a:t>Depends on if</a:t>
                </a:r>
                <a14:m>
                  <m:oMath xmlns:m="http://schemas.openxmlformats.org/officeDocument/2006/math">
                    <m:r>
                      <a:rPr lang="en-US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preserves the global symmetry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2794E6-2C64-4A60-29EE-766705E7A7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73" t="-34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125C8-DC5B-7846-B2DF-506F16B20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62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0B1C3-C8AA-0A07-9C28-0D3BA290F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1E6A-1816-895F-48DE-3D0D07A7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Breaking integrability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31D8B86-C2B5-E512-1EF8-7B7EACBF154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9788" y="1924233"/>
                <a:ext cx="5157787" cy="45476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breaks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D31D8B86-C2B5-E512-1EF8-7B7EACBF1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9788" y="1924233"/>
                <a:ext cx="5157787" cy="454764"/>
              </a:xfrm>
              <a:blipFill>
                <a:blip r:embed="rId2"/>
                <a:stretch>
                  <a:fillRect t="-13158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B1351-C7E3-425E-E320-C8275C9C3159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9788" y="2476719"/>
                <a:ext cx="5157787" cy="395601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400" dirty="0"/>
                  <a:t>Fermi’s golden rule: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b="0" i="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400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C8B1351-C7E3-425E-E320-C8275C9C3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9788" y="2476719"/>
                <a:ext cx="5157787" cy="3956014"/>
              </a:xfrm>
              <a:blipFill>
                <a:blip r:embed="rId3"/>
                <a:stretch>
                  <a:fillRect l="-2591" t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DFB9CDB-CE8B-6975-6657-1C7A93847EC5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>
              <a:xfrm>
                <a:off x="6172200" y="1924233"/>
                <a:ext cx="5183188" cy="45476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b="0" dirty="0">
                    <a:solidFill>
                      <a:schemeClr val="tx1"/>
                    </a:solidFill>
                  </a:rPr>
                  <a:t> preserves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 Placeholder 4">
                <a:extLst>
                  <a:ext uri="{FF2B5EF4-FFF2-40B4-BE49-F238E27FC236}">
                    <a16:creationId xmlns:a16="http://schemas.microsoft.com/office/drawing/2014/main" id="{8DFB9CDB-CE8B-6975-6657-1C7A93847E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"/>
              </p:nvPr>
            </p:nvSpPr>
            <p:spPr>
              <a:xfrm>
                <a:off x="6172200" y="1924233"/>
                <a:ext cx="5183188" cy="454764"/>
              </a:xfrm>
              <a:blipFill>
                <a:blip r:embed="rId4"/>
                <a:stretch>
                  <a:fillRect t="-13158" b="-2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5BFB88A-DCCD-C86B-E152-0FF0509CD5B4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200" y="2476719"/>
                <a:ext cx="5183188" cy="3956014"/>
              </a:xfr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Selection rules limit possible scattering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matrix elements of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scale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~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US" sz="20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Γ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decay rate beats intrinsic screening when</a:t>
                </a:r>
              </a:p>
              <a:p>
                <a:pPr marL="0" indent="0">
                  <a:buNone/>
                </a:pPr>
                <a:endParaRPr lang="en-US" sz="105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05BFB88A-DCCD-C86B-E152-0FF0509CD5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200" y="2476719"/>
                <a:ext cx="5183188" cy="3956014"/>
              </a:xfrm>
              <a:blipFill>
                <a:blip r:embed="rId5"/>
                <a:stretch>
                  <a:fillRect l="-2579" t="-19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1C9CC-68D3-9910-CF4C-FC17A7C2E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8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6" grpId="0" uiExpand="1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24F9-779D-994A-0AB0-040EA59F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Heisenberg ladder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A861E5-A7C8-B1AD-AE63-B8B20D2B69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44746"/>
                <a:ext cx="10515600" cy="2747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Introduce several types of integrability-breaking perturbations</a:t>
                </a:r>
              </a:p>
              <a:p>
                <a:pPr marL="0" indent="0">
                  <a:buNone/>
                </a:pPr>
                <a:endParaRPr lang="en-US" sz="2400" b="0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+ 4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)(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′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)(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i="1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A861E5-A7C8-B1AD-AE63-B8B20D2B69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44746"/>
                <a:ext cx="10515600" cy="2747963"/>
              </a:xfrm>
              <a:blipFill>
                <a:blip r:embed="rId2"/>
                <a:stretch>
                  <a:fillRect l="-1448" t="-18349" b="-6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12827-61A9-F7DA-930E-89405459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F24762-F63B-B434-7037-DAD7126E8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5044" y="1821674"/>
            <a:ext cx="6421912" cy="15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BC7C8-4715-7CEC-533C-4B2D19E9C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A948F-1469-36C0-EE2B-F461EBC06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Heisenberg ladder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CF903D-70BC-76FF-07EC-7FB911C92E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Consider two integrable points to perturb around:</a:t>
                </a:r>
                <a:endParaRPr lang="en-US" sz="2400" b="0" i="1" dirty="0"/>
              </a:p>
              <a:p>
                <a:pPr marL="457200" indent="-457200">
                  <a:buFont typeface="+mj-lt"/>
                  <a:buAutoNum type="arabicParenR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</m:e>
                      </m:nary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𝑆𝑈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en-US" b="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CF903D-70BC-76FF-07EC-7FB911C92E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  <a:blipFill>
                <a:blip r:embed="rId2"/>
                <a:stretch>
                  <a:fillRect l="-1448" t="-2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3BFF-3405-1EDD-06C1-13AA4AC13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3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12BB-B794-3700-B35A-99DB8EEE0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403A-3F30-B271-F021-E02B32137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Heisenberg ladder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5A9F65-B7DF-0E83-AE63-490A4E16DD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  <a:effectLst>
                <a:softEdge rad="0"/>
              </a:effectLst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Consider two integrable points to perturb around:</a:t>
                </a:r>
                <a:endParaRPr lang="en-US" sz="2400" b="0" i="1" dirty="0"/>
              </a:p>
              <a:p>
                <a:pPr marL="457200" indent="-457200">
                  <a:buFont typeface="+mj-lt"/>
                  <a:buAutoNum type="arabicParenR" startAt="2"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′=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Sup>
                            <m:sSub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r>
                        <a:rPr lang="en-US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)(1+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(4)</m:t>
                      </m:r>
                    </m:oMath>
                  </m:oMathPara>
                </a14:m>
                <a:endParaRPr lang="en-US" b="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5A9F65-B7DF-0E83-AE63-490A4E16DD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84831"/>
                <a:ext cx="10515600" cy="4092131"/>
              </a:xfrm>
              <a:blipFill>
                <a:blip r:embed="rId2"/>
                <a:stretch>
                  <a:fillRect l="-1448" t="-2167" b="-20743"/>
                </a:stretch>
              </a:blipFill>
              <a:effectLst>
                <a:softEdge rad="0"/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4E08E-EB93-1EDF-A140-D9A898997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70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E99B-F461-0F1C-E50A-71A53415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To characterize transport, we focus on time evolution from an inhomogeneous quench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∼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bSup>
                                <m:sSub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dirty="0">
                                      <a:latin typeface="Cambria Math" panose="02040503050406030204" pitchFamily="18" charset="0"/>
                                    </a:rPr>
                                    <m:t>left</m:t>
                                  </m:r>
                                </m:sub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sSubSup>
                                <m:sSub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right</m:t>
                                  </m:r>
                                </m:sub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</m:e>
                          </m:d>
                        </m:e>
                      </m:func>
                    </m:oMath>
                  </m:oMathPara>
                </a14:m>
                <a:endParaRPr lang="en-US" sz="2400" b="0" dirty="0"/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≪1⇒</m:t>
                    </m:r>
                  </m:oMath>
                </a14:m>
                <a:r>
                  <a:rPr lang="en-US" sz="2400" dirty="0"/>
                  <a:t> initial state is nearly infinite temperature mixed state, polarized in opposite directions in left/right half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Natural measure of transport is “magnetization transfer”</a:t>
                </a:r>
              </a:p>
              <a:p>
                <a:pPr marL="0" indent="0">
                  <a:buNone/>
                </a:pPr>
                <a:endParaRPr lang="en-US" sz="7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≡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left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2400" b="0" i="0" dirty="0" smtClean="0">
                                      <a:latin typeface="Cambria Math" panose="02040503050406030204" pitchFamily="18" charset="0"/>
                                    </a:rPr>
                                    <m:t>left</m:t>
                                  </m:r>
                                </m:sub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                                                          = charge transferred from right to left half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39" r="-1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DB77C-2DF8-12D0-EC58-7EC2E6DC5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17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2E99B-F461-0F1C-E50A-71A53415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The magnetization transfer scales as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7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With integrability breaking,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should interpolate between superdiffusion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=1.5</m:t>
                    </m:r>
                  </m:oMath>
                </a14:m>
                <a:r>
                  <a:rPr lang="en-US" sz="2400" dirty="0"/>
                  <a:t> and diffusion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Power law fits over scanning time windows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0DAA66-7DA2-4ED5-0605-824F251D6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34"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042E4-635D-4000-00E0-FC09F18FF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46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5C0FF1-C503-7D8C-0C39-E661FF926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B01133-A199-C409-AE7C-2F68774903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083901" cy="666290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arenR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                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⃗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(1)</m:t>
                            </m:r>
                          </m:sup>
                        </m:sSubSup>
                      </m:e>
                    </m:nary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            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𝑆𝑈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(2) × 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𝑆𝑈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(2)</m:t>
                    </m:r>
                  </m:oMath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457200" indent="-457200">
                  <a:buFont typeface="+mj-lt"/>
                  <a:buAutoNum type="arabicParenR"/>
                </a:pPr>
                <a:endParaRPr lang="en-US"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B01133-A199-C409-AE7C-2F68774903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083901" cy="666290"/>
              </a:xfrm>
              <a:blipFill>
                <a:blip r:embed="rId4"/>
                <a:stretch>
                  <a:fillRect l="-801" t="-64815" b="-70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31AE00F-CB37-7A67-67D8-AA99C1F9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868764-1FBB-8118-0308-160EED80AF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3447" y="527384"/>
            <a:ext cx="4244992" cy="100104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F9796E3-81A5-4497-FCE0-21799C3D44B8}"/>
              </a:ext>
            </a:extLst>
          </p:cNvPr>
          <p:cNvGrpSpPr/>
          <p:nvPr/>
        </p:nvGrpSpPr>
        <p:grpSpPr>
          <a:xfrm>
            <a:off x="2458756" y="2746836"/>
            <a:ext cx="7274488" cy="3388004"/>
            <a:chOff x="2458756" y="2746836"/>
            <a:chExt cx="7274488" cy="3388004"/>
          </a:xfrm>
        </p:grpSpPr>
        <p:pic>
          <p:nvPicPr>
            <p:cNvPr id="12" name="Picture 11" descr="A group of graphs with different colors&#10;&#10;AI-generated content may be incorrect.">
              <a:extLst>
                <a:ext uri="{FF2B5EF4-FFF2-40B4-BE49-F238E27FC236}">
                  <a16:creationId xmlns:a16="http://schemas.microsoft.com/office/drawing/2014/main" id="{BA1AB00A-6E5C-B004-8698-7A6A2776E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58756" y="2746836"/>
              <a:ext cx="7274488" cy="303103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F0BB745-B13F-056E-4AE3-B6829C7F0341}"/>
                    </a:ext>
                  </a:extLst>
                </p:cNvPr>
                <p:cNvSpPr txBox="1"/>
                <p:nvPr/>
              </p:nvSpPr>
              <p:spPr>
                <a:xfrm>
                  <a:off x="3231811" y="5765508"/>
                  <a:ext cx="1396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>
                      <a:solidFill>
                        <a:schemeClr val="accent1"/>
                      </a:solidFill>
                    </a:rPr>
                    <a:t>-breaking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F0BB745-B13F-056E-4AE3-B6829C7F0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1811" y="5765508"/>
                  <a:ext cx="1396030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A18A313-D604-D2FA-D585-DCF38486CFA9}"/>
                    </a:ext>
                  </a:extLst>
                </p:cNvPr>
                <p:cNvSpPr txBox="1"/>
                <p:nvPr/>
              </p:nvSpPr>
              <p:spPr>
                <a:xfrm>
                  <a:off x="5579913" y="5765508"/>
                  <a:ext cx="1396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>
                      <a:solidFill>
                        <a:schemeClr val="accent1"/>
                      </a:solidFill>
                    </a:rPr>
                    <a:t>-breaking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1A18A313-D604-D2FA-D585-DCF38486CF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9913" y="5765508"/>
                  <a:ext cx="1396030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BBB1A8F-E894-2759-4021-530E91AB4C1E}"/>
                    </a:ext>
                  </a:extLst>
                </p:cNvPr>
                <p:cNvSpPr txBox="1"/>
                <p:nvPr/>
              </p:nvSpPr>
              <p:spPr>
                <a:xfrm>
                  <a:off x="7820542" y="5765508"/>
                  <a:ext cx="139603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a14:m>
                  <a:r>
                    <a:rPr lang="en-US" dirty="0">
                      <a:solidFill>
                        <a:schemeClr val="accent1"/>
                      </a:solidFill>
                    </a:rPr>
                    <a:t>-invariant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1BBB1A8F-E894-2759-4021-530E91AB4C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20542" y="5765508"/>
                  <a:ext cx="1396030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80543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F0303-F44F-F001-AF11-E501F1C71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3F94D-5A2A-701C-0CC8-3A72D32524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59846" y="2734471"/>
            <a:ext cx="7272307" cy="3031037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D40D586-3216-98BB-2169-BCA08529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7FCD7CA-B785-DFBB-5ADC-F149B2024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666290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arenR" startAt="2"/>
                </a:pP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                          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&gt;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/>
                  <a:t>                      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𝑆𝑈</m:t>
                    </m:r>
                    <m:r>
                      <a:rPr lang="en-US" sz="2000" i="1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(4)</m:t>
                    </m:r>
                  </m:oMath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457200" indent="-457200">
                  <a:buFont typeface="+mj-lt"/>
                  <a:buAutoNum type="arabicParenR" startAt="2"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7FCD7CA-B785-DFBB-5ADC-F149B2024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666290"/>
              </a:xfrm>
              <a:blipFill>
                <a:blip r:embed="rId4"/>
                <a:stretch>
                  <a:fillRect l="-638" t="-69091" b="-7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93512A-26EE-F7BC-9BE3-86FA6E34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DDD5EB-9135-91E1-76F0-A76482102D4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53447" y="915043"/>
            <a:ext cx="4244992" cy="5285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51182B-E3E4-2046-0E1E-E10A2C6AB7C3}"/>
                  </a:ext>
                </a:extLst>
              </p:cNvPr>
              <p:cNvSpPr txBox="1"/>
              <p:nvPr/>
            </p:nvSpPr>
            <p:spPr>
              <a:xfrm>
                <a:off x="3080489" y="5765508"/>
                <a:ext cx="177295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𝑆𝑈</m:t>
                    </m:r>
                    <m:d>
                      <m:dPr>
                        <m:ctrlP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chemical potential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51182B-E3E4-2046-0E1E-E10A2C6AB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0489" y="5765508"/>
                <a:ext cx="1772958" cy="646331"/>
              </a:xfrm>
              <a:prstGeom prst="rect">
                <a:avLst/>
              </a:prstGeom>
              <a:blipFill>
                <a:blip r:embed="rId6"/>
                <a:stretch>
                  <a:fillRect t="-5660" r="-2405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E9751E-1E6A-9264-E9AB-070AFB89CE5D}"/>
                  </a:ext>
                </a:extLst>
              </p:cNvPr>
              <p:cNvSpPr txBox="1"/>
              <p:nvPr/>
            </p:nvSpPr>
            <p:spPr>
              <a:xfrm>
                <a:off x="5579913" y="5765508"/>
                <a:ext cx="1396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-breaking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E9751E-1E6A-9264-E9AB-070AFB89C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9913" y="5765508"/>
                <a:ext cx="1396030" cy="369332"/>
              </a:xfrm>
              <a:prstGeom prst="rect">
                <a:avLst/>
              </a:prstGeom>
              <a:blipFill>
                <a:blip r:embed="rId7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449F6-1822-B7AD-E40B-769028463577}"/>
                  </a:ext>
                </a:extLst>
              </p:cNvPr>
              <p:cNvSpPr txBox="1"/>
              <p:nvPr/>
            </p:nvSpPr>
            <p:spPr>
              <a:xfrm>
                <a:off x="7820542" y="5765508"/>
                <a:ext cx="13960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-breaking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4F449F6-1822-B7AD-E40B-769028463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542" y="5765508"/>
                <a:ext cx="1396030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565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4CF4A-ADB1-A355-E943-2EA05D18E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E8400-BEE8-CB74-0BA6-21B3C6E7D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Superuniversal 𝐺-invariant behavior?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75752-5EC7-EDC2-A335-2ABAFD089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4D4E19D-5743-65B3-FCB4-7E5B6E0B05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Simple non-abelian Lie group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of rank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sz="2400" dirty="0"/>
                  <a:t>quasiparticle flavor index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Turns out that scaling of TBA quantities is universal </a:t>
                </a:r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~ 1/</m:t>
                    </m:r>
                    <m:sSup>
                      <m:sSup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2000" b="0" i="1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1/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2000" b="0" i="1" dirty="0">
                  <a:ea typeface="Cambria Math" panose="02040503050406030204" pitchFamily="18" charset="0"/>
                </a:endParaRPr>
              </a:p>
              <a:p>
                <a:endParaRPr lang="en-US" sz="2400" b="0" dirty="0">
                  <a:ea typeface="Cambria Math" panose="02040503050406030204" pitchFamily="18" charset="0"/>
                </a:endParaRPr>
              </a:p>
              <a:p>
                <a:r>
                  <a:rPr lang="en-US" sz="2400" dirty="0">
                    <a:ea typeface="Cambria Math" panose="02040503050406030204" pitchFamily="18" charset="0"/>
                  </a:rPr>
                  <a:t>So, same argument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 should still hold in principle</a:t>
                </a:r>
              </a:p>
            </p:txBody>
          </p:sp>
        </mc:Choice>
        <mc:Fallback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04D4E19D-5743-65B3-FCB4-7E5B6E0B0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0619"/>
              </a:xfrm>
              <a:blipFill>
                <a:blip r:embed="rId2"/>
                <a:stretch>
                  <a:fillRect l="-1333" t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6111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3430-0893-3F4A-1FB7-AB785F7DF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CD8D0DA-FA0C-05B9-62C0-0BB56F7C5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Spin Transport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75485A4-2954-D28A-3C48-537D219E93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285808"/>
              </a:xfrm>
            </p:spPr>
            <p:txBody>
              <a:bodyPr>
                <a:noAutofit/>
              </a:bodyPr>
              <a:lstStyle/>
              <a:p>
                <a:pPr marL="457200" indent="-457200">
                  <a:buFont typeface="+mj-lt"/>
                  <a:buAutoNum type="arabicParenR" startAt="3"/>
                </a:pPr>
                <a:r>
                  <a:rPr lang="en-US" sz="2000" dirty="0"/>
                  <a:t>Simple generalization of Heisenberg ladder: increase local Hilbert space dimension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=2→3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(1)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Sup>
                            <m:sSub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00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𝑆𝑈</m:t>
                      </m:r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(3)</m:t>
                      </m:r>
                    </m:oMath>
                  </m:oMathPara>
                </a14:m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457200" indent="-457200">
                  <a:buFont typeface="+mj-lt"/>
                  <a:buAutoNum type="arabicParenR" startAt="3"/>
                </a:pPr>
                <a:endParaRPr lang="en-US" sz="24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975485A4-2954-D28A-3C48-537D219E93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285808"/>
              </a:xfrm>
              <a:blipFill>
                <a:blip r:embed="rId3"/>
                <a:stretch>
                  <a:fillRect l="-3257" t="-8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43C904-0D21-16A0-9FA3-FE0EBDE03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D83E341-1C1B-B661-74D7-5807C2F848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53447" y="529769"/>
            <a:ext cx="4244992" cy="996273"/>
          </a:xfrm>
          <a:prstGeom prst="rect">
            <a:avLst/>
          </a:prstGeom>
        </p:spPr>
      </p:pic>
      <p:pic>
        <p:nvPicPr>
          <p:cNvPr id="14" name="Picture 13" descr="A graph of a function&#10;&#10;AI-generated content may be incorrect.">
            <a:extLst>
              <a:ext uri="{FF2B5EF4-FFF2-40B4-BE49-F238E27FC236}">
                <a16:creationId xmlns:a16="http://schemas.microsoft.com/office/drawing/2014/main" id="{FE924478-F9DF-AC80-E9C9-C845753632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1051" y="2577867"/>
            <a:ext cx="3833149" cy="383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04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7A4F7-86A5-1222-203D-540C91698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5E454-FB9C-96D4-3004-DC6AB75C52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sz="2400" dirty="0"/>
                  <a:t>Quantum Heisenberg chain (integrable models invariant under non-abelian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) displays superdiffusive spin transport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3/2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at high temperature</a:t>
                </a:r>
              </a:p>
              <a:p>
                <a:pPr lvl="1"/>
                <a:r>
                  <a:rPr lang="en-US" sz="2400" dirty="0"/>
                  <a:t>Break integrability on ladder geometry and find different scaling behavior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~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US" sz="2400" dirty="0"/>
                  <a:t> depending on whether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400" dirty="0"/>
                  <a:t> preserves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=6)</m:t>
                    </m:r>
                  </m:oMath>
                </a14:m>
                <a:r>
                  <a:rPr lang="en-US" sz="2400" dirty="0"/>
                  <a:t> or breaks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lvl="1"/>
                <a:r>
                  <a:rPr lang="en-US" sz="2400" dirty="0"/>
                  <a:t>Behavior inherits the “superuniversal” physics underlying superdiffusion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15E454-FB9C-96D4-3004-DC6AB75C52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235BE-F4D0-55AB-D49D-D1DD945CB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93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96D2-9BE7-62FE-FCC2-ABBEF2EC4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C4F6A-81EE-C312-F526-A344A6E4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6CBD3-68C5-E39B-ED56-69DF1EE6B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Materials Synthesis: S=1/2 spin chains in </a:t>
            </a:r>
            <a:r>
              <a:rPr lang="en-US" sz="2400" b="1" dirty="0"/>
              <a:t>nanoribbons</a:t>
            </a:r>
          </a:p>
          <a:p>
            <a:pPr lvl="2"/>
            <a:r>
              <a:rPr lang="en-US" sz="2000" dirty="0"/>
              <a:t>Topological graphene nanoribbons (</a:t>
            </a:r>
            <a:r>
              <a:rPr lang="pt-BR" sz="2000" dirty="0"/>
              <a:t>Cao, Zhao &amp; Louie,</a:t>
            </a:r>
            <a:r>
              <a:rPr lang="en-US" sz="2000" dirty="0"/>
              <a:t> </a:t>
            </a:r>
            <a:r>
              <a:rPr lang="en-US" sz="2000" i="1" dirty="0"/>
              <a:t>PRL </a:t>
            </a:r>
            <a:r>
              <a:rPr lang="en-US" sz="2000" dirty="0"/>
              <a:t>’17</a:t>
            </a:r>
          </a:p>
          <a:p>
            <a:pPr marL="310896" lvl="2" indent="0">
              <a:buNone/>
            </a:pPr>
            <a:r>
              <a:rPr lang="en-US" sz="2000" dirty="0"/>
              <a:t>				      Rizzo, …, Louie, Crommie &amp; Fischer, </a:t>
            </a:r>
            <a:r>
              <a:rPr lang="en-US" sz="2000" i="1" dirty="0"/>
              <a:t>Nature ’18</a:t>
            </a:r>
            <a:r>
              <a:rPr lang="en-US" sz="2000" dirty="0"/>
              <a:t>)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en-US" sz="2000" dirty="0"/>
              <a:t>Edge theory of zigzag nanoribbons (Koop &amp; Schmidt, </a:t>
            </a:r>
            <a:r>
              <a:rPr lang="en-US" sz="2000" i="1" dirty="0"/>
              <a:t>PRB ’14)</a:t>
            </a:r>
          </a:p>
          <a:p>
            <a:pPr lvl="2"/>
            <a:r>
              <a:rPr lang="en-US" sz="2000" dirty="0"/>
              <a:t>Nanographene Olympicene chains (Zhao et al., </a:t>
            </a:r>
            <a:r>
              <a:rPr lang="en-US" sz="2000" i="1" dirty="0"/>
              <a:t>Nat. Mater. ’25)</a:t>
            </a:r>
            <a:endParaRPr lang="en-US" sz="2000" dirty="0"/>
          </a:p>
          <a:p>
            <a:pPr lvl="2"/>
            <a:r>
              <a:rPr lang="en-US" sz="2000" dirty="0"/>
              <a:t>Molecular chains (Sun et al., </a:t>
            </a:r>
            <a:r>
              <a:rPr lang="en-US" sz="2000" i="1" dirty="0"/>
              <a:t>Science Advances ’25)</a:t>
            </a:r>
          </a:p>
          <a:p>
            <a:pPr lvl="2"/>
            <a:endParaRPr lang="en-US" sz="2000" dirty="0"/>
          </a:p>
          <a:p>
            <a:pPr lvl="2"/>
            <a:endParaRPr lang="en-US" sz="2000" dirty="0"/>
          </a:p>
          <a:p>
            <a:pPr marL="310896" lvl="2" indent="0" algn="ctr">
              <a:buNone/>
            </a:pPr>
            <a:r>
              <a:rPr lang="en-US" sz="2400" dirty="0">
                <a:solidFill>
                  <a:schemeClr val="accent1"/>
                </a:solidFill>
              </a:rPr>
              <a:t>Synthesize effective Heisenberg ladders with tunable interactions?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D6E32-5929-25EA-150D-D32D3753C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E43E0-8FF5-0420-99C7-8D085A48A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262" y="2679192"/>
            <a:ext cx="9720072" cy="1499616"/>
          </a:xfrm>
        </p:spPr>
        <p:txBody>
          <a:bodyPr/>
          <a:lstStyle/>
          <a:p>
            <a:pPr algn="ctr"/>
            <a:r>
              <a:rPr lang="en-US" dirty="0"/>
              <a:t>Thanks!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435525-7829-F0C7-2D72-D30F73392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25</a:t>
            </a:fld>
            <a:endParaRPr lang="en-US"/>
          </a:p>
        </p:txBody>
      </p:sp>
      <p:pic>
        <p:nvPicPr>
          <p:cNvPr id="1026" name="Picture 2" descr="United States Department of Energy ...">
            <a:extLst>
              <a:ext uri="{FF2B5EF4-FFF2-40B4-BE49-F238E27FC236}">
                <a16:creationId xmlns:a16="http://schemas.microsoft.com/office/drawing/2014/main" id="{DA45ABAE-B845-E0E2-2881-2339096E3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695" y="4924441"/>
            <a:ext cx="1546263" cy="1546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antum Science Center">
            <a:extLst>
              <a:ext uri="{FF2B5EF4-FFF2-40B4-BE49-F238E27FC236}">
                <a16:creationId xmlns:a16="http://schemas.microsoft.com/office/drawing/2014/main" id="{73A33E52-A47A-86A9-405E-C9C617A86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119" y="5462814"/>
            <a:ext cx="2828109" cy="100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oel Moore">
            <a:extLst>
              <a:ext uri="{FF2B5EF4-FFF2-40B4-BE49-F238E27FC236}">
                <a16:creationId xmlns:a16="http://schemas.microsoft.com/office/drawing/2014/main" id="{DA150AF1-C069-26EB-ED20-38BE9F17E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8" r="14560"/>
          <a:stretch>
            <a:fillRect/>
          </a:stretch>
        </p:blipFill>
        <p:spPr bwMode="auto">
          <a:xfrm>
            <a:off x="8378939" y="3965706"/>
            <a:ext cx="1883884" cy="191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A5D729-8D08-1554-D958-780D22DBA8B9}"/>
              </a:ext>
            </a:extLst>
          </p:cNvPr>
          <p:cNvSpPr txBox="1"/>
          <p:nvPr/>
        </p:nvSpPr>
        <p:spPr>
          <a:xfrm>
            <a:off x="8467074" y="5991493"/>
            <a:ext cx="1685580" cy="374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Joel Moore</a:t>
            </a:r>
          </a:p>
        </p:txBody>
      </p:sp>
      <p:pic>
        <p:nvPicPr>
          <p:cNvPr id="5" name="Google Shape;99;p1" title="Kavli ENSI Logo_LBNL Creative Services.png">
            <a:extLst>
              <a:ext uri="{FF2B5EF4-FFF2-40B4-BE49-F238E27FC236}">
                <a16:creationId xmlns:a16="http://schemas.microsoft.com/office/drawing/2014/main" id="{9CF07CC4-64B9-569D-0419-5C117240A82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796" y="584609"/>
            <a:ext cx="3108425" cy="1348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8973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FEF999E-E702-8F64-202E-BB17A4D9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CE4C-3B87-8505-4E53-4290B274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D50AD8-0034-04BE-707F-B4030D80AC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sz="2400" dirty="0"/>
                  <a:t>Energy transport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2400" dirty="0"/>
                  <a:t>) measurements</a:t>
                </a:r>
              </a:p>
              <a:p>
                <a:pPr lvl="2"/>
                <a:r>
                  <a:rPr lang="en-US" sz="1600" dirty="0"/>
                  <a:t>Unlike spin transport, the energy current in the Heisenberg chain is explicitly conserved (ballistic transport)</a:t>
                </a:r>
              </a:p>
              <a:p>
                <a:pPr lvl="2"/>
                <a:r>
                  <a:rPr lang="en-US" sz="1600" dirty="0"/>
                  <a:t>Resonant Inelastic X-ray Scattering (RIXS) can probe energy correlations (Kumar et al. </a:t>
                </a:r>
                <a:r>
                  <a:rPr lang="en-US" sz="1600" i="1" dirty="0"/>
                  <a:t>PRB ‘22)</a:t>
                </a:r>
                <a:endParaRPr lang="en-US" sz="1600" dirty="0"/>
              </a:p>
              <a:p>
                <a:pPr lvl="2"/>
                <a:endParaRPr lang="en-US" sz="1600" dirty="0"/>
              </a:p>
              <a:p>
                <a:pPr marL="310896" lvl="2" indent="0" algn="ctr">
                  <a:buNone/>
                </a:pPr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310896" lvl="2" indent="0" algn="ctr">
                  <a:buNone/>
                </a:pPr>
                <a:endParaRPr lang="en-US" sz="2000" dirty="0">
                  <a:solidFill>
                    <a:schemeClr val="accent1"/>
                  </a:solidFill>
                </a:endParaRPr>
              </a:p>
              <a:p>
                <a:pPr marL="310896" lvl="2" indent="0" algn="ctr">
                  <a:buNone/>
                </a:pPr>
                <a:r>
                  <a:rPr lang="en-US" sz="2400" dirty="0">
                    <a:solidFill>
                      <a:schemeClr val="accent1"/>
                    </a:solidFill>
                  </a:rPr>
                  <a:t>Possible to observe signatures of ballistic transport in RIXS data for quasi-1D Heisenberg chains?</a:t>
                </a:r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D50AD8-0034-04BE-707F-B4030D80AC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E0614-CF72-26E2-890A-E5AE6024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52B8ED-7F2B-5448-BD79-1530102DF25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06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1_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26787</TotalTime>
  <Words>1440</Words>
  <Application>Microsoft Office PowerPoint</Application>
  <PresentationFormat>Widescreen</PresentationFormat>
  <Paragraphs>239</Paragraphs>
  <Slides>26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Cambria Math</vt:lpstr>
      <vt:lpstr>Tw Cen MT</vt:lpstr>
      <vt:lpstr>Tw Cen MT Condensed</vt:lpstr>
      <vt:lpstr>Wingdings 3</vt:lpstr>
      <vt:lpstr>Integral</vt:lpstr>
      <vt:lpstr>1_Integral</vt:lpstr>
      <vt:lpstr>low-dimensional quantum magnetism: superdiffusion breakdown in spin ladders and quantum spin liquids on the triangular lattice</vt:lpstr>
      <vt:lpstr>Quantum Heisenberg Model</vt:lpstr>
      <vt:lpstr>Quantum Heisenberg Model</vt:lpstr>
      <vt:lpstr>Quantum Heisenberg Model</vt:lpstr>
      <vt:lpstr>S=1/2 Heisenberg Chain: Anomalous Spin Transport</vt:lpstr>
      <vt:lpstr>Generalized Hydrodynamics (GHD)</vt:lpstr>
      <vt:lpstr>Generalized Hydrodynamics (GHD)</vt:lpstr>
      <vt:lpstr>S=1/2 Heisenberg Chain: Anomalous Spin Transport</vt:lpstr>
      <vt:lpstr>Why superdiffusion?</vt:lpstr>
      <vt:lpstr>Why superdiffusion?</vt:lpstr>
      <vt:lpstr>“Superuniversality” of superdiffusion</vt:lpstr>
      <vt:lpstr>Breaking integrability</vt:lpstr>
      <vt:lpstr>Breaking integrability</vt:lpstr>
      <vt:lpstr>Heisenberg ladder</vt:lpstr>
      <vt:lpstr>Heisenberg ladder</vt:lpstr>
      <vt:lpstr>Heisenberg ladder</vt:lpstr>
      <vt:lpstr>Spin Transport</vt:lpstr>
      <vt:lpstr>Spin Transport</vt:lpstr>
      <vt:lpstr>Spin Transport</vt:lpstr>
      <vt:lpstr>Spin Transport</vt:lpstr>
      <vt:lpstr>Superuniversal 𝐺-invariant behavior?</vt:lpstr>
      <vt:lpstr>Spin Transport</vt:lpstr>
      <vt:lpstr>Summary</vt:lpstr>
      <vt:lpstr>Future Directions</vt:lpstr>
      <vt:lpstr>Thanks!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Wang</dc:creator>
  <cp:lastModifiedBy>Kevin Wang</cp:lastModifiedBy>
  <cp:revision>58</cp:revision>
  <dcterms:created xsi:type="dcterms:W3CDTF">2024-06-07T07:59:19Z</dcterms:created>
  <dcterms:modified xsi:type="dcterms:W3CDTF">2026-03-09T19:38:05Z</dcterms:modified>
</cp:coreProperties>
</file>