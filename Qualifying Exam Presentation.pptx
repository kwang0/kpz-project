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49"/>
  </p:notesMasterIdLst>
  <p:sldIdLst>
    <p:sldId id="256" r:id="rId3"/>
    <p:sldId id="275" r:id="rId4"/>
    <p:sldId id="296" r:id="rId5"/>
    <p:sldId id="297" r:id="rId6"/>
    <p:sldId id="298" r:id="rId7"/>
    <p:sldId id="299" r:id="rId8"/>
    <p:sldId id="320" r:id="rId9"/>
    <p:sldId id="276" r:id="rId10"/>
    <p:sldId id="278" r:id="rId11"/>
    <p:sldId id="279" r:id="rId12"/>
    <p:sldId id="277" r:id="rId13"/>
    <p:sldId id="280" r:id="rId14"/>
    <p:sldId id="281" r:id="rId15"/>
    <p:sldId id="283" r:id="rId16"/>
    <p:sldId id="282" r:id="rId17"/>
    <p:sldId id="286" r:id="rId18"/>
    <p:sldId id="257" r:id="rId19"/>
    <p:sldId id="285" r:id="rId20"/>
    <p:sldId id="284" r:id="rId21"/>
    <p:sldId id="258" r:id="rId22"/>
    <p:sldId id="260" r:id="rId23"/>
    <p:sldId id="261" r:id="rId24"/>
    <p:sldId id="288" r:id="rId25"/>
    <p:sldId id="289" r:id="rId26"/>
    <p:sldId id="291" r:id="rId27"/>
    <p:sldId id="274" r:id="rId28"/>
    <p:sldId id="293" r:id="rId29"/>
    <p:sldId id="305" r:id="rId30"/>
    <p:sldId id="300" r:id="rId31"/>
    <p:sldId id="302" r:id="rId32"/>
    <p:sldId id="303" r:id="rId33"/>
    <p:sldId id="307" r:id="rId34"/>
    <p:sldId id="306" r:id="rId35"/>
    <p:sldId id="308" r:id="rId36"/>
    <p:sldId id="309" r:id="rId37"/>
    <p:sldId id="310" r:id="rId38"/>
    <p:sldId id="311" r:id="rId39"/>
    <p:sldId id="313" r:id="rId40"/>
    <p:sldId id="314" r:id="rId41"/>
    <p:sldId id="315" r:id="rId42"/>
    <p:sldId id="318" r:id="rId43"/>
    <p:sldId id="292" r:id="rId44"/>
    <p:sldId id="294" r:id="rId45"/>
    <p:sldId id="321" r:id="rId46"/>
    <p:sldId id="322" r:id="rId47"/>
    <p:sldId id="323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4" autoAdjust="0"/>
    <p:restoredTop sz="94688"/>
  </p:normalViewPr>
  <p:slideViewPr>
    <p:cSldViewPr snapToGrid="0">
      <p:cViewPr varScale="1">
        <p:scale>
          <a:sx n="91" d="100"/>
          <a:sy n="91" d="100"/>
        </p:scale>
        <p:origin x="1052" y="4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523C8-BD2C-811E-F204-265E5865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4E18F-1BFA-8CCA-33E4-880065F40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478B9-E381-CEB1-ADFA-A1FEF665F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6DBF9-D408-F915-B4B7-7C7B0C996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03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A78BB-88D1-37E4-8DBD-86AF7A67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869C2-FCF9-E23A-8DA0-A2D568E05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5E60F2-232A-57BB-4E6B-CA60D9A54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4053A-30B6-257A-EEE7-A43F821F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121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C237F-4FC7-44AD-C77B-19FE02460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0E5543-7ABB-F670-888D-3E6484449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03AF1-B5AA-D73A-313A-52B8E670D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26B32-ACF6-F914-2691-7121A3709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478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C50D-6C97-B16A-979D-04FBF384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3111F-85F3-79B0-9D99-40010A73D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D970F-E81A-79B1-0370-8ECFAFF43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362D0-3A76-5002-0CA9-B8C461010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836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0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65.png"/><Relationship Id="rId4" Type="http://schemas.openxmlformats.org/officeDocument/2006/relationships/image" Target="../media/image64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3500" dirty="0">
                <a:solidFill>
                  <a:schemeClr val="tx1"/>
                </a:solidFill>
              </a:rPr>
              <a:t>low-dimensional quantum magnetism:</a:t>
            </a:r>
            <a:br>
              <a:rPr lang="en-US" sz="3500" dirty="0">
                <a:solidFill>
                  <a:schemeClr val="tx1"/>
                </a:solidFill>
              </a:rPr>
            </a:br>
            <a:r>
              <a:rPr lang="en-US" sz="3500" dirty="0">
                <a:solidFill>
                  <a:schemeClr val="tx1"/>
                </a:solidFill>
              </a:rPr>
              <a:t>superdiffusion breakdown in spin ladders and quantum spin liquids on the triangular lattice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Kevin Wang</a:t>
            </a:r>
          </a:p>
          <a:p>
            <a:r>
              <a:rPr lang="en-US" dirty="0">
                <a:solidFill>
                  <a:schemeClr val="tx1"/>
                </a:solidFill>
              </a:rPr>
              <a:t>UC Berkeley Qualifying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1F099-8D02-90D1-EB66-9632B0A59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3D6C9-186C-3671-A264-14F965BD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Outline of Part </a:t>
            </a:r>
            <a:r>
              <a:rPr lang="en-US" sz="3600" dirty="0" err="1"/>
              <a:t>i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Background</a:t>
                </a:r>
              </a:p>
              <a:p>
                <a:pPr lvl="2"/>
                <a:r>
                  <a:rPr lang="en-US" sz="2000" dirty="0"/>
                  <a:t>Numerical discovery of spin superdiffusion in Heisenberg chain</a:t>
                </a:r>
              </a:p>
              <a:p>
                <a:pPr lvl="2"/>
                <a:r>
                  <a:rPr lang="en-US" sz="2000" dirty="0"/>
                  <a:t>Generalized hydrodynamics (GHD)</a:t>
                </a:r>
              </a:p>
              <a:p>
                <a:pPr lvl="2"/>
                <a:r>
                  <a:rPr lang="en-US" sz="2000" dirty="0"/>
                  <a:t>Heuristic scaling argument for superdiffusion</a:t>
                </a:r>
              </a:p>
              <a:p>
                <a:pPr lvl="2"/>
                <a:r>
                  <a:rPr lang="en-US" sz="2000" dirty="0"/>
                  <a:t>“</a:t>
                </a:r>
                <a:r>
                  <a:rPr lang="en-US" sz="2000" dirty="0" err="1"/>
                  <a:t>Superuniversality</a:t>
                </a:r>
                <a:r>
                  <a:rPr lang="en-US" sz="2000" dirty="0"/>
                  <a:t>” in other integrable models with non-abelian global symmetry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400" dirty="0"/>
                  <a:t>Breaking integrability</a:t>
                </a:r>
              </a:p>
              <a:p>
                <a:pPr lvl="2"/>
                <a:r>
                  <a:rPr lang="en-US" sz="2000" dirty="0"/>
                  <a:t>Timescale of superdiffusion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diffusion: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600" dirty="0"/>
              </a:p>
              <a:p>
                <a:pPr lvl="2"/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/>
                  <a:t> depends on symmetry of perturbation (previously shown in classical integrable model)</a:t>
                </a:r>
              </a:p>
              <a:p>
                <a:pPr lvl="1"/>
                <a:r>
                  <a:rPr lang="en-US" sz="2400" dirty="0">
                    <a:solidFill>
                      <a:schemeClr val="accent2"/>
                    </a:solidFill>
                  </a:rPr>
                  <a:t>MPS simulations of Heisenberg ladders and more</a:t>
                </a: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Extended prior results to quantum models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(2)</m:t>
                    </m:r>
                  </m:oMath>
                </a14:m>
                <a:r>
                  <a:rPr lang="en-US" sz="18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1800" dirty="0">
                  <a:solidFill>
                    <a:schemeClr val="accent2"/>
                  </a:solidFill>
                </a:endParaRP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Confirmed “</a:t>
                </a:r>
                <a:r>
                  <a:rPr lang="en-US" sz="2000" dirty="0" err="1">
                    <a:solidFill>
                      <a:schemeClr val="accent2"/>
                    </a:solidFill>
                  </a:rPr>
                  <a:t>superuniversality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” of scaling in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(3)</m:t>
                    </m:r>
                  </m:oMath>
                </a14:m>
                <a:r>
                  <a:rPr lang="en-US" sz="2000" dirty="0">
                    <a:solidFill>
                      <a:schemeClr val="accent2"/>
                    </a:solidFill>
                  </a:rPr>
                  <a:t> generalization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  <a:blipFill>
                <a:blip r:embed="rId3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54B44-EA6E-9A73-3B60-503DDE70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</a:t>
                </a:r>
                <a:r>
                  <a:rPr lang="en-US" sz="2400" i="1" dirty="0"/>
                  <a:t>high-temperature</a:t>
                </a:r>
                <a:r>
                  <a:rPr lang="en-US" sz="2400" dirty="0"/>
                  <a:t>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  <a:p>
                <a:pPr lvl="1"/>
                <a:endParaRPr lang="en-US" sz="20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  <a:p>
                <a:pPr marL="128016" lvl="1" indent="0" algn="ctr">
                  <a:buNone/>
                </a:pPr>
                <a:r>
                  <a:rPr lang="en-US" sz="2000" dirty="0"/>
                  <a:t>“Bethe-Boltzmann equation”</a:t>
                </a:r>
              </a:p>
              <a:p>
                <a:pPr marL="128016" lvl="1" indent="0" algn="ctr">
                  <a:buNone/>
                </a:pPr>
                <a:r>
                  <a:rPr lang="en-US" sz="13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Bulchandani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et al., </a:t>
                </a:r>
                <a:r>
                  <a:rPr lang="en-US" sz="13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PRB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(2018)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172" t="-2241" r="-1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333" t="-1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435821-4722-C7C7-9A82-6AB3C8752644}"/>
              </a:ext>
            </a:extLst>
          </p:cNvPr>
          <p:cNvSpPr txBox="1"/>
          <p:nvPr/>
        </p:nvSpPr>
        <p:spPr>
          <a:xfrm>
            <a:off x="4535480" y="6487124"/>
            <a:ext cx="3121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McCarthy et al.,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(2024)</a:t>
            </a:r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</a:t>
            </a:r>
            <a:r>
              <a:rPr lang="en-US" sz="2000" dirty="0"/>
              <a:t>(2018))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</a:t>
            </a:r>
            <a:r>
              <a:rPr lang="en-US" sz="2000" dirty="0"/>
              <a:t>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</a:t>
            </a:r>
            <a:r>
              <a:rPr lang="en-US" sz="2000" dirty="0"/>
              <a:t>(2025))</a:t>
            </a:r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</a:t>
            </a:r>
            <a:r>
              <a:rPr lang="en-US" sz="2000" dirty="0"/>
              <a:t>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 (~ </a:t>
                </a:r>
                <a:r>
                  <a:rPr lang="en-US" sz="2000" dirty="0" err="1"/>
                  <a:t>toric</a:t>
                </a:r>
                <a:r>
                  <a:rPr lang="en-US" sz="2000" dirty="0"/>
                  <a:t> code)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Gutzwiller MPS:</a:t>
                </a:r>
              </a:p>
              <a:p>
                <a:pPr lvl="2"/>
                <a:r>
                  <a:rPr lang="en-US" sz="2000" dirty="0"/>
                  <a:t>Can efficiently prepare MF ansatz as an MPS, i.e.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(Jin et al., </a:t>
                </a:r>
                <a:r>
                  <a:rPr lang="en-US" sz="2000" i="1" dirty="0"/>
                  <a:t>AAPPS Bulletin</a:t>
                </a:r>
                <a:r>
                  <a:rPr lang="en-US" sz="2000" dirty="0"/>
                  <a:t> (2025))</a:t>
                </a:r>
              </a:p>
              <a:p>
                <a:pPr lvl="2"/>
                <a:r>
                  <a:rPr lang="en-US" sz="2000" b="1" dirty="0"/>
                  <a:t>Ideas: </a:t>
                </a:r>
                <a:r>
                  <a:rPr lang="en-US" sz="2000" dirty="0"/>
                  <a:t>Prepare various ansatz states and…</a:t>
                </a:r>
              </a:p>
              <a:p>
                <a:pPr lvl="3"/>
                <a:r>
                  <a:rPr lang="en-US" sz="2000" dirty="0"/>
                  <a:t>Look at overlap with DMRG ground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⟨</m:t>
                    </m:r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Use as DMRG initialization to see if lower energy is reached</a:t>
                </a:r>
              </a:p>
              <a:p>
                <a:pPr lvl="3"/>
                <a:r>
                  <a:rPr lang="en-US" sz="2000" dirty="0"/>
                  <a:t>Dynamical correlations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dirty="0"/>
              </a:p>
              <a:p>
                <a:pPr lvl="3"/>
                <a:r>
                  <a:rPr lang="en-US" sz="2000" dirty="0"/>
                  <a:t>Prepare excitation states and time evolve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spinon-spinon</a:t>
                </a:r>
                <a:r>
                  <a:rPr lang="en-US" sz="2000" dirty="0"/>
                  <a:t>, monopole-monopole correlations, etc.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  <a:blipFill>
                <a:blip r:embed="rId3"/>
                <a:stretch>
                  <a:fillRect l="-130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AD11-CDC6-A171-5670-2EA4ECD75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790AFF-F1CA-A68B-2BD8-18BB2732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04C22A-15C8-7534-C812-21C2AEC0D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8F05489-9EFE-203E-A815-7BFE0C95F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8EDE3-DF0E-A7AB-F2E8-C5C0E3DFA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67A4E-F299-D44B-72A8-86B20980619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20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931A-8606-9B1F-AF30-5E3BDCCE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23B3F1F-6A73-9039-F927-85BB222A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D7B1B41-EE51-B1CF-F140-2C04356A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495618-06BE-D358-9527-84FD3FB4F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85819B-21C9-D841-9FF8-1CA2CB36D9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061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438A6-373C-70D0-9475-1EF6E14D1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36ECAAC-3117-CF4E-321B-01C2A01E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E674F4C-72ED-1016-8CC8-D33414F77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050E4-B21C-7AED-41D7-1FEEC8553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F451D4-6C82-7B09-3447-7283DD2F7A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0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5315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35955</TotalTime>
  <Words>2801</Words>
  <Application>Microsoft Office PowerPoint</Application>
  <PresentationFormat>Widescreen</PresentationFormat>
  <Paragraphs>455</Paragraphs>
  <Slides>46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Outline of Part i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Thanks!</vt:lpstr>
      <vt:lpstr>Future Directions</vt:lpstr>
      <vt:lpstr>Spin Transport</vt:lpstr>
      <vt:lpstr>Spin Transport</vt:lpstr>
      <vt:lpstr>Spin Transport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95</cp:revision>
  <dcterms:created xsi:type="dcterms:W3CDTF">2024-06-07T07:59:19Z</dcterms:created>
  <dcterms:modified xsi:type="dcterms:W3CDTF">2026-03-23T23:13:36Z</dcterms:modified>
</cp:coreProperties>
</file>