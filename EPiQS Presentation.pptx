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5" r:id="rId1"/>
    <p:sldMasterId id="2147483907" r:id="rId2"/>
  </p:sldMasterIdLst>
  <p:notesMasterIdLst>
    <p:notesMasterId r:id="rId25"/>
  </p:notesMasterIdLst>
  <p:sldIdLst>
    <p:sldId id="256" r:id="rId3"/>
    <p:sldId id="275" r:id="rId4"/>
    <p:sldId id="276" r:id="rId5"/>
    <p:sldId id="278" r:id="rId6"/>
    <p:sldId id="279" r:id="rId7"/>
    <p:sldId id="277" r:id="rId8"/>
    <p:sldId id="280" r:id="rId9"/>
    <p:sldId id="281" r:id="rId10"/>
    <p:sldId id="283" r:id="rId11"/>
    <p:sldId id="282" r:id="rId12"/>
    <p:sldId id="286" r:id="rId13"/>
    <p:sldId id="257" r:id="rId14"/>
    <p:sldId id="285" r:id="rId15"/>
    <p:sldId id="284" r:id="rId16"/>
    <p:sldId id="258" r:id="rId17"/>
    <p:sldId id="260" r:id="rId18"/>
    <p:sldId id="261" r:id="rId19"/>
    <p:sldId id="288" r:id="rId20"/>
    <p:sldId id="289" r:id="rId21"/>
    <p:sldId id="291" r:id="rId22"/>
    <p:sldId id="274" r:id="rId23"/>
    <p:sldId id="29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92" autoAdjust="0"/>
    <p:restoredTop sz="94688"/>
  </p:normalViewPr>
  <p:slideViewPr>
    <p:cSldViewPr snapToGrid="0">
      <p:cViewPr varScale="1">
        <p:scale>
          <a:sx n="116" d="100"/>
          <a:sy n="116" d="100"/>
        </p:scale>
        <p:origin x="200" y="360"/>
      </p:cViewPr>
      <p:guideLst/>
    </p:cSldViewPr>
  </p:slideViewPr>
  <p:outlineViewPr>
    <p:cViewPr>
      <p:scale>
        <a:sx n="33" d="100"/>
        <a:sy n="33" d="100"/>
      </p:scale>
      <p:origin x="0" y="-1993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C375C-D27F-6B4F-A98C-867F54470A23}" type="datetimeFigureOut">
              <a:rPr lang="en-US" smtClean="0"/>
              <a:t>6/3/25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7E23F-D384-0A43-BA50-535D3FAF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2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11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conservation laws, failure to thermalize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3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AFFA-D5E5-5D2A-904D-2C6EA3DF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7F431-89DB-EF96-02EA-433282338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35B82-D1DA-A7D0-7D16-C5FF34AEE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conservation laws, failure to thermalize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B98A-E955-BC56-CB6C-2C6FE302D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4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17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1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AF6D-58BD-F013-2A10-12E72672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A24C4-8C9B-4D70-48CF-751D74D83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F3E04-8135-73EF-221F-535F18971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C278-1492-B406-EC81-AF00F0675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45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5909-B2AA-689A-22FF-372BBB91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C9ACD-92AF-F8D8-EE2C-293BFF0FF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71888-C5B2-4072-82EE-1B8510D46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711F3-3875-FAA6-13AB-98E78E762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90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07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F0DD94-3770-4A43-9B22-80284D03115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29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828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0750-6365-6844-B64F-725A8DE5076B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19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985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4331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DFD9-5746-EC4F-8324-5E150B006DF7}" type="datetime1">
              <a:rPr lang="en-US" smtClean="0"/>
              <a:t>6/3/25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2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B042-4BAF-7645-AA0A-214365AE87EA}" type="datetime1">
              <a:rPr lang="en-US" smtClean="0"/>
              <a:t>6/3/25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2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318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4A59-4970-9A4C-A186-FD370BB8CDB6}" type="datetime1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78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134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2777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F0DD94-3770-4A43-9B22-80284D03115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1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2051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0750-6365-6844-B64F-725A8DE5076B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209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144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2467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DFD9-5746-EC4F-8324-5E150B006DF7}" type="datetime1">
              <a:rPr lang="en-US" smtClean="0"/>
              <a:t>6/3/25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61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B042-4BAF-7645-AA0A-214365AE87EA}" type="datetime1">
              <a:rPr lang="en-US" smtClean="0"/>
              <a:t>6/3/25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9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7424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4A59-4970-9A4C-A186-FD370BB8CDB6}" type="datetime1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486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37208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00545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63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3494754-273E-E948-9018-5261C08CB644}" type="datetime1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33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6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9.png"/><Relationship Id="rId4" Type="http://schemas.openxmlformats.org/officeDocument/2006/relationships/image" Target="../media/image2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-up of several chains&#10;&#10;AI-generated content may be incorrect.">
            <a:extLst>
              <a:ext uri="{FF2B5EF4-FFF2-40B4-BE49-F238E27FC236}">
                <a16:creationId xmlns:a16="http://schemas.microsoft.com/office/drawing/2014/main" id="{07A95EEF-BF06-FA23-3044-AA312981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16" b="13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5BCE34-61A5-4D9E-BB0C-10B1138F2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ED237-6C2B-19F1-2D2F-4485555A5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Breakdown of Superdiffusion in Perturbed Quantum Integrable Spin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Chains and Ladders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12BD7-FD4D-4F50-4F0C-493C40AA2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Kevin Wang</a:t>
            </a:r>
            <a:r>
              <a:rPr lang="en-US" sz="2000" dirty="0">
                <a:solidFill>
                  <a:srgbClr val="FFFFFF"/>
                </a:solidFill>
              </a:rPr>
              <a:t>, Joel Moore</a:t>
            </a:r>
          </a:p>
          <a:p>
            <a:r>
              <a:rPr lang="en-US" dirty="0">
                <a:solidFill>
                  <a:srgbClr val="FFFFFF"/>
                </a:solidFill>
              </a:rPr>
              <a:t>UC Berkeley</a:t>
            </a:r>
          </a:p>
          <a:p>
            <a:r>
              <a:rPr lang="en-US" dirty="0" err="1">
                <a:solidFill>
                  <a:srgbClr val="FFFFFF"/>
                </a:solidFill>
              </a:rPr>
              <a:t>EPiQS</a:t>
            </a:r>
            <a:r>
              <a:rPr lang="en-US" dirty="0">
                <a:solidFill>
                  <a:srgbClr val="FFFFFF"/>
                </a:solidFill>
              </a:rPr>
              <a:t> Symposium 2025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F1B0F4-BC5D-4BBC-BFC1-4AECA353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D966-0408-0CA1-4149-DF0215A3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52B8ED-7F2B-5448-BD79-1530102DF259}" type="slidenum">
              <a:rPr lang="en-US">
                <a:solidFill>
                  <a:srgbClr val="FFFFFF">
                    <a:alpha val="80000"/>
                  </a:srgb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3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DFBC-62E0-2E02-7342-48DF1584A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Quantum Heisenberg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93D385-A6A9-2B01-E7FE-791BF52E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260" y="2084832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Paradigmatic model of quantum magnetism, studied extensively since 1928</a:t>
                </a:r>
              </a:p>
              <a:p>
                <a:r>
                  <a:rPr lang="en-US" sz="2400" dirty="0"/>
                  <a:t>1D physics is extremely rich</a:t>
                </a:r>
              </a:p>
              <a:p>
                <a:pPr lvl="1"/>
                <a:r>
                  <a:rPr lang="en-US" sz="2000" dirty="0"/>
                  <a:t>Half-integer spin chains are gapless; low-temperature physics = Luttinger Liquid</a:t>
                </a:r>
              </a:p>
              <a:p>
                <a:pPr lvl="1"/>
                <a:r>
                  <a:rPr lang="en-US" sz="2000" dirty="0"/>
                  <a:t>Integer spin chains are gapped (S=1 Haldane chain is canonical example of symmetry protected topological phase)</a:t>
                </a:r>
              </a:p>
              <a:p>
                <a:r>
                  <a:rPr lang="en-US" sz="2400" dirty="0"/>
                  <a:t>S=1/2 chain is exactly solvable via the Bethe ansatz</a:t>
                </a:r>
              </a:p>
              <a:p>
                <a:pPr lvl="1"/>
                <a:r>
                  <a:rPr lang="en-US" sz="2000" dirty="0"/>
                  <a:t>Integrability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infinite number of local conserved charges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93D385-A6A9-2B01-E7FE-791BF52E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260" y="2084832"/>
                <a:ext cx="9720073" cy="4023360"/>
              </a:xfrm>
              <a:blipFill>
                <a:blip r:embed="rId2"/>
                <a:stretch>
                  <a:fillRect l="-391" t="-34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37BA0-EF27-0ECB-7E32-ADCEC228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5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1C42A38-614F-CB83-1BE4-8B396C28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S=1/2 Heisenberg Chain: Anomalous 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4DE38-EDE3-1DBC-0A5F-6ED7AB5DA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39375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Despite nearly a century of study, new physics has emerged</a:t>
                </a:r>
              </a:p>
              <a:p>
                <a:r>
                  <a:rPr lang="en-US" sz="2400" dirty="0"/>
                  <a:t>Surprisingly, high-temperature spin transport discovered to be </a:t>
                </a:r>
                <a:r>
                  <a:rPr lang="en-US" sz="2400" i="1" dirty="0"/>
                  <a:t>anomalous</a:t>
                </a:r>
              </a:p>
              <a:p>
                <a:r>
                  <a:rPr lang="en-US" sz="2400" dirty="0"/>
                  <a:t>Dynamical critical exponent: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 (ballistic)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 (diffusion)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=3/2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(superdiffusion)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4DE38-EDE3-1DBC-0A5F-6ED7AB5DA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39375" cy="4351338"/>
              </a:xfrm>
              <a:blipFill>
                <a:blip r:embed="rId2"/>
                <a:stretch>
                  <a:fillRect l="-1033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6CA70-DED4-B14F-B39C-4E7E492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36BBCC-FB43-BD40-D59A-A734C4230EC7}"/>
              </a:ext>
            </a:extLst>
          </p:cNvPr>
          <p:cNvGrpSpPr/>
          <p:nvPr/>
        </p:nvGrpSpPr>
        <p:grpSpPr>
          <a:xfrm>
            <a:off x="7222603" y="1620456"/>
            <a:ext cx="4189430" cy="4326031"/>
            <a:chOff x="7222603" y="1620456"/>
            <a:chExt cx="4189430" cy="432603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CB686C5-138D-9DF5-23F0-08DE1DE10096}"/>
                </a:ext>
              </a:extLst>
            </p:cNvPr>
            <p:cNvGrpSpPr/>
            <p:nvPr/>
          </p:nvGrpSpPr>
          <p:grpSpPr>
            <a:xfrm>
              <a:off x="7222603" y="1620456"/>
              <a:ext cx="4131197" cy="3930549"/>
              <a:chOff x="7222603" y="1620456"/>
              <a:chExt cx="4131197" cy="3930549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B738DD6-6D0A-A9D8-5DB1-D02489CEC390}"/>
                  </a:ext>
                </a:extLst>
              </p:cNvPr>
              <p:cNvGrpSpPr/>
              <p:nvPr/>
            </p:nvGrpSpPr>
            <p:grpSpPr>
              <a:xfrm>
                <a:off x="7265475" y="1677384"/>
                <a:ext cx="4088325" cy="3873621"/>
                <a:chOff x="7265475" y="1492189"/>
                <a:chExt cx="4088325" cy="3873621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67C207BC-0287-2024-35F8-F3DA12818A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65475" y="1492189"/>
                  <a:ext cx="4088325" cy="3873621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4B44C303-E774-74E4-A117-2CDA569DB2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21074" y="3049343"/>
                      <a:ext cx="900440" cy="3796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2/3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4B44C303-E774-74E4-A117-2CDA569DB2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21074" y="3049343"/>
                      <a:ext cx="900440" cy="37965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33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3F84B4-3EC5-1632-CECD-FB6A1043E248}"/>
                  </a:ext>
                </a:extLst>
              </p:cNvPr>
              <p:cNvSpPr/>
              <p:nvPr/>
            </p:nvSpPr>
            <p:spPr>
              <a:xfrm>
                <a:off x="7222603" y="1620456"/>
                <a:ext cx="300941" cy="358815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E0FB26-326B-8DE8-ED55-A71D64CDA13F}"/>
                </a:ext>
              </a:extLst>
            </p:cNvPr>
            <p:cNvSpPr txBox="1"/>
            <p:nvPr/>
          </p:nvSpPr>
          <p:spPr>
            <a:xfrm>
              <a:off x="8230115" y="5607933"/>
              <a:ext cx="31819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Ljubotina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Žnidarič &amp; Prosen, ‘17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698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460F-39D8-9A37-4D7A-BC7139EE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DE8C-E1FA-BDE8-C0C5-E6C8D196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Generalized Hydrodynamics (GHD)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D0F712-28CC-2563-C475-FFDC62772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9893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How do we characterize non-equilibrium dynamics of integrable systems?</a:t>
                </a:r>
              </a:p>
              <a:p>
                <a:r>
                  <a:rPr lang="en-US" sz="2400" dirty="0"/>
                  <a:t>Integrability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infinite number of stable, ballistically propagating quasiparticles (e.g. Bethe strings)</a:t>
                </a:r>
              </a:p>
              <a:p>
                <a:r>
                  <a:rPr lang="en-US" sz="2400" dirty="0"/>
                  <a:t>GHD: </a:t>
                </a:r>
              </a:p>
              <a:p>
                <a:pPr lvl="1"/>
                <a:r>
                  <a:rPr lang="en-US" sz="2000" dirty="0"/>
                  <a:t>Local equilibration to generalized Gibbs ensemble (GGE)</a:t>
                </a:r>
              </a:p>
              <a:p>
                <a:pPr lvl="1"/>
                <a:r>
                  <a:rPr lang="en-US" sz="2000" dirty="0"/>
                  <a:t>Continuity equations for conserved charges</a:t>
                </a:r>
              </a:p>
              <a:p>
                <a:pPr lvl="1"/>
                <a:r>
                  <a:rPr lang="en-US" sz="2000" dirty="0"/>
                  <a:t>Convert to basis of quasiparticle densities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D0F712-28CC-2563-C475-FFDC62772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98931" cy="4351338"/>
              </a:xfrm>
              <a:blipFill>
                <a:blip r:embed="rId3"/>
                <a:stretch>
                  <a:fillRect l="-2581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5C89C-D9A8-B58A-0212-6C307EAC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4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FD6718-5A10-DB3C-CCF9-56FF6D528AE8}"/>
              </a:ext>
            </a:extLst>
          </p:cNvPr>
          <p:cNvGrpSpPr/>
          <p:nvPr/>
        </p:nvGrpSpPr>
        <p:grpSpPr>
          <a:xfrm>
            <a:off x="6653048" y="2048423"/>
            <a:ext cx="5349725" cy="3714941"/>
            <a:chOff x="6653048" y="2048423"/>
            <a:chExt cx="5349725" cy="37149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28233C-94EE-975B-D6BC-31EFA6E04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3048" y="2048423"/>
              <a:ext cx="5349725" cy="33013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43B29D-C26B-170A-0F9C-DFDB9A61D718}"/>
                </a:ext>
              </a:extLst>
            </p:cNvPr>
            <p:cNvSpPr txBox="1"/>
            <p:nvPr/>
          </p:nvSpPr>
          <p:spPr>
            <a:xfrm>
              <a:off x="8048530" y="5424810"/>
              <a:ext cx="31210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Doyon, </a:t>
              </a:r>
              <a:r>
                <a:rPr lang="en-US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SciPost</a:t>
              </a: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Phys. Lect. Notes,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395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4A00-B605-FE26-4F59-A6163DC2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84A8-2F0E-5763-EA5F-55634696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Generalized Hydrodynamics (GHD)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7FA0C-E35B-49D9-3696-818E722CD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Intuitive picture: quasiparticles travel ballistically with effective velocity and charge </a:t>
            </a:r>
            <a:r>
              <a:rPr lang="en-US" i="1" dirty="0"/>
              <a:t>dressed (renormalized) </a:t>
            </a:r>
            <a:r>
              <a:rPr lang="en-US" dirty="0"/>
              <a:t>by elastic collisions with other quasiparticles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DAA62-ED21-81DA-21EF-F533E79F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DE18E5-18BA-55E4-819E-B0E2DB75AF8B}"/>
              </a:ext>
            </a:extLst>
          </p:cNvPr>
          <p:cNvGrpSpPr/>
          <p:nvPr/>
        </p:nvGrpSpPr>
        <p:grpSpPr>
          <a:xfrm>
            <a:off x="3867490" y="3097891"/>
            <a:ext cx="4457020" cy="3162929"/>
            <a:chOff x="3867490" y="3097891"/>
            <a:chExt cx="4457020" cy="31629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418434-E62E-03FC-9169-06D3025CD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7490" y="3097891"/>
              <a:ext cx="4457020" cy="296176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A432CC-BBC8-5841-432F-AE9B40499383}"/>
                </a:ext>
              </a:extLst>
            </p:cNvPr>
            <p:cNvSpPr txBox="1"/>
            <p:nvPr/>
          </p:nvSpPr>
          <p:spPr>
            <a:xfrm>
              <a:off x="4834360" y="5922266"/>
              <a:ext cx="30711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Doyon, </a:t>
              </a:r>
              <a:r>
                <a:rPr lang="en-US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SciPost</a:t>
              </a: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Phys. Lect. Notes,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77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3A59-945D-537E-A93E-3B94AA77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ED10-1643-C5F6-E968-0C62B09C4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S=1/2 Heisenberg Chain: Anomalous 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F5043-2CBE-1D21-B3B3-51D93EFE7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Generically, GHD predicts </a:t>
                </a:r>
                <a:r>
                  <a:rPr lang="en-US" sz="2400" i="1" dirty="0"/>
                  <a:t>ballistic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) transport</a:t>
                </a:r>
              </a:p>
              <a:p>
                <a:r>
                  <a:rPr lang="en-US" sz="2400" dirty="0"/>
                  <a:t>But, dressed charge can become zero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sub-ballistic transport</a:t>
                </a:r>
              </a:p>
              <a:p>
                <a:r>
                  <a:rPr lang="en-US" sz="2400" dirty="0"/>
                  <a:t>Spin transport of XXZ Chain at half-filling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𝐽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Easy-plane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): ballistic</a:t>
                </a:r>
              </a:p>
              <a:p>
                <a:pPr lvl="1"/>
                <a:r>
                  <a:rPr lang="en-US" sz="2000" dirty="0"/>
                  <a:t>Easy-axis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): diffusive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Isotropic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): superdiffusive</a:t>
                </a:r>
              </a:p>
              <a:p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F5043-2CBE-1D21-B3B3-51D93EFE7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FCFC6-A3DE-3359-BBF9-41577629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9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3E4-6A88-B39D-2EF3-DED7AEA5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superdiffusion?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FACA8-C9BC-E4ED-9FC4-2087F423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44B33CB-9117-267B-19A7-DAD3C7C475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4"/>
                <a:ext cx="10515600" cy="4770619"/>
              </a:xfrm>
              <a:prstGeom prst="rect">
                <a:avLst/>
              </a:prstGeom>
            </p:spPr>
            <p:txBody>
              <a:bodyPr vert="horz" lIns="45720" tIns="45720" rIns="4572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/>
                  <a:t>Heuristic argument</a:t>
                </a:r>
              </a:p>
              <a:p>
                <a:pPr marL="0" indent="0">
                  <a:buNone/>
                </a:pPr>
                <a:r>
                  <a:rPr lang="en-US" sz="2400" dirty="0"/>
                  <a:t>Thermodynamic Bethe Ansatz (TBA): quasiparticles = Bethe strings</a:t>
                </a:r>
              </a:p>
              <a:p>
                <a:pPr lvl="1"/>
                <a:r>
                  <a:rPr lang="en-US" sz="2000" dirty="0"/>
                  <a:t>Length: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Magnetization: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Quasiparticles carry current until encountering larger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en-US" sz="2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 i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44B33CB-9117-267B-19A7-DAD3C7C4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4"/>
                <a:ext cx="10515600" cy="4770619"/>
              </a:xfrm>
              <a:prstGeom prst="rect">
                <a:avLst/>
              </a:prstGeom>
              <a:blipFill>
                <a:blip r:embed="rId3"/>
                <a:stretch>
                  <a:fillRect l="-1448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4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3C49-3816-82F7-A817-600E2C24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C849-D04A-EE7F-00AB-AE658D18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superdiffusion?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2E142-2D1E-1299-0268-BD3331095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b="1" dirty="0"/>
                  <a:t>Heuristic argument</a:t>
                </a:r>
              </a:p>
              <a:p>
                <a:pPr marL="0" indent="0">
                  <a:buNone/>
                </a:pPr>
                <a:r>
                  <a:rPr lang="en-US" sz="2400" dirty="0"/>
                  <a:t>Thermodynamic Bethe Ansatz (TBA): quasiparticles = Bethe strings</a:t>
                </a:r>
              </a:p>
              <a:p>
                <a:pPr lvl="1"/>
                <a:r>
                  <a:rPr lang="en-US" sz="2000" dirty="0"/>
                  <a:t>Length: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Magnetization: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Screening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Kubo formula for AC conductivity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~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~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−2/3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2E142-2D1E-1299-0268-BD3331095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2122" b="-26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9A1F8-96F5-969D-D5FC-262039D3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2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AEEF-51AC-40AC-6DF8-84A05C2C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5026-F95B-EE83-2691-1D5394B4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“Superuniversality” of superdiffusion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82CD-BCC4-FAB3-09C7-D224A9975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 It has since been discovered that: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For any local quantum integrable model with global symmetry given by a      non-abelian simple Lie group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b="1" dirty="0"/>
                  <a:t>, the finite-temperature transport of associated Noether charges in a symmetric thermal state is </a:t>
                </a:r>
                <a:r>
                  <a:rPr lang="en-US" sz="2400" b="1" i="1" dirty="0" err="1"/>
                  <a:t>superdiffusive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b="1" dirty="0"/>
                  <a:t>).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Ilievski et al. </a:t>
                </a:r>
                <a:r>
                  <a:rPr lang="en-US" sz="18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PRX </a:t>
                </a: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‘21</a:t>
                </a:r>
              </a:p>
              <a:p>
                <a:pPr marL="0" indent="0">
                  <a:buNone/>
                </a:pPr>
                <a:endParaRPr lang="en-US" sz="2400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82CD-BCC4-FAB3-09C7-D224A9975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F7C58-0E67-E559-9761-E4B57851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4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BDE5-33DE-684C-9E1C-19F5C2A3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Breaking integrability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794E6-2C64-4A60-29EE-766705E7A7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Introduce an integrability-breaking perturbation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Non-integrable models are generically diffusive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Question: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How does the timescale of the onset of diffusion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scale with the integrability breaking strength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FF0000"/>
                    </a:solidFill>
                  </a:rPr>
                  <a:t>Depends on if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preserves the global symmetry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794E6-2C64-4A60-29EE-766705E7A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3" t="-3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125C8-DC5B-7846-B2DF-506F16B2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2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B1C3-C8AA-0A07-9C28-0D3BA290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1E6A-1816-895F-48DE-3D0D07A7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Breaking integrability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1D8B86-C2B5-E512-1EF8-7B7EACBF154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924233"/>
                <a:ext cx="5157787" cy="45476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breaks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1D8B86-C2B5-E512-1EF8-7B7EACBF1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924233"/>
                <a:ext cx="5157787" cy="454764"/>
              </a:xfrm>
              <a:blipFill>
                <a:blip r:embed="rId2"/>
                <a:stretch>
                  <a:fillRect t="-1315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B1351-C7E3-425E-E320-C8275C9C315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476719"/>
                <a:ext cx="5157787" cy="395601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Fermi’s golden rule: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B1351-C7E3-425E-E320-C8275C9C3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476719"/>
                <a:ext cx="5157787" cy="3956014"/>
              </a:xfrm>
              <a:blipFill>
                <a:blip r:embed="rId3"/>
                <a:stretch>
                  <a:fillRect l="-2445"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DFB9CDB-CE8B-6975-6657-1C7A93847EC5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172200" y="1924233"/>
                <a:ext cx="5183188" cy="45476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preserves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DFB9CDB-CE8B-6975-6657-1C7A93847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172200" y="1924233"/>
                <a:ext cx="5183188" cy="454764"/>
              </a:xfrm>
              <a:blipFill>
                <a:blip r:embed="rId4"/>
                <a:stretch>
                  <a:fillRect t="-1315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BFB88A-DCCD-C86B-E152-0FF0509CD5B4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476719"/>
                <a:ext cx="5183188" cy="395601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Selection rules limit possible scattering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matrix elements of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scale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decay rate beats intrinsic screening when</a:t>
                </a:r>
              </a:p>
              <a:p>
                <a:pPr marL="0" indent="0">
                  <a:buNone/>
                </a:pPr>
                <a:endParaRPr lang="en-US" sz="10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BFB88A-DCCD-C86B-E152-0FF0509CD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476719"/>
                <a:ext cx="5183188" cy="3956014"/>
              </a:xfrm>
              <a:blipFill>
                <a:blip r:embed="rId5"/>
                <a:stretch>
                  <a:fillRect l="-2676" t="-1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1C9CC-68D3-9910-CF4C-FC17A7C2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24F9-779D-994A-0AB0-040EA59F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861E5-A7C8-B1AD-AE63-B8B20D2B6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44746"/>
                <a:ext cx="10515600" cy="274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Introduce several types of integrability-breaking perturbations</a:t>
                </a:r>
              </a:p>
              <a:p>
                <a:pPr marL="0" indent="0">
                  <a:buNone/>
                </a:pPr>
                <a:endParaRPr lang="en-US" sz="2400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861E5-A7C8-B1AD-AE63-B8B20D2B6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44746"/>
                <a:ext cx="10515600" cy="2747963"/>
              </a:xfrm>
              <a:blipFill>
                <a:blip r:embed="rId2"/>
                <a:stretch>
                  <a:fillRect l="-1448" t="-18349" b="-6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12827-61A9-F7DA-930E-89405459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24762-F63B-B434-7037-DAD7126E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044" y="1821674"/>
            <a:ext cx="6421912" cy="15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BC7C8-4715-7CEC-533C-4B2D19E9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948F-1469-36C0-EE2B-F461EBC0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F903D-70BC-76FF-07EC-7FB911C92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Consider two integrable points to perturb around:</a:t>
                </a:r>
                <a:endParaRPr lang="en-US" sz="2400" b="0" i="1" dirty="0"/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𝑆𝑈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F903D-70BC-76FF-07EC-7FB911C92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blipFill>
                <a:blip r:embed="rId2"/>
                <a:stretch>
                  <a:fillRect l="-1448" t="-2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3BFF-3405-1EDD-06C1-13AA4AC1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12BB-B794-3700-B35A-99DB8EEE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403A-3F30-B271-F021-E02B3213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A9F65-B7DF-0E83-AE63-490A4E16D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effectLst>
                <a:softEdge rad="0"/>
              </a:effectLst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Consider two integrable points to perturb around:</a:t>
                </a:r>
                <a:endParaRPr lang="en-US" sz="2400" b="0" i="1" dirty="0"/>
              </a:p>
              <a:p>
                <a:pPr marL="457200" indent="-457200">
                  <a:buFont typeface="+mj-lt"/>
                  <a:buAutoNum type="arabicParenR" startAt="2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)(1+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(4)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A9F65-B7DF-0E83-AE63-490A4E16D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blipFill>
                <a:blip r:embed="rId2"/>
                <a:stretch>
                  <a:fillRect l="-1448" t="-2167" b="-20743"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4E08E-EB93-1EDF-A140-D9A898997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0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99B-F461-0F1C-E50A-71A53415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To characterize transport, we focus on time evolution from an inhomogeneous quench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right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≪1⇒</m:t>
                    </m:r>
                  </m:oMath>
                </a14:m>
                <a:r>
                  <a:rPr lang="en-US" sz="2400" dirty="0"/>
                  <a:t> initial state is nearly infinite temperature mixed state, polarized in opposite directions in left/right half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Natural measure of transport is “magnetization transfer”</a:t>
                </a:r>
              </a:p>
              <a:p>
                <a:pPr marL="0" indent="0">
                  <a:buNone/>
                </a:pPr>
                <a:endParaRPr lang="en-US" sz="7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               = charge transferred from right to left half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39" r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DB77C-2DF8-12D0-EC58-7EC2E6DC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99B-F461-0F1C-E50A-71A53415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The magnetization transfer scales as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7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With integrability breaking,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should interpolate between superdiffusion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sz="2400" dirty="0"/>
                  <a:t> and diffusion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Power law fits over scanning time windows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4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042E4-635D-4000-00E0-FC09F18F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4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BA1AB00A-6E5C-B004-8698-7A6A2776E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756" y="2746836"/>
            <a:ext cx="7274488" cy="30310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B5C0FF1-C503-7D8C-0C39-E661FF92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B01133-A199-C409-AE7C-2F68774903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83901" cy="6662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e>
                    </m:nary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(2) × 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B01133-A199-C409-AE7C-2F6877490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83901" cy="666290"/>
              </a:xfrm>
              <a:blipFill>
                <a:blip r:embed="rId4"/>
                <a:stretch>
                  <a:fillRect l="-801" t="-64815" b="-7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31AE00F-CB37-7A67-67D8-AA99C1F9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68764-1FBB-8118-0308-160EED80A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447" y="527384"/>
            <a:ext cx="4244992" cy="10010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BB745-B13F-056E-4AE3-B6829C7F0341}"/>
                  </a:ext>
                </a:extLst>
              </p:cNvPr>
              <p:cNvSpPr txBox="1"/>
              <p:nvPr/>
            </p:nvSpPr>
            <p:spPr>
              <a:xfrm>
                <a:off x="3231811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BB745-B13F-056E-4AE3-B6829C7F0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811" y="5765508"/>
                <a:ext cx="1396030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18A313-D604-D2FA-D585-DCF38486CFA9}"/>
                  </a:ext>
                </a:extLst>
              </p:cNvPr>
              <p:cNvSpPr txBox="1"/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18A313-D604-D2FA-D585-DCF38486C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BB1A8F-E894-2759-4021-530E91AB4C1E}"/>
                  </a:ext>
                </a:extLst>
              </p:cNvPr>
              <p:cNvSpPr txBox="1"/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-invariant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BB1A8F-E894-2759-4021-530E91AB4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543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0303-F44F-F001-AF11-E501F1C7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3F94D-5A2A-701C-0CC8-3A72D3252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59846" y="2734471"/>
            <a:ext cx="7272307" cy="30310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40D586-3216-98BB-2169-BCA08529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FCD7CA-B785-DFBB-5ADC-F149B2024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662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 startAt="2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              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 startAt="2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FCD7CA-B785-DFBB-5ADC-F149B2024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66290"/>
              </a:xfrm>
              <a:blipFill>
                <a:blip r:embed="rId4"/>
                <a:stretch>
                  <a:fillRect l="-638" t="-69091" b="-7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93512A-26EE-F7BC-9BE3-86FA6E34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DD5EB-9135-91E1-76F0-A76482102D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53447" y="915043"/>
            <a:ext cx="4244992" cy="528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1182B-E3E4-2046-0E1E-E10A2C6AB7C3}"/>
                  </a:ext>
                </a:extLst>
              </p:cNvPr>
              <p:cNvSpPr txBox="1"/>
              <p:nvPr/>
            </p:nvSpPr>
            <p:spPr>
              <a:xfrm>
                <a:off x="3080489" y="5765508"/>
                <a:ext cx="17729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chemical potential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1182B-E3E4-2046-0E1E-E10A2C6AB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489" y="5765508"/>
                <a:ext cx="1772958" cy="646331"/>
              </a:xfrm>
              <a:prstGeom prst="rect">
                <a:avLst/>
              </a:prstGeom>
              <a:blipFill>
                <a:blip r:embed="rId6"/>
                <a:stretch>
                  <a:fillRect t="-5660" r="-240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9751E-1E6A-9264-E9AB-070AFB89CE5D}"/>
                  </a:ext>
                </a:extLst>
              </p:cNvPr>
              <p:cNvSpPr txBox="1"/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9751E-1E6A-9264-E9AB-070AFB89C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449F6-1822-B7AD-E40B-769028463577}"/>
                  </a:ext>
                </a:extLst>
              </p:cNvPr>
              <p:cNvSpPr txBox="1"/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449F6-1822-B7AD-E40B-769028463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65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CF4A-ADB1-A355-E943-2EA05D18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8400-BEE8-CB74-0BA6-21B3C6E7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Superuniversal 𝐺-invariant behavior?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5752-5EC7-EDC2-A335-2ABAFD0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4D4E19D-5743-65B3-FCB4-7E5B6E0B0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Simple non-abelian Lie group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of rank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400" dirty="0"/>
                  <a:t>quasiparticle flavor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Turns out that scaling of TBA quantities is universal </a:t>
                </a:r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1/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So, argument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should still hold in principle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4D4E19D-5743-65B3-FCB4-7E5B6E0B0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11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3430-0893-3F4A-1FB7-AB785F7D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D8D0DA-FA0C-05B9-62C0-0BB56F7C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5485A4-2954-D28A-3C48-537D219E9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285808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 startAt="3"/>
                </a:pPr>
                <a:r>
                  <a:rPr lang="en-US" sz="2000" dirty="0"/>
                  <a:t>Simple generalization of Heisenberg ladder: increase local Hilbert space dimension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=2→3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(3)</m:t>
                      </m:r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 startAt="3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5485A4-2954-D28A-3C48-537D219E9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285808"/>
              </a:xfrm>
              <a:blipFill>
                <a:blip r:embed="rId3"/>
                <a:stretch>
                  <a:fillRect l="-3257" t="-8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3C904-0D21-16A0-9FA3-FE0EBDE0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83E341-1C1B-B661-74D7-5807C2F84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3447" y="529769"/>
            <a:ext cx="4244992" cy="996273"/>
          </a:xfrm>
          <a:prstGeom prst="rect">
            <a:avLst/>
          </a:prstGeom>
        </p:spPr>
      </p:pic>
      <p:pic>
        <p:nvPicPr>
          <p:cNvPr id="14" name="Picture 13" descr="A graph of a function&#10;&#10;AI-generated content may be incorrect.">
            <a:extLst>
              <a:ext uri="{FF2B5EF4-FFF2-40B4-BE49-F238E27FC236}">
                <a16:creationId xmlns:a16="http://schemas.microsoft.com/office/drawing/2014/main" id="{FE924478-F9DF-AC80-E9C9-C84575363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051" y="2577867"/>
            <a:ext cx="3833149" cy="383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04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A4F7-86A5-1222-203D-540C9169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E454-FB9C-96D4-3004-DC6AB75C5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sz="2400" dirty="0"/>
                  <a:t>Quantum Heisenberg chain (integrable models invariant under non-abelian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) displays superdiffusive spin transport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at high temperature</a:t>
                </a:r>
              </a:p>
              <a:p>
                <a:pPr lvl="1"/>
                <a:r>
                  <a:rPr lang="en-US" sz="2400" dirty="0"/>
                  <a:t>Break integrability on ladder geometry and find different scaling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sz="2400" dirty="0"/>
                  <a:t> depending on whether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preserves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=6)</m:t>
                    </m:r>
                  </m:oMath>
                </a14:m>
                <a:r>
                  <a:rPr lang="en-US" sz="2400" dirty="0"/>
                  <a:t> or breaks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:r>
                  <a:rPr lang="en-US" sz="2400" dirty="0"/>
                  <a:t>Behavior inherits the “superuniversal” physics underlying superdiffusion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E454-FB9C-96D4-3004-DC6AB75C5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235BE-F4D0-55AB-D49D-D1DD945C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43E0-8FF5-0420-99C7-8D085A48A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262" y="2679192"/>
            <a:ext cx="9720072" cy="1499616"/>
          </a:xfrm>
        </p:spPr>
        <p:txBody>
          <a:bodyPr/>
          <a:lstStyle/>
          <a:p>
            <a:pPr algn="ctr"/>
            <a:r>
              <a:rPr lang="en-US" dirty="0"/>
              <a:t>Thanks!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35525-7829-F0C7-2D72-D30F7339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22</a:t>
            </a:fld>
            <a:endParaRPr lang="en-US"/>
          </a:p>
        </p:txBody>
      </p:sp>
      <p:pic>
        <p:nvPicPr>
          <p:cNvPr id="1026" name="Picture 2" descr="United States Department of Energy ...">
            <a:extLst>
              <a:ext uri="{FF2B5EF4-FFF2-40B4-BE49-F238E27FC236}">
                <a16:creationId xmlns:a16="http://schemas.microsoft.com/office/drawing/2014/main" id="{DA45ABAE-B845-E0E2-2881-2339096E3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95" y="4924441"/>
            <a:ext cx="1546263" cy="154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Science Center">
            <a:extLst>
              <a:ext uri="{FF2B5EF4-FFF2-40B4-BE49-F238E27FC236}">
                <a16:creationId xmlns:a16="http://schemas.microsoft.com/office/drawing/2014/main" id="{73A33E52-A47A-86A9-405E-C9C617A86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119" y="5462814"/>
            <a:ext cx="2828109" cy="100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oel Moore">
            <a:extLst>
              <a:ext uri="{FF2B5EF4-FFF2-40B4-BE49-F238E27FC236}">
                <a16:creationId xmlns:a16="http://schemas.microsoft.com/office/drawing/2014/main" id="{DA150AF1-C069-26EB-ED20-38BE9F17E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r="14560"/>
          <a:stretch>
            <a:fillRect/>
          </a:stretch>
        </p:blipFill>
        <p:spPr bwMode="auto">
          <a:xfrm>
            <a:off x="8378939" y="3965706"/>
            <a:ext cx="1883884" cy="191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5D729-8D08-1554-D958-780D22DBA8B9}"/>
              </a:ext>
            </a:extLst>
          </p:cNvPr>
          <p:cNvSpPr txBox="1"/>
          <p:nvPr/>
        </p:nvSpPr>
        <p:spPr>
          <a:xfrm>
            <a:off x="8467074" y="5991493"/>
            <a:ext cx="1685580" cy="37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Joel Moore</a:t>
            </a:r>
          </a:p>
        </p:txBody>
      </p:sp>
    </p:spTree>
    <p:extLst>
      <p:ext uri="{BB962C8B-B14F-4D97-AF65-F5344CB8AC3E}">
        <p14:creationId xmlns:p14="http://schemas.microsoft.com/office/powerpoint/2010/main" val="4008973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18833</TotalTime>
  <Words>1115</Words>
  <Application>Microsoft Macintosh PowerPoint</Application>
  <PresentationFormat>Widescreen</PresentationFormat>
  <Paragraphs>194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Cambria Math</vt:lpstr>
      <vt:lpstr>Tw Cen MT</vt:lpstr>
      <vt:lpstr>Tw Cen MT Condensed</vt:lpstr>
      <vt:lpstr>Wingdings 3</vt:lpstr>
      <vt:lpstr>Integral</vt:lpstr>
      <vt:lpstr>1_Integral</vt:lpstr>
      <vt:lpstr>Breakdown of Superdiffusion in Perturbed Quantum Integrable Spin Chains and Ladders</vt:lpstr>
      <vt:lpstr>Quantum Heisenberg Model</vt:lpstr>
      <vt:lpstr>S=1/2 Heisenberg Chain: Anomalous Spin Transport</vt:lpstr>
      <vt:lpstr>Generalized Hydrodynamics (GHD)</vt:lpstr>
      <vt:lpstr>Generalized Hydrodynamics (GHD)</vt:lpstr>
      <vt:lpstr>S=1/2 Heisenberg Chain: Anomalous Spin Transport</vt:lpstr>
      <vt:lpstr>Why superdiffusion?</vt:lpstr>
      <vt:lpstr>Why superdiffusion?</vt:lpstr>
      <vt:lpstr>“Superuniversality” of superdiffusion</vt:lpstr>
      <vt:lpstr>Breaking integrability</vt:lpstr>
      <vt:lpstr>Breaking integrability</vt:lpstr>
      <vt:lpstr>Heisenberg ladder</vt:lpstr>
      <vt:lpstr>Heisenberg ladder</vt:lpstr>
      <vt:lpstr>Heisenberg ladder</vt:lpstr>
      <vt:lpstr>Spin Transport</vt:lpstr>
      <vt:lpstr>Spin Transport</vt:lpstr>
      <vt:lpstr>Spin Transport</vt:lpstr>
      <vt:lpstr>Spin Transport</vt:lpstr>
      <vt:lpstr>Superuniversal 𝐺-invariant behavior?</vt:lpstr>
      <vt:lpstr>Spin Transport</vt:lpstr>
      <vt:lpstr>Summary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Wang</dc:creator>
  <cp:lastModifiedBy>Kevin Wang</cp:lastModifiedBy>
  <cp:revision>42</cp:revision>
  <dcterms:created xsi:type="dcterms:W3CDTF">2024-06-07T07:59:19Z</dcterms:created>
  <dcterms:modified xsi:type="dcterms:W3CDTF">2025-06-04T20:21:36Z</dcterms:modified>
</cp:coreProperties>
</file>