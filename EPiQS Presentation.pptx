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8"/>
  </p:notesMasterIdLst>
  <p:sldIdLst>
    <p:sldId id="256" r:id="rId2"/>
    <p:sldId id="275" r:id="rId3"/>
    <p:sldId id="276" r:id="rId4"/>
    <p:sldId id="278" r:id="rId5"/>
    <p:sldId id="279" r:id="rId6"/>
    <p:sldId id="277" r:id="rId7"/>
    <p:sldId id="280" r:id="rId8"/>
    <p:sldId id="281" r:id="rId9"/>
    <p:sldId id="283" r:id="rId10"/>
    <p:sldId id="282" r:id="rId11"/>
    <p:sldId id="286" r:id="rId12"/>
    <p:sldId id="257" r:id="rId13"/>
    <p:sldId id="285" r:id="rId14"/>
    <p:sldId id="284" r:id="rId15"/>
    <p:sldId id="258" r:id="rId16"/>
    <p:sldId id="260" r:id="rId17"/>
    <p:sldId id="261" r:id="rId18"/>
    <p:sldId id="262" r:id="rId19"/>
    <p:sldId id="266" r:id="rId20"/>
    <p:sldId id="267" r:id="rId21"/>
    <p:sldId id="268" r:id="rId22"/>
    <p:sldId id="269" r:id="rId23"/>
    <p:sldId id="270" r:id="rId24"/>
    <p:sldId id="271" r:id="rId25"/>
    <p:sldId id="273" r:id="rId26"/>
    <p:sldId id="274" r:id="rId2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737" autoAdjust="0"/>
    <p:restoredTop sz="94688"/>
  </p:normalViewPr>
  <p:slideViewPr>
    <p:cSldViewPr snapToGrid="0">
      <p:cViewPr varScale="1">
        <p:scale>
          <a:sx n="91" d="100"/>
          <a:sy n="91" d="100"/>
        </p:scale>
        <p:origin x="656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25C375C-D27F-6B4F-A98C-867F54470A23}" type="datetimeFigureOut">
              <a:rPr lang="en-US" smtClean="0"/>
              <a:t>5/30/2025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8C7E23F-D384-0A43-BA50-535D3FAFD4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51265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Infinite conservation laws, failure to thermalize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C7E23F-D384-0A43-BA50-535D3FAFD47E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593916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FDAFFA-D5E5-5D2A-904D-2C6EA3DF5B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27F431-89DB-EF96-02EA-433282338F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0235B82-D1DA-A7D0-7D16-C5FF34AEEC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Infinite conservation laws, failure to thermalize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8CB98A-E955-BC56-CB6C-2C6FE302D4C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C7E23F-D384-0A43-BA50-535D3FAFD47E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05410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C7E23F-D384-0A43-BA50-535D3FAFD47E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19178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8AE491-6C56-F8BC-1E9E-470B21498F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909958B-D5BD-5D36-BDAE-9F4C1B2E8D4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C08F75-CFE7-E086-BDE8-BB6C46A714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26E810-B850-E246-B0DE-F696C472EDD6}" type="datetimeFigureOut">
              <a:rPr lang="en-US" smtClean="0"/>
              <a:t>5/30/2025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8503E0-8E76-7D5B-ACF1-F8CECB1801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E7E0C7-538D-E7C1-C859-D2A006AA21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34405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9B00D1-8A36-D39E-9C65-0A1163B29D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11115A-E1A8-6F3C-8BC5-D88DA7E90C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15C606-3492-735A-2B2D-5A041A1D70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26E810-B850-E246-B0DE-F696C472EDD6}" type="datetimeFigureOut">
              <a:rPr lang="en-US" smtClean="0"/>
              <a:t>5/30/2025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E1AB3C-E6E9-5391-2CD3-B40B44C5BB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102991-33EF-B23E-9434-A6632B5C18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89979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91952E-5865-C5D7-CE32-5478B17562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591CD25-18EB-E9FE-F4CD-C3CC73F10C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AA9580-8A3F-BAF7-0BFE-5E81E1F096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26E810-B850-E246-B0DE-F696C472EDD6}" type="datetimeFigureOut">
              <a:rPr lang="en-US" smtClean="0"/>
              <a:t>5/30/2025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BC524B-F1B7-74DE-2AAD-24F395E741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DBAF55-539E-CA94-3737-405A79A74A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49552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29EDDA-31A3-B1E6-4982-89FEE5EA4C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18F258-249F-79DF-3637-25A5F2EF772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DBCB020-3BCC-7FA0-500D-C545D3E5DD4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0E968DC-B54A-EBD2-9205-A6A178B530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26E810-B850-E246-B0DE-F696C472EDD6}" type="datetimeFigureOut">
              <a:rPr lang="en-US" smtClean="0"/>
              <a:t>5/30/2025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992483-F2D3-B292-7567-CBCA0CEB56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44B887E-1184-C35B-EA7E-1D4BC37F37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89195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C72179-B63B-6590-A673-CBBDF198B4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07673A-42FA-D1B7-ADB0-2DA5A12E11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0C1CB50-71EB-217E-A948-16676594775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374B7B-8B64-93BD-FD4B-FCE76EEC57A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7EE8700-4E21-7787-4C86-FACCE63DE53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40C965F-A7C6-AD16-DF8C-4D951C75F0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26E810-B850-E246-B0DE-F696C472EDD6}" type="datetimeFigureOut">
              <a:rPr lang="en-US" smtClean="0"/>
              <a:t>5/30/2025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EFB9B28-B9FF-BCBC-05FA-918DC737E5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EC6223C-144F-DA4C-247F-CF7338C185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50069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64781B-5C7D-CB9C-7A03-A83C44BCAF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0089D54-C61E-DE9E-07F7-C0987B4882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26E810-B850-E246-B0DE-F696C472EDD6}" type="datetimeFigureOut">
              <a:rPr lang="en-US" smtClean="0"/>
              <a:t>5/30/2025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DEC7B6C-61DB-BF59-D6F7-9614F45300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D4D93EB-5C44-E723-F284-16C54D488E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92590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C049095-3E6D-2F04-BD52-E2EE022391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26E810-B850-E246-B0DE-F696C472EDD6}" type="datetimeFigureOut">
              <a:rPr lang="en-US" smtClean="0"/>
              <a:t>5/30/2025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7A27959-F38B-3940-7476-41CB18108A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13DAA4-2729-D37C-F227-68795E24AA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78100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C74CE6-CFB5-57EC-7727-99AE1D6E37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25C998-894D-CF6C-F22A-A527D6B6D9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DF76F97-4F7F-3289-F2BE-2BB802ED02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376E59-4990-B846-7D36-5F6731C514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26E810-B850-E246-B0DE-F696C472EDD6}" type="datetimeFigureOut">
              <a:rPr lang="en-US" smtClean="0"/>
              <a:t>5/30/2025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C1CAAAD-6EE7-8320-EE47-3D43B6C65C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6EAF2A1-4252-4E98-AA0B-15B180D8DB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30102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8FE810-F761-6A8D-AF26-2BB6950B87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CA63988-03F6-F5A9-67D1-16CACDEE462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7F175BB-9B75-8F23-5923-D45F2D9ED80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B59538-1A75-18CD-CB01-026F58389E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26E810-B850-E246-B0DE-F696C472EDD6}" type="datetimeFigureOut">
              <a:rPr lang="en-US" smtClean="0"/>
              <a:t>5/30/2025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62EA13-8233-0AA3-72B4-D1BACBC85D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CC62B0-9901-2632-A19F-CAA55AE9DC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29081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3C3345-63E9-339B-F641-273224B747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D38A55F-96AB-6A00-1C72-EA291EA3BAB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5A312C-4C55-A389-EB72-5455A67290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26E810-B850-E246-B0DE-F696C472EDD6}" type="datetimeFigureOut">
              <a:rPr lang="en-US" smtClean="0"/>
              <a:t>5/30/2025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D8511D-9847-880C-2722-8EF86F3799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682510-1896-953F-3F03-9183196F32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66281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4BD9575-2404-EE01-0562-141DEDB830A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28A3047-57E0-6678-A407-344AC03C68E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0A2228-4930-0888-227C-C385188D8D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26E810-B850-E246-B0DE-F696C472EDD6}" type="datetimeFigureOut">
              <a:rPr lang="en-US" smtClean="0"/>
              <a:t>5/30/2025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EF2598-2257-665A-A1BF-50CB474B73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748367-819D-2900-BBD8-23576EF0E5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52742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C606499-CFAA-C994-4E25-83ED1E06EA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4B1B61D-1805-8ABA-0816-0240DF798B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61452C-35CC-6DA9-3FBE-B79A0C59DA2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B26E810-B850-E246-B0DE-F696C472EDD6}" type="datetimeFigureOut">
              <a:rPr lang="en-US" smtClean="0"/>
              <a:t>5/30/2025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7F8117-1E73-8D4E-A137-0B87929F457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1FFB0C-1CDC-8D11-183E-FE91E0626F3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52B8ED-7F2B-5448-BD79-1530102DF2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27825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2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1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1ED237-6C2B-19F1-2D2F-4485555A59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77462" y="1012111"/>
            <a:ext cx="10237076" cy="3110570"/>
          </a:xfrm>
        </p:spPr>
        <p:txBody>
          <a:bodyPr>
            <a:normAutofit/>
          </a:bodyPr>
          <a:lstStyle/>
          <a:p>
            <a:r>
              <a:rPr lang="en-US" sz="4400" dirty="0"/>
              <a:t>Breakdown of Superdiffusion in Perturbed Quantum Integrable Spin</a:t>
            </a:r>
            <a:br>
              <a:rPr lang="en-US" sz="4400" dirty="0"/>
            </a:br>
            <a:r>
              <a:rPr lang="en-US" sz="4400" dirty="0"/>
              <a:t>Chains and Ladders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3412BD7-FD4D-4F50-4F0C-493C40AA280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295719"/>
            <a:ext cx="9144000" cy="1655762"/>
          </a:xfrm>
        </p:spPr>
        <p:txBody>
          <a:bodyPr/>
          <a:lstStyle/>
          <a:p>
            <a:r>
              <a:rPr lang="en-US" dirty="0"/>
              <a:t>Kevin Wang, Joel Moore</a:t>
            </a:r>
          </a:p>
        </p:txBody>
      </p:sp>
    </p:spTree>
    <p:extLst>
      <p:ext uri="{BB962C8B-B14F-4D97-AF65-F5344CB8AC3E}">
        <p14:creationId xmlns:p14="http://schemas.microsoft.com/office/powerpoint/2010/main" val="3314382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EADFBC-62E0-2E02-7342-48DF1584A7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Quantum Heisenberg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C93D385-A6A9-2B01-E7FE-791BF52EF47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𝐽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&gt;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⃗"/>
                                  <m:ctrlP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  <a:p>
                <a:endParaRPr lang="en-US" sz="2400" dirty="0"/>
              </a:p>
              <a:p>
                <a:r>
                  <a:rPr lang="en-US" sz="2400" dirty="0"/>
                  <a:t>Paradigmatic model of quantum magnetism, studied extensively since 1928</a:t>
                </a:r>
              </a:p>
              <a:p>
                <a:r>
                  <a:rPr lang="en-US" sz="2400" dirty="0"/>
                  <a:t>1D physics is extremely rich</a:t>
                </a:r>
              </a:p>
              <a:p>
                <a:pPr lvl="1"/>
                <a:r>
                  <a:rPr lang="en-US" sz="2000" dirty="0"/>
                  <a:t>Half-integer spin chains are gapless; low-temperature physics = Luttinger Liquid</a:t>
                </a:r>
              </a:p>
              <a:p>
                <a:pPr lvl="1"/>
                <a:r>
                  <a:rPr lang="en-US" sz="2000" dirty="0"/>
                  <a:t>Integer spin chains are gapped (S=1 Haldane chain canonical example of symmetry protected topological phase)</a:t>
                </a:r>
              </a:p>
              <a:p>
                <a:r>
                  <a:rPr lang="en-US" sz="2400" dirty="0"/>
                  <a:t>S=1/2 chain is exactly solvable via the Bethe ansatz</a:t>
                </a:r>
              </a:p>
              <a:p>
                <a:pPr lvl="1"/>
                <a:r>
                  <a:rPr lang="en-US" sz="2000" dirty="0"/>
                  <a:t>Integrability </a:t>
                </a:r>
                <a14:m>
                  <m:oMath xmlns:m="http://schemas.openxmlformats.org/officeDocument/2006/math">
                    <m:r>
                      <a:rPr lang="en-US" sz="20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2000" dirty="0"/>
                  <a:t> infinite number of conserved charges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C93D385-A6A9-2B01-E7FE-791BF52EF47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812" r="-4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154594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F74DE38-EDE3-1DBC-0A5F-6ED7AB5DA9D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6139375" cy="4351338"/>
              </a:xfrm>
            </p:spPr>
            <p:txBody>
              <a:bodyPr>
                <a:normAutofit/>
              </a:bodyPr>
              <a:lstStyle/>
              <a:p>
                <a:r>
                  <a:rPr lang="en-US" sz="2400" dirty="0"/>
                  <a:t>Despite nearly a century of study, new physics has emerged</a:t>
                </a:r>
              </a:p>
              <a:p>
                <a:r>
                  <a:rPr lang="en-US" sz="2400" dirty="0"/>
                  <a:t>Surprisingly, high-temperature spin transport discovered to be anomalous</a:t>
                </a:r>
              </a:p>
              <a:p>
                <a:r>
                  <a:rPr lang="en-US" sz="2400" dirty="0"/>
                  <a:t>Dynamical critical exponent: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∼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𝑧</m:t>
                        </m:r>
                      </m:sup>
                    </m:sSup>
                  </m:oMath>
                </a14:m>
                <a:endParaRPr lang="en-US" sz="2400" i="1" dirty="0"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en-US" sz="2000" i="1" dirty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sz="2000" dirty="0"/>
                  <a:t> (ballistic)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sz="2000" i="1" dirty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en-US" sz="2000" dirty="0"/>
                  <a:t> (diffusion)</a:t>
                </a:r>
                <a:endParaRPr lang="en-US" sz="2000" i="1" dirty="0"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000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=3/2</m:t>
                    </m:r>
                  </m:oMath>
                </a14:m>
                <a:r>
                  <a:rPr lang="en-US" sz="2000" dirty="0">
                    <a:solidFill>
                      <a:schemeClr val="accent1"/>
                    </a:solidFill>
                  </a:rPr>
                  <a:t> (superdiffusion)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F74DE38-EDE3-1DBC-0A5F-6ED7AB5DA9D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6139375" cy="4351338"/>
              </a:xfrm>
              <a:blipFill>
                <a:blip r:embed="rId2"/>
                <a:stretch>
                  <a:fillRect l="-1390" t="-1961" r="-18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Title 1">
            <a:extLst>
              <a:ext uri="{FF2B5EF4-FFF2-40B4-BE49-F238E27FC236}">
                <a16:creationId xmlns:a16="http://schemas.microsoft.com/office/drawing/2014/main" id="{11C42A38-614F-CB83-1BE4-8B396C28EE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600" dirty="0"/>
              <a:t>S=1/2 Heisenberg Chain: Anomalous Spin Transport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1B738DD6-6D0A-A9D8-5DB1-D02489CEC390}"/>
              </a:ext>
            </a:extLst>
          </p:cNvPr>
          <p:cNvGrpSpPr/>
          <p:nvPr/>
        </p:nvGrpSpPr>
        <p:grpSpPr>
          <a:xfrm>
            <a:off x="7265475" y="1492189"/>
            <a:ext cx="4088325" cy="3873621"/>
            <a:chOff x="7265475" y="1492189"/>
            <a:chExt cx="4088325" cy="3873621"/>
          </a:xfrm>
        </p:grpSpPr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67C207BC-0287-2024-35F8-F3DA12818A1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265475" y="1492189"/>
              <a:ext cx="4088325" cy="3873621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" name="TextBox 1">
                  <a:extLst>
                    <a:ext uri="{FF2B5EF4-FFF2-40B4-BE49-F238E27FC236}">
                      <a16:creationId xmlns:a16="http://schemas.microsoft.com/office/drawing/2014/main" id="{4B44C303-E774-74E4-A117-2CDA569DB276}"/>
                    </a:ext>
                  </a:extLst>
                </p:cNvPr>
                <p:cNvSpPr txBox="1"/>
                <p:nvPr/>
              </p:nvSpPr>
              <p:spPr>
                <a:xfrm>
                  <a:off x="9821074" y="3049343"/>
                  <a:ext cx="900440" cy="37965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~ </m:t>
                        </m:r>
                        <m:sSup>
                          <m:sSupPr>
                            <m:ctrlPr>
                              <a:rPr lang="en-US" b="0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p>
                            <m:r>
                              <a:rPr lang="en-US" b="0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2/3</m:t>
                            </m:r>
                          </m:sup>
                        </m:sSup>
                      </m:oMath>
                    </m:oMathPara>
                  </a14:m>
                  <a:endParaRPr lang="en-US" dirty="0">
                    <a:solidFill>
                      <a:schemeClr val="accent6">
                        <a:lumMod val="7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2" name="TextBox 1">
                  <a:extLst>
                    <a:ext uri="{FF2B5EF4-FFF2-40B4-BE49-F238E27FC236}">
                      <a16:creationId xmlns:a16="http://schemas.microsoft.com/office/drawing/2014/main" id="{4B44C303-E774-74E4-A117-2CDA569DB27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21074" y="3049343"/>
                  <a:ext cx="900440" cy="379656"/>
                </a:xfrm>
                <a:prstGeom prst="rect">
                  <a:avLst/>
                </a:prstGeom>
                <a:blipFill>
                  <a:blip r:embed="rId4"/>
                  <a:stretch>
                    <a:fillRect r="-33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2669888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BA460F-39D8-9A37-4D7A-BC7139EEBF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CDE8C-E1FA-BDE8-C0C5-E6C8D196A4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Generalized Hydrodynamics (GHD)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FD0F712-28CC-2563-C475-FFDC6277271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5898931" cy="435133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400" b="1" dirty="0"/>
                  <a:t>How do we characterize non-equilibrium dynamics of integrable systems?</a:t>
                </a:r>
              </a:p>
              <a:p>
                <a:r>
                  <a:rPr lang="en-US" sz="2400" dirty="0"/>
                  <a:t>Integrability 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2400" dirty="0"/>
                  <a:t> infinite number of stable, ballistically propagating quasiparticles (e.g. Bethe strings)</a:t>
                </a:r>
              </a:p>
              <a:p>
                <a:r>
                  <a:rPr lang="en-US" sz="2400" dirty="0"/>
                  <a:t>GHD: </a:t>
                </a:r>
              </a:p>
              <a:p>
                <a:pPr lvl="1"/>
                <a:r>
                  <a:rPr lang="en-US" sz="2000" dirty="0"/>
                  <a:t>Local equilibration to generalized Gibbs ensemble (GGE)</a:t>
                </a:r>
              </a:p>
              <a:p>
                <a:pPr lvl="1"/>
                <a:r>
                  <a:rPr lang="en-US" sz="2000" dirty="0"/>
                  <a:t>Continuity equations for conserved charges</a:t>
                </a:r>
              </a:p>
              <a:p>
                <a:pPr lvl="1"/>
                <a:r>
                  <a:rPr lang="en-US" sz="2000" dirty="0"/>
                  <a:t>Convert to basis of quasiparticle densities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FD0F712-28CC-2563-C475-FFDC6277271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5898931" cy="4351338"/>
              </a:xfrm>
              <a:blipFill>
                <a:blip r:embed="rId3"/>
                <a:stretch>
                  <a:fillRect l="-1655" t="-19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AD28233C-94EE-975B-D6BC-31EFA6E040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53048" y="2048423"/>
            <a:ext cx="5349725" cy="33013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39508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444A00-B605-FE26-4F59-A6163DC25F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AF84A8-2F0E-5763-EA5F-556346964B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Generalized Hydrodynamics (GHD)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97FA0C-E35B-49D9-3696-818E722CDA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Intuitive picture: quasiparticles travel ballistically with effective velocity and charge </a:t>
            </a:r>
            <a:r>
              <a:rPr lang="en-US" i="1" dirty="0"/>
              <a:t>dressed </a:t>
            </a:r>
            <a:r>
              <a:rPr lang="en-US" dirty="0"/>
              <a:t>by elastic collisions with other quasiparticles</a:t>
            </a:r>
            <a:endParaRPr lang="en-US" i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2418434-E62E-03FC-9169-06D3025CD7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67490" y="3097891"/>
            <a:ext cx="4457020" cy="29617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67772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C13A59-945D-537E-A93E-3B94AA774C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78ED10-1643-C5F6-E968-0C62B09C4E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S=1/2 Heisenberg Chain: Anomalous Spin Transport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20F5043-2CBE-1D21-B3B3-51D93EFE7E7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351338"/>
              </a:xfrm>
            </p:spPr>
            <p:txBody>
              <a:bodyPr/>
              <a:lstStyle/>
              <a:p>
                <a:r>
                  <a:rPr lang="en-US" dirty="0"/>
                  <a:t>Generically, GHD predicts </a:t>
                </a:r>
                <a:r>
                  <a:rPr lang="en-US" i="1" dirty="0"/>
                  <a:t>ballistic </a:t>
                </a:r>
                <a:r>
                  <a:rPr lang="en-US" dirty="0"/>
                  <a:t>(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dirty="0"/>
                  <a:t>) transport</a:t>
                </a:r>
              </a:p>
              <a:p>
                <a:r>
                  <a:rPr lang="en-US" dirty="0"/>
                  <a:t>But, dressed charge can become zero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dirty="0"/>
                  <a:t> sub-ballistic transport</a:t>
                </a:r>
              </a:p>
              <a:p>
                <a:r>
                  <a:rPr lang="en-US" dirty="0"/>
                  <a:t>Spin transport of XXZ Chain at half-filling</a:t>
                </a:r>
              </a:p>
              <a:p>
                <a:pPr lvl="1"/>
                <a:r>
                  <a:rPr lang="en-US" dirty="0"/>
                  <a:t>Easy-plane (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dirty="0"/>
                  <a:t>): ballistic</a:t>
                </a:r>
              </a:p>
              <a:p>
                <a:pPr lvl="1"/>
                <a:r>
                  <a:rPr lang="en-US" dirty="0"/>
                  <a:t>Easy-axis (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dirty="0"/>
                  <a:t>): diffusive</a:t>
                </a:r>
              </a:p>
              <a:p>
                <a:pPr lvl="1"/>
                <a:r>
                  <a:rPr lang="en-US" dirty="0">
                    <a:solidFill>
                      <a:schemeClr val="accent1"/>
                    </a:solidFill>
                  </a:rPr>
                  <a:t>Isotropic (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 </m:t>
                    </m:r>
                    <m:r>
                      <a:rPr lang="en-US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dirty="0">
                    <a:solidFill>
                      <a:schemeClr val="accent1"/>
                    </a:solidFill>
                  </a:rPr>
                  <a:t>): superdiffusive</a:t>
                </a:r>
              </a:p>
              <a:p>
                <a:endParaRPr lang="en-US" dirty="0">
                  <a:solidFill>
                    <a:schemeClr val="accent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20F5043-2CBE-1D21-B3B3-51D93EFE7E7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351338"/>
              </a:xfrm>
              <a:blipFill>
                <a:blip r:embed="rId2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763918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DAC3E4-6A88-B39D-2EF3-DED7AEA546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Why superdiffusion?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29F12C-3B85-C661-9487-AD45B209655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 algn="ctr">
                  <a:buNone/>
                </a:pPr>
                <a:r>
                  <a:rPr lang="en-US" b="1" dirty="0"/>
                  <a:t>Heuristic argument</a:t>
                </a:r>
              </a:p>
              <a:p>
                <a:pPr marL="0" indent="0">
                  <a:buNone/>
                </a:pPr>
                <a:r>
                  <a:rPr lang="en-US" sz="2400" dirty="0"/>
                  <a:t>Thermodynamic Bethe Ansatz (TBA): quasiparticles = Bethe strings</a:t>
                </a:r>
              </a:p>
              <a:p>
                <a:pPr lvl="1"/>
                <a:r>
                  <a:rPr lang="en-US" sz="2000" dirty="0"/>
                  <a:t>Length: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2000" i="1" dirty="0"/>
              </a:p>
              <a:p>
                <a:pPr lvl="1"/>
                <a:r>
                  <a:rPr lang="en-US" sz="2000" dirty="0"/>
                  <a:t>Magnetization: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~ 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2000" i="1" dirty="0"/>
              </a:p>
              <a:p>
                <a:pPr lvl="1"/>
                <a:r>
                  <a:rPr lang="en-US" sz="2000" dirty="0"/>
                  <a:t>Velocity: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 ~ 1/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2000" i="1" dirty="0"/>
              </a:p>
              <a:p>
                <a:pPr lvl="1"/>
                <a:r>
                  <a:rPr lang="en-US" sz="2000" dirty="0"/>
                  <a:t>Density: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 ~ 1/</m:t>
                    </m:r>
                    <m:sSup>
                      <m:sSup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endParaRPr lang="en-US" sz="2000" i="1" dirty="0"/>
              </a:p>
              <a:p>
                <a:pPr marL="0" indent="0">
                  <a:buNone/>
                </a:pPr>
                <a:endParaRPr lang="en-US" sz="2400" dirty="0"/>
              </a:p>
              <a:p>
                <a:pPr marL="0" indent="0">
                  <a:buNone/>
                </a:pPr>
                <a:r>
                  <a:rPr lang="en-US" sz="2400" dirty="0"/>
                  <a:t>Quasiparticles carry current until encountering larger string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p>
                        <m:r>
                          <a:rPr lang="en-US" sz="2000" b="0" i="0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0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</m:t>
                    </m:r>
                    <m:r>
                      <m:rPr>
                        <m:sty m:val="p"/>
                      </m:rPr>
                      <a:rPr lang="en-US" sz="2000" b="0" i="0" smtClean="0">
                        <a:latin typeface="Cambria Math" panose="02040503050406030204" pitchFamily="18" charset="0"/>
                      </a:rPr>
                      <m:t>s</m:t>
                    </m:r>
                  </m:oMath>
                </a14:m>
                <a:endParaRPr lang="en-US" sz="2000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~ </m:t>
                    </m:r>
                    <m:sSup>
                      <m:sSupPr>
                        <m:ctrlPr>
                          <a:rPr lang="en-US" sz="20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  <m:sub>
                                <m: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 dirty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𝜌</m:t>
                                </m:r>
                              </m:e>
                              <m:sub>
                                <m:sSup>
                                  <m:sSupPr>
                                    <m:ctrlPr>
                                      <a:rPr lang="en-US" sz="2000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000" i="1" dirty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p>
                                    <m:r>
                                      <a:rPr lang="en-US" sz="2000" b="0" i="1" dirty="0" smtClean="0"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  <m:r>
                                  <a:rPr lang="en-US" sz="2000" b="0" i="1" dirty="0" smtClean="0">
                                    <a:latin typeface="Cambria Math" panose="02040503050406030204" pitchFamily="18" charset="0"/>
                                  </a:rPr>
                                  <m:t>&gt;</m:t>
                                </m:r>
                                <m:r>
                                  <a:rPr lang="en-US" sz="2000" b="0" i="1" dirty="0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en-US" sz="2000" dirty="0"/>
                  <a:t> </a:t>
                </a:r>
                <a:r>
                  <a:rPr lang="en-US" sz="2000" dirty="0">
                    <a:solidFill>
                      <a:schemeClr val="accent1"/>
                    </a:solidFill>
                  </a:rPr>
                  <a:t>where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dirty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sSup>
                          <m:sSupPr>
                            <m:ctrlPr>
                              <a:rPr lang="en-US" sz="200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200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2000" i="1" dirty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&gt;</m:t>
                        </m:r>
                        <m:r>
                          <a:rPr lang="en-US" sz="2000" i="1" dirty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b="0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sz="2000" b="0" i="1" dirty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sSup>
                          <m:sSupPr>
                            <m:ctrlPr>
                              <a:rPr lang="en-US" sz="2000" b="0" i="1" dirty="0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brk m:alnAt="7"/>
                              </m:rPr>
                              <a:rPr lang="en-US" sz="2000" b="0" i="1" dirty="0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2000" b="0" i="1" dirty="0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m:rPr>
                            <m:brk m:alnAt="7"/>
                          </m:rPr>
                          <a:rPr lang="en-US" sz="2000" b="0" i="1" dirty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&gt;</m:t>
                        </m:r>
                        <m:r>
                          <a:rPr lang="en-US" sz="2000" b="0" i="1" dirty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sz="200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𝜌</m:t>
                            </m:r>
                          </m:e>
                          <m:sub>
                            <m:r>
                              <a:rPr lang="en-US" sz="2000" i="1" dirty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sub>
                        </m:sSub>
                      </m:e>
                    </m:nary>
                    <m:r>
                      <a:rPr lang="en-US" sz="2000" b="0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~</m:t>
                    </m:r>
                    <m:f>
                      <m:fPr>
                        <m:ctrlPr>
                          <a:rPr lang="en-US" sz="2000" b="0" i="1" dirty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b="0" i="1" dirty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sSup>
                          <m:sSupPr>
                            <m:ctrlPr>
                              <a:rPr lang="en-US" sz="2000" b="0" i="1" dirty="0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b="0" i="1" dirty="0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2000" b="0" i="1" dirty="0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endParaRPr lang="en-US" sz="2000" b="0" i="1" dirty="0">
                  <a:solidFill>
                    <a:schemeClr val="accent1"/>
                  </a:solidFill>
                </a:endParaRPr>
              </a:p>
              <a:p>
                <a:pPr marL="0" indent="0">
                  <a:buNone/>
                </a:pPr>
                <a:r>
                  <a:rPr lang="en-US" sz="2000" b="0" dirty="0">
                    <a:ea typeface="Cambria Math" panose="02040503050406030204" pitchFamily="18" charset="0"/>
                  </a:rPr>
                  <a:t>                                                     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~ </m:t>
                    </m:r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endParaRPr lang="en-US" sz="20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29F12C-3B85-C661-9487-AD45B209655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928" t="-2241" b="-9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764153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B73C49-3816-82F7-A817-600E2C24F3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00C849-D04A-EE7F-00AB-AE658D1851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Why superdiffusion?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062E142-2D1E-1299-0268-BD333109594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770619"/>
              </a:xfrm>
            </p:spPr>
            <p:txBody>
              <a:bodyPr>
                <a:normAutofit/>
              </a:bodyPr>
              <a:lstStyle/>
              <a:p>
                <a:pPr marL="0" indent="0" algn="ctr">
                  <a:buNone/>
                </a:pPr>
                <a:r>
                  <a:rPr lang="en-US" b="1" dirty="0"/>
                  <a:t>Heuristic argument</a:t>
                </a:r>
              </a:p>
              <a:p>
                <a:pPr marL="0" indent="0">
                  <a:buNone/>
                </a:pPr>
                <a:r>
                  <a:rPr lang="en-US" sz="2400" dirty="0"/>
                  <a:t>Thermodynamic Bethe Ansatz (TBA): quasiparticles = Bethe strings</a:t>
                </a:r>
              </a:p>
              <a:p>
                <a:pPr lvl="1"/>
                <a:r>
                  <a:rPr lang="en-US" sz="2000" dirty="0"/>
                  <a:t>Length: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2000" i="1" dirty="0"/>
              </a:p>
              <a:p>
                <a:pPr lvl="1"/>
                <a:r>
                  <a:rPr lang="en-US" sz="2000" dirty="0"/>
                  <a:t>Magnetization: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~ 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2000" i="1" dirty="0"/>
              </a:p>
              <a:p>
                <a:pPr lvl="1"/>
                <a:r>
                  <a:rPr lang="en-US" sz="2000" dirty="0"/>
                  <a:t>Velocity: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 ~ 1/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2000" i="1" dirty="0"/>
              </a:p>
              <a:p>
                <a:pPr lvl="1"/>
                <a:r>
                  <a:rPr lang="en-US" sz="2000" dirty="0"/>
                  <a:t>Density: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 ~ 1/</m:t>
                    </m:r>
                    <m:sSup>
                      <m:sSup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endParaRPr lang="en-US" sz="2000" i="1" dirty="0"/>
              </a:p>
              <a:p>
                <a:pPr lvl="1"/>
                <a:r>
                  <a:rPr lang="en-US" sz="2000" dirty="0"/>
                  <a:t>Decay time: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~ </m:t>
                    </m:r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endParaRPr lang="en-US" sz="2000" b="0" i="1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sz="2400" dirty="0"/>
              </a:p>
              <a:p>
                <a:pPr marL="0" indent="0" algn="ctr">
                  <a:buNone/>
                </a:pPr>
                <a:r>
                  <a:rPr lang="en-US" sz="2400" dirty="0"/>
                  <a:t>Kubo formula for AC conductivity</a:t>
                </a:r>
              </a:p>
              <a:p>
                <a:pPr marL="0" indent="0">
                  <a:buNone/>
                </a:pPr>
                <a:endParaRPr lang="en-US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⟨"/>
                              <m:endChr m:val="⟩"/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  <m:d>
                                <m:d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  <m:d>
                                <m:d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sup>
                      </m:sSup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 ~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  <m:sSup>
                            <m:sSup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𝑚</m:t>
                                      </m:r>
                                    </m:e>
                                    <m:sub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sub>
                                  </m:sSub>
                                  <m:sSub>
                                    <m:sSubPr>
                                      <m:ctrlP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  <m:sub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sSup>
                            <m:sSup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/</m:t>
                              </m:r>
                              <m:sSub>
                                <m:sSub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𝜏</m:t>
                                  </m:r>
                                </m:e>
                                <m:sub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sub>
                              </m:sSub>
                            </m:sup>
                          </m:sSup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~</m:t>
                          </m:r>
                          <m:nary>
                            <m:naryPr>
                              <m:chr m:val="∑"/>
                              <m:supHide m:val="on"/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  <m:sup/>
                            <m:e>
                              <m:f>
                                <m:f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sSup>
                                    <m:sSupPr>
                                      <m:ctrlP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p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sup>
                                  </m:sSup>
                                </m:den>
                              </m:f>
                              <m:sSup>
                                <m:sSup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  <m:sup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/</m:t>
                                  </m:r>
                                  <m:sSup>
                                    <m:sSupPr>
                                      <m:ctrlP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p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sup>
                                  </m:sSup>
                                </m:sup>
                              </m:sSup>
                            </m:e>
                          </m:nary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~</m:t>
                          </m:r>
                          <m:sSup>
                            <m:sSup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p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−2/3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062E142-2D1E-1299-0268-BD333109594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770619"/>
              </a:xfrm>
              <a:blipFill>
                <a:blip r:embed="rId2"/>
                <a:stretch>
                  <a:fillRect l="-928" t="-2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7882304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97AEEF-51AC-40AC-6DF8-84A05C2C99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255026-F95B-EE83-2691-1D5394B45C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“</a:t>
            </a:r>
            <a:r>
              <a:rPr lang="en-US" sz="3600" dirty="0" err="1"/>
              <a:t>Superuniversality</a:t>
            </a:r>
            <a:r>
              <a:rPr lang="en-US" sz="3600" dirty="0"/>
              <a:t>” of superdiffusion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DC782CD-BCC4-FAB3-09C7-D224A997544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77061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/>
                  <a:t> It has since been discovered that:</a:t>
                </a:r>
              </a:p>
              <a:p>
                <a:pPr marL="0" indent="0">
                  <a:buNone/>
                </a:pPr>
                <a:endParaRPr lang="en-US" sz="2400" b="1" dirty="0"/>
              </a:p>
              <a:p>
                <a:pPr marL="0" indent="0">
                  <a:buNone/>
                </a:pPr>
                <a:r>
                  <a:rPr lang="en-US" sz="2400" b="1" dirty="0"/>
                  <a:t>For any local quantum integrable model with global symmetry given by a simple Lie group 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latin typeface="Cambria Math" panose="02040503050406030204" pitchFamily="18" charset="0"/>
                      </a:rPr>
                      <m:t>𝑮</m:t>
                    </m:r>
                  </m:oMath>
                </a14:m>
                <a:r>
                  <a:rPr lang="en-US" sz="2400" b="1" dirty="0"/>
                  <a:t>, the finite-temperature transport of associated Noether charges in a symmetric thermal state is </a:t>
                </a:r>
                <a:r>
                  <a:rPr lang="en-US" sz="2400" b="1" i="1" dirty="0" err="1"/>
                  <a:t>superdiffusive</a:t>
                </a:r>
                <a:r>
                  <a:rPr lang="en-US" sz="2400" b="1" i="1" dirty="0"/>
                  <a:t> </a:t>
                </a:r>
                <a:r>
                  <a:rPr lang="en-US" sz="2400" b="1" dirty="0"/>
                  <a:t>(</a:t>
                </a:r>
                <a14:m>
                  <m:oMath xmlns:m="http://schemas.openxmlformats.org/officeDocument/2006/math">
                    <m:r>
                      <a:rPr lang="en-US" sz="2400" b="1" i="1" dirty="0" smtClean="0">
                        <a:latin typeface="Cambria Math" panose="02040503050406030204" pitchFamily="18" charset="0"/>
                      </a:rPr>
                      <m:t>𝒛</m:t>
                    </m:r>
                    <m:r>
                      <a:rPr lang="en-US" sz="2400" b="1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1" i="1" dirty="0" smtClean="0">
                        <a:latin typeface="Cambria Math" panose="02040503050406030204" pitchFamily="18" charset="0"/>
                      </a:rPr>
                      <m:t>𝟐</m:t>
                    </m:r>
                  </m:oMath>
                </a14:m>
                <a:r>
                  <a:rPr lang="en-US" sz="2400" b="1" dirty="0"/>
                  <a:t>).</a:t>
                </a:r>
              </a:p>
              <a:p>
                <a:pPr marL="0" indent="0">
                  <a:buNone/>
                </a:pPr>
                <a:endParaRPr lang="en-US" sz="2400" b="1" i="1" dirty="0"/>
              </a:p>
              <a:p>
                <a:pPr marL="0" indent="0">
                  <a:buNone/>
                </a:pPr>
                <a:endParaRPr lang="en-US" sz="2400" b="1" i="1" dirty="0"/>
              </a:p>
              <a:p>
                <a:pPr marL="0" indent="0">
                  <a:buNone/>
                </a:pPr>
                <a:r>
                  <a:rPr lang="en-US" sz="2400" dirty="0"/>
                  <a:t>Confirmed by numerics.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DC782CD-BCC4-FAB3-09C7-D224A997544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770619"/>
              </a:xfrm>
              <a:blipFill>
                <a:blip r:embed="rId2"/>
                <a:stretch>
                  <a:fillRect l="-928" t="-17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9784434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D4BDE5-33DE-684C-9E1C-19F5C2A3CD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Breaking integrability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42794E6-2C64-4A60-29EE-766705E7A79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/>
                  <a:t>Introduce an integrability-breaking perturbation</a:t>
                </a:r>
              </a:p>
              <a:p>
                <a:pPr marL="0" indent="0">
                  <a:buNone/>
                </a:pPr>
                <a:endParaRPr lang="en-US" sz="2400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𝜆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sz="2400" dirty="0"/>
              </a:p>
              <a:p>
                <a:endParaRPr lang="en-US" sz="2400" dirty="0"/>
              </a:p>
              <a:p>
                <a:pPr marL="0" indent="0">
                  <a:buNone/>
                </a:pPr>
                <a:r>
                  <a:rPr lang="en-US" sz="2400" dirty="0"/>
                  <a:t>Non-integrable models are generically diffusive</a:t>
                </a:r>
              </a:p>
              <a:p>
                <a:endParaRPr lang="en-US" sz="2400" dirty="0"/>
              </a:p>
              <a:p>
                <a:pPr marL="0" indent="0">
                  <a:buNone/>
                </a:pPr>
                <a:r>
                  <a:rPr lang="en-US" sz="2400" b="1" dirty="0">
                    <a:solidFill>
                      <a:schemeClr val="accent1"/>
                    </a:solidFill>
                  </a:rPr>
                  <a:t>Question: </a:t>
                </a:r>
                <a:r>
                  <a:rPr lang="en-US" sz="2400" dirty="0">
                    <a:solidFill>
                      <a:schemeClr val="accent1"/>
                    </a:solidFill>
                  </a:rPr>
                  <a:t>How does the timescale of diffusion onset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r>
                  <a:rPr lang="en-US" sz="2400" dirty="0">
                    <a:solidFill>
                      <a:schemeClr val="accent1"/>
                    </a:solidFill>
                  </a:rPr>
                  <a:t> scale with the integrability breaking strength</a:t>
                </a:r>
                <a14:m>
                  <m:oMath xmlns:m="http://schemas.openxmlformats.org/officeDocument/2006/math">
                    <m:r>
                      <a:rPr lang="en-US" sz="2400" b="0" i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400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sz="2400" dirty="0">
                    <a:solidFill>
                      <a:schemeClr val="accent1"/>
                    </a:solidFill>
                  </a:rPr>
                  <a:t>?</a:t>
                </a:r>
              </a:p>
              <a:p>
                <a:pPr marL="0" indent="0">
                  <a:buNone/>
                </a:pPr>
                <a:endParaRPr lang="en-US" sz="2400" dirty="0">
                  <a:solidFill>
                    <a:schemeClr val="accent1"/>
                  </a:solidFill>
                </a:endParaRPr>
              </a:p>
              <a:p>
                <a:pPr marL="0" indent="0" algn="ctr">
                  <a:buNone/>
                </a:pPr>
                <a:r>
                  <a:rPr lang="en-US" sz="2400" dirty="0">
                    <a:solidFill>
                      <a:srgbClr val="FF0000"/>
                    </a:solidFill>
                  </a:rPr>
                  <a:t>Depends on if</a:t>
                </a:r>
                <a14:m>
                  <m:oMath xmlns:m="http://schemas.openxmlformats.org/officeDocument/2006/math">
                    <m:r>
                      <a:rPr lang="en-US" sz="2400" b="0" i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4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sz="2400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2400" dirty="0">
                    <a:solidFill>
                      <a:srgbClr val="FF0000"/>
                    </a:solidFill>
                  </a:rPr>
                  <a:t> preserves the global symmetry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endParaRPr lang="en-US" sz="2400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42794E6-2C64-4A60-29EE-766705E7A79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1961" b="-140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9862382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70B1C3-C8AA-0A07-9C28-0D3BA290FC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AF1E6A-1816-895F-48DE-3D0D07A70F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Breaking integrability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>
                <a:extLst>
                  <a:ext uri="{FF2B5EF4-FFF2-40B4-BE49-F238E27FC236}">
                    <a16:creationId xmlns:a16="http://schemas.microsoft.com/office/drawing/2014/main" id="{D31D8B86-C2B5-E512-1EF8-7B7EACBF154B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>
              <a:xfrm>
                <a:off x="839788" y="1681163"/>
                <a:ext cx="5157787" cy="454764"/>
              </a:xfr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/>
              <a:lstStyle/>
              <a:p>
                <a:pPr algn="ctr"/>
                <a14:m>
                  <m:oMath xmlns:m="http://schemas.openxmlformats.org/officeDocument/2006/math">
                    <m:r>
                      <a:rPr lang="en-US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b="0" dirty="0">
                    <a:solidFill>
                      <a:schemeClr val="tx1"/>
                    </a:solidFill>
                  </a:rPr>
                  <a:t> breaks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endParaRPr lang="en-US" b="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4" name="Text Placeholder 3">
                <a:extLst>
                  <a:ext uri="{FF2B5EF4-FFF2-40B4-BE49-F238E27FC236}">
                    <a16:creationId xmlns:a16="http://schemas.microsoft.com/office/drawing/2014/main" id="{D31D8B86-C2B5-E512-1EF8-7B7EACBF154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839788" y="1681163"/>
                <a:ext cx="5157787" cy="454764"/>
              </a:xfrm>
              <a:blipFill>
                <a:blip r:embed="rId2"/>
                <a:stretch>
                  <a:fillRect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C8B1351-C7E3-425E-E320-C8275C9C3159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839788" y="2233649"/>
                <a:ext cx="5157787" cy="3956014"/>
              </a:xfr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>
                <a:normAutofit/>
              </a:bodyPr>
              <a:lstStyle/>
              <a:p>
                <a:pPr marL="0" indent="0">
                  <a:lnSpc>
                    <a:spcPct val="100000"/>
                  </a:lnSpc>
                  <a:buNone/>
                </a:pPr>
                <a:r>
                  <a:rPr lang="en-US" sz="2400" dirty="0"/>
                  <a:t>Fermi’s golden rule:</a:t>
                </a:r>
              </a:p>
              <a:p>
                <a:pPr marL="0" indent="0">
                  <a:lnSpc>
                    <a:spcPct val="100000"/>
                  </a:lnSpc>
                  <a:buNone/>
                </a:pPr>
                <a:endParaRPr lang="en-US" sz="2400" b="0" i="0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buNone/>
                </a:pPr>
                <a:endParaRPr lang="en-US" sz="2400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Γ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~ </m:t>
                      </m:r>
                      <m:sSup>
                        <m:sSup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∗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~ </m:t>
                      </m:r>
                      <m:sSup>
                        <m:sSupPr>
                          <m:ctrlPr>
                            <a:rPr lang="en-US" sz="24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  <m:sup>
                          <m:r>
                            <a:rPr lang="en-US" sz="24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−2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C8B1351-C7E3-425E-E320-C8275C9C315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839788" y="2233649"/>
                <a:ext cx="5157787" cy="3956014"/>
              </a:xfrm>
              <a:blipFill>
                <a:blip r:embed="rId3"/>
                <a:stretch>
                  <a:fillRect l="-1769" t="-10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 Placeholder 4">
                <a:extLst>
                  <a:ext uri="{FF2B5EF4-FFF2-40B4-BE49-F238E27FC236}">
                    <a16:creationId xmlns:a16="http://schemas.microsoft.com/office/drawing/2014/main" id="{8DFB9CDB-CE8B-6975-6657-1C7A93847EC5}"/>
                  </a:ext>
                </a:extLst>
              </p:cNvPr>
              <p:cNvSpPr>
                <a:spLocks noGrp="1"/>
              </p:cNvSpPr>
              <p:nvPr>
                <p:ph type="body" sz="quarter" idx="3"/>
              </p:nvPr>
            </p:nvSpPr>
            <p:spPr>
              <a:xfrm>
                <a:off x="6172200" y="1681163"/>
                <a:ext cx="5183188" cy="454764"/>
              </a:xfr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/>
              <a:lstStyle/>
              <a:p>
                <a:pPr algn="ctr"/>
                <a14:m>
                  <m:oMath xmlns:m="http://schemas.openxmlformats.org/officeDocument/2006/math">
                    <m:r>
                      <a:rPr lang="en-US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b="0" dirty="0">
                    <a:solidFill>
                      <a:schemeClr val="tx1"/>
                    </a:solidFill>
                  </a:rPr>
                  <a:t> preserves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endParaRPr lang="en-US" b="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5" name="Text Placeholder 4">
                <a:extLst>
                  <a:ext uri="{FF2B5EF4-FFF2-40B4-BE49-F238E27FC236}">
                    <a16:creationId xmlns:a16="http://schemas.microsoft.com/office/drawing/2014/main" id="{8DFB9CDB-CE8B-6975-6657-1C7A93847EC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3"/>
              </p:nvPr>
            </p:nvSpPr>
            <p:spPr>
              <a:xfrm>
                <a:off x="6172200" y="1681163"/>
                <a:ext cx="5183188" cy="454764"/>
              </a:xfrm>
              <a:blipFill>
                <a:blip r:embed="rId4"/>
                <a:stretch>
                  <a:fillRect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05BFB88A-DCCD-C86B-E152-0FF0509CD5B4}"/>
                  </a:ext>
                </a:extLst>
              </p:cNvPr>
              <p:cNvSpPr>
                <a:spLocks noGrp="1"/>
              </p:cNvSpPr>
              <p:nvPr>
                <p:ph sz="quarter" idx="4"/>
              </p:nvPr>
            </p:nvSpPr>
            <p:spPr>
              <a:xfrm>
                <a:off x="6172200" y="2233649"/>
                <a:ext cx="5183188" cy="3956014"/>
              </a:xfr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/>
                  <a:t>Selection rules limit possible scattering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2000" dirty="0"/>
                  <a:t> matrix elements of </a:t>
                </a:r>
                <a14:m>
                  <m:oMath xmlns:m="http://schemas.openxmlformats.org/officeDocument/2006/math">
                    <m:r>
                      <a:rPr lang="en-US" sz="2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sz="2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2000" dirty="0">
                    <a:solidFill>
                      <a:schemeClr val="tx1"/>
                    </a:solidFill>
                  </a:rPr>
                  <a:t> scale as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~</m:t>
                    </m:r>
                    <m:f>
                      <m:fPr>
                        <m:ctrlP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den>
                    </m:f>
                  </m:oMath>
                </a14:m>
                <a:endParaRPr lang="en-US" sz="20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000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000">
                            <a:latin typeface="Cambria Math" panose="02040503050406030204" pitchFamily="18" charset="0"/>
                          </a:rPr>
                          <m:t>s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 ~ </m:t>
                    </m:r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/</m:t>
                    </m:r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sz="2000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2000" dirty="0"/>
                  <a:t> decay rate beats intrinsic screening when</a:t>
                </a:r>
              </a:p>
              <a:p>
                <a:pPr marL="0" indent="0">
                  <a:buNone/>
                </a:pPr>
                <a:endParaRPr lang="en-US" sz="105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p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sSup>
                            <m:sSup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~</m:t>
                      </m:r>
                      <m:f>
                        <m:f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</m:den>
                      </m:f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~</m:t>
                      </m:r>
                      <m:f>
                        <m:f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p>
                            <m:sSup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US" sz="2000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 ~ </m:t>
                    </m:r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−2</m:t>
                        </m:r>
                      </m:sup>
                    </m:sSup>
                  </m:oMath>
                </a14:m>
                <a:endParaRPr lang="en-US" sz="2000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 ~ </m:t>
                    </m:r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 ~ </m:t>
                    </m:r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 ~ </m:t>
                    </m:r>
                    <m:sSup>
                      <m:sSupPr>
                        <m:ctrlPr>
                          <a:rPr lang="en-US" sz="20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p>
                        <m:r>
                          <a:rPr lang="en-US" sz="20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0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6</m:t>
                        </m:r>
                      </m:sup>
                    </m:sSup>
                  </m:oMath>
                </a14:m>
                <a:endParaRPr lang="en-US" sz="2000" dirty="0"/>
              </a:p>
            </p:txBody>
          </p:sp>
        </mc:Choice>
        <mc:Fallback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05BFB88A-DCCD-C86B-E152-0FF0509CD5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4"/>
              </p:nvPr>
            </p:nvSpPr>
            <p:spPr>
              <a:xfrm>
                <a:off x="6172200" y="2233649"/>
                <a:ext cx="5183188" cy="3956014"/>
              </a:xfrm>
              <a:blipFill>
                <a:blip r:embed="rId5"/>
                <a:stretch>
                  <a:fillRect l="-1761" t="-199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310844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8524F9-779D-994A-0AB0-040EA59FE1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Heisenberg ladder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4A861E5-A7C8-B1AD-AE63-B8B20D2B694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3428999"/>
                <a:ext cx="10515600" cy="2747963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/>
                  <a:t>Introduce several types of integrability-breaking perturbations</a:t>
                </a:r>
              </a:p>
              <a:p>
                <a:pPr marL="0" indent="0">
                  <a:buNone/>
                </a:pPr>
                <a:endParaRPr lang="en-US" sz="2400" b="0" i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𝐽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&gt;</m:t>
                          </m:r>
                        </m:sub>
                        <m:sup/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Sup>
                            <m:sSub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acc>
                                <m:accPr>
                                  <m:chr m:val="⃗"/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(1)</m:t>
                              </m:r>
                            </m:sup>
                          </m:sSubSup>
                        </m:e>
                      </m:nary>
                      <m:r>
                        <a:rPr lang="en-US" sz="24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</m:sup>
                      </m:sSub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d>
                            <m:dPr>
                              <m:ctrlPr>
                                <a:rPr lang="en-US" sz="2400" b="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p>
                      </m:sSubSup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⋅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d>
                            <m:dPr>
                              <m:ctrlPr>
                                <a:rPr lang="en-US" sz="2400" b="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p>
                      </m:sSub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sz="2400" b="0" i="0" dirty="0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nary>
                        <m:naryPr>
                          <m:chr m:val="∑"/>
                          <m:supHide m:val="on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Sup>
                            <m:sSub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acc>
                                <m:accPr>
                                  <m:chr m:val="⃗"/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(1)</m:t>
                              </m:r>
                            </m:sup>
                          </m:sSub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sSubSup>
                            <m:sSub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acc>
                                <m:accPr>
                                  <m:chr m:val="⃗"/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sup>
                          </m:sSub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sz="2400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+ 4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𝑈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400" i="1"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&gt;</m:t>
                          </m:r>
                        </m:sub>
                        <m:sup/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(</m:t>
                          </m:r>
                          <m:sSubSup>
                            <m:sSub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acc>
                                <m:accPr>
                                  <m:chr m:val="⃗"/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(1)</m:t>
                              </m:r>
                            </m:sup>
                          </m:sSubSup>
                        </m:e>
                      </m:nary>
                      <m:r>
                        <a:rPr lang="en-US" sz="2400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</m:sup>
                      </m:sSub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)(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p>
                      </m:sSubSup>
                      <m:r>
                        <a:rPr lang="en-US" sz="2400" i="1">
                          <a:latin typeface="Cambria Math" panose="02040503050406030204" pitchFamily="18" charset="0"/>
                        </a:rPr>
                        <m:t>⋅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p>
                      </m:sSubSup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sz="2400" dirty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4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′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400" i="1"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&gt;</m:t>
                          </m:r>
                        </m:sub>
                        <m:sup/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(</m:t>
                          </m:r>
                          <m:sSubSup>
                            <m:sSub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acc>
                                <m:accPr>
                                  <m:chr m:val="⃗"/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(1)</m:t>
                              </m:r>
                            </m:sup>
                          </m:sSubSup>
                        </m:e>
                      </m:nary>
                      <m:r>
                        <a:rPr lang="en-US" sz="2400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p>
                      </m:sSubSup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)(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d>
                            <m:dPr>
                              <m:ctrlPr>
                                <a:rPr lang="en-US" sz="240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</m:sup>
                      </m:sSubSup>
                      <m:r>
                        <a:rPr lang="en-US" sz="2400" i="1">
                          <a:latin typeface="Cambria Math" panose="02040503050406030204" pitchFamily="18" charset="0"/>
                        </a:rPr>
                        <m:t>⋅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p>
                      </m:sSubSup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b="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4A861E5-A7C8-B1AD-AE63-B8B20D2B694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3428999"/>
                <a:ext cx="10515600" cy="2747963"/>
              </a:xfrm>
              <a:blipFill>
                <a:blip r:embed="rId2"/>
                <a:stretch>
                  <a:fillRect l="-928" t="-2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B8F24762-F63B-B434-7037-DAD7126E80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85044" y="1528947"/>
            <a:ext cx="6421912" cy="15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9842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6BC7C8-4715-7CEC-533C-4B2D19E9CA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CA948F-1469-36C0-EE2B-F461EBC060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Heisenberg ladder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5CF903D-70BC-76FF-07EC-7FB911C92E7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563555"/>
                <a:ext cx="10515600" cy="461340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/>
                  <a:t>Consider two integrable points to perturb around:</a:t>
                </a:r>
              </a:p>
              <a:p>
                <a:pPr marL="0" indent="0">
                  <a:buNone/>
                </a:pPr>
                <a:endParaRPr lang="en-US" sz="2400" b="0" i="1" dirty="0"/>
              </a:p>
              <a:p>
                <a:pPr marL="457200" indent="-457200">
                  <a:buFont typeface="+mj-lt"/>
                  <a:buAutoNum type="arabicParenR"/>
                </a:pPr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US" sz="2400" dirty="0"/>
              </a:p>
              <a:p>
                <a:pPr marL="0" indent="0">
                  <a:buNone/>
                </a:pPr>
                <a:endParaRPr lang="en-US" sz="2400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𝐽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&gt;</m:t>
                          </m:r>
                        </m:sub>
                        <m:sup/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Sup>
                            <m:sSub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acc>
                                <m:accPr>
                                  <m:chr m:val="⃗"/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(1)</m:t>
                              </m:r>
                            </m:sup>
                          </m:sSubSup>
                        </m:e>
                      </m:nary>
                      <m:r>
                        <a:rPr lang="en-US" sz="24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</m:sup>
                      </m:sSub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d>
                            <m:dPr>
                              <m:ctrlPr>
                                <a:rPr lang="en-US" sz="2400" b="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p>
                      </m:sSubSup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⋅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</m:acc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d>
                            <m:dPr>
                              <m:ctrlPr>
                                <a:rPr lang="en-US" sz="2400" b="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p>
                      </m:sSub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b="0" dirty="0"/>
              </a:p>
              <a:p>
                <a:pPr marL="0" indent="0">
                  <a:buNone/>
                </a:pPr>
                <a:endParaRPr lang="en-US" sz="2400" dirty="0"/>
              </a:p>
              <a:p>
                <a:pPr marL="0" indent="0">
                  <a:buNone/>
                </a:pPr>
                <a:endParaRPr lang="en-US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𝑆𝑈</m:t>
                      </m:r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(2)×</m:t>
                      </m:r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𝑆𝑈</m:t>
                      </m:r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(2)</m:t>
                      </m:r>
                    </m:oMath>
                  </m:oMathPara>
                </a14:m>
                <a:endParaRPr lang="en-US" b="0" dirty="0">
                  <a:solidFill>
                    <a:schemeClr val="accent1"/>
                  </a:solidFill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5CF903D-70BC-76FF-07EC-7FB911C92E7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563555"/>
                <a:ext cx="10515600" cy="4613408"/>
              </a:xfrm>
              <a:blipFill>
                <a:blip r:embed="rId2"/>
                <a:stretch>
                  <a:fillRect l="-928" t="-18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818349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EA12BB-B794-3700-B35A-99DB8EEE04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88403A-3F30-B271-F021-E02B321377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Heisenberg ladder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05A9F65-B7DF-0E83-AE63-490A4E16DD0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563555"/>
                <a:ext cx="10515600" cy="4613408"/>
              </a:xfrm>
              <a:effectLst>
                <a:softEdge rad="0"/>
              </a:effectLst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/>
                  <a:t>Consider two integrable points to perturb around:</a:t>
                </a:r>
              </a:p>
              <a:p>
                <a:pPr marL="0" indent="0">
                  <a:buNone/>
                </a:pPr>
                <a:endParaRPr lang="en-US" sz="2400" b="0" i="1" dirty="0"/>
              </a:p>
              <a:p>
                <a:pPr marL="457200" indent="-457200">
                  <a:buFont typeface="+mj-lt"/>
                  <a:buAutoNum type="arabicParenR" startAt="2"/>
                </a:pPr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𝐽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,  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𝐽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′=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US" sz="2400" b="0" dirty="0"/>
              </a:p>
              <a:p>
                <a:pPr marL="0" indent="0">
                  <a:buNone/>
                </a:pPr>
                <a:endParaRPr lang="en-US" sz="2400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&gt;</m:t>
                          </m:r>
                        </m:sub>
                        <m:sup/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1+</m:t>
                          </m:r>
                          <m:sSubSup>
                            <m:sSubSup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acc>
                                <m:accPr>
                                  <m:chr m:val="⃗"/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d>
                                <m:dPr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d>
                            </m:sup>
                          </m:sSubSup>
                        </m:e>
                      </m:nary>
                      <m:r>
                        <a:rPr lang="en-US" sz="24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</m:acc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</m:sup>
                      </m:sSub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)(1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</m:acc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d>
                            <m:dPr>
                              <m:ctrlPr>
                                <a:rPr lang="en-US" sz="240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p>
                      </m:sSubSup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⋅</m:t>
                      </m:r>
                      <m:sSubSup>
                        <m:sSubSup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⃗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</m:acc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p>
                      </m:sSubSup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𝐽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400" i="1"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&gt;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sz="2400" dirty="0"/>
              </a:p>
              <a:p>
                <a:pPr marL="0" indent="0">
                  <a:buNone/>
                </a:pPr>
                <a:endParaRPr lang="en-US" sz="2400" b="0" i="1" dirty="0">
                  <a:solidFill>
                    <a:schemeClr val="accent1"/>
                  </a:solidFill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𝑆𝑈</m:t>
                      </m:r>
                      <m:r>
                        <a:rPr lang="en-US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(4)</m:t>
                      </m:r>
                    </m:oMath>
                  </m:oMathPara>
                </a14:m>
                <a:endParaRPr lang="en-US" b="0" dirty="0">
                  <a:solidFill>
                    <a:schemeClr val="accent1"/>
                  </a:solidFill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05A9F65-B7DF-0E83-AE63-490A4E16DD0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563555"/>
                <a:ext cx="10515600" cy="4613408"/>
              </a:xfrm>
              <a:blipFill>
                <a:blip r:embed="rId2"/>
                <a:stretch>
                  <a:fillRect l="-928" t="-1849"/>
                </a:stretch>
              </a:blipFill>
              <a:effectLst>
                <a:softEdge rad="0"/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10707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82E99B-F461-0F1C-E50A-71A53415B4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MPS Simulations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60DAA66-7DA2-4ED5-0605-824F251D642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/>
                  <a:t>To characterize transport, we focus on time evolution from an inhomogeneous quench</a:t>
                </a:r>
                <a:endParaRPr lang="en-US" sz="2400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𝜇</m:t>
                          </m:r>
                        </m:sub>
                      </m:sSub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=0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∼</m:t>
                      </m:r>
                      <m:func>
                        <m:func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  <m:sSubSup>
                                <m:sSubSupPr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sz="2400" dirty="0">
                                      <a:latin typeface="Cambria Math" panose="02040503050406030204" pitchFamily="18" charset="0"/>
                                    </a:rPr>
                                    <m:t>left</m:t>
                                  </m:r>
                                </m:sub>
                                <m:sup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sup>
                              </m:sSubSup>
                            </m:e>
                          </m:d>
                        </m:e>
                      </m:func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⋅</m:t>
                      </m:r>
                      <m:func>
                        <m:func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  <m:sSubSup>
                                <m:sSubSupPr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sz="2400" b="0" i="0" dirty="0" smtClean="0">
                                      <a:latin typeface="Cambria Math" panose="02040503050406030204" pitchFamily="18" charset="0"/>
                                    </a:rPr>
                                    <m:t>right</m:t>
                                  </m:r>
                                </m:sub>
                                <m:sup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sup>
                              </m:sSubSup>
                            </m:e>
                          </m:d>
                        </m:e>
                      </m:func>
                    </m:oMath>
                  </m:oMathPara>
                </a14:m>
                <a:endParaRPr lang="en-US" sz="2400" b="0" dirty="0"/>
              </a:p>
              <a:p>
                <a:pPr marL="0" indent="0">
                  <a:buNone/>
                </a:pPr>
                <a:endParaRPr lang="en-US" sz="2400" i="1" dirty="0"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≪1⇒</m:t>
                    </m:r>
                  </m:oMath>
                </a14:m>
                <a:r>
                  <a:rPr lang="en-US" sz="2400" dirty="0"/>
                  <a:t> initial state is nearly infinite temperature mixed state, polarized in opposite directions in left/right half</a:t>
                </a:r>
              </a:p>
              <a:p>
                <a:pPr marL="0" indent="0">
                  <a:buNone/>
                </a:pPr>
                <a:endParaRPr lang="en-US" sz="2400" dirty="0"/>
              </a:p>
              <a:p>
                <a:pPr marL="0" indent="0">
                  <a:buNone/>
                </a:pPr>
                <a:r>
                  <a:rPr lang="en-US" sz="2400" dirty="0"/>
                  <a:t>Natural measure of transport is “magnetization transfer”</a:t>
                </a:r>
              </a:p>
              <a:p>
                <a:pPr marL="0" indent="0">
                  <a:buNone/>
                </a:pPr>
                <a:endParaRPr lang="en-US" sz="700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400" b="0" i="0" smtClean="0"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≡</m:t>
                      </m:r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⟨"/>
                              <m:endChr m:val="⟩"/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sz="2400" b="0" i="0" dirty="0" smtClean="0">
                                      <a:latin typeface="Cambria Math" panose="02040503050406030204" pitchFamily="18" charset="0"/>
                                    </a:rPr>
                                    <m:t>left</m:t>
                                  </m:r>
                                </m:sub>
                                <m:sup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Sup>
                                <m:sSubSupPr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sz="2400" b="0" i="0" dirty="0" smtClean="0">
                                      <a:latin typeface="Cambria Math" panose="02040503050406030204" pitchFamily="18" charset="0"/>
                                    </a:rPr>
                                    <m:t>left</m:t>
                                  </m:r>
                                </m:sub>
                                <m:sup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</m:d>
                            </m:e>
                          </m:d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𝜇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  <a:p>
                <a:pPr marL="0" indent="0">
                  <a:buNone/>
                </a:pPr>
                <a:r>
                  <a:rPr lang="en-US" sz="2400" dirty="0"/>
                  <a:t>                                                             = charge transferred from right to left half 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60DAA66-7DA2-4ED5-0605-824F251D642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1961" b="-280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298170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82E99B-F461-0F1C-E50A-71A53415B4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MPS Simulations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60DAA66-7DA2-4ED5-0605-824F251D642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/>
                  <a:t>The magnetization transfer scales as</a:t>
                </a:r>
                <a:endParaRPr lang="en-US" sz="2400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sz="700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400" b="0" i="0" smtClean="0"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∼</m:t>
                      </m:r>
                      <m:sSup>
                        <m:sSup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1/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  <a:p>
                <a:pPr marL="0" indent="0">
                  <a:buNone/>
                </a:pPr>
                <a:r>
                  <a:rPr lang="en-US" sz="2400" dirty="0"/>
                  <a:t>With integrability breaking,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dirty="0"/>
                  <a:t>should interpolate between superdiffusion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=1.5</m:t>
                    </m:r>
                  </m:oMath>
                </a14:m>
                <a:r>
                  <a:rPr lang="en-US" sz="2400" dirty="0"/>
                  <a:t> and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endParaRPr lang="en-US" sz="2400" dirty="0"/>
              </a:p>
              <a:p>
                <a:pPr marL="0" indent="0">
                  <a:buNone/>
                </a:pPr>
                <a:endParaRPr lang="en-US" sz="2400" dirty="0"/>
              </a:p>
              <a:p>
                <a:pPr marL="0" indent="0">
                  <a:buNone/>
                </a:pPr>
                <a:r>
                  <a:rPr lang="en-US" sz="2400" dirty="0"/>
                  <a:t>Power law fits over scanning time windows </a:t>
                </a:r>
                <a14:m>
                  <m:oMath xmlns:m="http://schemas.openxmlformats.org/officeDocument/2006/math"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400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60DAA66-7DA2-4ED5-0605-824F251D642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19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953463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aph of a graph&#10;&#10;AI-generated content may be incorrect.">
            <a:extLst>
              <a:ext uri="{FF2B5EF4-FFF2-40B4-BE49-F238E27FC236}">
                <a16:creationId xmlns:a16="http://schemas.microsoft.com/office/drawing/2014/main" id="{83034823-1B7F-C83F-0CDC-5C1A8C3B14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89" y="1142995"/>
            <a:ext cx="10972822" cy="45720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054396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diagram of a graph&#10;&#10;AI-generated content may be incorrect.">
            <a:extLst>
              <a:ext uri="{FF2B5EF4-FFF2-40B4-BE49-F238E27FC236}">
                <a16:creationId xmlns:a16="http://schemas.microsoft.com/office/drawing/2014/main" id="{81FA5576-1EAD-416A-0BCA-A4C0FA7493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89" y="1142995"/>
            <a:ext cx="10972822" cy="45720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46141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B5B448-E786-A373-35F1-B154A9F929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Fermi’s Golden Rule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8785CE4-6823-BB15-729A-AE1019A2424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For these rung couplings, there is a clear scaling collapse that matches the prediction from Fermi’s golden rule considerations</a:t>
                </a:r>
              </a:p>
              <a:p>
                <a:r>
                  <a:rPr lang="en-US" dirty="0"/>
                  <a:t>The quasiparticles of the integrable, decoupled chains are classified in terms of Bethe strings with magnetization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, owing to the total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𝑆𝑈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d>
                  </m:oMath>
                </a14:m>
                <a:r>
                  <a:rPr lang="en-US" dirty="0"/>
                  <a:t> symmetry of the chains</a:t>
                </a:r>
              </a:p>
              <a:p>
                <a:r>
                  <a:rPr lang="en-US" dirty="0"/>
                  <a:t>The rung coupling terms break the individual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𝑆𝑈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d>
                  </m:oMath>
                </a14:m>
                <a:r>
                  <a:rPr lang="en-US" dirty="0"/>
                  <a:t> symmetries of each chain, i.e. magnetization in each chain is not separately conserved</a:t>
                </a:r>
              </a:p>
              <a:p>
                <a:r>
                  <a:rPr lang="en-US" dirty="0"/>
                  <a:t>Thus, we do not expect strict selection rules that constrain the allowed scattering matrix elements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8785CE4-6823-BB15-729A-AE1019A2424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 r="-1913" b="-30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343666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504CD5-5CE5-6DBE-7898-99CFE47BFA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Other Perturbations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2A872AB-E9E0-EF55-FC36-19E400EB96D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667250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en-US" dirty="0"/>
                  <a:t>Question: Are there interactions we can consider that preserve 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𝑆𝑈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d>
                  </m:oMath>
                </a14:m>
                <a:r>
                  <a:rPr lang="en-US" dirty="0"/>
                  <a:t> symmetries of each chain?</a:t>
                </a:r>
              </a:p>
              <a:p>
                <a:r>
                  <a:rPr lang="en-US" dirty="0"/>
                  <a:t>One possibility is a biquadratic term: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𝑈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&gt;</m:t>
                          </m:r>
                        </m:sub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⃗"/>
                                  <m:ctrlP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1,</m:t>
                              </m:r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sSub>
                            <m:sSubPr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⃗"/>
                                  <m:ctrlP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1,</m:t>
                              </m:r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)(</m:t>
                          </m:r>
                          <m:sSub>
                            <m:sSubPr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⃗"/>
                                  <m:ctrlP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2,</m:t>
                              </m:r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sSub>
                            <m:sSubPr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⃗"/>
                                  <m:ctrlP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0" i="1" dirty="0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2,</m:t>
                              </m:r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It turns out that adding this term to the ladder Hamiltonian with  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=4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𝐽</m:t>
                    </m:r>
                  </m:oMath>
                </a14:m>
                <a:r>
                  <a:rPr lang="en-US" dirty="0"/>
                  <a:t> restores integrability for </a:t>
                </a:r>
                <a:r>
                  <a:rPr lang="en-US" i="1" dirty="0"/>
                  <a:t>any </a:t>
                </a:r>
                <a:r>
                  <a:rPr lang="en-US" dirty="0"/>
                  <a:t>value of the rung coupling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𝐽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i="1" dirty="0"/>
                  <a:t> </a:t>
                </a:r>
                <a:r>
                  <a:rPr lang="en-US" dirty="0"/>
                  <a:t>(</a:t>
                </a:r>
                <a:r>
                  <a:rPr lang="en-US" dirty="0" err="1"/>
                  <a:t>Yupeng</a:t>
                </a:r>
                <a:r>
                  <a:rPr lang="en-US" dirty="0"/>
                  <a:t> Wang 1999)</a:t>
                </a:r>
              </a:p>
              <a:p>
                <a:r>
                  <a:rPr lang="en-US" dirty="0"/>
                  <a:t>At this point, the model has an enlarged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𝑈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𝑆𝑈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e>
                    </m:d>
                  </m:oMath>
                </a14:m>
                <a:r>
                  <a:rPr lang="en-US" dirty="0"/>
                  <a:t> symmetry</a:t>
                </a:r>
              </a:p>
              <a:p>
                <a:r>
                  <a:rPr lang="en-US" dirty="0"/>
                  <a:t>Since this is an integrable model with a nonabelian symmetry, we still expect a superdiffusive critical exponent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=1.5</m:t>
                    </m:r>
                  </m:oMath>
                </a14:m>
                <a:r>
                  <a:rPr lang="en-US" dirty="0"/>
                  <a:t> </a:t>
                </a:r>
              </a:p>
              <a:p>
                <a:endParaRPr lang="en-US" i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2A872AB-E9E0-EF55-FC36-19E400EB96D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667250"/>
              </a:xfrm>
              <a:blipFill>
                <a:blip r:embed="rId2"/>
                <a:stretch>
                  <a:fillRect l="-1086" t="-9214" r="-724" b="-32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455184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0376F215-2388-F8B5-9558-26B96FC2999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/>
          <a:stretch/>
        </p:blipFill>
        <p:spPr>
          <a:xfrm>
            <a:off x="383916" y="203547"/>
            <a:ext cx="11424168" cy="6450906"/>
          </a:xfrm>
        </p:spPr>
      </p:pic>
    </p:spTree>
    <p:extLst>
      <p:ext uri="{BB962C8B-B14F-4D97-AF65-F5344CB8AC3E}">
        <p14:creationId xmlns:p14="http://schemas.microsoft.com/office/powerpoint/2010/main" val="78575338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504CD5-5CE5-6DBE-7898-99CFE47BFA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Other Perturbations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2A872AB-E9E0-EF55-FC36-19E400EB96D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667250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Now, treating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𝑈</m:t>
                    </m:r>
                  </m:oMath>
                </a14:m>
                <a:r>
                  <a:rPr lang="en-US" dirty="0"/>
                  <a:t> as a perturbation from the two integrable points (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=0,4</m:t>
                    </m:r>
                  </m:oMath>
                </a14:m>
                <a:r>
                  <a:rPr lang="en-US" dirty="0"/>
                  <a:t>), how does the onset of diffusion scale?</a:t>
                </a:r>
              </a:p>
              <a:p>
                <a:r>
                  <a:rPr lang="en-US" dirty="0"/>
                  <a:t>It has been argued that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𝑆𝑈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d>
                  </m:oMath>
                </a14:m>
                <a:r>
                  <a:rPr lang="en-US" dirty="0"/>
                  <a:t> symmetry-preserving perturbations lead to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-dependent scattering rates (De Nardis et al. 2021, McCarthy et al. 2024)</a:t>
                </a:r>
              </a:p>
              <a:p>
                <a:r>
                  <a:rPr lang="en-US" dirty="0"/>
                  <a:t>The Goldstone physics of the solitons in the Heisenberg chain leads to scattering rates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Γ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∼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/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 for perturbations of strength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endParaRPr lang="en-US" dirty="0"/>
              </a:p>
              <a:p>
                <a:r>
                  <a:rPr lang="en-US" dirty="0"/>
                  <a:t>By matching this rate with the intrinsic rate of decay of solitons      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Γ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∼1/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r>
                  <a:rPr lang="en-US" dirty="0"/>
                  <a:t>, one finds a crossover time scaling as 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∼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−6</m:t>
                        </m:r>
                      </m:sup>
                    </m:sSup>
                  </m:oMath>
                </a14:m>
                <a:endParaRPr lang="en-US" dirty="0"/>
              </a:p>
              <a:p>
                <a:endParaRPr lang="en-US" i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2A872AB-E9E0-EF55-FC36-19E400EB96D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667250"/>
              </a:xfrm>
              <a:blipFill>
                <a:blip r:embed="rId2"/>
                <a:stretch>
                  <a:fillRect l="-1086" t="-2168" r="-8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21894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0376F215-2388-F8B5-9558-26B96FC2999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/>
          <a:stretch/>
        </p:blipFill>
        <p:spPr>
          <a:xfrm>
            <a:off x="383916" y="203547"/>
            <a:ext cx="11424168" cy="6450906"/>
          </a:xfrm>
        </p:spPr>
      </p:pic>
    </p:spTree>
    <p:extLst>
      <p:ext uri="{BB962C8B-B14F-4D97-AF65-F5344CB8AC3E}">
        <p14:creationId xmlns:p14="http://schemas.microsoft.com/office/powerpoint/2010/main" val="260995628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0376F215-2388-F8B5-9558-26B96FC2999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/>
          <a:stretch/>
        </p:blipFill>
        <p:spPr>
          <a:xfrm>
            <a:off x="383916" y="203547"/>
            <a:ext cx="11424168" cy="6450906"/>
          </a:xfrm>
        </p:spPr>
      </p:pic>
    </p:spTree>
    <p:extLst>
      <p:ext uri="{BB962C8B-B14F-4D97-AF65-F5344CB8AC3E}">
        <p14:creationId xmlns:p14="http://schemas.microsoft.com/office/powerpoint/2010/main" val="299526997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504CD5-5CE5-6DBE-7898-99CFE47BFA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Other Perturbations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2A872AB-E9E0-EF55-FC36-19E400EB96D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667250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These timescales are difficult to access with state-of-the-art MPS techniques</a:t>
                </a:r>
              </a:p>
              <a:p>
                <a:r>
                  <a:rPr lang="en-US" dirty="0"/>
                  <a:t>Qualitatively however, one clearly sees that superdiffusion is preserved for much longer timescales as compared to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𝑆𝑈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symmetry-breaking perturbations</a:t>
                </a:r>
              </a:p>
              <a:p>
                <a:endParaRPr lang="en-US" i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2A872AB-E9E0-EF55-FC36-19E400EB96D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667250"/>
              </a:xfrm>
              <a:blipFill>
                <a:blip r:embed="rId2"/>
                <a:stretch>
                  <a:fillRect l="-1043" t="-20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040910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57A4F7-86A5-1222-203D-540C916987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TODO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315E454-FB9C-96D4-3004-DC6AB75C52B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We are currently working on analyzing how these time scales are affected by nonzero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𝛽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∼1/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dirty="0"/>
                  <a:t>, i.e. away from infinite temperature</a:t>
                </a:r>
              </a:p>
              <a:p>
                <a:r>
                  <a:rPr lang="en-US" dirty="0"/>
                  <a:t>Initial simulations seem to indicate that for small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n-US" dirty="0"/>
                  <a:t>, increasing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n-US" dirty="0"/>
                  <a:t> leads to a </a:t>
                </a:r>
                <a:r>
                  <a:rPr lang="en-US" i="1" dirty="0"/>
                  <a:t>faster </a:t>
                </a:r>
                <a:r>
                  <a:rPr lang="en-US" dirty="0"/>
                  <a:t>onset of diffusion</a:t>
                </a:r>
              </a:p>
              <a:p>
                <a:r>
                  <a:rPr lang="en-US" dirty="0"/>
                  <a:t>For larger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n-US" dirty="0"/>
                  <a:t>, increasing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n-US" dirty="0"/>
                  <a:t> </a:t>
                </a:r>
                <a:r>
                  <a:rPr lang="en-US" i="1" dirty="0"/>
                  <a:t>suppresses</a:t>
                </a:r>
                <a:r>
                  <a:rPr lang="en-US" dirty="0"/>
                  <a:t> the onset of diffusion as the timescale for which </a:t>
                </a:r>
                <a:r>
                  <a:rPr lang="en-US" dirty="0" err="1"/>
                  <a:t>Luttinger</a:t>
                </a:r>
                <a:r>
                  <a:rPr lang="en-US" dirty="0"/>
                  <a:t> liquid behavior exists is longer (scaling as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n-US" dirty="0"/>
                  <a:t>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315E454-FB9C-96D4-3004-DC6AB75C52B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326" r="-18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403937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15807</TotalTime>
  <Words>1214</Words>
  <Application>Microsoft Office PowerPoint</Application>
  <PresentationFormat>Widescreen</PresentationFormat>
  <Paragraphs>159</Paragraphs>
  <Slides>26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2" baseType="lpstr">
      <vt:lpstr>Aptos</vt:lpstr>
      <vt:lpstr>Arial</vt:lpstr>
      <vt:lpstr>Calibri</vt:lpstr>
      <vt:lpstr>Calibri Light</vt:lpstr>
      <vt:lpstr>Cambria Math</vt:lpstr>
      <vt:lpstr>Office Theme</vt:lpstr>
      <vt:lpstr>Breakdown of Superdiffusion in Perturbed Quantum Integrable Spin Chains and Ladders</vt:lpstr>
      <vt:lpstr>Quantum Heisenberg Model</vt:lpstr>
      <vt:lpstr>S=1/2 Heisenberg Chain: Anomalous Spin Transport</vt:lpstr>
      <vt:lpstr>Generalized Hydrodynamics (GHD)</vt:lpstr>
      <vt:lpstr>Generalized Hydrodynamics (GHD)</vt:lpstr>
      <vt:lpstr>S=1/2 Heisenberg Chain: Anomalous Spin Transport</vt:lpstr>
      <vt:lpstr>Why superdiffusion?</vt:lpstr>
      <vt:lpstr>Why superdiffusion?</vt:lpstr>
      <vt:lpstr>“Superuniversality” of superdiffusion</vt:lpstr>
      <vt:lpstr>Breaking integrability</vt:lpstr>
      <vt:lpstr>Breaking integrability</vt:lpstr>
      <vt:lpstr>Heisenberg ladder</vt:lpstr>
      <vt:lpstr>Heisenberg ladder</vt:lpstr>
      <vt:lpstr>Heisenberg ladder</vt:lpstr>
      <vt:lpstr>MPS Simulations</vt:lpstr>
      <vt:lpstr>MPS Simulations</vt:lpstr>
      <vt:lpstr>PowerPoint Presentation</vt:lpstr>
      <vt:lpstr>PowerPoint Presentation</vt:lpstr>
      <vt:lpstr>Fermi’s Golden Rule</vt:lpstr>
      <vt:lpstr>Other Perturbations</vt:lpstr>
      <vt:lpstr>PowerPoint Presentation</vt:lpstr>
      <vt:lpstr>Other Perturbations</vt:lpstr>
      <vt:lpstr>PowerPoint Presentation</vt:lpstr>
      <vt:lpstr>PowerPoint Presentation</vt:lpstr>
      <vt:lpstr>Other Perturbations</vt:lpstr>
      <vt:lpstr>TODO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Kevin Wang</dc:creator>
  <cp:lastModifiedBy>Kevin Wang</cp:lastModifiedBy>
  <cp:revision>27</cp:revision>
  <dcterms:created xsi:type="dcterms:W3CDTF">2024-06-07T07:59:19Z</dcterms:created>
  <dcterms:modified xsi:type="dcterms:W3CDTF">2025-05-31T06:15:24Z</dcterms:modified>
</cp:coreProperties>
</file>