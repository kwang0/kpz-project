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75" r:id="rId3"/>
    <p:sldId id="276" r:id="rId4"/>
    <p:sldId id="278" r:id="rId5"/>
    <p:sldId id="279" r:id="rId6"/>
    <p:sldId id="277" r:id="rId7"/>
    <p:sldId id="280" r:id="rId8"/>
    <p:sldId id="281" r:id="rId9"/>
    <p:sldId id="283" r:id="rId10"/>
    <p:sldId id="282" r:id="rId11"/>
    <p:sldId id="286" r:id="rId12"/>
    <p:sldId id="257" r:id="rId13"/>
    <p:sldId id="285" r:id="rId14"/>
    <p:sldId id="284" r:id="rId15"/>
    <p:sldId id="258" r:id="rId16"/>
    <p:sldId id="260" r:id="rId17"/>
    <p:sldId id="261" r:id="rId18"/>
    <p:sldId id="288" r:id="rId19"/>
    <p:sldId id="289" r:id="rId20"/>
    <p:sldId id="274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37" autoAdjust="0"/>
    <p:restoredTop sz="94688"/>
  </p:normalViewPr>
  <p:slideViewPr>
    <p:cSldViewPr snapToGrid="0">
      <p:cViewPr varScale="1">
        <p:scale>
          <a:sx n="91" d="100"/>
          <a:sy n="91" d="100"/>
        </p:scale>
        <p:origin x="65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5C375C-D27F-6B4F-A98C-867F54470A23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7E23F-D384-0A43-BA50-535D3FAFD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2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391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DAFFA-D5E5-5D2A-904D-2C6EA3D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7F431-89DB-EF96-02EA-43328233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35B82-D1DA-A7D0-7D16-C5FF34AEE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CB98A-E955-BC56-CB6C-2C6FE302D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410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9178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140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AF6D-58BD-F013-2A10-12E726724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A24C4-8C9B-4D70-48CF-751D74D83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F3E04-8135-73EF-221F-535F18971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7C278-1492-B406-EC81-AF00F0675E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1456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AE491-6C56-F8BC-1E9E-470B21498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09958B-D5BD-5D36-BDAE-9F4C1B2E8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8F75-CFE7-E086-BDE8-BB6C46A71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503E0-8E76-7D5B-ACF1-F8CECB180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7E0C7-538D-E7C1-C859-D2A006AA2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440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B00D1-8A36-D39E-9C65-0A1163B29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1115A-E1A8-6F3C-8BC5-D88DA7E90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5C606-3492-735A-2B2D-5A041A1D7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E1AB3C-E6E9-5391-2CD3-B40B44C5B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102991-33EF-B23E-9434-A6632B5C1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997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1952E-5865-C5D7-CE32-5478B1756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91CD25-18EB-E9FE-F4CD-C3CC73F10C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A9580-8A3F-BAF7-0BFE-5E81E1F09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BC524B-F1B7-74DE-2AAD-24F395E74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DBAF55-539E-CA94-3737-405A79A74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955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9EDDA-31A3-B1E6-4982-89FEE5EA4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8F258-249F-79DF-3637-25A5F2EF7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BCB020-3BCC-7FA0-500D-C545D3E5DD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E968DC-B54A-EBD2-9205-A6A178B5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992483-F2D3-B292-7567-CBCA0CEB5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4B887E-1184-C35B-EA7E-1D4BC37F3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919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72179-B63B-6590-A673-CBBDF198B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7673A-42FA-D1B7-ADB0-2DA5A12E11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C1CB50-71EB-217E-A948-1667659477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374B7B-8B64-93BD-FD4B-FCE76EEC57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EE8700-4E21-7787-4C86-FACCE63DE5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0C965F-A7C6-AD16-DF8C-4D951C75F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FB9B28-B9FF-BCBC-05FA-918DC737E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C6223C-144F-DA4C-247F-CF7338C18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006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4781B-5C7D-CB9C-7A03-A83C44BCA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089D54-C61E-DE9E-07F7-C0987B488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EC7B6C-61DB-BF59-D6F7-9614F4530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4D93EB-5C44-E723-F284-16C54D488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259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049095-3E6D-2F04-BD52-E2EE02239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A27959-F38B-3940-7476-41CB18108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13DAA4-2729-D37C-F227-68795E24A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100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74CE6-CFB5-57EC-7727-99AE1D6E3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25C998-894D-CF6C-F22A-A527D6B6D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76F97-4F7F-3289-F2BE-2BB802ED02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376E59-4990-B846-7D36-5F6731C51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1CAAAD-6EE7-8320-EE47-3D43B6C65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EAF2A1-4252-4E98-AA0B-15B180D8D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010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FE810-F761-6A8D-AF26-2BB6950B8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A63988-03F6-F5A9-67D1-16CACDEE46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F175BB-9B75-8F23-5923-D45F2D9ED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B59538-1A75-18CD-CB01-026F58389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2EA13-8233-0AA3-72B4-D1BACBC85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CC62B0-9901-2632-A19F-CAA55AE9D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908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C3345-63E9-339B-F641-273224B74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8A55F-96AB-6A00-1C72-EA291EA3BA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A312C-4C55-A389-EB72-5455A67290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8511D-9847-880C-2722-8EF86F379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82510-1896-953F-3F03-9183196F3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628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BD9575-2404-EE01-0562-141DEDB830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8A3047-57E0-6678-A407-344AC03C6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A2228-4930-0888-227C-C385188D8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F2598-2257-665A-A1BF-50CB474B7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48367-819D-2900-BBD8-23576EF0E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274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606499-CFAA-C994-4E25-83ED1E06E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1B61D-1805-8ABA-0816-0240DF798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61452C-35CC-6DA9-3FBE-B79A0C59D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26E810-B850-E246-B0DE-F696C472EDD6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7F8117-1E73-8D4E-A137-0B87929F4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1FFB0C-1CDC-8D11-183E-FE91E0626F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782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16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6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ED237-6C2B-19F1-2D2F-4485555A59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7462" y="1012111"/>
            <a:ext cx="10237076" cy="3110570"/>
          </a:xfrm>
        </p:spPr>
        <p:txBody>
          <a:bodyPr>
            <a:normAutofit/>
          </a:bodyPr>
          <a:lstStyle/>
          <a:p>
            <a:r>
              <a:rPr lang="en-US" sz="4400" dirty="0"/>
              <a:t>Breakdown of Superdiffusion in Perturbed Quantum Integrable Spin</a:t>
            </a:r>
            <a:br>
              <a:rPr lang="en-US" sz="4400" dirty="0"/>
            </a:br>
            <a:r>
              <a:rPr lang="en-US" sz="4400" dirty="0"/>
              <a:t>Chains and Ladders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12BD7-FD4D-4F50-4F0C-493C40AA28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95719"/>
            <a:ext cx="9144000" cy="1655762"/>
          </a:xfrm>
        </p:spPr>
        <p:txBody>
          <a:bodyPr/>
          <a:lstStyle/>
          <a:p>
            <a:r>
              <a:rPr lang="en-US" dirty="0"/>
              <a:t>Kevin Wang, Joel Moore</a:t>
            </a:r>
          </a:p>
        </p:txBody>
      </p:sp>
    </p:spTree>
    <p:extLst>
      <p:ext uri="{BB962C8B-B14F-4D97-AF65-F5344CB8AC3E}">
        <p14:creationId xmlns:p14="http://schemas.microsoft.com/office/powerpoint/2010/main" val="331438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DFBC-62E0-2E02-7342-48DF1584A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Quantum Heisenberg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sz="2400" dirty="0"/>
              </a:p>
              <a:p>
                <a:r>
                  <a:rPr lang="en-US" sz="2400" dirty="0"/>
                  <a:t>Paradigmatic model of quantum magnetism, studied extensively since 1928</a:t>
                </a:r>
              </a:p>
              <a:p>
                <a:r>
                  <a:rPr lang="en-US" sz="2400" dirty="0"/>
                  <a:t>1D physics is extremely rich</a:t>
                </a:r>
              </a:p>
              <a:p>
                <a:pPr lvl="1"/>
                <a:r>
                  <a:rPr lang="en-US" sz="2000" dirty="0"/>
                  <a:t>Half-integer spin chains are gapless; low-temperature physics = Luttinger Liquid</a:t>
                </a:r>
              </a:p>
              <a:p>
                <a:pPr lvl="1"/>
                <a:r>
                  <a:rPr lang="en-US" sz="2000" dirty="0"/>
                  <a:t>Integer spin chains are gapped (S=1 Haldane chain canonical example of symmetry protected topological phase)</a:t>
                </a:r>
              </a:p>
              <a:p>
                <a:r>
                  <a:rPr lang="en-US" sz="2400" dirty="0"/>
                  <a:t>S=1/2 chain is exactly solvable via the Bethe ansatz</a:t>
                </a:r>
              </a:p>
              <a:p>
                <a:pPr lvl="1"/>
                <a:r>
                  <a:rPr lang="en-US" sz="2000" dirty="0"/>
                  <a:t>Integrability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infinite number of conserved charges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r="-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5459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Despite nearly a century of study, new physics has emerged</a:t>
                </a:r>
              </a:p>
              <a:p>
                <a:r>
                  <a:rPr lang="en-US" sz="2400" dirty="0"/>
                  <a:t>Surprisingly, high-temperature spin transport discovered to be anomalous</a:t>
                </a:r>
              </a:p>
              <a:p>
                <a:r>
                  <a:rPr lang="en-US" sz="2400" dirty="0"/>
                  <a:t>Dynamical critical exponent: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 (ballistic)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000" dirty="0"/>
                  <a:t> (diffusion)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=3/2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(superdiffusion)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  <a:blipFill>
                <a:blip r:embed="rId2"/>
                <a:stretch>
                  <a:fillRect l="-1390" t="-1961" r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itle 1">
            <a:extLst>
              <a:ext uri="{FF2B5EF4-FFF2-40B4-BE49-F238E27FC236}">
                <a16:creationId xmlns:a16="http://schemas.microsoft.com/office/drawing/2014/main" id="{11C42A38-614F-CB83-1BE4-8B396C28E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B738DD6-6D0A-A9D8-5DB1-D02489CEC390}"/>
              </a:ext>
            </a:extLst>
          </p:cNvPr>
          <p:cNvGrpSpPr/>
          <p:nvPr/>
        </p:nvGrpSpPr>
        <p:grpSpPr>
          <a:xfrm>
            <a:off x="7265475" y="1492189"/>
            <a:ext cx="4088325" cy="3873621"/>
            <a:chOff x="7265475" y="1492189"/>
            <a:chExt cx="4088325" cy="3873621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67C207BC-0287-2024-35F8-F3DA12818A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65475" y="1492189"/>
              <a:ext cx="4088325" cy="387362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B44C303-E774-74E4-A117-2CDA569DB276}"/>
                    </a:ext>
                  </a:extLst>
                </p:cNvPr>
                <p:cNvSpPr txBox="1"/>
                <p:nvPr/>
              </p:nvSpPr>
              <p:spPr>
                <a:xfrm>
                  <a:off x="9821074" y="3049343"/>
                  <a:ext cx="900440" cy="37965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2/3</m:t>
                            </m:r>
                          </m:sup>
                        </m:sSup>
                      </m:oMath>
                    </m:oMathPara>
                  </a14:m>
                  <a:endParaRPr lang="en-US" dirty="0">
                    <a:solidFill>
                      <a:schemeClr val="accent6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B44C303-E774-74E4-A117-2CDA569DB2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21074" y="3049343"/>
                  <a:ext cx="900440" cy="379656"/>
                </a:xfrm>
                <a:prstGeom prst="rect">
                  <a:avLst/>
                </a:prstGeom>
                <a:blipFill>
                  <a:blip r:embed="rId4"/>
                  <a:stretch>
                    <a:fillRect r="-33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66988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60F-39D8-9A37-4D7A-BC7139EE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DE8C-E1FA-BDE8-C0C5-E6C8D196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How do we characterize non-equilibrium dynamics of integrable systems?</a:t>
                </a:r>
              </a:p>
              <a:p>
                <a:r>
                  <a:rPr lang="en-US" sz="2400" dirty="0"/>
                  <a:t>Integrability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infinite number of stable, ballistically propagating quasiparticles (e.g. Bethe strings)</a:t>
                </a:r>
              </a:p>
              <a:p>
                <a:r>
                  <a:rPr lang="en-US" sz="2400" dirty="0"/>
                  <a:t>GHD: </a:t>
                </a:r>
              </a:p>
              <a:p>
                <a:pPr lvl="1"/>
                <a:r>
                  <a:rPr lang="en-US" sz="2000" dirty="0"/>
                  <a:t>Local equilibration to generalized Gibbs ensemble (GGE)</a:t>
                </a:r>
              </a:p>
              <a:p>
                <a:pPr lvl="1"/>
                <a:r>
                  <a:rPr lang="en-US" sz="2000" dirty="0"/>
                  <a:t>Continuity equations for conserved charges</a:t>
                </a:r>
              </a:p>
              <a:p>
                <a:pPr lvl="1"/>
                <a:r>
                  <a:rPr lang="en-US" sz="2000" dirty="0"/>
                  <a:t>Convert to basis of quasiparticle densities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  <a:blipFill>
                <a:blip r:embed="rId3"/>
                <a:stretch>
                  <a:fillRect l="-165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28233C-94EE-975B-D6BC-31EFA6E04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048" y="2048423"/>
            <a:ext cx="5349725" cy="330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950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4A00-B605-FE26-4F59-A6163DC2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F84A8-2F0E-5763-EA5F-556346964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7FA0C-E35B-49D9-3696-818E722CD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Intuitive picture: quasiparticles travel ballistically with effective velocity and charge </a:t>
            </a:r>
            <a:r>
              <a:rPr lang="en-US" i="1" dirty="0"/>
              <a:t>dressed </a:t>
            </a:r>
            <a:r>
              <a:rPr lang="en-US" dirty="0"/>
              <a:t>by elastic collisions with other quasiparticles</a:t>
            </a:r>
            <a:endParaRPr lang="en-US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418434-E62E-03FC-9169-06D3025CD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7490" y="3097891"/>
            <a:ext cx="4457020" cy="2961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77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A59-945D-537E-A93E-3B94AA774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ED10-1643-C5F6-E968-0C62B09C4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Generically, GHD predicts </a:t>
                </a:r>
                <a:r>
                  <a:rPr lang="en-US" i="1" dirty="0"/>
                  <a:t>ballistic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) transport</a:t>
                </a:r>
              </a:p>
              <a:p>
                <a:r>
                  <a:rPr lang="en-US" dirty="0"/>
                  <a:t>But, dressed charge can become zero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sub-ballistic transport</a:t>
                </a:r>
              </a:p>
              <a:p>
                <a:r>
                  <a:rPr lang="en-US" dirty="0"/>
                  <a:t>Spin transport of XXZ Chain at half-filling</a:t>
                </a:r>
              </a:p>
              <a:p>
                <a:pPr lvl="1"/>
                <a:r>
                  <a:rPr lang="en-US" dirty="0"/>
                  <a:t>Easy-plane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): ballistic</a:t>
                </a:r>
              </a:p>
              <a:p>
                <a:pPr lvl="1"/>
                <a:r>
                  <a:rPr lang="en-US" dirty="0"/>
                  <a:t>Easy-axis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): diffusive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Isotropic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): superdiffusive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6391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3E4-6A88-B39D-2EF3-DED7AEA5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29F12C-3B85-C661-9487-AD45B20965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Quasiparticles carry current until encountering larger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nary>
                    <m:r>
                      <a:rPr lang="en-US" sz="20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000" b="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US" sz="2000" b="0" dirty="0">
                    <a:ea typeface="Cambria Math" panose="02040503050406030204" pitchFamily="18" charset="0"/>
                  </a:rPr>
                  <a:t>                                              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29F12C-3B85-C661-9487-AD45B20965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241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41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3C49-3816-82F7-A817-600E2C24F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C849-D04A-EE7F-00AB-AE658D18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Decay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 algn="ctr">
                  <a:buNone/>
                </a:pPr>
                <a:r>
                  <a:rPr lang="en-US" sz="2400" dirty="0"/>
                  <a:t>Kubo formula for AC conductivity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~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~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sup>
                              </m:sSup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−2/3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928" t="-2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88230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AEEF-51AC-40AC-6DF8-84A05C2C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55026-F95B-EE83-2691-1D5394B45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“</a:t>
            </a:r>
            <a:r>
              <a:rPr lang="en-US" sz="3600" dirty="0" err="1"/>
              <a:t>Superuniversality</a:t>
            </a:r>
            <a:r>
              <a:rPr lang="en-US" sz="3600" dirty="0"/>
              <a:t>” of superdiffusion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 It has since been discovered that: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:r>
                  <a:rPr lang="en-US" sz="2400" b="1" dirty="0"/>
                  <a:t>For any local quantum integrable model with global symmetry given by a simple Lie group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b="1" dirty="0"/>
                  <a:t>, the finite-temperature transport of associated Noether charges in a symmetric thermal state is </a:t>
                </a:r>
                <a:r>
                  <a:rPr lang="en-US" sz="2400" b="1" i="1" dirty="0" err="1"/>
                  <a:t>superdiffusive</a:t>
                </a:r>
                <a:r>
                  <a:rPr lang="en-US" sz="2400" b="1" i="1" dirty="0"/>
                  <a:t> </a:t>
                </a:r>
                <a:r>
                  <a:rPr lang="en-US" sz="2400" b="1" dirty="0"/>
                  <a:t>(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b="1" dirty="0"/>
                  <a:t>).</a:t>
                </a:r>
              </a:p>
              <a:p>
                <a:pPr marL="0" indent="0">
                  <a:buNone/>
                </a:pPr>
                <a:endParaRPr lang="en-US" sz="2400" b="1" i="1" dirty="0"/>
              </a:p>
              <a:p>
                <a:pPr marL="0" indent="0">
                  <a:buNone/>
                </a:pPr>
                <a:endParaRPr lang="en-US" sz="2400" b="1" i="1" dirty="0"/>
              </a:p>
              <a:p>
                <a:pPr marL="0" indent="0">
                  <a:buNone/>
                </a:pPr>
                <a:r>
                  <a:rPr lang="en-US" sz="2400" dirty="0"/>
                  <a:t>Confirmed by numerics.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928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7844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BDE5-33DE-684C-9E1C-19F5C2A3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an integrability-breaking perturbation</a:t>
                </a: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Non-integrable models are generically diffusive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1"/>
                    </a:solidFill>
                  </a:rPr>
                  <a:t>Question: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How does the timescale of diffusion onset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scale with the integrability breaking strength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?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1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2400" dirty="0">
                    <a:solidFill>
                      <a:srgbClr val="FF0000"/>
                    </a:solidFill>
                  </a:rPr>
                  <a:t>Depends on if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preserves the global symmetry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61" b="-1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86238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B1C3-C8AA-0A07-9C28-0D3BA290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F1E6A-1816-895F-48DE-3D0D07A70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9788" y="1681163"/>
                <a:ext cx="5157787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breaks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9788" y="1681163"/>
                <a:ext cx="5157787" cy="454764"/>
              </a:xfrm>
              <a:blipFill>
                <a:blip r:embed="rId2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233649"/>
                <a:ext cx="5157787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/>
                  <a:t>Fermi’s golden rule: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233649"/>
                <a:ext cx="5157787" cy="3956014"/>
              </a:xfrm>
              <a:blipFill>
                <a:blip r:embed="rId3"/>
                <a:stretch>
                  <a:fillRect l="-1769" t="-10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>
              <a:xfrm>
                <a:off x="6172200" y="1681163"/>
                <a:ext cx="5183188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preserves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xfrm>
                <a:off x="6172200" y="1681163"/>
                <a:ext cx="5183188" cy="454764"/>
              </a:xfr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2233649"/>
                <a:ext cx="5183188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Selection rules limit possible scattering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matrix elements of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scale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decay rate beats intrinsic screening when</a:t>
                </a:r>
              </a:p>
              <a:p>
                <a:pPr marL="0" indent="0">
                  <a:buNone/>
                </a:pPr>
                <a:endParaRPr lang="en-US" sz="105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2233649"/>
                <a:ext cx="5183188" cy="3956014"/>
              </a:xfrm>
              <a:blipFill>
                <a:blip r:embed="rId5"/>
                <a:stretch>
                  <a:fillRect l="-1761" t="-19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1084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4F9-779D-994A-0AB0-040EA59F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8999"/>
                <a:ext cx="10515600" cy="2747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several types of integrability-breaking perturbations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+ 4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8999"/>
                <a:ext cx="10515600" cy="2747963"/>
              </a:xfrm>
              <a:blipFill>
                <a:blip r:embed="rId2"/>
                <a:stretch>
                  <a:fillRect l="-928" t="-2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8F24762-F63B-B434-7037-DAD7126E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5044" y="1528947"/>
            <a:ext cx="6421912" cy="15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BC7C8-4715-7CEC-533C-4B2D19E9C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A948F-1469-36C0-EE2B-F461EBC0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3555"/>
                <a:ext cx="10515600" cy="4613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457200" indent="-457200">
                  <a:buFont typeface="+mj-lt"/>
                  <a:buAutoNum type="arabicParenR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(2)×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3555"/>
                <a:ext cx="10515600" cy="4613408"/>
              </a:xfrm>
              <a:blipFill>
                <a:blip r:embed="rId2"/>
                <a:stretch>
                  <a:fillRect l="-928" t="-18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1834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A12BB-B794-3700-B35A-99DB8EEE0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8403A-3F30-B271-F021-E02B3213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3555"/>
                <a:ext cx="10515600" cy="4613408"/>
              </a:xfrm>
              <a:effectLst>
                <a:softEdge rad="0"/>
              </a:effectLst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)(1+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3555"/>
                <a:ext cx="10515600" cy="4613408"/>
              </a:xfrm>
              <a:blipFill>
                <a:blip r:embed="rId2"/>
                <a:stretch>
                  <a:fillRect l="-928" t="-1849"/>
                </a:stretch>
              </a:blipFill>
              <a:effectLst>
                <a:softEdge rad="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0707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To characterize transport, we focus on time evolution from an inhomogeneous quench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right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≪1⇒</m:t>
                    </m:r>
                  </m:oMath>
                </a14:m>
                <a:r>
                  <a:rPr lang="en-US" sz="2400" dirty="0"/>
                  <a:t> initial state is nearly infinite temperature mixed state, polarized in opposite directions in left/right half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Natural measure of transport is “magnetization transfer”</a:t>
                </a: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                                                             = charge transferred from right to left half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61" b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981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The magnetization transfer scales as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With integrability breaking,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should interpolate between superdiffusion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Power law fits over scanning time windows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53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graph&#10;&#10;AI-generated content may be incorrect.">
            <a:extLst>
              <a:ext uri="{FF2B5EF4-FFF2-40B4-BE49-F238E27FC236}">
                <a16:creationId xmlns:a16="http://schemas.microsoft.com/office/drawing/2014/main" id="{83034823-1B7F-C83F-0CDC-5C1A8C3B14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8756" y="2734471"/>
            <a:ext cx="7274488" cy="30310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B5C0FF1-C503-7D8C-0C39-E661FF926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(2)×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4"/>
                <a:stretch>
                  <a:fillRect l="-550" t="-68182" b="-7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F868764-1FBB-8118-0308-160EED80A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F0BB745-B13F-056E-4AE3-B6829C7F0341}"/>
                  </a:ext>
                </a:extLst>
              </p:cNvPr>
              <p:cNvSpPr txBox="1"/>
              <p:nvPr/>
            </p:nvSpPr>
            <p:spPr>
              <a:xfrm>
                <a:off x="3231811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F0BB745-B13F-056E-4AE3-B6829C7F03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1811" y="5765508"/>
                <a:ext cx="1396030" cy="369332"/>
              </a:xfrm>
              <a:prstGeom prst="rect">
                <a:avLst/>
              </a:prstGeom>
              <a:blipFill>
                <a:blip r:embed="rId6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A18A313-D604-D2FA-D585-DCF38486CFA9}"/>
                  </a:ext>
                </a:extLst>
              </p:cNvPr>
              <p:cNvSpPr txBox="1"/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A18A313-D604-D2FA-D585-DCF38486C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BBB1A8F-E894-2759-4021-530E91AB4C1E}"/>
                  </a:ext>
                </a:extLst>
              </p:cNvPr>
              <p:cNvSpPr txBox="1"/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-invariant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BBB1A8F-E894-2759-4021-530E91AB4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0543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F0303-F44F-F001-AF11-E501F1C7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03F94D-5A2A-701C-0CC8-3A72D32524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59846" y="2734471"/>
            <a:ext cx="7272307" cy="30310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D40D586-3216-98BB-2169-BCA08529F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                         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/>
                  <a:t>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(4)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2"/>
                </a:pPr>
                <a:endParaRPr lang="en-US" sz="2400" dirty="0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  <a:blipFill>
                <a:blip r:embed="rId4"/>
                <a:stretch>
                  <a:fillRect l="-638" t="-69091" b="-7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7DDD5EB-9135-91E1-76F0-A76482102D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53447" y="915043"/>
            <a:ext cx="4244992" cy="52850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/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chemical potential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blipFill>
                <a:blip r:embed="rId6"/>
                <a:stretch>
                  <a:fillRect t="-5660" r="-2405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/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/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565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CF4A-ADB1-A355-E943-2EA05D18E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E8400-BEE8-CB74-0BA6-21B3C6E7D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err="1"/>
              <a:t>Superuniversal</a:t>
            </a:r>
            <a:r>
              <a:rPr lang="en-US" sz="3600" dirty="0"/>
              <a:t> 𝐺-invariant behavior?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272D84-C56A-00AA-1AF8-D01317FAC6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3555"/>
                <a:ext cx="10515600" cy="4613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457200" indent="-457200">
                  <a:buFont typeface="+mj-lt"/>
                  <a:buAutoNum type="arabicParenR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(2)×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272D84-C56A-00AA-1AF8-D01317FAC6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3555"/>
                <a:ext cx="10515600" cy="4613408"/>
              </a:xfrm>
              <a:blipFill>
                <a:blip r:embed="rId2"/>
                <a:stretch>
                  <a:fillRect l="-928" t="-18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611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A4F7-86A5-1222-203D-540C9169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 are currently working on analyzing how these time scales are affected by nonzero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∼1/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 i.e. away from infinite temperature</a:t>
                </a:r>
              </a:p>
              <a:p>
                <a:r>
                  <a:rPr lang="en-US" dirty="0"/>
                  <a:t>Initial simulations seem to indicate that for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, increasing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leads to a </a:t>
                </a:r>
                <a:r>
                  <a:rPr lang="en-US" i="1" dirty="0"/>
                  <a:t>faster </a:t>
                </a:r>
                <a:r>
                  <a:rPr lang="en-US" dirty="0"/>
                  <a:t>onset of diffusion</a:t>
                </a:r>
              </a:p>
              <a:p>
                <a:r>
                  <a:rPr lang="en-US" dirty="0"/>
                  <a:t>For larger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, increasing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</a:t>
                </a:r>
                <a:r>
                  <a:rPr lang="en-US" i="1" dirty="0"/>
                  <a:t>suppresses</a:t>
                </a:r>
                <a:r>
                  <a:rPr lang="en-US" dirty="0"/>
                  <a:t> the onset of diffusion as the timescale for which </a:t>
                </a:r>
                <a:r>
                  <a:rPr lang="en-US" dirty="0" err="1"/>
                  <a:t>Luttinger</a:t>
                </a:r>
                <a:r>
                  <a:rPr lang="en-US" dirty="0"/>
                  <a:t> liquid behavior exists is longer (scaling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039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15993</TotalTime>
  <Words>995</Words>
  <Application>Microsoft Office PowerPoint</Application>
  <PresentationFormat>Widescreen</PresentationFormat>
  <Paragraphs>160</Paragraphs>
  <Slides>20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Calibri</vt:lpstr>
      <vt:lpstr>Calibri Light</vt:lpstr>
      <vt:lpstr>Cambria Math</vt:lpstr>
      <vt:lpstr>Office Theme</vt:lpstr>
      <vt:lpstr>Breakdown of Superdiffusion in Perturbed Quantum Integrable Spin Chains and Ladders</vt:lpstr>
      <vt:lpstr>Quantum Heisenberg Model</vt:lpstr>
      <vt:lpstr>S=1/2 Heisenberg Chain: Anomalous Spin Transport</vt:lpstr>
      <vt:lpstr>Generalized Hydrodynamics (GHD)</vt:lpstr>
      <vt:lpstr>Generalized Hydrodynamics (GHD)</vt:lpstr>
      <vt:lpstr>S=1/2 Heisenberg Chain: Anomalous Spin Transport</vt:lpstr>
      <vt:lpstr>Why superdiffusion?</vt:lpstr>
      <vt:lpstr>Why superdiffusion?</vt:lpstr>
      <vt:lpstr>“Superuniversality” of superdiffusion</vt:lpstr>
      <vt:lpstr>Breaking integrability</vt:lpstr>
      <vt:lpstr>Breaking integrability</vt:lpstr>
      <vt:lpstr>Heisenberg ladder</vt:lpstr>
      <vt:lpstr>Heisenberg ladder</vt:lpstr>
      <vt:lpstr>Heisenberg ladder</vt:lpstr>
      <vt:lpstr>Spin Transport</vt:lpstr>
      <vt:lpstr>Spin Transport</vt:lpstr>
      <vt:lpstr>Spin Transport</vt:lpstr>
      <vt:lpstr>Spin Transport</vt:lpstr>
      <vt:lpstr>Superuniversal 𝐺-invariant behavior?</vt:lpstr>
      <vt:lpstr>TODO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Wang</dc:creator>
  <cp:lastModifiedBy>Kevin Wang</cp:lastModifiedBy>
  <cp:revision>28</cp:revision>
  <dcterms:created xsi:type="dcterms:W3CDTF">2024-06-07T07:59:19Z</dcterms:created>
  <dcterms:modified xsi:type="dcterms:W3CDTF">2025-06-01T21:01:53Z</dcterms:modified>
</cp:coreProperties>
</file>