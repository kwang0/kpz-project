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75" r:id="rId3"/>
    <p:sldId id="276" r:id="rId4"/>
    <p:sldId id="278" r:id="rId5"/>
    <p:sldId id="279" r:id="rId6"/>
    <p:sldId id="277" r:id="rId7"/>
    <p:sldId id="257" r:id="rId8"/>
    <p:sldId id="258" r:id="rId9"/>
    <p:sldId id="260" r:id="rId10"/>
    <p:sldId id="259" r:id="rId11"/>
    <p:sldId id="263" r:id="rId12"/>
    <p:sldId id="261" r:id="rId13"/>
    <p:sldId id="264" r:id="rId14"/>
    <p:sldId id="262" r:id="rId15"/>
    <p:sldId id="266" r:id="rId16"/>
    <p:sldId id="267" r:id="rId17"/>
    <p:sldId id="268" r:id="rId18"/>
    <p:sldId id="269" r:id="rId19"/>
    <p:sldId id="270" r:id="rId20"/>
    <p:sldId id="271" r:id="rId21"/>
    <p:sldId id="273" r:id="rId22"/>
    <p:sldId id="274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88"/>
  </p:normalViewPr>
  <p:slideViewPr>
    <p:cSldViewPr snapToGrid="0">
      <p:cViewPr varScale="1">
        <p:scale>
          <a:sx n="122" d="100"/>
          <a:sy n="122" d="100"/>
        </p:scale>
        <p:origin x="22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5/23/25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AE491-6C56-F8BC-1E9E-470B21498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09958B-D5BD-5D36-BDAE-9F4C1B2E8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8F75-CFE7-E086-BDE8-BB6C46A71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503E0-8E76-7D5B-ACF1-F8CECB180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7E0C7-538D-E7C1-C859-D2A006AA2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440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B00D1-8A36-D39E-9C65-0A1163B29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1115A-E1A8-6F3C-8BC5-D88DA7E90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5C606-3492-735A-2B2D-5A041A1D7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E1AB3C-E6E9-5391-2CD3-B40B44C5B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102991-33EF-B23E-9434-A6632B5C1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997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1952E-5865-C5D7-CE32-5478B1756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91CD25-18EB-E9FE-F4CD-C3CC73F10C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A9580-8A3F-BAF7-0BFE-5E81E1F09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C524B-F1B7-74DE-2AAD-24F395E74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DBAF55-539E-CA94-3737-405A79A74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955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9EDDA-31A3-B1E6-4982-89FEE5EA4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8F258-249F-79DF-3637-25A5F2EF7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CB020-3BCC-7FA0-500D-C545D3E5DD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968DC-B54A-EBD2-9205-A6A178B5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992483-F2D3-B292-7567-CBCA0CEB5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4B887E-1184-C35B-EA7E-1D4BC37F3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919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72179-B63B-6590-A673-CBBDF198B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7673A-42FA-D1B7-ADB0-2DA5A12E11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C1CB50-71EB-217E-A948-1667659477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374B7B-8B64-93BD-FD4B-FCE76EEC57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EE8700-4E21-7787-4C86-FACCE63DE5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0C965F-A7C6-AD16-DF8C-4D951C75F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FB9B28-B9FF-BCBC-05FA-918DC737E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C6223C-144F-DA4C-247F-CF7338C18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006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4781B-5C7D-CB9C-7A03-A83C44BCA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089D54-C61E-DE9E-07F7-C0987B488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EC7B6C-61DB-BF59-D6F7-9614F4530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4D93EB-5C44-E723-F284-16C54D488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259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049095-3E6D-2F04-BD52-E2EE02239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A27959-F38B-3940-7476-41CB18108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13DAA4-2729-D37C-F227-68795E24A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100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74CE6-CFB5-57EC-7727-99AE1D6E3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5C998-894D-CF6C-F22A-A527D6B6D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76F97-4F7F-3289-F2BE-2BB802ED02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376E59-4990-B846-7D36-5F6731C51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1CAAAD-6EE7-8320-EE47-3D43B6C65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EAF2A1-4252-4E98-AA0B-15B180D8D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010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FE810-F761-6A8D-AF26-2BB6950B8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A63988-03F6-F5A9-67D1-16CACDEE46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F175BB-9B75-8F23-5923-D45F2D9ED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B59538-1A75-18CD-CB01-026F58389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2EA13-8233-0AA3-72B4-D1BACBC85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CC62B0-9901-2632-A19F-CAA55AE9D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908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C3345-63E9-339B-F641-273224B74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8A55F-96AB-6A00-1C72-EA291EA3BA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A312C-4C55-A389-EB72-5455A67290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8511D-9847-880C-2722-8EF86F379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82510-1896-953F-3F03-9183196F3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628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D9575-2404-EE01-0562-141DEDB830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8A3047-57E0-6678-A407-344AC03C6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A2228-4930-0888-227C-C385188D8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F2598-2257-665A-A1BF-50CB474B7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48367-819D-2900-BBD8-23576EF0E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274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606499-CFAA-C994-4E25-83ED1E06E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1B61D-1805-8ABA-0816-0240DF798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61452C-35CC-6DA9-3FBE-B79A0C59D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26E810-B850-E246-B0DE-F696C472EDD6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7F8117-1E73-8D4E-A137-0B87929F4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1FFB0C-1CDC-8D11-183E-FE91E0626F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78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ED237-6C2B-19F1-2D2F-4485555A59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7462" y="1012111"/>
            <a:ext cx="10237076" cy="3110570"/>
          </a:xfrm>
        </p:spPr>
        <p:txBody>
          <a:bodyPr>
            <a:normAutofit/>
          </a:bodyPr>
          <a:lstStyle/>
          <a:p>
            <a:r>
              <a:rPr lang="en-US" sz="4400" dirty="0"/>
              <a:t>Breakdown of Superdiffusion in Perturbed Quantum Integrable Spin</a:t>
            </a:r>
            <a:br>
              <a:rPr lang="en-US" sz="4400" dirty="0"/>
            </a:br>
            <a:r>
              <a:rPr lang="en-US" sz="4400" dirty="0"/>
              <a:t>Chains and Ladders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95719"/>
            <a:ext cx="9144000" cy="1655762"/>
          </a:xfrm>
        </p:spPr>
        <p:txBody>
          <a:bodyPr/>
          <a:lstStyle/>
          <a:p>
            <a:r>
              <a:rPr lang="en-US" dirty="0"/>
              <a:t>Kevin Wang, Joel Moore</a:t>
            </a: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Quantum Heisenberg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Paradigmatic model of quantum magnetism, studied extensively since 1928</a:t>
                </a:r>
              </a:p>
              <a:p>
                <a:r>
                  <a:rPr lang="en-US" dirty="0"/>
                  <a:t>1D physics is extremely rich</a:t>
                </a:r>
              </a:p>
              <a:p>
                <a:pPr lvl="1"/>
                <a:r>
                  <a:rPr lang="en-US" dirty="0"/>
                  <a:t>Half-integer spin chains are gapless; low-temperature physics = Luttinger Liquid</a:t>
                </a:r>
              </a:p>
              <a:p>
                <a:pPr lvl="1"/>
                <a:r>
                  <a:rPr lang="en-US" dirty="0"/>
                  <a:t>Integer spin chains are gapped (S=1 Haldane chain canonical example of symmetry protected topological phase)</a:t>
                </a:r>
              </a:p>
              <a:p>
                <a:r>
                  <a:rPr lang="en-US" dirty="0"/>
                  <a:t>S=1/2 chain is exactly solvable via the Bethe ansatz</a:t>
                </a:r>
              </a:p>
              <a:p>
                <a:pPr lvl="1"/>
                <a:r>
                  <a:rPr lang="en-US" dirty="0"/>
                  <a:t>Integrability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infinite number of conserved charges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15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/>
              <a:lstStyle/>
              <a:p>
                <a:r>
                  <a:rPr lang="en-US" dirty="0"/>
                  <a:t>Despite nearly a century of study, new physics has emerged</a:t>
                </a:r>
              </a:p>
              <a:p>
                <a:r>
                  <a:rPr lang="en-US" dirty="0"/>
                  <a:t>Surprisingly, high-temperature spin transport discovered to be anomalous</a:t>
                </a:r>
              </a:p>
              <a:p>
                <a:r>
                  <a:rPr lang="en-US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 (diffusion)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860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7C207BC-0287-2024-35F8-F3DA12818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5475" y="1492189"/>
            <a:ext cx="4088325" cy="3873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Generalized Hydrodynamics (GHD)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How do we characterize non-equilibrium dynamics of integrable systems?</a:t>
                </a:r>
              </a:p>
              <a:p>
                <a:r>
                  <a:rPr lang="en-US" dirty="0"/>
                  <a:t>Integrability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infinite number of stable, ballistically propagating quasiparticles (e.g. Bethe strings)</a:t>
                </a:r>
              </a:p>
              <a:p>
                <a:r>
                  <a:rPr lang="en-US" dirty="0"/>
                  <a:t>GHD: </a:t>
                </a:r>
              </a:p>
              <a:p>
                <a:pPr lvl="1"/>
                <a:r>
                  <a:rPr lang="en-US" dirty="0"/>
                  <a:t>Local equilibration to generalized Gibbs ensemble (GGE)</a:t>
                </a:r>
              </a:p>
              <a:p>
                <a:pPr lvl="1"/>
                <a:r>
                  <a:rPr lang="en-US" dirty="0"/>
                  <a:t>Continuity equations for conserved charges</a:t>
                </a:r>
              </a:p>
              <a:p>
                <a:pPr lvl="1"/>
                <a:r>
                  <a:rPr lang="en-US" dirty="0"/>
                  <a:t>Convert to basis of quasiparticle densities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1935" t="-2035" r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28233C-94EE-975B-D6BC-31EFA6E04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048" y="2048423"/>
            <a:ext cx="5349725" cy="330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418434-E62E-03FC-9169-06D3025CD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7490" y="3097891"/>
            <a:ext cx="4457020" cy="2961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Generically, GHD predicts </a:t>
                </a:r>
                <a:r>
                  <a:rPr lang="en-US" i="1" dirty="0"/>
                  <a:t>ballistic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) transport</a:t>
                </a:r>
              </a:p>
              <a:p>
                <a:r>
                  <a:rPr lang="en-US" dirty="0"/>
                  <a:t>But, dressed charge can go to zero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sub-ballistic transport</a:t>
                </a:r>
              </a:p>
              <a:p>
                <a:r>
                  <a:rPr lang="en-US" dirty="0"/>
                  <a:t>Spin transport of XXZ Chain at half-filling</a:t>
                </a:r>
              </a:p>
              <a:p>
                <a:pPr lvl="1"/>
                <a:r>
                  <a:rPr lang="en-US" dirty="0"/>
                  <a:t>Easy-plane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): ballistic</a:t>
                </a:r>
              </a:p>
              <a:p>
                <a:pPr lvl="1"/>
                <a:r>
                  <a:rPr lang="en-US" dirty="0"/>
                  <a:t>Easy-axis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): diffusive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Introduce rung terms coupling two Heisenberg chains to break integrability</a:t>
                </a:r>
                <a:endParaRPr lang="en-US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b="0" dirty="0"/>
              </a:p>
              <a:p>
                <a:r>
                  <a:rPr lang="en-US" dirty="0"/>
                  <a:t>Decoupled ladders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) show typical superdiffusive scaling of transport: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3/2</m:t>
                    </m:r>
                  </m:oMath>
                </a14:m>
                <a:r>
                  <a:rPr lang="en-US" dirty="0"/>
                  <a:t> at all timescales after local equilibration</a:t>
                </a:r>
              </a:p>
              <a:p>
                <a:r>
                  <a:rPr lang="en-US" dirty="0"/>
                  <a:t>Question: How does the timescale of diffusion offset scale with the integrability breaking term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MPS Simulations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To characterize transport, we perform MPS simulations of time evolution from an inhomogeneous quench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sSubSup>
                                        <m:sSubSupPr>
                                          <m:ctrlP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sup>
                                      </m:sSubSup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2,</m:t>
                                      </m:r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</m:fun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sSubSup>
                                        <m:sSubSupPr>
                                          <m:ctrlP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sup>
                                      </m:sSubSup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2,</m:t>
                                      </m:r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/>
              </a:p>
              <a:p>
                <a:r>
                  <a:rPr lang="en-US" dirty="0"/>
                  <a:t>For very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, initial state is almost the infinite temperature mixed state, with slight polarization in opposite directions in left/right half</a:t>
                </a:r>
              </a:p>
              <a:p>
                <a:r>
                  <a:rPr lang="en-US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8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≡⟨</m:t>
                      </m:r>
                      <m:sSubSup>
                        <m:sSub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left</m:t>
                          </m:r>
                        </m:sub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left</m:t>
                          </m:r>
                        </m:sub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which measures the total magnetization that has transferred from the left to the right half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7442" r="-1448" b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MPS Simulations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magnetization transfer scales as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8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With an integrability breaking term in the Hamiltonian, we expect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interpolate between superdiffusion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By plotting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and performing fits on scanning windows over time, we can have an estimate for the time dependence of the dynamical exponent: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5B448-E786-A373-35F1-B154A9F92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Fermi’s Golden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85CE4-6823-BB15-729A-AE1019A242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Returning to the question: How does the timescale of diffusion offset scale with the integrability breaking term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  <a:p>
                <a:r>
                  <a:rPr lang="en-US" dirty="0"/>
                  <a:t>Naively, Fermi’s golden rule tells us that the scattering rate for quasiparticles in the two chains should scale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(setting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Thus, we would expect that the timescale for onset of diffusion should scale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85CE4-6823-BB15-729A-AE1019A242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654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9A539E20-6D40-D5EE-7CCF-810AF4FD7E0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982686"/>
                <a:ext cx="10515600" cy="1057275"/>
              </a:xfrm>
            </p:spPr>
            <p:txBody>
              <a:bodyPr>
                <a:normAutofit fontScale="90000"/>
              </a:bodyPr>
              <a:lstStyle/>
              <a:p>
                <a:pPr algn="ctr"/>
                <a:r>
                  <a:rPr lang="en-US" dirty="0"/>
                  <a:t>Plotting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from MPS simulations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9A539E20-6D40-D5EE-7CCF-810AF4FD7E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982686"/>
                <a:ext cx="10515600" cy="1057275"/>
              </a:xfrm>
              <a:blipFill>
                <a:blip r:embed="rId2"/>
                <a:stretch>
                  <a:fillRect t="-70588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9502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9A539E20-6D40-D5EE-7CCF-810AF4FD7E0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982686"/>
                <a:ext cx="10515600" cy="1057275"/>
              </a:xfrm>
            </p:spPr>
            <p:txBody>
              <a:bodyPr/>
              <a:lstStyle/>
              <a:p>
                <a:pPr algn="ctr"/>
                <a:r>
                  <a:rPr lang="en-US" dirty="0"/>
                  <a:t>Rescaling time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9A539E20-6D40-D5EE-7CCF-810AF4FD7E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982686"/>
                <a:ext cx="10515600" cy="1057275"/>
              </a:xfrm>
              <a:blipFill>
                <a:blip r:embed="rId2"/>
                <a:stretch>
                  <a:fillRect t="-10588" b="-3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64443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994614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5B448-E786-A373-35F1-B154A9F92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Fermi’s Golden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85CE4-6823-BB15-729A-AE1019A242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 these rung couplings, there is a clear scaling collapse that matches the prediction from Fermi’s golden rule considerations</a:t>
                </a:r>
              </a:p>
              <a:p>
                <a:r>
                  <a:rPr lang="en-US" dirty="0"/>
                  <a:t>The quasiparticles of the integrable, decoupled chains are classified in terms of Bethe strings with magnetization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 owing to the total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symmetry of the chains</a:t>
                </a:r>
              </a:p>
              <a:p>
                <a:r>
                  <a:rPr lang="en-US" dirty="0"/>
                  <a:t>The rung coupling terms break the individual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symmetries of each chain, i.e. magnetization in each chain is not separately conserved</a:t>
                </a:r>
              </a:p>
              <a:p>
                <a:r>
                  <a:rPr lang="en-US" dirty="0"/>
                  <a:t>Thus, we do not expect strict selection rules that constrain the allowed scattering matrix elements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85CE4-6823-BB15-729A-AE1019A242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913" b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4366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4CD5-5CE5-6DBE-7898-99CFE47BF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Perturbations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Question: Are there interactions we can consider that preserve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symmetries of each chain?</a:t>
                </a:r>
              </a:p>
              <a:p>
                <a:r>
                  <a:rPr lang="en-US" dirty="0"/>
                  <a:t>One possibility is a biquadratic term: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It turns out that adding this term to the ladder Hamiltonian with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dirty="0"/>
                  <a:t> restores integrability for </a:t>
                </a:r>
                <a:r>
                  <a:rPr lang="en-US" i="1" dirty="0"/>
                  <a:t>any </a:t>
                </a:r>
                <a:r>
                  <a:rPr lang="en-US" dirty="0"/>
                  <a:t>value of the rung coupling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(</a:t>
                </a:r>
                <a:r>
                  <a:rPr lang="en-US" dirty="0" err="1"/>
                  <a:t>Yupeng</a:t>
                </a:r>
                <a:r>
                  <a:rPr lang="en-US" dirty="0"/>
                  <a:t> Wang 1999)</a:t>
                </a:r>
              </a:p>
              <a:p>
                <a:r>
                  <a:rPr lang="en-US" dirty="0"/>
                  <a:t>At this point, the model has an enlarged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lang="en-US" dirty="0"/>
                  <a:t> symmetry</a:t>
                </a:r>
              </a:p>
              <a:p>
                <a:r>
                  <a:rPr lang="en-US" dirty="0"/>
                  <a:t>Since this is an integrable model with a nonabelian symmetry, we still expect a superdiffusive critical exponent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86" t="-9214" r="-724" b="-32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5518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7857533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4CD5-5CE5-6DBE-7898-99CFE47BF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Perturbations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Now, treating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as a perturbation from the two integrable points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=0,4</m:t>
                    </m:r>
                  </m:oMath>
                </a14:m>
                <a:r>
                  <a:rPr lang="en-US" dirty="0"/>
                  <a:t>), how does the onset of diffusion scale?</a:t>
                </a:r>
              </a:p>
              <a:p>
                <a:r>
                  <a:rPr lang="en-US" dirty="0"/>
                  <a:t>It has been argued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symmetry-preserving perturbations lead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-dependent scattering rates (De Nardis et al. 2021, McCarthy et al. 2024)</a:t>
                </a:r>
              </a:p>
              <a:p>
                <a:r>
                  <a:rPr lang="en-US" dirty="0"/>
                  <a:t>The Goldstone physics of the solitons in the Heisenberg chain leads to scattering rates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for perturbations of strength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By matching this rate with the intrinsic rate of decay of solitons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∼1/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dirty="0"/>
                  <a:t>, one finds a crossover time scaling as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86" t="-2168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189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26099562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2995269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4CD5-5CE5-6DBE-7898-99CFE47BF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Perturbations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These timescales are difficult to access with state-of-the-art MPS techniques</a:t>
                </a:r>
              </a:p>
              <a:p>
                <a:r>
                  <a:rPr lang="en-US" dirty="0"/>
                  <a:t>Qualitatively however, one clearly sees that superdiffusion is preserved for much longer timescales as compared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symmetry-breaking perturbations</a:t>
                </a:r>
              </a:p>
              <a:p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43" t="-20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4091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are currently working on analyzing how these time scales are affected by nonzero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∼1/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 i.e. away from infinite temperature</a:t>
                </a:r>
              </a:p>
              <a:p>
                <a:r>
                  <a:rPr lang="en-US" dirty="0"/>
                  <a:t>Initial simulations seem to indicate that for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, increasing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leads to a </a:t>
                </a:r>
                <a:r>
                  <a:rPr lang="en-US" i="1" dirty="0"/>
                  <a:t>faster </a:t>
                </a:r>
                <a:r>
                  <a:rPr lang="en-US" dirty="0"/>
                  <a:t>onset of diffusion</a:t>
                </a:r>
              </a:p>
              <a:p>
                <a:r>
                  <a:rPr lang="en-US" dirty="0"/>
                  <a:t>For larger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, increasing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</a:t>
                </a:r>
                <a:r>
                  <a:rPr lang="en-US" i="1" dirty="0"/>
                  <a:t>suppresses</a:t>
                </a:r>
                <a:r>
                  <a:rPr lang="en-US" dirty="0"/>
                  <a:t> the onset of diffusion as the timescale for which </a:t>
                </a:r>
                <a:r>
                  <a:rPr lang="en-US" dirty="0" err="1"/>
                  <a:t>Luttinger</a:t>
                </a:r>
                <a:r>
                  <a:rPr lang="en-US" dirty="0"/>
                  <a:t> liquid behavior exists is longer (scaling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13572</TotalTime>
  <Words>1008</Words>
  <Application>Microsoft Macintosh PowerPoint</Application>
  <PresentationFormat>Widescreen</PresentationFormat>
  <Paragraphs>85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Arial</vt:lpstr>
      <vt:lpstr>Calibri</vt:lpstr>
      <vt:lpstr>Calibri Light</vt:lpstr>
      <vt:lpstr>Cambria Math</vt:lpstr>
      <vt:lpstr>Office Theme</vt:lpstr>
      <vt:lpstr>Breakdown of Superdiffusion in Perturbed Quantum Integrable Spin Chains and Ladders</vt:lpstr>
      <vt:lpstr>Quantum Heisenberg Model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Heisenberg ladder</vt:lpstr>
      <vt:lpstr>MPS Simulations</vt:lpstr>
      <vt:lpstr>MPS Simulations</vt:lpstr>
      <vt:lpstr>Fermi’s Golden Rule</vt:lpstr>
      <vt:lpstr>Plotting Δs(t) and z(t) from MPS simulations</vt:lpstr>
      <vt:lpstr>PowerPoint Presentation</vt:lpstr>
      <vt:lpstr>Rescaling time by 〖J^′〗^2 </vt:lpstr>
      <vt:lpstr>PowerPoint Presentation</vt:lpstr>
      <vt:lpstr>Fermi’s Golden Rule</vt:lpstr>
      <vt:lpstr>Other Perturbations</vt:lpstr>
      <vt:lpstr>PowerPoint Presentation</vt:lpstr>
      <vt:lpstr>Other Perturbations</vt:lpstr>
      <vt:lpstr>PowerPoint Presentation</vt:lpstr>
      <vt:lpstr>PowerPoint Presentation</vt:lpstr>
      <vt:lpstr>Other Perturbations</vt:lpstr>
      <vt:lpstr>TODO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16</cp:revision>
  <dcterms:created xsi:type="dcterms:W3CDTF">2024-06-07T07:59:19Z</dcterms:created>
  <dcterms:modified xsi:type="dcterms:W3CDTF">2025-05-27T16:36:24Z</dcterms:modified>
</cp:coreProperties>
</file>