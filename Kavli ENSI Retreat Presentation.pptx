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5" r:id="rId1"/>
    <p:sldMasterId id="2147483907" r:id="rId2"/>
  </p:sldMasterIdLst>
  <p:notesMasterIdLst>
    <p:notesMasterId r:id="rId26"/>
  </p:notesMasterIdLst>
  <p:sldIdLst>
    <p:sldId id="256" r:id="rId3"/>
    <p:sldId id="275" r:id="rId4"/>
    <p:sldId id="276" r:id="rId5"/>
    <p:sldId id="278" r:id="rId6"/>
    <p:sldId id="279" r:id="rId7"/>
    <p:sldId id="277" r:id="rId8"/>
    <p:sldId id="280" r:id="rId9"/>
    <p:sldId id="281" r:id="rId10"/>
    <p:sldId id="283" r:id="rId11"/>
    <p:sldId id="282" r:id="rId12"/>
    <p:sldId id="286" r:id="rId13"/>
    <p:sldId id="257" r:id="rId14"/>
    <p:sldId id="285" r:id="rId15"/>
    <p:sldId id="284" r:id="rId16"/>
    <p:sldId id="258" r:id="rId17"/>
    <p:sldId id="260" r:id="rId18"/>
    <p:sldId id="261" r:id="rId19"/>
    <p:sldId id="288" r:id="rId20"/>
    <p:sldId id="289" r:id="rId21"/>
    <p:sldId id="291" r:id="rId22"/>
    <p:sldId id="274" r:id="rId23"/>
    <p:sldId id="293" r:id="rId24"/>
    <p:sldId id="292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25" autoAdjust="0"/>
    <p:restoredTop sz="94694"/>
  </p:normalViewPr>
  <p:slideViewPr>
    <p:cSldViewPr snapToGrid="0">
      <p:cViewPr varScale="1">
        <p:scale>
          <a:sx n="121" d="100"/>
          <a:sy n="121" d="100"/>
        </p:scale>
        <p:origin x="264" y="176"/>
      </p:cViewPr>
      <p:guideLst/>
    </p:cSldViewPr>
  </p:slideViewPr>
  <p:outlineViewPr>
    <p:cViewPr>
      <p:scale>
        <a:sx n="33" d="100"/>
        <a:sy n="33" d="100"/>
      </p:scale>
      <p:origin x="0" y="-19936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8/13/25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11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E5909-B2AA-689A-22FF-372BBB913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C9ACD-92AF-F8D8-EE2C-293BFF0F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71888-C5B2-4072-82EE-1B8510D46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711F3-3875-FAA6-13AB-98E78E762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906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076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47A03-539B-6CA7-2386-119405E26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C673F-AB98-C1A2-08F5-4ADCF9B32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CE5EE-897E-8342-96F3-9FAF05C1C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3641-F084-89C4-F067-EF42D6B8C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598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8/13/25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29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828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8/13/25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8197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985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433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8/13/25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2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8/13/25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72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1318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8/13/25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784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41341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27777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8/13/25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1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205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8/13/25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209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0144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2467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8/13/25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61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8/13/25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398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7424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8/13/25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4864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37208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00545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63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8/13/25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330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1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32.png"/><Relationship Id="rId4" Type="http://schemas.openxmlformats.org/officeDocument/2006/relationships/image" Target="../media/image27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40.png"/><Relationship Id="rId4" Type="http://schemas.openxmlformats.org/officeDocument/2006/relationships/image" Target="../media/image3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close-up of several chains&#10;&#10;AI-generated content may be incorrect.">
            <a:extLst>
              <a:ext uri="{FF2B5EF4-FFF2-40B4-BE49-F238E27FC236}">
                <a16:creationId xmlns:a16="http://schemas.microsoft.com/office/drawing/2014/main" id="{07A95EEF-BF06-FA23-3044-AA312981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416" b="131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A5BCE34-61A5-4D9E-BB0C-10B1138F2D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59968"/>
            <a:ext cx="12192000" cy="2298032"/>
          </a:xfrm>
          <a:prstGeom prst="rect">
            <a:avLst/>
          </a:prstGeom>
          <a:solidFill>
            <a:schemeClr val="accent2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1ED237-6C2B-19F1-2D2F-4485555A5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960137"/>
            <a:ext cx="7929641" cy="146304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Transport in 1D Quantum Systems Beyond Diffusion</a:t>
            </a:r>
            <a:endParaRPr lang="en-US" sz="35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FFFFFF"/>
                </a:solidFill>
              </a:rPr>
              <a:t>Kevin Wang</a:t>
            </a:r>
            <a:r>
              <a:rPr lang="en-US" sz="2000" dirty="0">
                <a:solidFill>
                  <a:srgbClr val="FFFFFF"/>
                </a:solidFill>
              </a:rPr>
              <a:t>, Joel Moore</a:t>
            </a:r>
          </a:p>
          <a:p>
            <a:r>
              <a:rPr lang="en-US" dirty="0">
                <a:solidFill>
                  <a:srgbClr val="FFFFFF"/>
                </a:solidFill>
              </a:rPr>
              <a:t>UC Berkeley</a:t>
            </a:r>
          </a:p>
          <a:p>
            <a:r>
              <a:rPr lang="en-US" dirty="0">
                <a:solidFill>
                  <a:srgbClr val="FFFFFF"/>
                </a:solidFill>
              </a:rPr>
              <a:t>Kavli ENSI Retreat 2025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F1B0F4-BC5D-4BBC-BFC1-4AECA3537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D966-0408-0CA1-4149-DF0215A3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4" y="6470704"/>
            <a:ext cx="973666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852B8ED-7F2B-5448-BD79-1530102DF259}" type="slidenum">
              <a:rPr lang="en-US">
                <a:solidFill>
                  <a:srgbClr val="FFFFFF">
                    <a:alpha val="80000"/>
                  </a:srgbClr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>
                  <a:alpha val="8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60" y="2084832"/>
                <a:ext cx="9720073" cy="402336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Paradigmatic model of quantum magnetism, studied extensively since 1928</a:t>
                </a:r>
              </a:p>
              <a:p>
                <a:r>
                  <a:rPr lang="en-US" sz="2400" dirty="0"/>
                  <a:t>1D physics is extremely rich</a:t>
                </a:r>
              </a:p>
              <a:p>
                <a:pPr lvl="1"/>
                <a:r>
                  <a:rPr lang="en-US" sz="2000" dirty="0"/>
                  <a:t>Half-integer spin chains are gapless; low-temperature physics = Luttinger Liquid</a:t>
                </a:r>
              </a:p>
              <a:p>
                <a:pPr lvl="1"/>
                <a:r>
                  <a:rPr lang="en-US" sz="2000" dirty="0"/>
                  <a:t>Integer spin chains are gapped (S=1 Haldane chain is canonical example of symmetry protected topological phase)</a:t>
                </a:r>
              </a:p>
              <a:p>
                <a:r>
                  <a:rPr lang="en-US" sz="2400" dirty="0"/>
                  <a:t>S=1/2 chain is exactly solvable via the Bethe ansatz</a:t>
                </a:r>
              </a:p>
              <a:p>
                <a:pPr lvl="1"/>
                <a:r>
                  <a:rPr lang="en-US" sz="2000" dirty="0"/>
                  <a:t>Integrability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infinite number of local conserved charges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60" y="2084832"/>
                <a:ext cx="9720073" cy="4023360"/>
              </a:xfrm>
              <a:blipFill>
                <a:blip r:embed="rId2"/>
                <a:stretch>
                  <a:fillRect l="-391" t="-340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37BA0-EF27-0ECB-7E32-ADCEC228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high-temperature spin transport discovered to be </a:t>
                </a:r>
                <a:r>
                  <a:rPr lang="en-US" sz="2400" i="1" dirty="0"/>
                  <a:t>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033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6CA70-DED4-B14F-B39C-4E7E4922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E36BBCC-FB43-BD40-D59A-A734C4230EC7}"/>
              </a:ext>
            </a:extLst>
          </p:cNvPr>
          <p:cNvGrpSpPr/>
          <p:nvPr/>
        </p:nvGrpSpPr>
        <p:grpSpPr>
          <a:xfrm>
            <a:off x="7222603" y="1620456"/>
            <a:ext cx="4189430" cy="4326031"/>
            <a:chOff x="7222603" y="1620456"/>
            <a:chExt cx="4189430" cy="432603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B686C5-138D-9DF5-23F0-08DE1DE10096}"/>
                </a:ext>
              </a:extLst>
            </p:cNvPr>
            <p:cNvGrpSpPr/>
            <p:nvPr/>
          </p:nvGrpSpPr>
          <p:grpSpPr>
            <a:xfrm>
              <a:off x="7222603" y="1620456"/>
              <a:ext cx="4131197" cy="3930549"/>
              <a:chOff x="7222603" y="1620456"/>
              <a:chExt cx="4131197" cy="3930549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B738DD6-6D0A-A9D8-5DB1-D02489CEC390}"/>
                  </a:ext>
                </a:extLst>
              </p:cNvPr>
              <p:cNvGrpSpPr/>
              <p:nvPr/>
            </p:nvGrpSpPr>
            <p:grpSpPr>
              <a:xfrm>
                <a:off x="7265475" y="1677384"/>
                <a:ext cx="4088325" cy="3873621"/>
                <a:chOff x="7265475" y="1492189"/>
                <a:chExt cx="4088325" cy="387362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67C207BC-0287-2024-35F8-F3DA12818A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65475" y="1492189"/>
                  <a:ext cx="4088325" cy="387362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2/3</m:t>
                                </m:r>
                              </m:sup>
                            </m:sSup>
                          </m:oMath>
                        </m:oMathPara>
                      </a14:m>
                      <a:endParaRPr lang="en-US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33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3F84B4-3EC5-1632-CECD-FB6A1043E248}"/>
                  </a:ext>
                </a:extLst>
              </p:cNvPr>
              <p:cNvSpPr/>
              <p:nvPr/>
            </p:nvSpPr>
            <p:spPr>
              <a:xfrm>
                <a:off x="7222603" y="1620456"/>
                <a:ext cx="300941" cy="358815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E0FB26-326B-8DE8-ED55-A71D64CDA13F}"/>
                </a:ext>
              </a:extLst>
            </p:cNvPr>
            <p:cNvSpPr txBox="1"/>
            <p:nvPr/>
          </p:nvSpPr>
          <p:spPr>
            <a:xfrm>
              <a:off x="8230115" y="5607933"/>
              <a:ext cx="318191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Ljubotina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Žnidarič &amp; Prosen, ‘17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2581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5C89C-D9A8-B58A-0212-6C307EAC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FD6718-5A10-DB3C-CCF9-56FF6D528AE8}"/>
              </a:ext>
            </a:extLst>
          </p:cNvPr>
          <p:cNvGrpSpPr/>
          <p:nvPr/>
        </p:nvGrpSpPr>
        <p:grpSpPr>
          <a:xfrm>
            <a:off x="6653048" y="2048423"/>
            <a:ext cx="5349725" cy="3714941"/>
            <a:chOff x="6653048" y="2048423"/>
            <a:chExt cx="5349725" cy="37149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28233C-94EE-975B-D6BC-31EFA6E04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53048" y="2048423"/>
              <a:ext cx="5349725" cy="33013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43B29D-C26B-170A-0F9C-DFDB9A61D718}"/>
                </a:ext>
              </a:extLst>
            </p:cNvPr>
            <p:cNvSpPr txBox="1"/>
            <p:nvPr/>
          </p:nvSpPr>
          <p:spPr>
            <a:xfrm>
              <a:off x="8048530" y="5424810"/>
              <a:ext cx="31210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Notes,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9720073" cy="42245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(renormalized)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DAA62-ED21-81DA-21EF-F533E79F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5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6DE18E5-18BA-55E4-819E-B0E2DB75AF8B}"/>
              </a:ext>
            </a:extLst>
          </p:cNvPr>
          <p:cNvGrpSpPr/>
          <p:nvPr/>
        </p:nvGrpSpPr>
        <p:grpSpPr>
          <a:xfrm>
            <a:off x="3867490" y="3097891"/>
            <a:ext cx="4457020" cy="3162929"/>
            <a:chOff x="3867490" y="3097891"/>
            <a:chExt cx="4457020" cy="31629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418434-E62E-03FC-9169-06D3025CD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7490" y="3097891"/>
              <a:ext cx="4457020" cy="296176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A432CC-BBC8-5841-432F-AE9B40499383}"/>
                </a:ext>
              </a:extLst>
            </p:cNvPr>
            <p:cNvSpPr txBox="1"/>
            <p:nvPr/>
          </p:nvSpPr>
          <p:spPr>
            <a:xfrm>
              <a:off x="4834360" y="5922266"/>
              <a:ext cx="3071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Notes,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Generically, GHD predicts </a:t>
                </a:r>
                <a:r>
                  <a:rPr lang="en-US" sz="2400" i="1" dirty="0"/>
                  <a:t>ballistic 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) transport</a:t>
                </a:r>
              </a:p>
              <a:p>
                <a:r>
                  <a:rPr lang="en-US" sz="2400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sub-ballistic transport</a:t>
                </a:r>
              </a:p>
              <a:p>
                <a:r>
                  <a:rPr lang="en-US" sz="2400" dirty="0"/>
                  <a:t>Spin transport of XXZ Chain at half-filling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Easy-plane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ballistic</a:t>
                </a:r>
              </a:p>
              <a:p>
                <a:pPr lvl="1"/>
                <a:r>
                  <a:rPr lang="en-US" sz="2000" dirty="0"/>
                  <a:t>Easy-axis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diffusive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FCFC6-A3DE-3359-BBF9-41577629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FACA8-C9BC-E4ED-9FC4-2087F4236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</p:spPr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                     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  <a:blipFill>
                <a:blip r:embed="rId3"/>
                <a:stretch>
                  <a:fillRect l="-1448" t="-1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Screening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2122" b="-265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9A1F8-96F5-969D-D5FC-262039D3A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“Superuniversality”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     non-abelian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Ilievski et al. </a:t>
                </a:r>
                <a:r>
                  <a:rPr lang="en-US" sz="18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PRX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‘21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1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F7C58-0E67-E559-9761-E4B57851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the onset of diffusion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73" t="-3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125C8-DC5B-7846-B2DF-506F16B20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  <a:blipFill>
                <a:blip r:embed="rId2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  <a:blipFill>
                <a:blip r:embed="rId3"/>
                <a:stretch>
                  <a:fillRect l="-2445" t="-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  <a:blipFill>
                <a:blip r:embed="rId4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  <a:blipFill>
                <a:blip r:embed="rId5"/>
                <a:stretch>
                  <a:fillRect l="-2676" t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1C9CC-68D3-9910-CF4C-FC17A7C2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  <a:blipFill>
                <a:blip r:embed="rId2"/>
                <a:stretch>
                  <a:fillRect l="-1448" t="-18349" b="-61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12827-61A9-F7DA-930E-89405459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821674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3BFF-3405-1EDD-06C1-13AA4AC1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 b="-20743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4E08E-EB93-1EDF-A140-D9A898997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39" r="-1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DB77C-2DF8-12D0-EC58-7EC2E6DC5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34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042E4-635D-4000-00E0-FC09F18F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31AE00F-CB37-7A67-67D8-AA99C1F9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F9796E3-81A5-4497-FCE0-21799C3D44B8}"/>
              </a:ext>
            </a:extLst>
          </p:cNvPr>
          <p:cNvGrpSpPr/>
          <p:nvPr/>
        </p:nvGrpSpPr>
        <p:grpSpPr>
          <a:xfrm>
            <a:off x="2458756" y="2746836"/>
            <a:ext cx="7274488" cy="3388004"/>
            <a:chOff x="2458756" y="2746836"/>
            <a:chExt cx="7274488" cy="3388004"/>
          </a:xfrm>
        </p:grpSpPr>
        <p:pic>
          <p:nvPicPr>
            <p:cNvPr id="12" name="Picture 11" descr="A group of graphs with different colors&#10;&#10;AI-generated content may be incorrect.">
              <a:extLst>
                <a:ext uri="{FF2B5EF4-FFF2-40B4-BE49-F238E27FC236}">
                  <a16:creationId xmlns:a16="http://schemas.microsoft.com/office/drawing/2014/main" id="{BA1AB00A-6E5C-B004-8698-7A6A2776E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58756" y="2746836"/>
              <a:ext cx="7274488" cy="30310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/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/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/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-invariant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93512A-26EE-F7BC-9BE3-86FA6E34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Superuniversal 𝐺-invariant behavior?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5752-5EC7-EDC2-A335-2ABAFD0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Simple non-abelian Lie group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of rank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400" dirty="0"/>
                  <a:t>quasiparticle flavor index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Turns out that scaling of TBA quantities is universal </a:t>
                </a:r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1/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>
                    <a:ea typeface="Cambria Math" panose="02040503050406030204" pitchFamily="18" charset="0"/>
                  </a:rPr>
                  <a:t>So, argument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 should still hold in principle</a:t>
                </a: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1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3430-0893-3F4A-1FB7-AB785F7D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CD8D0DA-FA0C-05B9-62C0-0BB56F7C5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3"/>
                </a:pPr>
                <a:r>
                  <a:rPr lang="en-US" sz="2000" dirty="0"/>
                  <a:t>Simple generalization of Heisenberg ladder: increase local Hilbert space dimension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=2→3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3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  <a:blipFill>
                <a:blip r:embed="rId3"/>
                <a:stretch>
                  <a:fillRect l="-3257" t="-8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43C904-0D21-16A0-9FA3-FE0EBDE0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83E341-1C1B-B661-74D7-5807C2F8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53447" y="529769"/>
            <a:ext cx="4244992" cy="996273"/>
          </a:xfrm>
          <a:prstGeom prst="rect">
            <a:avLst/>
          </a:prstGeom>
        </p:spPr>
      </p:pic>
      <p:pic>
        <p:nvPicPr>
          <p:cNvPr id="14" name="Picture 13" descr="A graph of a function&#10;&#10;AI-generated content may be incorrect.">
            <a:extLst>
              <a:ext uri="{FF2B5EF4-FFF2-40B4-BE49-F238E27FC236}">
                <a16:creationId xmlns:a16="http://schemas.microsoft.com/office/drawing/2014/main" id="{FE924478-F9DF-AC80-E9C9-C84575363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051" y="2577867"/>
            <a:ext cx="3833149" cy="383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804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Quantum Heisenberg chain (integrable models invariant under non-abelian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) displays superdiffusive spin transport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3/2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at high temperature</a:t>
                </a:r>
              </a:p>
              <a:p>
                <a:pPr lvl="1"/>
                <a:r>
                  <a:rPr lang="en-US" sz="2400" dirty="0"/>
                  <a:t>Break integrability on ladder geometry and find different scaling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US" sz="2400" dirty="0"/>
                  <a:t> depending on whether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preserves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sz="2400" dirty="0"/>
                  <a:t> or breaks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r>
                  <a:rPr lang="en-US" sz="2400" dirty="0"/>
                  <a:t>Behavior inherits the “superuniversal” physics underlying superdiffusion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35BE-F4D0-55AB-D49D-D1DD945C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96D2-9BE7-62FE-FCC2-ABBEF2E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4F6A-81EE-C312-F526-A344A6E4E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16CBD3-68C5-E39B-ED56-69DF1EE6B7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Quantum Heisenberg chain (integrable models invariant under non-abelian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) displays superdiffusive spin transport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3/2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at high temperature</a:t>
                </a:r>
              </a:p>
              <a:p>
                <a:pPr lvl="1"/>
                <a:r>
                  <a:rPr lang="en-US" sz="2400" dirty="0"/>
                  <a:t>Break integrability on ladder geometry and find different scaling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US" sz="2400" dirty="0"/>
                  <a:t> depending on whether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preserves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sz="2400" dirty="0"/>
                  <a:t> or breaks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r>
                  <a:rPr lang="en-US" sz="2400" dirty="0"/>
                  <a:t>Behavior inherits the “superuniversal” physics underlying superdiffusion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16CBD3-68C5-E39B-ED56-69DF1EE6B7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D6E32-5929-25EA-150D-D32D3753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8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43E0-8FF5-0420-99C7-8D085A48A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262" y="2679192"/>
            <a:ext cx="9720072" cy="1499616"/>
          </a:xfrm>
        </p:spPr>
        <p:txBody>
          <a:bodyPr/>
          <a:lstStyle/>
          <a:p>
            <a:pPr algn="ctr"/>
            <a:r>
              <a:rPr lang="en-US" dirty="0"/>
              <a:t>Thanks!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35525-7829-F0C7-2D72-D30F73392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23</a:t>
            </a:fld>
            <a:endParaRPr lang="en-US"/>
          </a:p>
        </p:txBody>
      </p:sp>
      <p:pic>
        <p:nvPicPr>
          <p:cNvPr id="1026" name="Picture 2" descr="United States Department of Energy ...">
            <a:extLst>
              <a:ext uri="{FF2B5EF4-FFF2-40B4-BE49-F238E27FC236}">
                <a16:creationId xmlns:a16="http://schemas.microsoft.com/office/drawing/2014/main" id="{DA45ABAE-B845-E0E2-2881-2339096E3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695" y="4924441"/>
            <a:ext cx="1546263" cy="154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Science Center">
            <a:extLst>
              <a:ext uri="{FF2B5EF4-FFF2-40B4-BE49-F238E27FC236}">
                <a16:creationId xmlns:a16="http://schemas.microsoft.com/office/drawing/2014/main" id="{73A33E52-A47A-86A9-405E-C9C617A86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1119" y="5462814"/>
            <a:ext cx="2828109" cy="100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oel Moore">
            <a:extLst>
              <a:ext uri="{FF2B5EF4-FFF2-40B4-BE49-F238E27FC236}">
                <a16:creationId xmlns:a16="http://schemas.microsoft.com/office/drawing/2014/main" id="{DA150AF1-C069-26EB-ED20-38BE9F17ED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48" r="14560"/>
          <a:stretch>
            <a:fillRect/>
          </a:stretch>
        </p:blipFill>
        <p:spPr bwMode="auto">
          <a:xfrm>
            <a:off x="8378939" y="3965706"/>
            <a:ext cx="1883884" cy="191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5D729-8D08-1554-D958-780D22DBA8B9}"/>
              </a:ext>
            </a:extLst>
          </p:cNvPr>
          <p:cNvSpPr txBox="1"/>
          <p:nvPr/>
        </p:nvSpPr>
        <p:spPr>
          <a:xfrm>
            <a:off x="8467074" y="5991493"/>
            <a:ext cx="1685580" cy="374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Joel Moore</a:t>
            </a:r>
          </a:p>
        </p:txBody>
      </p:sp>
      <p:pic>
        <p:nvPicPr>
          <p:cNvPr id="5" name="Google Shape;99;p1" title="Kavli ENSI Logo_LBNL Creative Services.png">
            <a:extLst>
              <a:ext uri="{FF2B5EF4-FFF2-40B4-BE49-F238E27FC236}">
                <a16:creationId xmlns:a16="http://schemas.microsoft.com/office/drawing/2014/main" id="{9CF07CC4-64B9-569D-0419-5C117240A8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0796" y="584609"/>
            <a:ext cx="3108425" cy="1348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89730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22463</TotalTime>
  <Words>1178</Words>
  <Application>Microsoft Macintosh PowerPoint</Application>
  <PresentationFormat>Widescreen</PresentationFormat>
  <Paragraphs>200</Paragraphs>
  <Slides>23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Cambria Math</vt:lpstr>
      <vt:lpstr>Tw Cen MT</vt:lpstr>
      <vt:lpstr>Tw Cen MT Condensed</vt:lpstr>
      <vt:lpstr>Wingdings 3</vt:lpstr>
      <vt:lpstr>Integral</vt:lpstr>
      <vt:lpstr>1_Integral</vt:lpstr>
      <vt:lpstr>Transport in 1D Quantum Systems Beyond Diffusion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Spin Transport</vt:lpstr>
      <vt:lpstr>Summary</vt:lpstr>
      <vt:lpstr>Future Directions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44</cp:revision>
  <dcterms:created xsi:type="dcterms:W3CDTF">2024-06-07T07:59:19Z</dcterms:created>
  <dcterms:modified xsi:type="dcterms:W3CDTF">2025-08-14T00:06:20Z</dcterms:modified>
</cp:coreProperties>
</file>